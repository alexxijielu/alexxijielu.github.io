
<file path=[Content_Types].xml><?xml version="1.0" encoding="utf-8"?>
<Types xmlns="http://schemas.openxmlformats.org/package/2006/content-types">
  <Default Extension="fntdata" ContentType="application/x-fontdata"/>
  <Default Extension="gif" ContentType="image/gi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ink/ink1.xml" ContentType="application/inkml+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notesSlides/notesSlide27.xml" ContentType="application/vnd.openxmlformats-officedocument.presentationml.notesSlide+xml"/>
  <Override PartName="/ppt/ink/ink7.xml" ContentType="application/inkml+xml"/>
  <Override PartName="/ppt/ink/ink8.xml" ContentType="application/inkml+xml"/>
  <Override PartName="/ppt/ink/ink9.xml" ContentType="application/inkml+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ink/ink10.xml" ContentType="application/inkml+xml"/>
  <Override PartName="/ppt/ink/ink11.xml" ContentType="application/inkml+xml"/>
  <Override PartName="/ppt/ink/ink12.xml" ContentType="application/inkml+xml"/>
  <Override PartName="/ppt/notesSlides/notesSlide54.xml" ContentType="application/vnd.openxmlformats-officedocument.presentationml.notesSlide+xml"/>
  <Override PartName="/ppt/ink/ink13.xml" ContentType="application/inkml+xml"/>
  <Override PartName="/ppt/ink/ink14.xml" ContentType="application/inkml+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8" r:id="rId1"/>
  </p:sldMasterIdLst>
  <p:notesMasterIdLst>
    <p:notesMasterId r:id="rId94"/>
  </p:notesMasterIdLst>
  <p:sldIdLst>
    <p:sldId id="256" r:id="rId2"/>
    <p:sldId id="305" r:id="rId3"/>
    <p:sldId id="307" r:id="rId4"/>
    <p:sldId id="308" r:id="rId5"/>
    <p:sldId id="318" r:id="rId6"/>
    <p:sldId id="319" r:id="rId7"/>
    <p:sldId id="321" r:id="rId8"/>
    <p:sldId id="322" r:id="rId9"/>
    <p:sldId id="323" r:id="rId10"/>
    <p:sldId id="346" r:id="rId11"/>
    <p:sldId id="329" r:id="rId12"/>
    <p:sldId id="347" r:id="rId13"/>
    <p:sldId id="348" r:id="rId14"/>
    <p:sldId id="311" r:id="rId15"/>
    <p:sldId id="310" r:id="rId16"/>
    <p:sldId id="331" r:id="rId17"/>
    <p:sldId id="332" r:id="rId18"/>
    <p:sldId id="333" r:id="rId19"/>
    <p:sldId id="312" r:id="rId20"/>
    <p:sldId id="313" r:id="rId21"/>
    <p:sldId id="314" r:id="rId22"/>
    <p:sldId id="334" r:id="rId23"/>
    <p:sldId id="337" r:id="rId24"/>
    <p:sldId id="338" r:id="rId25"/>
    <p:sldId id="315" r:id="rId26"/>
    <p:sldId id="317" r:id="rId27"/>
    <p:sldId id="340" r:id="rId28"/>
    <p:sldId id="335" r:id="rId29"/>
    <p:sldId id="343" r:id="rId30"/>
    <p:sldId id="344" r:id="rId31"/>
    <p:sldId id="345" r:id="rId32"/>
    <p:sldId id="342" r:id="rId33"/>
    <p:sldId id="349" r:id="rId34"/>
    <p:sldId id="350" r:id="rId35"/>
    <p:sldId id="352" r:id="rId36"/>
    <p:sldId id="353" r:id="rId37"/>
    <p:sldId id="356" r:id="rId38"/>
    <p:sldId id="375" r:id="rId39"/>
    <p:sldId id="376" r:id="rId40"/>
    <p:sldId id="357" r:id="rId41"/>
    <p:sldId id="364" r:id="rId42"/>
    <p:sldId id="365" r:id="rId43"/>
    <p:sldId id="366" r:id="rId44"/>
    <p:sldId id="367" r:id="rId45"/>
    <p:sldId id="368" r:id="rId46"/>
    <p:sldId id="369" r:id="rId47"/>
    <p:sldId id="370" r:id="rId48"/>
    <p:sldId id="372" r:id="rId49"/>
    <p:sldId id="373" r:id="rId50"/>
    <p:sldId id="371" r:id="rId51"/>
    <p:sldId id="377" r:id="rId52"/>
    <p:sldId id="380" r:id="rId53"/>
    <p:sldId id="381" r:id="rId54"/>
    <p:sldId id="382" r:id="rId55"/>
    <p:sldId id="383" r:id="rId56"/>
    <p:sldId id="385" r:id="rId57"/>
    <p:sldId id="386" r:id="rId58"/>
    <p:sldId id="387" r:id="rId59"/>
    <p:sldId id="389" r:id="rId60"/>
    <p:sldId id="390" r:id="rId61"/>
    <p:sldId id="391" r:id="rId62"/>
    <p:sldId id="392" r:id="rId63"/>
    <p:sldId id="393" r:id="rId64"/>
    <p:sldId id="394" r:id="rId65"/>
    <p:sldId id="395" r:id="rId66"/>
    <p:sldId id="396" r:id="rId67"/>
    <p:sldId id="398" r:id="rId68"/>
    <p:sldId id="397" r:id="rId69"/>
    <p:sldId id="399" r:id="rId70"/>
    <p:sldId id="400" r:id="rId71"/>
    <p:sldId id="401" r:id="rId72"/>
    <p:sldId id="402" r:id="rId73"/>
    <p:sldId id="403" r:id="rId74"/>
    <p:sldId id="406" r:id="rId75"/>
    <p:sldId id="407" r:id="rId76"/>
    <p:sldId id="408" r:id="rId77"/>
    <p:sldId id="409" r:id="rId78"/>
    <p:sldId id="411" r:id="rId79"/>
    <p:sldId id="413" r:id="rId80"/>
    <p:sldId id="412" r:id="rId81"/>
    <p:sldId id="424" r:id="rId82"/>
    <p:sldId id="414" r:id="rId83"/>
    <p:sldId id="418" r:id="rId84"/>
    <p:sldId id="417" r:id="rId85"/>
    <p:sldId id="420" r:id="rId86"/>
    <p:sldId id="421" r:id="rId87"/>
    <p:sldId id="422" r:id="rId88"/>
    <p:sldId id="423" r:id="rId89"/>
    <p:sldId id="374" r:id="rId90"/>
    <p:sldId id="306" r:id="rId91"/>
    <p:sldId id="378" r:id="rId92"/>
    <p:sldId id="379" r:id="rId93"/>
  </p:sldIdLst>
  <p:sldSz cx="9144000" cy="5143500" type="screen16x9"/>
  <p:notesSz cx="6858000" cy="9144000"/>
  <p:embeddedFontLst>
    <p:embeddedFont>
      <p:font typeface="Bradley Hand ITC" panose="03070402050302030203" pitchFamily="66" charset="0"/>
      <p:regular r:id="rId95"/>
    </p:embeddedFont>
    <p:embeddedFont>
      <p:font typeface="Consolas" panose="020B0609020204030204" pitchFamily="49" charset="0"/>
      <p:regular r:id="rId96"/>
      <p:bold r:id="rId97"/>
      <p:italic r:id="rId98"/>
      <p:boldItalic r:id="rId99"/>
    </p:embeddedFont>
    <p:embeddedFont>
      <p:font typeface="Figtree Black" panose="020B0604020202020204" charset="0"/>
      <p:bold r:id="rId100"/>
      <p:boldItalic r:id="rId101"/>
    </p:embeddedFont>
    <p:embeddedFont>
      <p:font typeface="Hanken Grotesk" panose="020B0604020202020204" charset="0"/>
      <p:regular r:id="rId102"/>
      <p:bold r:id="rId103"/>
      <p:italic r:id="rId104"/>
      <p:boldItalic r:id="rId10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Default Section" id="{1B9F43A3-BB62-4C28-BCC8-75498D6BC4CF}">
          <p14:sldIdLst>
            <p14:sldId id="256"/>
            <p14:sldId id="305"/>
            <p14:sldId id="307"/>
            <p14:sldId id="308"/>
            <p14:sldId id="318"/>
            <p14:sldId id="319"/>
            <p14:sldId id="321"/>
            <p14:sldId id="322"/>
            <p14:sldId id="323"/>
            <p14:sldId id="346"/>
            <p14:sldId id="329"/>
            <p14:sldId id="347"/>
            <p14:sldId id="348"/>
            <p14:sldId id="311"/>
            <p14:sldId id="310"/>
            <p14:sldId id="331"/>
            <p14:sldId id="332"/>
            <p14:sldId id="333"/>
            <p14:sldId id="312"/>
            <p14:sldId id="313"/>
            <p14:sldId id="314"/>
            <p14:sldId id="334"/>
            <p14:sldId id="337"/>
            <p14:sldId id="338"/>
            <p14:sldId id="315"/>
            <p14:sldId id="317"/>
            <p14:sldId id="340"/>
            <p14:sldId id="335"/>
            <p14:sldId id="343"/>
            <p14:sldId id="344"/>
            <p14:sldId id="345"/>
            <p14:sldId id="342"/>
            <p14:sldId id="349"/>
            <p14:sldId id="350"/>
            <p14:sldId id="352"/>
            <p14:sldId id="353"/>
            <p14:sldId id="356"/>
            <p14:sldId id="375"/>
            <p14:sldId id="376"/>
            <p14:sldId id="357"/>
            <p14:sldId id="364"/>
            <p14:sldId id="365"/>
            <p14:sldId id="366"/>
            <p14:sldId id="367"/>
            <p14:sldId id="368"/>
            <p14:sldId id="369"/>
            <p14:sldId id="370"/>
            <p14:sldId id="372"/>
            <p14:sldId id="373"/>
            <p14:sldId id="371"/>
            <p14:sldId id="377"/>
            <p14:sldId id="380"/>
            <p14:sldId id="381"/>
            <p14:sldId id="382"/>
            <p14:sldId id="383"/>
            <p14:sldId id="385"/>
            <p14:sldId id="386"/>
            <p14:sldId id="387"/>
            <p14:sldId id="389"/>
            <p14:sldId id="390"/>
            <p14:sldId id="391"/>
            <p14:sldId id="392"/>
            <p14:sldId id="393"/>
            <p14:sldId id="394"/>
            <p14:sldId id="395"/>
            <p14:sldId id="396"/>
            <p14:sldId id="398"/>
            <p14:sldId id="397"/>
            <p14:sldId id="399"/>
            <p14:sldId id="400"/>
            <p14:sldId id="401"/>
            <p14:sldId id="402"/>
            <p14:sldId id="403"/>
            <p14:sldId id="406"/>
            <p14:sldId id="407"/>
            <p14:sldId id="408"/>
            <p14:sldId id="409"/>
            <p14:sldId id="411"/>
            <p14:sldId id="413"/>
            <p14:sldId id="412"/>
            <p14:sldId id="424"/>
            <p14:sldId id="414"/>
            <p14:sldId id="418"/>
            <p14:sldId id="417"/>
            <p14:sldId id="420"/>
            <p14:sldId id="421"/>
            <p14:sldId id="422"/>
            <p14:sldId id="423"/>
          </p14:sldIdLst>
        </p14:section>
        <p14:section name="Materials" id="{A041955B-66F2-4CD7-96D5-556E4605E7DD}">
          <p14:sldIdLst>
            <p14:sldId id="374"/>
            <p14:sldId id="306"/>
            <p14:sldId id="378"/>
            <p14:sldId id="379"/>
          </p14:sldIdLst>
        </p14:section>
      </p14:sectionLst>
    </p:ex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2E2E"/>
    <a:srgbClr val="EDAEAE"/>
    <a:srgbClr val="FFD85D"/>
    <a:srgbClr val="A66BD3"/>
    <a:srgbClr val="6AC4C0"/>
    <a:srgbClr val="46B0AA"/>
    <a:srgbClr val="B4E5A3"/>
    <a:srgbClr val="B4E5A4"/>
    <a:srgbClr val="B8E2DE"/>
    <a:srgbClr val="C23F3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2823533-C604-43A2-8406-E0D2B6B464FD}" v="12" dt="2026-05-02T21:33:13.266"/>
  </p1510:revLst>
</p1510:revInfo>
</file>

<file path=ppt/tableStyles.xml><?xml version="1.0" encoding="utf-8"?>
<a:tblStyleLst xmlns:a="http://schemas.openxmlformats.org/drawingml/2006/main" def="{FCB32F36-1C5A-4B59-B33F-6ED9639C6870}">
  <a:tblStyle styleId="{FCB32F36-1C5A-4B59-B33F-6ED9639C6870}"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2673" autoAdjust="0"/>
  </p:normalViewPr>
  <p:slideViewPr>
    <p:cSldViewPr snapToGrid="0">
      <p:cViewPr varScale="1">
        <p:scale>
          <a:sx n="104" d="100"/>
          <a:sy n="104" d="100"/>
        </p:scale>
        <p:origin x="850" y="58"/>
      </p:cViewPr>
      <p:guideLst>
        <p:guide orient="horz" pos="162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07" Type="http://schemas.openxmlformats.org/officeDocument/2006/relationships/viewProps" Target="viewProps.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font" Target="fonts/font8.fntdata"/><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font" Target="fonts/font1.fntdata"/><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font" Target="fonts/font9.fntdata"/><Relationship Id="rId108" Type="http://schemas.openxmlformats.org/officeDocument/2006/relationships/theme" Target="theme/theme1.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notesMaster" Target="notesMasters/notesMaster1.xml"/><Relationship Id="rId99" Type="http://schemas.openxmlformats.org/officeDocument/2006/relationships/font" Target="fonts/font5.fntdata"/><Relationship Id="rId101" Type="http://schemas.openxmlformats.org/officeDocument/2006/relationships/font" Target="fonts/font7.fntdata"/><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tableStyles" Target="tableStyles.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font" Target="fonts/font3.fntdata"/><Relationship Id="rId104" Type="http://schemas.openxmlformats.org/officeDocument/2006/relationships/font" Target="fonts/font10.fntdata"/><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microsoft.com/office/2016/11/relationships/changesInfo" Target="changesInfos/changesInfo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font" Target="fonts/font6.fntdata"/><Relationship Id="rId105" Type="http://schemas.openxmlformats.org/officeDocument/2006/relationships/font" Target="fonts/font11.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font" Target="fonts/font4.fntdata"/><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ex Lu" userId="4fb11abd-091b-4498-a086-6cab5411f523" providerId="ADAL" clId="{4BDD7BCB-6C77-4AF5-ACF5-1ADAF4CE1FED}"/>
    <pc:docChg chg="undo custSel addSld delSld modSld modSection">
      <pc:chgData name="Alex Lu" userId="4fb11abd-091b-4498-a086-6cab5411f523" providerId="ADAL" clId="{4BDD7BCB-6C77-4AF5-ACF5-1ADAF4CE1FED}" dt="2026-05-02T21:40:25.424" v="544" actId="20577"/>
      <pc:docMkLst>
        <pc:docMk/>
      </pc:docMkLst>
      <pc:sldChg chg="addSp delSp mod">
        <pc:chgData name="Alex Lu" userId="4fb11abd-091b-4498-a086-6cab5411f523" providerId="ADAL" clId="{4BDD7BCB-6C77-4AF5-ACF5-1ADAF4CE1FED}" dt="2026-05-02T21:08:07.508" v="150" actId="22"/>
        <pc:sldMkLst>
          <pc:docMk/>
          <pc:sldMk cId="2285499869" sldId="307"/>
        </pc:sldMkLst>
        <pc:spChg chg="add del">
          <ac:chgData name="Alex Lu" userId="4fb11abd-091b-4498-a086-6cab5411f523" providerId="ADAL" clId="{4BDD7BCB-6C77-4AF5-ACF5-1ADAF4CE1FED}" dt="2026-05-02T21:08:03.756" v="148" actId="22"/>
          <ac:spMkLst>
            <pc:docMk/>
            <pc:sldMk cId="2285499869" sldId="307"/>
            <ac:spMk id="5" creationId="{F60BDA56-3742-4847-EA28-2F6666A2380A}"/>
          </ac:spMkLst>
        </pc:spChg>
        <pc:spChg chg="add del">
          <ac:chgData name="Alex Lu" userId="4fb11abd-091b-4498-a086-6cab5411f523" providerId="ADAL" clId="{4BDD7BCB-6C77-4AF5-ACF5-1ADAF4CE1FED}" dt="2026-05-02T21:08:07.508" v="150" actId="22"/>
          <ac:spMkLst>
            <pc:docMk/>
            <pc:sldMk cId="2285499869" sldId="307"/>
            <ac:spMk id="9" creationId="{4A110902-023E-5095-7B1D-4F4B75386DED}"/>
          </ac:spMkLst>
        </pc:spChg>
      </pc:sldChg>
      <pc:sldChg chg="add">
        <pc:chgData name="Alex Lu" userId="4fb11abd-091b-4498-a086-6cab5411f523" providerId="ADAL" clId="{4BDD7BCB-6C77-4AF5-ACF5-1ADAF4CE1FED}" dt="2026-05-02T21:08:16.260" v="151"/>
        <pc:sldMkLst>
          <pc:docMk/>
          <pc:sldMk cId="2791314624" sldId="308"/>
        </pc:sldMkLst>
      </pc:sldChg>
      <pc:sldChg chg="modNotesTx">
        <pc:chgData name="Alex Lu" userId="4fb11abd-091b-4498-a086-6cab5411f523" providerId="ADAL" clId="{4BDD7BCB-6C77-4AF5-ACF5-1ADAF4CE1FED}" dt="2026-05-02T21:20:14.304" v="171" actId="20577"/>
        <pc:sldMkLst>
          <pc:docMk/>
          <pc:sldMk cId="1273311358" sldId="313"/>
        </pc:sldMkLst>
      </pc:sldChg>
      <pc:sldChg chg="add">
        <pc:chgData name="Alex Lu" userId="4fb11abd-091b-4498-a086-6cab5411f523" providerId="ADAL" clId="{4BDD7BCB-6C77-4AF5-ACF5-1ADAF4CE1FED}" dt="2026-05-02T21:08:16.260" v="151"/>
        <pc:sldMkLst>
          <pc:docMk/>
          <pc:sldMk cId="1422000695" sldId="318"/>
        </pc:sldMkLst>
      </pc:sldChg>
      <pc:sldChg chg="add">
        <pc:chgData name="Alex Lu" userId="4fb11abd-091b-4498-a086-6cab5411f523" providerId="ADAL" clId="{4BDD7BCB-6C77-4AF5-ACF5-1ADAF4CE1FED}" dt="2026-05-02T21:08:16.260" v="151"/>
        <pc:sldMkLst>
          <pc:docMk/>
          <pc:sldMk cId="3132968264" sldId="319"/>
        </pc:sldMkLst>
      </pc:sldChg>
      <pc:sldChg chg="add">
        <pc:chgData name="Alex Lu" userId="4fb11abd-091b-4498-a086-6cab5411f523" providerId="ADAL" clId="{4BDD7BCB-6C77-4AF5-ACF5-1ADAF4CE1FED}" dt="2026-05-02T21:08:16.260" v="151"/>
        <pc:sldMkLst>
          <pc:docMk/>
          <pc:sldMk cId="1062590977" sldId="321"/>
        </pc:sldMkLst>
      </pc:sldChg>
      <pc:sldChg chg="add">
        <pc:chgData name="Alex Lu" userId="4fb11abd-091b-4498-a086-6cab5411f523" providerId="ADAL" clId="{4BDD7BCB-6C77-4AF5-ACF5-1ADAF4CE1FED}" dt="2026-05-02T21:13:11.900" v="153"/>
        <pc:sldMkLst>
          <pc:docMk/>
          <pc:sldMk cId="2767294469" sldId="322"/>
        </pc:sldMkLst>
      </pc:sldChg>
      <pc:sldChg chg="add">
        <pc:chgData name="Alex Lu" userId="4fb11abd-091b-4498-a086-6cab5411f523" providerId="ADAL" clId="{4BDD7BCB-6C77-4AF5-ACF5-1ADAF4CE1FED}" dt="2026-05-02T21:13:11.900" v="153"/>
        <pc:sldMkLst>
          <pc:docMk/>
          <pc:sldMk cId="1233739002" sldId="323"/>
        </pc:sldMkLst>
      </pc:sldChg>
      <pc:sldChg chg="addSp delSp modSp mod">
        <pc:chgData name="Alex Lu" userId="4fb11abd-091b-4498-a086-6cab5411f523" providerId="ADAL" clId="{4BDD7BCB-6C77-4AF5-ACF5-1ADAF4CE1FED}" dt="2026-04-20T21:03:38.856" v="108" actId="6549"/>
        <pc:sldMkLst>
          <pc:docMk/>
          <pc:sldMk cId="507833552" sldId="329"/>
        </pc:sldMkLst>
        <pc:spChg chg="add del mod">
          <ac:chgData name="Alex Lu" userId="4fb11abd-091b-4498-a086-6cab5411f523" providerId="ADAL" clId="{4BDD7BCB-6C77-4AF5-ACF5-1ADAF4CE1FED}" dt="2026-04-20T21:03:38.856" v="108" actId="6549"/>
          <ac:spMkLst>
            <pc:docMk/>
            <pc:sldMk cId="507833552" sldId="329"/>
            <ac:spMk id="4" creationId="{E81AAF18-532B-554A-EAAE-3A491FDB34D6}"/>
          </ac:spMkLst>
        </pc:spChg>
      </pc:sldChg>
      <pc:sldChg chg="modNotesTx">
        <pc:chgData name="Alex Lu" userId="4fb11abd-091b-4498-a086-6cab5411f523" providerId="ADAL" clId="{4BDD7BCB-6C77-4AF5-ACF5-1ADAF4CE1FED}" dt="2026-05-02T21:25:07.518" v="178" actId="20577"/>
        <pc:sldMkLst>
          <pc:docMk/>
          <pc:sldMk cId="3405388402" sldId="345"/>
        </pc:sldMkLst>
      </pc:sldChg>
      <pc:sldChg chg="modSp mod">
        <pc:chgData name="Alex Lu" userId="4fb11abd-091b-4498-a086-6cab5411f523" providerId="ADAL" clId="{4BDD7BCB-6C77-4AF5-ACF5-1ADAF4CE1FED}" dt="2026-04-20T21:03:31.586" v="103" actId="1076"/>
        <pc:sldMkLst>
          <pc:docMk/>
          <pc:sldMk cId="3763422734" sldId="346"/>
        </pc:sldMkLst>
        <pc:spChg chg="mod">
          <ac:chgData name="Alex Lu" userId="4fb11abd-091b-4498-a086-6cab5411f523" providerId="ADAL" clId="{4BDD7BCB-6C77-4AF5-ACF5-1ADAF4CE1FED}" dt="2026-04-20T21:03:13.762" v="77" actId="20577"/>
          <ac:spMkLst>
            <pc:docMk/>
            <pc:sldMk cId="3763422734" sldId="346"/>
            <ac:spMk id="2" creationId="{CC9866EA-80EB-1A57-8D72-43878F1E58BE}"/>
          </ac:spMkLst>
        </pc:spChg>
        <pc:spChg chg="mod">
          <ac:chgData name="Alex Lu" userId="4fb11abd-091b-4498-a086-6cab5411f523" providerId="ADAL" clId="{4BDD7BCB-6C77-4AF5-ACF5-1ADAF4CE1FED}" dt="2026-04-20T21:03:31.586" v="103" actId="1076"/>
          <ac:spMkLst>
            <pc:docMk/>
            <pc:sldMk cId="3763422734" sldId="346"/>
            <ac:spMk id="4" creationId="{E572BB6C-56DC-310F-A48D-7C96BF7C226B}"/>
          </ac:spMkLst>
        </pc:spChg>
      </pc:sldChg>
      <pc:sldChg chg="modNotesTx">
        <pc:chgData name="Alex Lu" userId="4fb11abd-091b-4498-a086-6cab5411f523" providerId="ADAL" clId="{4BDD7BCB-6C77-4AF5-ACF5-1ADAF4CE1FED}" dt="2026-05-02T21:32:05.633" v="448" actId="20577"/>
        <pc:sldMkLst>
          <pc:docMk/>
          <pc:sldMk cId="3867018386" sldId="357"/>
        </pc:sldMkLst>
      </pc:sldChg>
      <pc:sldChg chg="modNotesTx">
        <pc:chgData name="Alex Lu" userId="4fb11abd-091b-4498-a086-6cab5411f523" providerId="ADAL" clId="{4BDD7BCB-6C77-4AF5-ACF5-1ADAF4CE1FED}" dt="2026-05-02T21:32:34.475" v="480" actId="20577"/>
        <pc:sldMkLst>
          <pc:docMk/>
          <pc:sldMk cId="3174092591" sldId="364"/>
        </pc:sldMkLst>
      </pc:sldChg>
      <pc:sldChg chg="modNotesTx">
        <pc:chgData name="Alex Lu" userId="4fb11abd-091b-4498-a086-6cab5411f523" providerId="ADAL" clId="{4BDD7BCB-6C77-4AF5-ACF5-1ADAF4CE1FED}" dt="2026-05-02T21:33:35.996" v="492" actId="20577"/>
        <pc:sldMkLst>
          <pc:docMk/>
          <pc:sldMk cId="3569699108" sldId="365"/>
        </pc:sldMkLst>
      </pc:sldChg>
      <pc:sldChg chg="modNotesTx">
        <pc:chgData name="Alex Lu" userId="4fb11abd-091b-4498-a086-6cab5411f523" providerId="ADAL" clId="{4BDD7BCB-6C77-4AF5-ACF5-1ADAF4CE1FED}" dt="2026-05-02T21:38:41.660" v="494" actId="20577"/>
        <pc:sldMkLst>
          <pc:docMk/>
          <pc:sldMk cId="1266298436" sldId="373"/>
        </pc:sldMkLst>
      </pc:sldChg>
      <pc:sldChg chg="modNotesTx">
        <pc:chgData name="Alex Lu" userId="4fb11abd-091b-4498-a086-6cab5411f523" providerId="ADAL" clId="{4BDD7BCB-6C77-4AF5-ACF5-1ADAF4CE1FED}" dt="2026-05-02T21:28:42.236" v="180" actId="20577"/>
        <pc:sldMkLst>
          <pc:docMk/>
          <pc:sldMk cId="4147115552" sldId="376"/>
        </pc:sldMkLst>
      </pc:sldChg>
      <pc:sldChg chg="mod modShow">
        <pc:chgData name="Alex Lu" userId="4fb11abd-091b-4498-a086-6cab5411f523" providerId="ADAL" clId="{4BDD7BCB-6C77-4AF5-ACF5-1ADAF4CE1FED}" dt="2026-05-02T21:08:42.288" v="152" actId="729"/>
        <pc:sldMkLst>
          <pc:docMk/>
          <pc:sldMk cId="2108808711" sldId="377"/>
        </pc:sldMkLst>
      </pc:sldChg>
      <pc:sldChg chg="mod modShow">
        <pc:chgData name="Alex Lu" userId="4fb11abd-091b-4498-a086-6cab5411f523" providerId="ADAL" clId="{4BDD7BCB-6C77-4AF5-ACF5-1ADAF4CE1FED}" dt="2026-05-02T21:08:42.288" v="152" actId="729"/>
        <pc:sldMkLst>
          <pc:docMk/>
          <pc:sldMk cId="3794801960" sldId="380"/>
        </pc:sldMkLst>
      </pc:sldChg>
      <pc:sldChg chg="modSp mod">
        <pc:chgData name="Alex Lu" userId="4fb11abd-091b-4498-a086-6cab5411f523" providerId="ADAL" clId="{4BDD7BCB-6C77-4AF5-ACF5-1ADAF4CE1FED}" dt="2026-05-02T21:40:25.424" v="544" actId="20577"/>
        <pc:sldMkLst>
          <pc:docMk/>
          <pc:sldMk cId="1440198175" sldId="381"/>
        </pc:sldMkLst>
        <pc:spChg chg="mod">
          <ac:chgData name="Alex Lu" userId="4fb11abd-091b-4498-a086-6cab5411f523" providerId="ADAL" clId="{4BDD7BCB-6C77-4AF5-ACF5-1ADAF4CE1FED}" dt="2026-05-02T21:40:25.424" v="544" actId="20577"/>
          <ac:spMkLst>
            <pc:docMk/>
            <pc:sldMk cId="1440198175" sldId="381"/>
            <ac:spMk id="4" creationId="{5FB44039-A7DB-3B93-F06D-4EB120BCA102}"/>
          </ac:spMkLst>
        </pc:spChg>
      </pc:sldChg>
      <pc:sldChg chg="modSp mod">
        <pc:chgData name="Alex Lu" userId="4fb11abd-091b-4498-a086-6cab5411f523" providerId="ADAL" clId="{4BDD7BCB-6C77-4AF5-ACF5-1ADAF4CE1FED}" dt="2026-04-20T21:04:16.352" v="115" actId="5793"/>
        <pc:sldMkLst>
          <pc:docMk/>
          <pc:sldMk cId="3933720553" sldId="409"/>
        </pc:sldMkLst>
        <pc:spChg chg="mod">
          <ac:chgData name="Alex Lu" userId="4fb11abd-091b-4498-a086-6cab5411f523" providerId="ADAL" clId="{4BDD7BCB-6C77-4AF5-ACF5-1ADAF4CE1FED}" dt="2026-04-20T21:04:16.352" v="115" actId="5793"/>
          <ac:spMkLst>
            <pc:docMk/>
            <pc:sldMk cId="3933720553" sldId="409"/>
            <ac:spMk id="69" creationId="{0270DB07-FF02-7C65-A7F6-93A3F9B7CC38}"/>
          </ac:spMkLst>
        </pc:spChg>
      </pc:sldChg>
      <pc:sldChg chg="addSp delSp modSp mod">
        <pc:chgData name="Alex Lu" userId="4fb11abd-091b-4498-a086-6cab5411f523" providerId="ADAL" clId="{4BDD7BCB-6C77-4AF5-ACF5-1ADAF4CE1FED}" dt="2026-04-22T17:50:42.170" v="146" actId="1076"/>
        <pc:sldMkLst>
          <pc:docMk/>
          <pc:sldMk cId="1850667830" sldId="420"/>
        </pc:sldMkLst>
        <pc:spChg chg="mod">
          <ac:chgData name="Alex Lu" userId="4fb11abd-091b-4498-a086-6cab5411f523" providerId="ADAL" clId="{4BDD7BCB-6C77-4AF5-ACF5-1ADAF4CE1FED}" dt="2026-04-22T17:50:42.170" v="146" actId="1076"/>
          <ac:spMkLst>
            <pc:docMk/>
            <pc:sldMk cId="1850667830" sldId="420"/>
            <ac:spMk id="2" creationId="{4D9E9A12-6115-B4DD-D6EF-48E53A1B10D1}"/>
          </ac:spMkLst>
        </pc:spChg>
        <pc:spChg chg="add mod">
          <ac:chgData name="Alex Lu" userId="4fb11abd-091b-4498-a086-6cab5411f523" providerId="ADAL" clId="{4BDD7BCB-6C77-4AF5-ACF5-1ADAF4CE1FED}" dt="2026-04-22T17:50:01.974" v="135" actId="1076"/>
          <ac:spMkLst>
            <pc:docMk/>
            <pc:sldMk cId="1850667830" sldId="420"/>
            <ac:spMk id="8" creationId="{CC7166C1-0120-E756-99BE-8BEABE2A52E0}"/>
          </ac:spMkLst>
        </pc:spChg>
        <pc:picChg chg="add mod">
          <ac:chgData name="Alex Lu" userId="4fb11abd-091b-4498-a086-6cab5411f523" providerId="ADAL" clId="{4BDD7BCB-6C77-4AF5-ACF5-1ADAF4CE1FED}" dt="2026-04-22T17:50:23.471" v="142" actId="1076"/>
          <ac:picMkLst>
            <pc:docMk/>
            <pc:sldMk cId="1850667830" sldId="420"/>
            <ac:picMk id="11" creationId="{3C75EF46-D006-BB13-6CC1-8BBDD8C8ABC4}"/>
          </ac:picMkLst>
        </pc:picChg>
        <pc:cxnChg chg="add mod">
          <ac:chgData name="Alex Lu" userId="4fb11abd-091b-4498-a086-6cab5411f523" providerId="ADAL" clId="{4BDD7BCB-6C77-4AF5-ACF5-1ADAF4CE1FED}" dt="2026-04-22T17:50:01.974" v="135" actId="1076"/>
          <ac:cxnSpMkLst>
            <pc:docMk/>
            <pc:sldMk cId="1850667830" sldId="420"/>
            <ac:cxnSpMk id="9" creationId="{25213E8A-A31E-E162-877A-87FC9B776783}"/>
          </ac:cxnSpMkLst>
        </pc:cxnChg>
      </pc:sld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5T21:04:48.691"/>
    </inkml:context>
    <inkml:brush xml:id="br0">
      <inkml:brushProperty name="width" value="0.035" units="cm"/>
      <inkml:brushProperty name="height" value="0.035" units="cm"/>
      <inkml:brushProperty name="color" value="#E71224"/>
    </inkml:brush>
  </inkml:definitions>
  <inkml:trace contextRef="#ctx0" brushRef="#br0">0 154 24575,'5'0'0,"0"0"0,-1 0 0,1 0 0,0-1 0,0 0 0,-1 1 0,1-2 0,-1 1 0,1-1 0,-1 1 0,1-1 0,-1 0 0,0-1 0,0 1 0,0-1 0,0 0 0,-1 0 0,6-5 0,-5 2 0,1-1 0,-1 0 0,0 0 0,-1 0 0,0 0 0,0 0 0,0-1 0,-1 0 0,0 1 0,1-12 0,-4 18 0,1 0 0,0 0 0,0 0 0,0 0 0,1-1 0,-1 1 0,0 0 0,0 0 0,1 0 0,-1 0 0,0 0 0,1 0 0,-1 0 0,1-1 0,0 1 0,-1 1 0,1-1 0,0 0 0,0 0 0,-1 0 0,1 0 0,0 0 0,0 1 0,0-1 0,0 0 0,0 1 0,0-1 0,0 1 0,0-1 0,0 1 0,0-1 0,0 1 0,1 0 0,-1 0 0,0-1 0,0 1 0,0 0 0,0 0 0,1 0 0,-1 0 0,0 0 0,0 1 0,0-1 0,0 0 0,0 1 0,1-1 0,-1 0 0,0 1 0,0-1 0,0 1 0,0 0 0,0-1 0,0 1 0,0 0 0,1 1 0,5 3 0,0 1 0,0-1 0,-1 1 0,0 1 0,10 13 0,-15-20-8,3 6-143,0 0 0,0 0 0,1 0 1,0-1-1,0 0 0,0 0 0,1 0 1,6 4-1,2-1-6675</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1T17:59:06.423"/>
    </inkml:context>
    <inkml:brush xml:id="br0">
      <inkml:brushProperty name="width" value="0.035" units="cm"/>
      <inkml:brushProperty name="height" value="0.035" units="cm"/>
      <inkml:brushProperty name="color" value="#E71224"/>
    </inkml:brush>
  </inkml:definitions>
  <inkml:trace contextRef="#ctx0" brushRef="#br0">0 154 24575,'5'0'0,"0"0"0,-1 0 0,1 0 0,0-1 0,0 0 0,-1 1 0,1-2 0,-1 1 0,1-1 0,-1 1 0,1-1 0,-1 0 0,0-1 0,0 1 0,0-1 0,0 0 0,-1 0 0,6-5 0,-5 2 0,1-1 0,-1 0 0,0 0 0,-1 0 0,0 0 0,0 0 0,0-1 0,-1 0 0,0 1 0,1-12 0,-4 18 0,1 0 0,0 0 0,0 0 0,0 0 0,1-1 0,-1 1 0,0 0 0,0 0 0,1 0 0,-1 0 0,0 0 0,1 0 0,-1 0 0,1-1 0,0 1 0,-1 1 0,1-1 0,0 0 0,0 0 0,-1 0 0,1 0 0,0 0 0,0 1 0,0-1 0,0 0 0,0 1 0,0-1 0,0 1 0,0-1 0,0 1 0,0-1 0,0 1 0,1 0 0,-1 0 0,0-1 0,0 1 0,0 0 0,0 0 0,1 0 0,-1 0 0,0 0 0,0 1 0,0-1 0,0 0 0,0 1 0,1-1 0,-1 0 0,0 1 0,0-1 0,0 1 0,0 0 0,0-1 0,0 1 0,0 0 0,1 1 0,5 3 0,0 1 0,0-1 0,-1 1 0,0 1 0,10 13 0,-15-20-8,3 6-143,0 0 0,0 0 0,1 0 1,0-1-1,0 0 0,0 0 0,1 0 1,6 4-1,2-1-6675</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1T18:21:39.972"/>
    </inkml:context>
    <inkml:brush xml:id="br0">
      <inkml:brushProperty name="width" value="0.035" units="cm"/>
      <inkml:brushProperty name="height" value="0.035" units="cm"/>
      <inkml:brushProperty name="color" value="#E71224"/>
    </inkml:brush>
  </inkml:definitions>
  <inkml:trace contextRef="#ctx0" brushRef="#br0">12 138 24575,'-1'-1'0,"0"1"0,0 0 0,1-1 0,-1 0 0,0 1 0,1-1 0,-1 1 0,1-1 0,-1 0 0,1 1 0,-1-1 0,1 0 0,-1 0 0,1 1 0,0-1 0,-1 0 0,1 0 0,0 0 0,0 0 0,0 1 0,-1-1 0,1 0 0,0 0 0,0 0 0,0 0 0,1-1 0,-2-29 0,1 27 0,-1-1 0,1-1 0,0 1 0,1-1 0,-1 1 0,1-1 0,0 1 0,0 0 0,1 0 0,2-6 0,-3 9 0,0 1 0,0-1 0,1 0 0,-1 1 0,1-1 0,0 1 0,-1-1 0,1 1 0,0 0 0,0 0 0,0 0 0,0 0 0,0 0 0,0 0 0,0 1 0,0-1 0,0 0 0,0 1 0,0 0 0,0 0 0,1-1 0,-1 1 0,0 0 0,4 1 0,17 1 34,0 1-1,-1 1 1,41 14-1,-35-10-783,47 8 1,-64-15-6077</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1T18:21:41.789"/>
    </inkml:context>
    <inkml:brush xml:id="br0">
      <inkml:brushProperty name="width" value="0.035" units="cm"/>
      <inkml:brushProperty name="height" value="0.035" units="cm"/>
      <inkml:brushProperty name="color" value="#E71224"/>
    </inkml:brush>
  </inkml:definitions>
  <inkml:trace contextRef="#ctx0" brushRef="#br0">12 0 24575,'-1'1'0,"0"-1"0,0 1 0,1-1 0,-1 0 0,1 1 0,-1 0 0,0-1 0,1 1 0,-1-1 0,1 1 0,-1 0 0,1-1 0,-1 1 0,1 0 0,0-1 0,-1 1 0,1 0 0,0 0 0,0-1 0,-1 1 0,1 0 0,0 0 0,0 0 0,0-1 0,0 1 0,0 0 0,0 0 0,0 0 0,0 0 0,2 26 0,1-16 0,1 0 0,0 1 0,1-1 0,0-1 0,0 1 0,2-1 0,7 11 0,13 23 0,-21-34 0,0 0 0,0-1 0,1 0 0,0-1 0,1 1 0,0-1 0,0-1 0,0 0 0,1 0 0,10 6 0,-4-5 0,0 0 0,0-1 0,1 0 0,0-1 0,32 6 0,5-4 0,0-2 0,1-2 0,61-5 0,-77 1 0,-4 0 0,-12 1 0,0-1 0,0-1 0,0-1 0,0-1 0,0-1 0,30-9 0,-11-3 0,49-25 0,-78 35 0,1-2 0,-2 1 0,1-2 0,-1 1 0,0-2 0,-1 1 0,0-2 0,9-11 0,-14 13 0,0-1 0,-1 1 0,0-1 0,0 0 0,-1-1 0,0 1 0,1-14 0,6-20 0,-4 26-1365,-2 2-5461</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1T18:24:29.982"/>
    </inkml:context>
    <inkml:brush xml:id="br0">
      <inkml:brushProperty name="width" value="0.035" units="cm"/>
      <inkml:brushProperty name="height" value="0.035" units="cm"/>
      <inkml:brushProperty name="color" value="#E71224"/>
    </inkml:brush>
  </inkml:definitions>
  <inkml:trace contextRef="#ctx0" brushRef="#br0">0 199 24575,'193'-187'0,"-192"186"0,-1 0 0,1 0 0,0 0 0,0 0 0,0 1 0,0-1 0,0 0 0,0 0 0,0 1 0,0-1 0,0 1 0,0-1 0,1 1 0,-1-1 0,0 1 0,0 0 0,0-1 0,1 1 0,-1 0 0,0 0 0,0 0 0,1 0 0,-1 0 0,0 0 0,0 0 0,1 1 0,-1-1 0,0 0 0,0 1 0,0-1 0,1 1 0,-1-1 0,0 1 0,0 0 0,0-1 0,0 1 0,1 1 0,3 4 0,0-1 0,-1 1 0,0 1 0,0-1 0,5 11 0,6 10 0,68 92-1365,-76-107-5461</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1T18:24:38.710"/>
    </inkml:context>
    <inkml:brush xml:id="br0">
      <inkml:brushProperty name="width" value="0.035" units="cm"/>
      <inkml:brushProperty name="height" value="0.035" units="cm"/>
      <inkml:brushProperty name="color" value="#E71224"/>
    </inkml:brush>
  </inkml:definitions>
  <inkml:trace contextRef="#ctx0" brushRef="#br0">161 0 24575,'-1'9'0,"-1"1"0,0-1 0,0 0 0,-1 0 0,0 0 0,0 0 0,-1-1 0,0 1 0,0-1 0,-1 0 0,0 0 0,-9 9 0,7-8 0,1 0 0,0 0 0,0 1 0,1 0 0,0 0 0,0 0 0,2 1 0,-5 14 0,3 37 0,5-47 0,-1 0 0,-1 0 0,0 0 0,-5 15 0,2-14 0,-6 17 0,-10 55 0,20-75 0,-1 0 0,2-1 0,0 1 0,0 0 0,1-1 0,1 1 0,0-1 0,3 13 0,4 5 0,2 0 0,0-1 0,2 0 0,19 30 0,-20-38-120,-3-5-87,0 0-1,1-1 1,1 0-1,0 0 0,24 22 1,-20-24-6619</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1T17:59:06.423"/>
    </inkml:context>
    <inkml:brush xml:id="br0">
      <inkml:brushProperty name="width" value="0.035" units="cm"/>
      <inkml:brushProperty name="height" value="0.035" units="cm"/>
      <inkml:brushProperty name="color" value="#E71224"/>
    </inkml:brush>
  </inkml:definitions>
  <inkml:trace contextRef="#ctx0" brushRef="#br0">0 154 24575,'5'0'0,"0"0"0,-1 0 0,1 0 0,0-1 0,0 0 0,-1 1 0,1-2 0,-1 1 0,1-1 0,-1 1 0,1-1 0,-1 0 0,0-1 0,0 1 0,0-1 0,0 0 0,-1 0 0,6-5 0,-5 2 0,1-1 0,-1 0 0,0 0 0,-1 0 0,0 0 0,0 0 0,0-1 0,-1 0 0,0 1 0,1-12 0,-4 18 0,1 0 0,0 0 0,0 0 0,0 0 0,1-1 0,-1 1 0,0 0 0,0 0 0,1 0 0,-1 0 0,0 0 0,1 0 0,-1 0 0,1-1 0,0 1 0,-1 1 0,1-1 0,0 0 0,0 0 0,-1 0 0,1 0 0,0 0 0,0 1 0,0-1 0,0 0 0,0 1 0,0-1 0,0 1 0,0-1 0,0 1 0,0-1 0,0 1 0,1 0 0,-1 0 0,0-1 0,0 1 0,0 0 0,0 0 0,1 0 0,-1 0 0,0 0 0,0 1 0,0-1 0,0 0 0,0 1 0,1-1 0,-1 0 0,0 1 0,0-1 0,0 1 0,0 0 0,0-1 0,0 1 0,0 0 0,1 1 0,5 3 0,0 1 0,0-1 0,-1 1 0,0 1 0,10 13 0,-15-20-8,3 6-143,0 0 0,0 0 0,1 0 1,0-1-1,0 0 0,0 0 0,1 0 1,6 4-1,2-1-6675</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1T18:21:39.972"/>
    </inkml:context>
    <inkml:brush xml:id="br0">
      <inkml:brushProperty name="width" value="0.035" units="cm"/>
      <inkml:brushProperty name="height" value="0.035" units="cm"/>
      <inkml:brushProperty name="color" value="#E71224"/>
    </inkml:brush>
  </inkml:definitions>
  <inkml:trace contextRef="#ctx0" brushRef="#br0">12 138 24575,'-1'-1'0,"0"1"0,0 0 0,1-1 0,-1 0 0,0 1 0,1-1 0,-1 1 0,1-1 0,-1 0 0,1 1 0,-1-1 0,1 0 0,-1 0 0,1 1 0,0-1 0,-1 0 0,1 0 0,0 0 0,0 0 0,0 1 0,-1-1 0,1 0 0,0 0 0,0 0 0,0 0 0,1-1 0,-2-29 0,1 27 0,-1-1 0,1-1 0,0 1 0,1-1 0,-1 1 0,1-1 0,0 1 0,0 0 0,1 0 0,2-6 0,-3 9 0,0 1 0,0-1 0,1 0 0,-1 1 0,1-1 0,0 1 0,-1-1 0,1 1 0,0 0 0,0 0 0,0 0 0,0 0 0,0 0 0,0 0 0,0 1 0,0-1 0,0 0 0,0 1 0,0 0 0,0 0 0,1-1 0,-1 1 0,0 0 0,4 1 0,17 1 34,0 1-1,-1 1 1,41 14-1,-35-10-783,47 8 1,-64-15-6077</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1T18:21:41.789"/>
    </inkml:context>
    <inkml:brush xml:id="br0">
      <inkml:brushProperty name="width" value="0.035" units="cm"/>
      <inkml:brushProperty name="height" value="0.035" units="cm"/>
      <inkml:brushProperty name="color" value="#E71224"/>
    </inkml:brush>
  </inkml:definitions>
  <inkml:trace contextRef="#ctx0" brushRef="#br0">12 0 24575,'-1'1'0,"0"-1"0,0 1 0,1-1 0,-1 0 0,1 1 0,-1 0 0,0-1 0,1 1 0,-1-1 0,1 1 0,-1 0 0,1-1 0,-1 1 0,1 0 0,0-1 0,-1 1 0,1 0 0,0 0 0,0-1 0,-1 1 0,1 0 0,0 0 0,0 0 0,0-1 0,0 1 0,0 0 0,0 0 0,0 0 0,0 0 0,2 26 0,1-16 0,1 0 0,0 1 0,1-1 0,0-1 0,0 1 0,2-1 0,7 11 0,13 23 0,-21-34 0,0 0 0,0-1 0,1 0 0,0-1 0,1 1 0,0-1 0,0-1 0,0 0 0,1 0 0,10 6 0,-4-5 0,0 0 0,0-1 0,1 0 0,0-1 0,32 6 0,5-4 0,0-2 0,1-2 0,61-5 0,-77 1 0,-4 0 0,-12 1 0,0-1 0,0-1 0,0-1 0,0-1 0,0-1 0,30-9 0,-11-3 0,49-25 0,-78 35 0,1-2 0,-2 1 0,1-2 0,-1 1 0,0-2 0,-1 1 0,0-2 0,9-11 0,-14 13 0,0-1 0,-1 1 0,0-1 0,0 0 0,-1-1 0,0 1 0,1-14 0,6-20 0,-4 26-1365,-2 2-5461</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1T17:59:06.423"/>
    </inkml:context>
    <inkml:brush xml:id="br0">
      <inkml:brushProperty name="width" value="0.035" units="cm"/>
      <inkml:brushProperty name="height" value="0.035" units="cm"/>
      <inkml:brushProperty name="color" value="#E71224"/>
    </inkml:brush>
  </inkml:definitions>
  <inkml:trace contextRef="#ctx0" brushRef="#br0">0 154 24575,'5'0'0,"0"0"0,-1 0 0,1 0 0,0-1 0,0 0 0,-1 1 0,1-2 0,-1 1 0,1-1 0,-1 1 0,1-1 0,-1 0 0,0-1 0,0 1 0,0-1 0,0 0 0,-1 0 0,6-5 0,-5 2 0,1-1 0,-1 0 0,0 0 0,-1 0 0,0 0 0,0 0 0,0-1 0,-1 0 0,0 1 0,1-12 0,-4 18 0,1 0 0,0 0 0,0 0 0,0 0 0,1-1 0,-1 1 0,0 0 0,0 0 0,1 0 0,-1 0 0,0 0 0,1 0 0,-1 0 0,1-1 0,0 1 0,-1 1 0,1-1 0,0 0 0,0 0 0,-1 0 0,1 0 0,0 0 0,0 1 0,0-1 0,0 0 0,0 1 0,0-1 0,0 1 0,0-1 0,0 1 0,0-1 0,0 1 0,1 0 0,-1 0 0,0-1 0,0 1 0,0 0 0,0 0 0,1 0 0,-1 0 0,0 0 0,0 1 0,0-1 0,0 0 0,0 1 0,1-1 0,-1 0 0,0 1 0,0-1 0,0 1 0,0 0 0,0-1 0,0 1 0,0 0 0,1 1 0,5 3 0,0 1 0,0-1 0,-1 1 0,0 1 0,10 13 0,-15-20-8,3 6-143,0 0 0,0 0 0,1 0 1,0-1-1,0 0 0,0 0 0,1 0 1,6 4-1,2-1-6675</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1T18:21:39.972"/>
    </inkml:context>
    <inkml:brush xml:id="br0">
      <inkml:brushProperty name="width" value="0.035" units="cm"/>
      <inkml:brushProperty name="height" value="0.035" units="cm"/>
      <inkml:brushProperty name="color" value="#E71224"/>
    </inkml:brush>
  </inkml:definitions>
  <inkml:trace contextRef="#ctx0" brushRef="#br0">12 138 24575,'-1'-1'0,"0"1"0,0 0 0,1-1 0,-1 0 0,0 1 0,1-1 0,-1 1 0,1-1 0,-1 0 0,1 1 0,-1-1 0,1 0 0,-1 0 0,1 1 0,0-1 0,-1 0 0,1 0 0,0 0 0,0 0 0,0 1 0,-1-1 0,1 0 0,0 0 0,0 0 0,0 0 0,1-1 0,-2-29 0,1 27 0,-1-1 0,1-1 0,0 1 0,1-1 0,-1 1 0,1-1 0,0 1 0,0 0 0,1 0 0,2-6 0,-3 9 0,0 1 0,0-1 0,1 0 0,-1 1 0,1-1 0,0 1 0,-1-1 0,1 1 0,0 0 0,0 0 0,0 0 0,0 0 0,0 0 0,0 0 0,0 1 0,0-1 0,0 0 0,0 1 0,0 0 0,0 0 0,1-1 0,-1 1 0,0 0 0,4 1 0,17 1 34,0 1-1,-1 1 1,41 14-1,-35-10-783,47 8 1,-64-15-6077</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1T18:21:41.789"/>
    </inkml:context>
    <inkml:brush xml:id="br0">
      <inkml:brushProperty name="width" value="0.035" units="cm"/>
      <inkml:brushProperty name="height" value="0.035" units="cm"/>
      <inkml:brushProperty name="color" value="#E71224"/>
    </inkml:brush>
  </inkml:definitions>
  <inkml:trace contextRef="#ctx0" brushRef="#br0">12 0 24575,'-1'1'0,"0"-1"0,0 1 0,1-1 0,-1 0 0,1 1 0,-1 0 0,0-1 0,1 1 0,-1-1 0,1 1 0,-1 0 0,1-1 0,-1 1 0,1 0 0,0-1 0,-1 1 0,1 0 0,0 0 0,0-1 0,-1 1 0,1 0 0,0 0 0,0 0 0,0-1 0,0 1 0,0 0 0,0 0 0,0 0 0,0 0 0,2 26 0,1-16 0,1 0 0,0 1 0,1-1 0,0-1 0,0 1 0,2-1 0,7 11 0,13 23 0,-21-34 0,0 0 0,0-1 0,1 0 0,0-1 0,1 1 0,0-1 0,0-1 0,0 0 0,1 0 0,10 6 0,-4-5 0,0 0 0,0-1 0,1 0 0,0-1 0,32 6 0,5-4 0,0-2 0,1-2 0,61-5 0,-77 1 0,-4 0 0,-12 1 0,0-1 0,0-1 0,0-1 0,0-1 0,0-1 0,30-9 0,-11-3 0,49-25 0,-78 35 0,1-2 0,-2 1 0,1-2 0,-1 1 0,0-2 0,-1 1 0,0-2 0,9-11 0,-14 13 0,0-1 0,-1 1 0,0-1 0,0 0 0,-1-1 0,0 1 0,1-14 0,6-20 0,-4 26-1365,-2 2-5461</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19:45:15.707"/>
    </inkml:context>
    <inkml:brush xml:id="br0">
      <inkml:brushProperty name="width" value="0.035" units="cm"/>
      <inkml:brushProperty name="height" value="0.035" units="cm"/>
      <inkml:brushProperty name="color" value="#E71224"/>
    </inkml:brush>
  </inkml:definitions>
  <inkml:trace contextRef="#ctx0" brushRef="#br0">0 199 24575,'193'-187'0,"-192"186"0,-1 0 0,1 0 0,0 0 0,0 0 0,0 1 0,0-1 0,0 0 0,0 0 0,0 1 0,0-1 0,0 1 0,0-1 0,1 1 0,-1-1 0,0 1 0,0 0 0,0-1 0,1 1 0,-1 0 0,0 0 0,0 0 0,1 0 0,-1 0 0,0 0 0,0 0 0,1 1 0,-1-1 0,0 0 0,0 1 0,0-1 0,1 1 0,-1-1 0,0 1 0,0 0 0,0-1 0,0 1 0,1 1 0,3 4 0,0-1 0,-1 1 0,0 1 0,0-1 0,5 11 0,6 10 0,68 92-1365,-76-107-5461</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19:45:15.708"/>
    </inkml:context>
    <inkml:brush xml:id="br0">
      <inkml:brushProperty name="width" value="0.035" units="cm"/>
      <inkml:brushProperty name="height" value="0.035" units="cm"/>
      <inkml:brushProperty name="color" value="#E71224"/>
    </inkml:brush>
  </inkml:definitions>
  <inkml:trace contextRef="#ctx0" brushRef="#br0">161 0 24575,'-1'9'0,"-1"1"0,0-1 0,0 0 0,-1 0 0,0 0 0,0 0 0,-1-1 0,0 1 0,0-1 0,-1 0 0,0 0 0,-9 9 0,7-8 0,1 0 0,0 0 0,0 1 0,1 0 0,0 0 0,0 0 0,2 1 0,-5 14 0,3 37 0,5-47 0,-1 0 0,-1 0 0,0 0 0,-5 15 0,2-14 0,-6 17 0,-10 55 0,20-75 0,-1 0 0,2-1 0,0 1 0,0 0 0,1-1 0,1 1 0,0-1 0,3 13 0,4 5 0,2 0 0,0-1 0,2 0 0,19 30 0,-20-38-120,-3-5-87,0 0-1,1-1 1,1 0-1,0 0 0,24 22 1,-20-24-6619</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5"/>
        <p:cNvGrpSpPr/>
        <p:nvPr/>
      </p:nvGrpSpPr>
      <p:grpSpPr>
        <a:xfrm>
          <a:off x="0" y="0"/>
          <a:ext cx="0" cy="0"/>
          <a:chOff x="0" y="0"/>
          <a:chExt cx="0" cy="0"/>
        </a:xfrm>
      </p:grpSpPr>
      <p:sp>
        <p:nvSpPr>
          <p:cNvPr id="286" name="Google Shape;286;g2768ca7ef44_0_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7" name="Google Shape;287;g2768ca7ef44_0_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dirty="0">
                <a:solidFill>
                  <a:srgbClr val="000000"/>
                </a:solidFill>
                <a:effectLst/>
                <a:latin typeface="Arial"/>
                <a:ea typeface="Arial"/>
                <a:cs typeface="Arial"/>
                <a:sym typeface="Arial"/>
              </a:rPr>
              <a:t>Three and a half decades ago, the Human Genome Project was just kicking off. I was recently reading letters in opposition to the project. This letter is an example of some of the main critiques - the last line reads “most of the genome (about 95%) doesn’t encode for proteins and is junk as far as we can tell.” My goal in showing this is not to criticize this specific letter writer, but to emphasize this was a leading scientific consensus just three decades ago – that genomes were just passive bags of genes.</a:t>
            </a:r>
          </a:p>
        </p:txBody>
      </p:sp>
    </p:spTree>
    <p:extLst>
      <p:ext uri="{BB962C8B-B14F-4D97-AF65-F5344CB8AC3E}">
        <p14:creationId xmlns:p14="http://schemas.microsoft.com/office/powerpoint/2010/main" val="32158813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dirty="0">
                <a:solidFill>
                  <a:srgbClr val="000000"/>
                </a:solidFill>
                <a:effectLst/>
                <a:latin typeface="Arial"/>
                <a:ea typeface="Arial"/>
                <a:cs typeface="Arial"/>
                <a:sym typeface="Arial"/>
              </a:rPr>
              <a:t>Within a few decades, our consensus around how genomes operate has dramatically shifted. This was cumulation of many things, but among them, projects like ENCODE, which systematically catalogue regulatory elements in the non-coding genome, were instrumental. These projects have exposed just how much of eukaryotic genomes are dedicated to regulation. In the human genome, there are about 20,000 protein-coding genes. In contrast, the latest version of ENCODE has identified over 2.3 million cis-regulatory elements – two orders of magnitude more. This led to a greater awareness of just how much of our genome was dedicated not to coding proteins –– but precisely controlling when, where, and how much these proteins get expressed.</a:t>
            </a:r>
          </a:p>
        </p:txBody>
      </p:sp>
    </p:spTree>
    <p:extLst>
      <p:ext uri="{BB962C8B-B14F-4D97-AF65-F5344CB8AC3E}">
        <p14:creationId xmlns:p14="http://schemas.microsoft.com/office/powerpoint/2010/main" val="16237031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dirty="0">
                <a:solidFill>
                  <a:srgbClr val="000000"/>
                </a:solidFill>
                <a:effectLst/>
                <a:latin typeface="Arial"/>
                <a:ea typeface="Arial"/>
                <a:cs typeface="Arial"/>
                <a:sym typeface="Arial"/>
              </a:rPr>
              <a:t>This means we are at a very exciting age for discovery in genomics. Even as projects like ENCODE have catalogued cis-regulatory elements, we still don’t have a complete understanding of how sequences encode the precise level of response they have to different contexts, or as short-hand, the “genomic regulatory code”. It’s difficult to summarize the current extent of our knowledge in a single slide, because there are so many layers to regulation. But even focusing on the most atomic unit – individual cis-regulatory elements – there is still much to be understood. Take, for example, enhancers, which are short sequences of a few hundred base pairs that can increase the transcriptional rate of genes. </a:t>
            </a:r>
          </a:p>
        </p:txBody>
      </p:sp>
    </p:spTree>
    <p:extLst>
      <p:ext uri="{BB962C8B-B14F-4D97-AF65-F5344CB8AC3E}">
        <p14:creationId xmlns:p14="http://schemas.microsoft.com/office/powerpoint/2010/main" val="351684983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23C7D3-B172-8C27-EDE9-775A488238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2A0B528-0712-F625-239D-D3F8AC169BE2}"/>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54A795C1-6147-ED2D-68AC-7EA08412A04D}"/>
              </a:ext>
            </a:extLst>
          </p:cNvPr>
          <p:cNvSpPr>
            <a:spLocks noGrp="1"/>
          </p:cNvSpPr>
          <p:nvPr>
            <p:ph type="body" idx="1"/>
          </p:nvPr>
        </p:nvSpPr>
        <p:spPr/>
        <p:txBody>
          <a:bodyPr/>
          <a:lstStyle/>
          <a:p>
            <a:pPr marL="15875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dirty="0">
                <a:solidFill>
                  <a:srgbClr val="000000"/>
                </a:solidFill>
                <a:effectLst/>
                <a:latin typeface="Arial"/>
                <a:ea typeface="Arial"/>
                <a:cs typeface="Arial"/>
                <a:sym typeface="Arial"/>
              </a:rPr>
              <a:t>Enhancers usually contain tens of binding sites for transcription factors, each of which may recruit different kinds of transcription factors. Often these are encoded in the sequences as motifs, short sequence patterns, that have affinity for these proteins.</a:t>
            </a:r>
          </a:p>
        </p:txBody>
      </p:sp>
    </p:spTree>
    <p:extLst>
      <p:ext uri="{BB962C8B-B14F-4D97-AF65-F5344CB8AC3E}">
        <p14:creationId xmlns:p14="http://schemas.microsoft.com/office/powerpoint/2010/main" val="20050930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417A6F-DFBF-7CEB-7956-6CA9C657B6C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4017CA-85E7-5772-C03E-08F5E0103DBC}"/>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715FE8D9-A14A-5F6D-1136-DDAB25F54545}"/>
              </a:ext>
            </a:extLst>
          </p:cNvPr>
          <p:cNvSpPr>
            <a:spLocks noGrp="1"/>
          </p:cNvSpPr>
          <p:nvPr>
            <p:ph type="body" idx="1"/>
          </p:nvPr>
        </p:nvSpPr>
        <p:spPr/>
        <p:txBody>
          <a:bodyPr/>
          <a:lstStyle/>
          <a:p>
            <a:pPr marL="15875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dirty="0">
                <a:solidFill>
                  <a:srgbClr val="000000"/>
                </a:solidFill>
                <a:effectLst/>
                <a:latin typeface="Arial"/>
                <a:ea typeface="Arial"/>
                <a:cs typeface="Arial"/>
                <a:sym typeface="Arial"/>
              </a:rPr>
              <a:t>Depending upon factors like what transcription factors are expressed in a specific cell state or the affinity of the sequence for these transcription factors, different sets of transcription factors may be bound at any given time. For example, in one cell state it might look like this…</a:t>
            </a:r>
          </a:p>
        </p:txBody>
      </p:sp>
    </p:spTree>
    <p:extLst>
      <p:ext uri="{BB962C8B-B14F-4D97-AF65-F5344CB8AC3E}">
        <p14:creationId xmlns:p14="http://schemas.microsoft.com/office/powerpoint/2010/main" val="290042171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152383-B17F-70BD-9469-D9DFC97C19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4AF5BFF-3D27-A55D-5C73-F6E79743050C}"/>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28538014-E649-9F9B-976D-802CE48E5461}"/>
              </a:ext>
            </a:extLst>
          </p:cNvPr>
          <p:cNvSpPr>
            <a:spLocks noGrp="1"/>
          </p:cNvSpPr>
          <p:nvPr>
            <p:ph type="body" idx="1"/>
          </p:nvPr>
        </p:nvSpPr>
        <p:spPr/>
        <p:txBody>
          <a:bodyPr/>
          <a:lstStyle/>
          <a:p>
            <a:pPr marL="15875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dirty="0">
                <a:solidFill>
                  <a:srgbClr val="000000"/>
                </a:solidFill>
                <a:effectLst/>
                <a:latin typeface="Arial"/>
                <a:ea typeface="Arial"/>
                <a:cs typeface="Arial"/>
                <a:sym typeface="Arial"/>
              </a:rPr>
              <a:t>Whereas in another cell state, it might look something like this.</a:t>
            </a:r>
          </a:p>
        </p:txBody>
      </p:sp>
    </p:spTree>
    <p:extLst>
      <p:ext uri="{BB962C8B-B14F-4D97-AF65-F5344CB8AC3E}">
        <p14:creationId xmlns:p14="http://schemas.microsoft.com/office/powerpoint/2010/main" val="164953151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72CE9D-C38F-89E6-336D-8E1A9C97F4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084AC8-7392-2198-D3E4-91621CF3F4F6}"/>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5DA64B3A-0DCD-322C-8378-6DF7588882B7}"/>
              </a:ext>
            </a:extLst>
          </p:cNvPr>
          <p:cNvSpPr>
            <a:spLocks noGrp="1"/>
          </p:cNvSpPr>
          <p:nvPr>
            <p:ph type="body" idx="1"/>
          </p:nvPr>
        </p:nvSpPr>
        <p:spPr/>
        <p:txBody>
          <a:bodyPr/>
          <a:lstStyle/>
          <a:p>
            <a:pPr marL="15875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dirty="0">
                <a:solidFill>
                  <a:srgbClr val="000000"/>
                </a:solidFill>
                <a:effectLst/>
                <a:latin typeface="Arial"/>
                <a:ea typeface="Arial"/>
                <a:cs typeface="Arial"/>
                <a:sym typeface="Arial"/>
              </a:rPr>
              <a:t>Small differences can lead to very different outcomes. This is because transcription factors can cooperate and compete with each other – so we should not assume that these regulatory states behave in any linear way. </a:t>
            </a:r>
          </a:p>
        </p:txBody>
      </p:sp>
    </p:spTree>
    <p:extLst>
      <p:ext uri="{BB962C8B-B14F-4D97-AF65-F5344CB8AC3E}">
        <p14:creationId xmlns:p14="http://schemas.microsoft.com/office/powerpoint/2010/main" val="306123558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FB8594-9957-013F-81BC-CAAF9517C6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1CA57B-5D63-6EEB-DE8F-3A8FCE28F5A8}"/>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90C07FEC-21B2-D46D-5A98-BE7E1CCF4302}"/>
              </a:ext>
            </a:extLst>
          </p:cNvPr>
          <p:cNvSpPr>
            <a:spLocks noGrp="1"/>
          </p:cNvSpPr>
          <p:nvPr>
            <p:ph type="body" idx="1"/>
          </p:nvPr>
        </p:nvSpPr>
        <p:spPr/>
        <p:txBody>
          <a:bodyPr/>
          <a:lstStyle/>
          <a:p>
            <a:pPr marL="15875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dirty="0">
                <a:solidFill>
                  <a:srgbClr val="000000"/>
                </a:solidFill>
                <a:effectLst/>
                <a:latin typeface="Arial"/>
                <a:ea typeface="Arial"/>
                <a:cs typeface="Arial"/>
                <a:sym typeface="Arial"/>
              </a:rPr>
              <a:t>Anecdotally, we know for some enhancers, if we shift a single transcription factor binding site even 2-5 base pairs, that can invert the function of the enhancer. This is all to say – even for individual elements, the regulatory code can be complex. Because of this – for most enhancers, we do not understand their sequence-to-function logic. And again – this is just the most atomic level of the regulatory code, before we even get into questions about how multiple cis-regulatory elements may interact, how their properties are modified by epigenetics, or how does the 3D structure of DNA interacts. </a:t>
            </a:r>
          </a:p>
        </p:txBody>
      </p:sp>
    </p:spTree>
    <p:extLst>
      <p:ext uri="{BB962C8B-B14F-4D97-AF65-F5344CB8AC3E}">
        <p14:creationId xmlns:p14="http://schemas.microsoft.com/office/powerpoint/2010/main" val="240966670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EE98FF-F3C3-0C33-D32F-26D607CCECB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3104E6F-DA18-5E0B-DAAF-12B62BC87DC8}"/>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880392F2-74BF-024D-11FC-E612D224B44E}"/>
              </a:ext>
            </a:extLst>
          </p:cNvPr>
          <p:cNvSpPr>
            <a:spLocks noGrp="1"/>
          </p:cNvSpPr>
          <p:nvPr>
            <p:ph type="body" idx="1"/>
          </p:nvPr>
        </p:nvSpPr>
        <p:spPr/>
        <p:txBody>
          <a:bodyPr/>
          <a:lstStyle/>
          <a:p>
            <a:pPr marL="15875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dirty="0">
                <a:solidFill>
                  <a:srgbClr val="000000"/>
                </a:solidFill>
                <a:effectLst/>
                <a:latin typeface="Arial"/>
                <a:ea typeface="Arial"/>
                <a:cs typeface="Arial"/>
                <a:sym typeface="Arial"/>
              </a:rPr>
              <a:t>Why do we care about understanding the regulatory code? The best answer I can give is that it helps us understand, physically, what makes us human. </a:t>
            </a:r>
          </a:p>
        </p:txBody>
      </p:sp>
    </p:spTree>
    <p:extLst>
      <p:ext uri="{BB962C8B-B14F-4D97-AF65-F5344CB8AC3E}">
        <p14:creationId xmlns:p14="http://schemas.microsoft.com/office/powerpoint/2010/main" val="145348761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A02504-185D-C711-9C0A-A84A1AA5EFA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E9F1C6-1139-5401-E404-88F7892A3039}"/>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0864B4A2-3505-8FB6-8368-619DF5989DBA}"/>
              </a:ext>
            </a:extLst>
          </p:cNvPr>
          <p:cNvSpPr>
            <a:spLocks noGrp="1"/>
          </p:cNvSpPr>
          <p:nvPr>
            <p:ph type="body" idx="1"/>
          </p:nvPr>
        </p:nvSpPr>
        <p:spPr/>
        <p:txBody>
          <a:bodyPr/>
          <a:lstStyle/>
          <a:p>
            <a:pPr marL="15875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dirty="0">
                <a:solidFill>
                  <a:srgbClr val="000000"/>
                </a:solidFill>
                <a:effectLst/>
                <a:latin typeface="Arial"/>
                <a:ea typeface="Arial"/>
                <a:cs typeface="Arial"/>
                <a:sym typeface="Arial"/>
              </a:rPr>
              <a:t>Every cell in our body has the same template – the same genome. And yet from this template, we get all the different kinds of cells in our bodies – heart cells, lung cells, liver cells. </a:t>
            </a:r>
          </a:p>
        </p:txBody>
      </p:sp>
    </p:spTree>
    <p:extLst>
      <p:ext uri="{BB962C8B-B14F-4D97-AF65-F5344CB8AC3E}">
        <p14:creationId xmlns:p14="http://schemas.microsoft.com/office/powerpoint/2010/main" val="28812476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B22811-CE88-0912-3CB1-115F57C2E21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47DCD6-F950-59AF-308B-AE95AAF432A8}"/>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65E83CD7-DA5C-1B26-5ABB-BD11D8451639}"/>
              </a:ext>
            </a:extLst>
          </p:cNvPr>
          <p:cNvSpPr>
            <a:spLocks noGrp="1"/>
          </p:cNvSpPr>
          <p:nvPr>
            <p:ph type="body" idx="1"/>
          </p:nvPr>
        </p:nvSpPr>
        <p:spPr/>
        <p:txBody>
          <a:bodyPr/>
          <a:lstStyle/>
          <a:p>
            <a:pPr marL="15875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dirty="0">
                <a:solidFill>
                  <a:srgbClr val="000000"/>
                </a:solidFill>
                <a:effectLst/>
                <a:latin typeface="Arial"/>
                <a:ea typeface="Arial"/>
                <a:cs typeface="Arial"/>
                <a:sym typeface="Arial"/>
              </a:rPr>
              <a:t>The level of control the regulatory code has is incredibly precise. Every single olfactory cell in our body needs to express exactly one receptor out of hundreds, for our sense of smell to be functional. </a:t>
            </a:r>
          </a:p>
        </p:txBody>
      </p:sp>
    </p:spTree>
    <p:extLst>
      <p:ext uri="{BB962C8B-B14F-4D97-AF65-F5344CB8AC3E}">
        <p14:creationId xmlns:p14="http://schemas.microsoft.com/office/powerpoint/2010/main" val="195645587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FFC9B4-0638-32BD-9351-1D91AC500C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D6DE785-EADF-7065-D92A-40C096F026EE}"/>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D5B35C9B-E8F5-3DBC-05D7-2216994298E7}"/>
              </a:ext>
            </a:extLst>
          </p:cNvPr>
          <p:cNvSpPr>
            <a:spLocks noGrp="1"/>
          </p:cNvSpPr>
          <p:nvPr>
            <p:ph type="body" idx="1"/>
          </p:nvPr>
        </p:nvSpPr>
        <p:spPr/>
        <p:txBody>
          <a:bodyPr/>
          <a:lstStyle/>
          <a:p>
            <a:pPr marL="15875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dirty="0">
                <a:solidFill>
                  <a:srgbClr val="000000"/>
                </a:solidFill>
                <a:effectLst/>
                <a:latin typeface="Arial"/>
                <a:ea typeface="Arial"/>
                <a:cs typeface="Arial"/>
                <a:sym typeface="Arial"/>
              </a:rPr>
              <a:t>And the regulatory code is not just responsible for static cell states – it also is responsive to changes in our environment. For example – it modulates how our muscles respond to exercise. So in other words – I’m excited about understanding the regulatory code, because I just want to understand what makes us human. </a:t>
            </a:r>
          </a:p>
        </p:txBody>
      </p:sp>
    </p:spTree>
    <p:extLst>
      <p:ext uri="{BB962C8B-B14F-4D97-AF65-F5344CB8AC3E}">
        <p14:creationId xmlns:p14="http://schemas.microsoft.com/office/powerpoint/2010/main" val="289860947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10A9D0-CF41-A2FF-E0AF-46B7831EE4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D85E49-2438-E2A7-7168-9DE625F48A81}"/>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2F40C090-99D2-A8ED-D71A-DC47636FCFCC}"/>
              </a:ext>
            </a:extLst>
          </p:cNvPr>
          <p:cNvSpPr>
            <a:spLocks noGrp="1"/>
          </p:cNvSpPr>
          <p:nvPr>
            <p:ph type="body" idx="1"/>
          </p:nvPr>
        </p:nvSpPr>
        <p:spPr/>
        <p:txBody>
          <a:bodyPr/>
          <a:lstStyle/>
          <a:p>
            <a:pPr marL="15875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dirty="0">
                <a:solidFill>
                  <a:srgbClr val="000000"/>
                </a:solidFill>
                <a:effectLst/>
                <a:latin typeface="Arial"/>
                <a:ea typeface="Arial"/>
                <a:cs typeface="Arial"/>
                <a:sym typeface="Arial"/>
              </a:rPr>
              <a:t>Hopefully, I’ve gotten you as excited about the biology as I am – let’s dig into how computational methods can help. This gap in our understanding of the genomic regulatory code coincides with the observation that self-supervised language models can learn a statistical understanding of language. These models are pretrained using tasks that can scale to massive unlabeled datasets. Many train using next-token prediction, making them autoregressive language models - given part of a sentence, a model may be trained to predict the next word. As for the intuition of why this learns an unsupervised understanding of language – suppose I asked you to solve this task, you would need to read the start of the sentence, understand it, and then use your knowledge of English vocabulary to predict what could plausibly go next. These are the skills required to achieve performance on this task – so the language model also needs to develop these skills. </a:t>
            </a:r>
          </a:p>
        </p:txBody>
      </p:sp>
    </p:spTree>
    <p:extLst>
      <p:ext uri="{BB962C8B-B14F-4D97-AF65-F5344CB8AC3E}">
        <p14:creationId xmlns:p14="http://schemas.microsoft.com/office/powerpoint/2010/main" val="985910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lvl="0" indent="0">
              <a:buNone/>
            </a:pPr>
            <a:r>
              <a:rPr lang="en-US" sz="1100" b="0" i="0" u="none" strike="noStrike" cap="none" dirty="0">
                <a:solidFill>
                  <a:srgbClr val="000000"/>
                </a:solidFill>
                <a:effectLst/>
                <a:latin typeface="Arial"/>
                <a:ea typeface="Arial"/>
                <a:cs typeface="Arial"/>
                <a:sym typeface="Arial"/>
              </a:rPr>
              <a:t>This ability to learn an unsupervised understanding of language has profound implications for understanding the genomic regulatory code. If we were to treat genomic sequences as “language” – could we also, analogously, learn the grammar of this language, even if we don’t fully understand it ourselves? The core idea is to treat nucleotide sequence representations of genomes – the letters that make up DNA, A, T, C, and G – as if they were sequential text, and to pretrain models using the same sequence reconstruction techniques common for pretraining natural language models.</a:t>
            </a:r>
          </a:p>
        </p:txBody>
      </p:sp>
    </p:spTree>
    <p:extLst>
      <p:ext uri="{BB962C8B-B14F-4D97-AF65-F5344CB8AC3E}">
        <p14:creationId xmlns:p14="http://schemas.microsoft.com/office/powerpoint/2010/main" val="28760257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C0AC48-217C-E5D8-EBAA-5FF1C89B40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4B273AA-9DB3-AEAC-6954-08669D60DC09}"/>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03EB58DD-9BD3-4F2D-980C-7067801B8DE5}"/>
              </a:ext>
            </a:extLst>
          </p:cNvPr>
          <p:cNvSpPr>
            <a:spLocks noGrp="1"/>
          </p:cNvSpPr>
          <p:nvPr>
            <p:ph type="body" idx="1"/>
          </p:nvPr>
        </p:nvSpPr>
        <p:spPr/>
        <p:txBody>
          <a:bodyPr/>
          <a:lstStyle/>
          <a:p>
            <a:pPr marL="158750" lvl="0" indent="0">
              <a:buNone/>
            </a:pPr>
            <a:r>
              <a:rPr lang="en-US" sz="1100" b="0" i="0" u="none" strike="noStrike" cap="none" dirty="0">
                <a:solidFill>
                  <a:srgbClr val="000000"/>
                </a:solidFill>
                <a:effectLst/>
                <a:latin typeface="Arial"/>
                <a:ea typeface="Arial"/>
                <a:cs typeface="Arial"/>
                <a:sym typeface="Arial"/>
              </a:rPr>
              <a:t>Once we’ve trained these models, there are several ways they can advance our understanding of regulatory grammar. First, if they really have learned a more sophisticated understanding of regulatory grammar beyond our current understanding, then they should be able to better predict things like cell state-specific gene expression. In other words, prediction is a good way to verify understanding. </a:t>
            </a:r>
          </a:p>
        </p:txBody>
      </p:sp>
    </p:spTree>
    <p:extLst>
      <p:ext uri="{BB962C8B-B14F-4D97-AF65-F5344CB8AC3E}">
        <p14:creationId xmlns:p14="http://schemas.microsoft.com/office/powerpoint/2010/main" val="96532809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1748C4-7673-E567-E632-43A211CE48A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9ED34E-EC96-C300-F29A-410BFFA5F5AE}"/>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94D15F79-8708-DDB8-5616-18935694A542}"/>
              </a:ext>
            </a:extLst>
          </p:cNvPr>
          <p:cNvSpPr>
            <a:spLocks noGrp="1"/>
          </p:cNvSpPr>
          <p:nvPr>
            <p:ph type="body" idx="1"/>
          </p:nvPr>
        </p:nvSpPr>
        <p:spPr/>
        <p:txBody>
          <a:bodyPr/>
          <a:lstStyle/>
          <a:p>
            <a:pPr marL="158750" lvl="0" indent="0">
              <a:buNone/>
            </a:pPr>
            <a:r>
              <a:rPr lang="en-US" sz="1100" b="0" i="0" u="none" strike="noStrike" cap="none" dirty="0">
                <a:solidFill>
                  <a:srgbClr val="000000"/>
                </a:solidFill>
                <a:effectLst/>
                <a:latin typeface="Arial"/>
                <a:ea typeface="Arial"/>
                <a:cs typeface="Arial"/>
                <a:sym typeface="Arial"/>
              </a:rPr>
              <a:t>But we’re often not just satisfied with black box understanding. Interpretation techniques can be used to convert these black box models into more human understandable principles. There are a lot of different techniques and I won’t review all of them – but for example, you may look at what parts of input sequence models pay disproportionate weight or attention to, which can guide us to functionally important parts of the sequence.</a:t>
            </a:r>
          </a:p>
        </p:txBody>
      </p:sp>
    </p:spTree>
    <p:extLst>
      <p:ext uri="{BB962C8B-B14F-4D97-AF65-F5344CB8AC3E}">
        <p14:creationId xmlns:p14="http://schemas.microsoft.com/office/powerpoint/2010/main" val="57013865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E970A8-9639-8359-AB5D-05A1D903014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12DB8DE-EF53-0975-B56F-BF979386A64E}"/>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0B3F9FE8-7E0A-BBBF-FDA0-A7596FB64871}"/>
              </a:ext>
            </a:extLst>
          </p:cNvPr>
          <p:cNvSpPr>
            <a:spLocks noGrp="1"/>
          </p:cNvSpPr>
          <p:nvPr>
            <p:ph type="body" idx="1"/>
          </p:nvPr>
        </p:nvSpPr>
        <p:spPr/>
        <p:txBody>
          <a:bodyPr/>
          <a:lstStyle/>
          <a:p>
            <a:pPr marL="158750" lvl="0" indent="0">
              <a:buNone/>
            </a:pPr>
            <a:r>
              <a:rPr lang="en-US" sz="1100" b="0" i="0" u="none" strike="noStrike" cap="none" dirty="0">
                <a:solidFill>
                  <a:srgbClr val="000000"/>
                </a:solidFill>
                <a:effectLst/>
                <a:latin typeface="Arial"/>
                <a:ea typeface="Arial"/>
                <a:cs typeface="Arial"/>
                <a:sym typeface="Arial"/>
              </a:rPr>
              <a:t>Finally, because these models are typically also generative models can produce sequences, we can also use the generations to shed insights. For example, we could generate multiple sequences that the model believes will be active in a specific cell state, and analyze commonalities between these sequences.</a:t>
            </a:r>
          </a:p>
        </p:txBody>
      </p:sp>
    </p:spTree>
    <p:extLst>
      <p:ext uri="{BB962C8B-B14F-4D97-AF65-F5344CB8AC3E}">
        <p14:creationId xmlns:p14="http://schemas.microsoft.com/office/powerpoint/2010/main" val="36138604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85FD9D-55F4-9AD1-DD69-FCCD2E42C61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E69095-73C0-4FA2-1C28-CEF61C9625C4}"/>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47BEBB00-A441-769C-25E2-E06BB6A6B0C0}"/>
              </a:ext>
            </a:extLst>
          </p:cNvPr>
          <p:cNvSpPr>
            <a:spLocks noGrp="1"/>
          </p:cNvSpPr>
          <p:nvPr>
            <p:ph type="body" idx="1"/>
          </p:nvPr>
        </p:nvSpPr>
        <p:spPr/>
        <p:txBody>
          <a:bodyPr/>
          <a:lstStyle/>
          <a:p>
            <a:pPr marL="15875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dirty="0">
                <a:solidFill>
                  <a:srgbClr val="000000"/>
                </a:solidFill>
                <a:effectLst/>
                <a:latin typeface="Arial"/>
                <a:ea typeface="Arial"/>
                <a:cs typeface="Arial"/>
                <a:sym typeface="Arial"/>
              </a:rPr>
              <a:t>Because genome language models have the potential to significantly advance our understanding of genomes, since the first genome language models were proposed in 2021, dozens of different models have emerged. This slide shows, to scale, the size of modeling efforts over the years – </a:t>
            </a:r>
            <a:r>
              <a:rPr lang="en-US" sz="1100" b="0" i="0" u="none" strike="noStrike" cap="none" dirty="0" err="1">
                <a:solidFill>
                  <a:srgbClr val="000000"/>
                </a:solidFill>
                <a:effectLst/>
                <a:latin typeface="Arial"/>
                <a:ea typeface="Arial"/>
                <a:cs typeface="Arial"/>
                <a:sym typeface="Arial"/>
              </a:rPr>
              <a:t>DNABert</a:t>
            </a:r>
            <a:r>
              <a:rPr lang="en-US" sz="1100" b="0" i="0" u="none" strike="noStrike" cap="none" dirty="0">
                <a:solidFill>
                  <a:srgbClr val="000000"/>
                </a:solidFill>
                <a:effectLst/>
                <a:latin typeface="Arial"/>
                <a:ea typeface="Arial"/>
                <a:cs typeface="Arial"/>
                <a:sym typeface="Arial"/>
              </a:rPr>
              <a:t> barely registers as a speck, whereas I can’t even fit Evo2, which claims to be the largest open model to date and by our estimates cost a retail cost of $10 million to train. So people are really investing hard into these models now. For me, what makes these models so attractive is if they really do learn an understanding of principles of the regulatory code beyond our current knowledge, we can use this to further understanding.</a:t>
            </a:r>
          </a:p>
        </p:txBody>
      </p:sp>
    </p:spTree>
    <p:extLst>
      <p:ext uri="{BB962C8B-B14F-4D97-AF65-F5344CB8AC3E}">
        <p14:creationId xmlns:p14="http://schemas.microsoft.com/office/powerpoint/2010/main" val="408721112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878C28-1E9E-460D-182B-24CA1F35CE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1AAC16A-4D33-8393-6EE8-A0561747750D}"/>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7CEB4993-9682-F901-9EF9-46D3D3CDEA85}"/>
              </a:ext>
            </a:extLst>
          </p:cNvPr>
          <p:cNvSpPr>
            <a:spLocks noGrp="1"/>
          </p:cNvSpPr>
          <p:nvPr>
            <p:ph type="body" idx="1"/>
          </p:nvPr>
        </p:nvSpPr>
        <p:spPr/>
        <p:txBody>
          <a:bodyPr/>
          <a:lstStyle/>
          <a:p>
            <a:pPr marL="158750" lvl="0" indent="0">
              <a:buNone/>
            </a:pPr>
            <a:r>
              <a:rPr lang="en-US" sz="1100" b="0" i="0" u="none" strike="noStrike" cap="none" dirty="0">
                <a:solidFill>
                  <a:srgbClr val="000000"/>
                </a:solidFill>
                <a:effectLst/>
                <a:latin typeface="Arial"/>
                <a:ea typeface="Arial"/>
                <a:cs typeface="Arial"/>
                <a:sym typeface="Arial"/>
              </a:rPr>
              <a:t>But that’s a big if. There is an emerging body of work showing that current genome language models may not be learning biological signal in genomic sequence well. The most striking one to me was the “Genomic Foundationless Models” preprint. The authors compared recent genomic language models on 52 genomic classification tasks, versus their randomly initialized counterparts. In other words, they’re comparing models to ones that have not been trained at all, versus models that have been exposed to hundreds or thousands of genomes. This is a reproduction of one of the figures from this paper. In this figure, each plot is a different genomic sequence prediction task, and the X-axis shows the 7 different models they evaluated. If the bar is below zero on the y-axis, randomly initialized models are performing </a:t>
            </a:r>
            <a:r>
              <a:rPr lang="en-US" sz="1100" b="0" i="1" u="none" strike="noStrike" cap="none" dirty="0">
                <a:solidFill>
                  <a:srgbClr val="000000"/>
                </a:solidFill>
                <a:effectLst/>
                <a:latin typeface="Arial"/>
                <a:ea typeface="Arial"/>
                <a:cs typeface="Arial"/>
                <a:sym typeface="Arial"/>
              </a:rPr>
              <a:t>better</a:t>
            </a:r>
            <a:r>
              <a:rPr lang="en-US" sz="1100" b="0" i="0" u="none" strike="noStrike" cap="none" dirty="0">
                <a:solidFill>
                  <a:srgbClr val="000000"/>
                </a:solidFill>
                <a:effectLst/>
                <a:latin typeface="Arial"/>
                <a:ea typeface="Arial"/>
                <a:cs typeface="Arial"/>
                <a:sym typeface="Arial"/>
              </a:rPr>
              <a:t> than the pretrained model. In other words, what this plot tells us is that across different tasks, the understanding of genomic sequence developed by pretraining does not improve performance – but in some cases even significantly harms performance. I don’t know about you – but for models that are costing millions of dollars to train – I have higher expectations. </a:t>
            </a:r>
          </a:p>
        </p:txBody>
      </p:sp>
    </p:spTree>
    <p:extLst>
      <p:ext uri="{BB962C8B-B14F-4D97-AF65-F5344CB8AC3E}">
        <p14:creationId xmlns:p14="http://schemas.microsoft.com/office/powerpoint/2010/main" val="374730477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15EC85-372D-6F09-6F21-F8D988C1CC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C24E6D-4DC2-837F-7AD8-72CFA15AC06E}"/>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39F9344D-1843-2DCF-6E4C-D253C535B734}"/>
              </a:ext>
            </a:extLst>
          </p:cNvPr>
          <p:cNvSpPr>
            <a:spLocks noGrp="1"/>
          </p:cNvSpPr>
          <p:nvPr>
            <p:ph type="body" idx="1"/>
          </p:nvPr>
        </p:nvSpPr>
        <p:spPr/>
        <p:txBody>
          <a:bodyPr/>
          <a:lstStyle/>
          <a:p>
            <a:pPr marL="158750" lvl="0" indent="0">
              <a:buNone/>
            </a:pPr>
            <a:r>
              <a:rPr lang="en-US" sz="1100" b="0" i="0" u="none" strike="noStrike" cap="none" dirty="0">
                <a:solidFill>
                  <a:srgbClr val="000000"/>
                </a:solidFill>
                <a:effectLst/>
                <a:latin typeface="Arial"/>
                <a:ea typeface="Arial"/>
                <a:cs typeface="Arial"/>
                <a:sym typeface="Arial"/>
              </a:rPr>
              <a:t>Why is this happening? Why are genome language models not effective at picking up biological signal in sequences? If you can answer that question, please let me know – you’ll solve a chunk of my research program. But at minimum, we can speculate about this. Genomes do not behave like language! </a:t>
            </a:r>
          </a:p>
        </p:txBody>
      </p:sp>
    </p:spTree>
    <p:extLst>
      <p:ext uri="{BB962C8B-B14F-4D97-AF65-F5344CB8AC3E}">
        <p14:creationId xmlns:p14="http://schemas.microsoft.com/office/powerpoint/2010/main" val="345742677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C869C3-27D9-052C-5751-7A017816ABD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3379C56-7E6C-8948-36EA-AF4E2EC8C1E7}"/>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78F6707E-B54D-F16D-A142-CD6DC9533AF7}"/>
              </a:ext>
            </a:extLst>
          </p:cNvPr>
          <p:cNvSpPr>
            <a:spLocks noGrp="1"/>
          </p:cNvSpPr>
          <p:nvPr>
            <p:ph type="body" idx="1"/>
          </p:nvPr>
        </p:nvSpPr>
        <p:spPr/>
        <p:txBody>
          <a:bodyPr/>
          <a:lstStyle/>
          <a:p>
            <a:pPr marL="158750" lvl="0" indent="0">
              <a:buNone/>
            </a:pPr>
            <a:r>
              <a:rPr lang="en-US" sz="1100" b="0" i="0" u="none" strike="noStrike" cap="none" dirty="0">
                <a:solidFill>
                  <a:srgbClr val="000000"/>
                </a:solidFill>
                <a:effectLst/>
                <a:latin typeface="Arial"/>
                <a:ea typeface="Arial"/>
                <a:cs typeface="Arial"/>
                <a:sym typeface="Arial"/>
              </a:rPr>
              <a:t>First, genomic sequences are characterized by a low signal-to-noise ratio. For example, most of the human genome is highly repetitive DNA, most of which may not be strongly functional. Imagine if you were training on text corpuses that were 50% gibberish that said “at the at the at the at the” five hundred times in a row – that’s what we’re working with here.</a:t>
            </a:r>
          </a:p>
        </p:txBody>
      </p:sp>
    </p:spTree>
    <p:extLst>
      <p:ext uri="{BB962C8B-B14F-4D97-AF65-F5344CB8AC3E}">
        <p14:creationId xmlns:p14="http://schemas.microsoft.com/office/powerpoint/2010/main" val="221451128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D19024-94B1-A8D3-DB7F-9DD760677CE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EEBA03-E352-4D23-9CBE-62E7B36B4841}"/>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027B05C2-F178-27FD-0888-24756610A33E}"/>
              </a:ext>
            </a:extLst>
          </p:cNvPr>
          <p:cNvSpPr>
            <a:spLocks noGrp="1"/>
          </p:cNvSpPr>
          <p:nvPr>
            <p:ph type="body" idx="1"/>
          </p:nvPr>
        </p:nvSpPr>
        <p:spPr/>
        <p:txBody>
          <a:bodyPr/>
          <a:lstStyle/>
          <a:p>
            <a:pPr marL="158750" lvl="0" indent="0">
              <a:buNone/>
            </a:pPr>
            <a:r>
              <a:rPr lang="en-US" sz="1100" b="0" i="0" u="none" strike="noStrike" cap="none" dirty="0">
                <a:solidFill>
                  <a:srgbClr val="000000"/>
                </a:solidFill>
                <a:effectLst/>
                <a:latin typeface="Arial"/>
                <a:ea typeface="Arial"/>
                <a:cs typeface="Arial"/>
                <a:sym typeface="Arial"/>
              </a:rPr>
              <a:t>Second, different elements in genomes have different sequence to function logics. For example, while coding regions operate under the logic of codons, enhancer function is mediated by transcription factor binding sites. In other words, this is like if were training on corpuses that arbitrarily toggled between English, Chinese, and other languages. This is not exhaustive, and I’ve skipped over stuff like the super distal non-linear interactions present in DNA – but the point is that as data, genomic sequences behave very differently than natural language. It’s possible these differences mean that pretraining strategies originally effective for natural language processing are not as effective when deployed on genomic sequences.</a:t>
            </a:r>
          </a:p>
        </p:txBody>
      </p:sp>
    </p:spTree>
    <p:extLst>
      <p:ext uri="{BB962C8B-B14F-4D97-AF65-F5344CB8AC3E}">
        <p14:creationId xmlns:p14="http://schemas.microsoft.com/office/powerpoint/2010/main" val="334070177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ED1470-084F-5722-2031-6F4173DE751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D92EB0-C741-8C5B-E984-0717C4BE4E83}"/>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086B08FE-35F7-2935-7FE6-C9AB15C29D1B}"/>
              </a:ext>
            </a:extLst>
          </p:cNvPr>
          <p:cNvSpPr>
            <a:spLocks noGrp="1"/>
          </p:cNvSpPr>
          <p:nvPr>
            <p:ph type="body" idx="1"/>
          </p:nvPr>
        </p:nvSpPr>
        <p:spPr/>
        <p:txBody>
          <a:bodyPr/>
          <a:lstStyle/>
          <a:p>
            <a:pPr marL="158750" lvl="0" indent="0">
              <a:buNone/>
            </a:pPr>
            <a:r>
              <a:rPr lang="en-US" sz="1100" b="0" i="0" u="none" strike="noStrike" cap="none" dirty="0">
                <a:solidFill>
                  <a:srgbClr val="000000"/>
                </a:solidFill>
                <a:effectLst/>
                <a:latin typeface="Arial"/>
                <a:ea typeface="Arial"/>
                <a:cs typeface="Arial"/>
                <a:sym typeface="Arial"/>
              </a:rPr>
              <a:t>Bioinformaticians have been aware of these properties for decades. There are already effective methods for identifying functional signal in genomic sequences, that are robust to these issues. Many effective methods rely upon principles of evolutionary conservation as their workhorse. The idea is that if you have multiple genomes for species that diverged from the same common ancestor…</a:t>
            </a:r>
          </a:p>
        </p:txBody>
      </p:sp>
    </p:spTree>
    <p:extLst>
      <p:ext uri="{BB962C8B-B14F-4D97-AF65-F5344CB8AC3E}">
        <p14:creationId xmlns:p14="http://schemas.microsoft.com/office/powerpoint/2010/main" val="377683259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E39592-EB8D-C758-13DF-57B7E5CF440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42626D5-7D5A-3807-4FDF-A8EC9D11792A}"/>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248E76AD-074D-BA74-5566-442D1F167147}"/>
              </a:ext>
            </a:extLst>
          </p:cNvPr>
          <p:cNvSpPr>
            <a:spLocks noGrp="1"/>
          </p:cNvSpPr>
          <p:nvPr>
            <p:ph type="body" idx="1"/>
          </p:nvPr>
        </p:nvSpPr>
        <p:spPr/>
        <p:txBody>
          <a:bodyPr/>
          <a:lstStyle/>
          <a:p>
            <a:pPr marL="158750" lvl="0" indent="0">
              <a:buNone/>
            </a:pPr>
            <a:r>
              <a:rPr lang="en-US" sz="1100" b="0" i="0" u="none" strike="noStrike" cap="none" dirty="0">
                <a:solidFill>
                  <a:srgbClr val="000000"/>
                </a:solidFill>
                <a:effectLst/>
                <a:latin typeface="Arial"/>
                <a:ea typeface="Arial"/>
                <a:cs typeface="Arial"/>
                <a:sym typeface="Arial"/>
              </a:rPr>
              <a:t>…you can align them and assess well-conserved parts of the sequence are. (Animation) – This allow us to focus our analyses on conserved parts of the sequence, which is useful, because conservation often implies function. In other words, evolutionary conservation addresses issues with the high noise ratio of genomes, by allowing us to ignore likely less functional regions. Moreover, it is a universal signal – principles of evolutionary conservation apply across all genomic elements, despite their different regulatory logics. Together, evolutionary conservation has been so essential to our current understanding of genomes, because it allows us to identify functional signal in genomes even when we don’t have prior knowledge about what’s important or how it functions.</a:t>
            </a:r>
          </a:p>
        </p:txBody>
      </p:sp>
    </p:spTree>
    <p:extLst>
      <p:ext uri="{BB962C8B-B14F-4D97-AF65-F5344CB8AC3E}">
        <p14:creationId xmlns:p14="http://schemas.microsoft.com/office/powerpoint/2010/main" val="292765105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lvl="0" indent="0">
              <a:buNone/>
            </a:pPr>
            <a:r>
              <a:rPr lang="en-US" sz="1100" b="0" i="0" u="none" strike="noStrike" cap="none" dirty="0">
                <a:solidFill>
                  <a:srgbClr val="000000"/>
                </a:solidFill>
                <a:effectLst/>
                <a:latin typeface="Arial"/>
                <a:ea typeface="Arial"/>
                <a:cs typeface="Arial"/>
                <a:sym typeface="Arial"/>
              </a:rPr>
              <a:t>What’s surprising to me is that it remains currently largely uninvestigated how principles of evolutionary conservation can interact with genomic language models, with the biggest models in the field largely building upon methods from natural language processing. I’m going to show you two projects of ours that show how evolution can be integrated into genome language modeling. These works were done with a wonderful set of collaborators – the PhD students leading the projects, Mica </a:t>
            </a:r>
            <a:r>
              <a:rPr lang="en-US" sz="1100" b="0" i="0" u="none" strike="noStrike" cap="none" dirty="0" err="1">
                <a:solidFill>
                  <a:srgbClr val="000000"/>
                </a:solidFill>
                <a:effectLst/>
                <a:latin typeface="Arial"/>
                <a:ea typeface="Arial"/>
                <a:cs typeface="Arial"/>
                <a:sym typeface="Arial"/>
              </a:rPr>
              <a:t>Consens</a:t>
            </a:r>
            <a:r>
              <a:rPr lang="en-US" sz="1100" b="0" i="0" u="none" strike="noStrike" cap="none" dirty="0">
                <a:solidFill>
                  <a:srgbClr val="000000"/>
                </a:solidFill>
                <a:effectLst/>
                <a:latin typeface="Arial"/>
                <a:ea typeface="Arial"/>
                <a:cs typeface="Arial"/>
                <a:sym typeface="Arial"/>
              </a:rPr>
              <a:t> and Andrew Duncan, our collaborators from the University of Toronto, Alan Moses and Jennifer Mitchell, and collaborators from Microsoft Research – Kevin Yang, Lorin Crawford, and Ashley Conard. In our </a:t>
            </a:r>
            <a:r>
              <a:rPr lang="en-US" sz="1100" b="0" i="0" u="none" strike="noStrike" cap="none" dirty="0" err="1">
                <a:solidFill>
                  <a:srgbClr val="000000"/>
                </a:solidFill>
                <a:effectLst/>
                <a:latin typeface="Arial"/>
                <a:ea typeface="Arial"/>
                <a:cs typeface="Arial"/>
                <a:sym typeface="Arial"/>
              </a:rPr>
              <a:t>Gamba</a:t>
            </a:r>
            <a:r>
              <a:rPr lang="en-US" sz="1100" b="0" i="0" u="none" strike="noStrike" cap="none" dirty="0">
                <a:solidFill>
                  <a:srgbClr val="000000"/>
                </a:solidFill>
                <a:effectLst/>
                <a:latin typeface="Arial"/>
                <a:ea typeface="Arial"/>
                <a:cs typeface="Arial"/>
                <a:sym typeface="Arial"/>
              </a:rPr>
              <a:t> project, we asked if pretraining on evolutionary conservation can improve self-supervised learning of the regulatory code. And in our </a:t>
            </a:r>
            <a:r>
              <a:rPr lang="en-US" sz="1100" b="0" i="0" u="none" strike="noStrike" cap="none" dirty="0" err="1">
                <a:solidFill>
                  <a:srgbClr val="000000"/>
                </a:solidFill>
                <a:effectLst/>
                <a:latin typeface="Arial"/>
                <a:ea typeface="Arial"/>
                <a:cs typeface="Arial"/>
                <a:sym typeface="Arial"/>
              </a:rPr>
              <a:t>EnhancAR</a:t>
            </a:r>
            <a:r>
              <a:rPr lang="en-US" sz="1100" b="0" i="0" u="none" strike="noStrike" cap="none" dirty="0">
                <a:solidFill>
                  <a:srgbClr val="000000"/>
                </a:solidFill>
                <a:effectLst/>
                <a:latin typeface="Arial"/>
                <a:ea typeface="Arial"/>
                <a:cs typeface="Arial"/>
                <a:sym typeface="Arial"/>
              </a:rPr>
              <a:t> project, we looked at if we could use evolution to steer generative models of enhancers. I’ll go through each of these projects in turn…</a:t>
            </a:r>
            <a:endParaRPr lang="en-US" dirty="0"/>
          </a:p>
        </p:txBody>
      </p:sp>
    </p:spTree>
    <p:extLst>
      <p:ext uri="{BB962C8B-B14F-4D97-AF65-F5344CB8AC3E}">
        <p14:creationId xmlns:p14="http://schemas.microsoft.com/office/powerpoint/2010/main" val="360703332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15775C-143D-3038-E4AF-4F8DD98E82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67F01EC-59C3-EF20-9BAA-4FBEDF55BE9A}"/>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EC0B03F3-CC02-4D8F-A26F-64B8A08AA506}"/>
              </a:ext>
            </a:extLst>
          </p:cNvPr>
          <p:cNvSpPr>
            <a:spLocks noGrp="1"/>
          </p:cNvSpPr>
          <p:nvPr>
            <p:ph type="body" idx="1"/>
          </p:nvPr>
        </p:nvSpPr>
        <p:spPr/>
        <p:txBody>
          <a:bodyPr/>
          <a:lstStyle/>
          <a:p>
            <a:pPr marL="158750" lvl="0" indent="0">
              <a:buNone/>
            </a:pPr>
            <a:r>
              <a:rPr lang="en-US" sz="1100" b="0" i="0" u="none" strike="noStrike" cap="none" dirty="0">
                <a:solidFill>
                  <a:srgbClr val="000000"/>
                </a:solidFill>
                <a:effectLst/>
                <a:latin typeface="Arial"/>
                <a:ea typeface="Arial"/>
                <a:cs typeface="Arial"/>
                <a:sym typeface="Arial"/>
              </a:rPr>
              <a:t>Starting wit </a:t>
            </a:r>
            <a:r>
              <a:rPr lang="en-US" sz="1100" b="0" i="0" u="none" strike="noStrike" cap="none" dirty="0" err="1">
                <a:solidFill>
                  <a:srgbClr val="000000"/>
                </a:solidFill>
                <a:effectLst/>
                <a:latin typeface="Arial"/>
                <a:ea typeface="Arial"/>
                <a:cs typeface="Arial"/>
                <a:sym typeface="Arial"/>
              </a:rPr>
              <a:t>Gamba</a:t>
            </a:r>
            <a:r>
              <a:rPr lang="en-US" sz="1100" b="0" i="0" u="none" strike="noStrike" cap="none" dirty="0">
                <a:solidFill>
                  <a:srgbClr val="000000"/>
                </a:solidFill>
                <a:effectLst/>
                <a:latin typeface="Arial"/>
                <a:ea typeface="Arial"/>
                <a:cs typeface="Arial"/>
                <a:sym typeface="Arial"/>
              </a:rPr>
              <a:t>, led by Mica </a:t>
            </a:r>
            <a:r>
              <a:rPr lang="en-US" sz="1100" b="0" i="0" u="none" strike="noStrike" cap="none" dirty="0" err="1">
                <a:solidFill>
                  <a:srgbClr val="000000"/>
                </a:solidFill>
                <a:effectLst/>
                <a:latin typeface="Arial"/>
                <a:ea typeface="Arial"/>
                <a:cs typeface="Arial"/>
                <a:sym typeface="Arial"/>
              </a:rPr>
              <a:t>Consens</a:t>
            </a:r>
            <a:r>
              <a:rPr lang="en-US" sz="1100" b="0" i="0" u="none" strike="noStrike" cap="none" dirty="0">
                <a:solidFill>
                  <a:srgbClr val="000000"/>
                </a:solidFill>
                <a:effectLst/>
                <a:latin typeface="Arial"/>
                <a:ea typeface="Arial"/>
                <a:cs typeface="Arial"/>
                <a:sym typeface="Arial"/>
              </a:rPr>
              <a:t>, a PhD student at the University of Toronto. </a:t>
            </a:r>
          </a:p>
          <a:p>
            <a:pPr marL="158750" lvl="0" indent="0">
              <a:buNone/>
            </a:pPr>
            <a:r>
              <a:rPr lang="en-US" sz="1100" b="0" i="0" u="none" strike="noStrike" cap="none" dirty="0">
                <a:solidFill>
                  <a:srgbClr val="000000"/>
                </a:solidFill>
                <a:effectLst/>
                <a:latin typeface="Arial"/>
                <a:cs typeface="Arial"/>
                <a:sym typeface="Arial"/>
              </a:rPr>
              <a:t>Timing – at 13 minutes on this slide.</a:t>
            </a:r>
            <a:endParaRPr lang="en-US" dirty="0"/>
          </a:p>
        </p:txBody>
      </p:sp>
    </p:spTree>
    <p:extLst>
      <p:ext uri="{BB962C8B-B14F-4D97-AF65-F5344CB8AC3E}">
        <p14:creationId xmlns:p14="http://schemas.microsoft.com/office/powerpoint/2010/main" val="130204114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5F8CE6-2047-6504-5ABE-2139F3693F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D14B06-177C-5035-9489-028D3BC0730E}"/>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1D87A31F-65A0-A903-5AC3-C259693D44FD}"/>
              </a:ext>
            </a:extLst>
          </p:cNvPr>
          <p:cNvSpPr>
            <a:spLocks noGrp="1"/>
          </p:cNvSpPr>
          <p:nvPr>
            <p:ph type="body" idx="1"/>
          </p:nvPr>
        </p:nvSpPr>
        <p:spPr/>
        <p:txBody>
          <a:bodyPr/>
          <a:lstStyle/>
          <a:p>
            <a:pPr marL="158750" lvl="0" indent="0">
              <a:buNone/>
            </a:pPr>
            <a:r>
              <a:rPr lang="en-US" dirty="0"/>
              <a:t>Let’s revisit sequence alignments. This is a less </a:t>
            </a:r>
            <a:r>
              <a:rPr lang="en-US" dirty="0" err="1"/>
              <a:t>abstractized</a:t>
            </a:r>
            <a:r>
              <a:rPr lang="en-US" dirty="0"/>
              <a:t> representation of a multiple sequence alignment of DNA than I previously showed you, where you can actually see the nucleotide letters. </a:t>
            </a:r>
          </a:p>
        </p:txBody>
      </p:sp>
    </p:spTree>
    <p:extLst>
      <p:ext uri="{BB962C8B-B14F-4D97-AF65-F5344CB8AC3E}">
        <p14:creationId xmlns:p14="http://schemas.microsoft.com/office/powerpoint/2010/main" val="68974867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246903-B60E-F0CE-0DAC-F960EF23F1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2C3DA5F-6B59-62AE-E7D9-9FD157A570B5}"/>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C4765E33-406D-337D-C358-A8F0C1F8DB5C}"/>
              </a:ext>
            </a:extLst>
          </p:cNvPr>
          <p:cNvSpPr>
            <a:spLocks noGrp="1"/>
          </p:cNvSpPr>
          <p:nvPr>
            <p:ph type="body" idx="1"/>
          </p:nvPr>
        </p:nvSpPr>
        <p:spPr/>
        <p:txBody>
          <a:bodyPr/>
          <a:lstStyle/>
          <a:p>
            <a:pPr marL="158750" lvl="0" indent="0">
              <a:buNone/>
            </a:pPr>
            <a:r>
              <a:rPr lang="en-US" dirty="0"/>
              <a:t>What I hope this representation makes apparent is that you can estimate evolutionary conservation at a nucleotide level. You can see that some columns are strongly conserved across species, while others are not.</a:t>
            </a:r>
          </a:p>
        </p:txBody>
      </p:sp>
    </p:spTree>
    <p:extLst>
      <p:ext uri="{BB962C8B-B14F-4D97-AF65-F5344CB8AC3E}">
        <p14:creationId xmlns:p14="http://schemas.microsoft.com/office/powerpoint/2010/main" val="386402819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6E11F9-A3DC-96DA-2956-143B575DD2E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4340104-A765-9A10-4801-BDB5D5926C22}"/>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37DF440B-3B09-B30B-FCFF-D8963CEE9685}"/>
              </a:ext>
            </a:extLst>
          </p:cNvPr>
          <p:cNvSpPr>
            <a:spLocks noGrp="1"/>
          </p:cNvSpPr>
          <p:nvPr>
            <p:ph type="body" idx="1"/>
          </p:nvPr>
        </p:nvSpPr>
        <p:spPr/>
        <p:txBody>
          <a:bodyPr/>
          <a:lstStyle/>
          <a:p>
            <a:pPr marL="158750" lvl="0" indent="0">
              <a:buNone/>
            </a:pPr>
            <a:r>
              <a:rPr lang="en-US" dirty="0"/>
              <a:t>What this means is that we can calculate a score for each nucleotide, reflecting how conserved that position is, across species – at least for the positions where we have enough aligned sequences for. There are a lot of these kinds of scores possible – in this work, we use the </a:t>
            </a:r>
            <a:r>
              <a:rPr lang="en-US" dirty="0" err="1"/>
              <a:t>PhyloP</a:t>
            </a:r>
            <a:r>
              <a:rPr lang="en-US" dirty="0"/>
              <a:t> score, which accounts for the significance of the conservation compared to a neutral evolutionary model. (Huge shout-out to Katie Pollard, who is also speaking here, for developing these scores, making this data available – and also helping us out when we were stuck on some of this data!)</a:t>
            </a:r>
          </a:p>
        </p:txBody>
      </p:sp>
    </p:spTree>
    <p:extLst>
      <p:ext uri="{BB962C8B-B14F-4D97-AF65-F5344CB8AC3E}">
        <p14:creationId xmlns:p14="http://schemas.microsoft.com/office/powerpoint/2010/main" val="51386329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DD9908-D54F-DC1E-1F9E-A5B788FDB19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C86FAA4-E227-7BF7-E0F8-ED88E3084698}"/>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A859C930-087C-1376-A838-79674A376E56}"/>
              </a:ext>
            </a:extLst>
          </p:cNvPr>
          <p:cNvSpPr>
            <a:spLocks noGrp="1"/>
          </p:cNvSpPr>
          <p:nvPr>
            <p:ph type="body" idx="1"/>
          </p:nvPr>
        </p:nvSpPr>
        <p:spPr/>
        <p:txBody>
          <a:bodyPr/>
          <a:lstStyle/>
          <a:p>
            <a:pPr marL="158750" lvl="0" indent="0">
              <a:buNone/>
            </a:pPr>
            <a:r>
              <a:rPr lang="en-US" dirty="0"/>
              <a:t>Given these per-nucleotide conservation scores – can we somehow use this as the basis for pre-training genome language models opposed to sequence reconstruction? Given a single sequence, we would predict, how conserved nucleotides in the sequence are across evolution. Conservation scores capture both regional and local functional signal. Our hope is by training a genome language model to predict these scores, we bestow it with this sense of function, but without having to explicitly dictate function a priori. </a:t>
            </a:r>
          </a:p>
          <a:p>
            <a:pPr marL="158750" lvl="0" indent="0">
              <a:buNone/>
            </a:pPr>
            <a:endParaRPr lang="en-US" dirty="0"/>
          </a:p>
          <a:p>
            <a:pPr marL="158750" lvl="0" indent="0">
              <a:buNone/>
            </a:pPr>
            <a:endParaRPr lang="en-US" dirty="0"/>
          </a:p>
          <a:p>
            <a:pPr marL="158750" lvl="0" indent="0">
              <a:buNone/>
            </a:pPr>
            <a:endParaRPr lang="en-US" dirty="0"/>
          </a:p>
          <a:p>
            <a:pPr marL="158750" lvl="0" indent="0">
              <a:buNone/>
            </a:pPr>
            <a:endParaRPr lang="en-US" dirty="0"/>
          </a:p>
          <a:p>
            <a:pPr marL="158750" lvl="0" indent="0">
              <a:buNone/>
            </a:pPr>
            <a:endParaRPr lang="en-US" dirty="0"/>
          </a:p>
          <a:p>
            <a:pPr marL="158750" lvl="0" indent="0">
              <a:buNone/>
            </a:pPr>
            <a:r>
              <a:rPr lang="en-US" dirty="0"/>
              <a:t>#At the regional level, functional regions tend to be more conserved in genomes. But it can also capture fine-grained local details – a great example of this is that across species in coding regions, the third position in codons is systematically less conserved than the first two, because this is where there is the most degeneracy in the genetic code. </a:t>
            </a:r>
          </a:p>
        </p:txBody>
      </p:sp>
    </p:spTree>
    <p:extLst>
      <p:ext uri="{BB962C8B-B14F-4D97-AF65-F5344CB8AC3E}">
        <p14:creationId xmlns:p14="http://schemas.microsoft.com/office/powerpoint/2010/main" val="387703062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F1344A-A9C0-07EF-9683-28A9F0F21D8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4A7C64-7DE7-0489-3466-9FF01D1905D5}"/>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D27B5681-DE78-2198-7DB0-E889CA9E1D79}"/>
              </a:ext>
            </a:extLst>
          </p:cNvPr>
          <p:cNvSpPr>
            <a:spLocks noGrp="1"/>
          </p:cNvSpPr>
          <p:nvPr>
            <p:ph type="body" idx="1"/>
          </p:nvPr>
        </p:nvSpPr>
        <p:spPr/>
        <p:txBody>
          <a:bodyPr/>
          <a:lstStyle/>
          <a:p>
            <a:pPr marL="158750" lvl="0" indent="0">
              <a:buNone/>
            </a:pPr>
            <a:r>
              <a:rPr lang="en-US" dirty="0"/>
              <a:t>Let’s get into how we implement this. Our goal was to design pretraining tasks comparable with sequence-based reconstruction. In general, biological sequence language models use one of two pretraining tasks. The first is autoregressive language modeling, which I previously explained – predict the next token, given previous ones. The second is masked language modeling. In this set-up, we randomly mask or corrupt a subset of tokens, and we pretrain models to reconstruct the missing tokens. </a:t>
            </a:r>
          </a:p>
        </p:txBody>
      </p:sp>
    </p:spTree>
    <p:extLst>
      <p:ext uri="{BB962C8B-B14F-4D97-AF65-F5344CB8AC3E}">
        <p14:creationId xmlns:p14="http://schemas.microsoft.com/office/powerpoint/2010/main" val="57494326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DECBFC-2A89-80BF-8BE6-38A476D1B5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A906A3-BBE4-A4B2-56A2-1CB1359D49FA}"/>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657869BD-1EF1-5846-1129-3A3485F64DF0}"/>
              </a:ext>
            </a:extLst>
          </p:cNvPr>
          <p:cNvSpPr>
            <a:spLocks noGrp="1"/>
          </p:cNvSpPr>
          <p:nvPr>
            <p:ph type="body" idx="1"/>
          </p:nvPr>
        </p:nvSpPr>
        <p:spPr/>
        <p:txBody>
          <a:bodyPr/>
          <a:lstStyle/>
          <a:p>
            <a:pPr marL="158750" lvl="0" indent="0">
              <a:buNone/>
            </a:pPr>
            <a:r>
              <a:rPr lang="en-US" dirty="0"/>
              <a:t>The first pretraining task we designed is called current conservation prediction. Given a subsequence, we predict the conservation of the last token. This task is comparable with autoregressive language modeling – it shares the same input, and the same output dimensionality – a single token. </a:t>
            </a:r>
          </a:p>
        </p:txBody>
      </p:sp>
    </p:spTree>
    <p:extLst>
      <p:ext uri="{BB962C8B-B14F-4D97-AF65-F5344CB8AC3E}">
        <p14:creationId xmlns:p14="http://schemas.microsoft.com/office/powerpoint/2010/main" val="181389207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5C0350-0E77-F10F-BCC8-041FA5606C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8C0F35A-BE1D-524C-2CE2-149E0DBD98BD}"/>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86EC5F00-1513-03D0-4BC7-9EF85774E947}"/>
              </a:ext>
            </a:extLst>
          </p:cNvPr>
          <p:cNvSpPr>
            <a:spLocks noGrp="1"/>
          </p:cNvSpPr>
          <p:nvPr>
            <p:ph type="body" idx="1"/>
          </p:nvPr>
        </p:nvSpPr>
        <p:spPr/>
        <p:txBody>
          <a:bodyPr/>
          <a:lstStyle/>
          <a:p>
            <a:pPr marL="158750" lvl="0" indent="0">
              <a:buNone/>
            </a:pPr>
            <a:r>
              <a:rPr lang="en-US" dirty="0"/>
              <a:t>The reason why we want to do this is because it allows us to isolate differences between models to just the pretraining task alone. We can use the same data, both for training and evaluation, and present data to the models identically. We can also use the same architecture, because the output dimensions are the same. What this means is that differences we see between models can be attributed to the pretraining task and not model or data set-up. </a:t>
            </a:r>
          </a:p>
        </p:txBody>
      </p:sp>
    </p:spTree>
    <p:extLst>
      <p:ext uri="{BB962C8B-B14F-4D97-AF65-F5344CB8AC3E}">
        <p14:creationId xmlns:p14="http://schemas.microsoft.com/office/powerpoint/2010/main" val="242975797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997F34-CF88-F020-5789-04475B0299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1A406BD-7A2A-331C-216E-938A15D273EB}"/>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5BAA726E-FAD1-77D0-B54F-D3B1970F7283}"/>
              </a:ext>
            </a:extLst>
          </p:cNvPr>
          <p:cNvSpPr>
            <a:spLocks noGrp="1"/>
          </p:cNvSpPr>
          <p:nvPr>
            <p:ph type="body" idx="1"/>
          </p:nvPr>
        </p:nvSpPr>
        <p:spPr/>
        <p:txBody>
          <a:bodyPr/>
          <a:lstStyle/>
          <a:p>
            <a:pPr marL="158750" lvl="0" indent="0">
              <a:buNone/>
            </a:pPr>
            <a:r>
              <a:rPr lang="en-US" dirty="0"/>
              <a:t>Because these models operate on the same inputs and output dimensionality, this also allows us to combine the two pretraining tasks. We can train a model that outputs both next token predictions and current conservation predictions – and assess if the two tasks can synergize. </a:t>
            </a:r>
          </a:p>
        </p:txBody>
      </p:sp>
    </p:spTree>
    <p:extLst>
      <p:ext uri="{BB962C8B-B14F-4D97-AF65-F5344CB8AC3E}">
        <p14:creationId xmlns:p14="http://schemas.microsoft.com/office/powerpoint/2010/main" val="47272210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57647B-ED5A-23C7-ECC9-F94FA1F21F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8B3BBA-D22A-26D5-4C38-EB614BC4B157}"/>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074A9CC3-E7CD-3F1B-5023-3602D4D8DED9}"/>
              </a:ext>
            </a:extLst>
          </p:cNvPr>
          <p:cNvSpPr>
            <a:spLocks noGrp="1"/>
          </p:cNvSpPr>
          <p:nvPr>
            <p:ph type="body" idx="1"/>
          </p:nvPr>
        </p:nvSpPr>
        <p:spPr/>
        <p:txBody>
          <a:bodyPr/>
          <a:lstStyle/>
          <a:p>
            <a:pPr marL="158750" lvl="0" indent="0">
              <a:buNone/>
            </a:pPr>
            <a:r>
              <a:rPr lang="en-US" dirty="0"/>
              <a:t>For masked language modeling, we equivalently design a conservation-based training task called masked evolution modeling. Here, we predict the conservation scores over all positions. And just like before, we can combine the two objectives, to assess synergies.</a:t>
            </a:r>
          </a:p>
        </p:txBody>
      </p:sp>
    </p:spTree>
    <p:extLst>
      <p:ext uri="{BB962C8B-B14F-4D97-AF65-F5344CB8AC3E}">
        <p14:creationId xmlns:p14="http://schemas.microsoft.com/office/powerpoint/2010/main" val="161699326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84D9BB-732B-0D4C-2653-816EF5DAE47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2D5D08A-F74B-9BF5-A12F-036B732CF040}"/>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117F75FB-AAD3-7D60-8166-9B2F6A2B7704}"/>
              </a:ext>
            </a:extLst>
          </p:cNvPr>
          <p:cNvSpPr>
            <a:spLocks noGrp="1"/>
          </p:cNvSpPr>
          <p:nvPr>
            <p:ph type="body" idx="1"/>
          </p:nvPr>
        </p:nvSpPr>
        <p:spPr/>
        <p:txBody>
          <a:bodyPr/>
          <a:lstStyle/>
          <a:p>
            <a:pPr marL="158750" lvl="0" indent="0">
              <a:buNone/>
            </a:pPr>
            <a:r>
              <a:rPr lang="en-US" dirty="0"/>
              <a:t>In total, we train six </a:t>
            </a:r>
            <a:r>
              <a:rPr lang="en-US" dirty="0" err="1"/>
              <a:t>Gamba</a:t>
            </a:r>
            <a:r>
              <a:rPr lang="en-US" dirty="0"/>
              <a:t> variants on the repeat-filtered human reference genome. Two are trained using sequence-reconstruction tasks only, two using evolutionary-rate prediction tasks only, and two combining both sequence and evolutionary rate prediction. </a:t>
            </a:r>
          </a:p>
        </p:txBody>
      </p:sp>
    </p:spTree>
    <p:extLst>
      <p:ext uri="{BB962C8B-B14F-4D97-AF65-F5344CB8AC3E}">
        <p14:creationId xmlns:p14="http://schemas.microsoft.com/office/powerpoint/2010/main" val="218310303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3EBF7B-1130-7B57-5777-8255A153410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46CBA0-B23A-969F-ABE2-7AEEE09961EC}"/>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2C0E7FF0-8420-CE39-4C7D-741EBCD859E9}"/>
              </a:ext>
            </a:extLst>
          </p:cNvPr>
          <p:cNvSpPr>
            <a:spLocks noGrp="1"/>
          </p:cNvSpPr>
          <p:nvPr>
            <p:ph type="body" idx="1"/>
          </p:nvPr>
        </p:nvSpPr>
        <p:spPr/>
        <p:txBody>
          <a:bodyPr/>
          <a:lstStyle/>
          <a:p>
            <a:pPr marL="158750" lvl="0" indent="0">
              <a:buNone/>
            </a:pPr>
            <a:r>
              <a:rPr lang="en-US" dirty="0"/>
              <a:t>We use different architectures for our unidirectional versus bidirectional pretraining tasks. For the unidirectional pretraining tasks, we use a 66M parameter Jamba architecture, which is a hybrid Transformer-Mamba model with mixture of experts routing. We call these models AR-</a:t>
            </a:r>
            <a:r>
              <a:rPr lang="en-US" dirty="0" err="1"/>
              <a:t>Gamba</a:t>
            </a:r>
            <a:r>
              <a:rPr lang="en-US" dirty="0"/>
              <a:t> models.</a:t>
            </a:r>
          </a:p>
        </p:txBody>
      </p:sp>
    </p:spTree>
    <p:extLst>
      <p:ext uri="{BB962C8B-B14F-4D97-AF65-F5344CB8AC3E}">
        <p14:creationId xmlns:p14="http://schemas.microsoft.com/office/powerpoint/2010/main" val="281207069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E7ACBC-591F-ECC8-8DDB-3EDC1C3944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B7F146-07D4-FEA5-8867-7C8FE544DA59}"/>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8B903141-C424-B8C9-05F9-1DF644254300}"/>
              </a:ext>
            </a:extLst>
          </p:cNvPr>
          <p:cNvSpPr>
            <a:spLocks noGrp="1"/>
          </p:cNvSpPr>
          <p:nvPr>
            <p:ph type="body" idx="1"/>
          </p:nvPr>
        </p:nvSpPr>
        <p:spPr/>
        <p:txBody>
          <a:bodyPr/>
          <a:lstStyle/>
          <a:p>
            <a:pPr marL="158750" lvl="0" indent="0">
              <a:buNone/>
            </a:pPr>
            <a:r>
              <a:rPr lang="en-US" dirty="0"/>
              <a:t>For our bidirectional tasks, we use an 4M parameter model introduced by Caduceus – it includes inductive biases that make it reverse complement equivalent. So that’s our set-up, and hopefully I’ve reinforced that this set-up allows us to fairly compare pretraining on sequence reconstruction, evolutionary-rate prediction, and both. </a:t>
            </a:r>
          </a:p>
        </p:txBody>
      </p:sp>
    </p:spTree>
    <p:extLst>
      <p:ext uri="{BB962C8B-B14F-4D97-AF65-F5344CB8AC3E}">
        <p14:creationId xmlns:p14="http://schemas.microsoft.com/office/powerpoint/2010/main" val="233160475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8C82BF-69CB-8199-8EDF-7AE4A8031E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A4CBC93-70D2-E08C-4E64-637EE7DF2FA1}"/>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B16C7ED2-80FF-A6AC-2960-6D58E55B372C}"/>
              </a:ext>
            </a:extLst>
          </p:cNvPr>
          <p:cNvSpPr>
            <a:spLocks noGrp="1"/>
          </p:cNvSpPr>
          <p:nvPr>
            <p:ph type="body" idx="1"/>
          </p:nvPr>
        </p:nvSpPr>
        <p:spPr/>
        <p:txBody>
          <a:bodyPr/>
          <a:lstStyle/>
          <a:p>
            <a:pPr marL="158750" lvl="0" indent="0">
              <a:buNone/>
            </a:pPr>
            <a:r>
              <a:rPr lang="en-US" dirty="0"/>
              <a:t>I’m going to show you some benchmarks of this set-up now. One of our main evaluations is functional region classification. This requires models to correctly classify different kinds of elements in the genomes – in our set-up, we use enhancers, UCNEs or ultra-conserved non-coding elements, repeats, sites 2KB upstream of the transcriptional start site, promoters, and different parts of genes including 5’ UTRs, exons, introns, and 3’ UTRs. This idea is not new and has been previously introduced by many benchmark datasets For virtually all of these datasets, the genomic foundationless model paper showed that randomly initialized models outperform. We thought about this, and we weren’t sure if this was because genome language models are really that bad, or because previous benchmarks were too easy. We decided to reimplement this idea to make it more challenging, by operating zero-shot, which is a technique for assessing pretrained models as-is without introducing a second training phase to align the models with the prediction task. We also evaluate under confounders not previously tested.</a:t>
            </a:r>
          </a:p>
        </p:txBody>
      </p:sp>
    </p:spTree>
    <p:extLst>
      <p:ext uri="{BB962C8B-B14F-4D97-AF65-F5344CB8AC3E}">
        <p14:creationId xmlns:p14="http://schemas.microsoft.com/office/powerpoint/2010/main" val="90404621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BC7CAC-1818-75FF-37B2-4B247B35BEF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FAB62C7-4F7A-1C04-677A-960F4C724FDB}"/>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38266D47-D514-7703-725B-0F5C3DAB48ED}"/>
              </a:ext>
            </a:extLst>
          </p:cNvPr>
          <p:cNvSpPr>
            <a:spLocks noGrp="1"/>
          </p:cNvSpPr>
          <p:nvPr>
            <p:ph type="body" idx="1"/>
          </p:nvPr>
        </p:nvSpPr>
        <p:spPr/>
        <p:txBody>
          <a:bodyPr/>
          <a:lstStyle/>
          <a:p>
            <a:pPr marL="158750" lvl="0" indent="0">
              <a:buNone/>
            </a:pPr>
            <a:r>
              <a:rPr lang="en-US" dirty="0"/>
              <a:t>To dig into the second point, in previous benchmarks, confounders are usually selected at random from the genome, matching the length of functional genomic elements. </a:t>
            </a:r>
          </a:p>
        </p:txBody>
      </p:sp>
    </p:spTree>
    <p:extLst>
      <p:ext uri="{BB962C8B-B14F-4D97-AF65-F5344CB8AC3E}">
        <p14:creationId xmlns:p14="http://schemas.microsoft.com/office/powerpoint/2010/main" val="197646604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7A75BD-FC84-4AF3-87B5-4B35128DA2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E1675CE-4F97-F748-3DB2-48F3F351115D}"/>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62C5214A-EB86-6D9C-FBAA-0CC70209AC2D}"/>
              </a:ext>
            </a:extLst>
          </p:cNvPr>
          <p:cNvSpPr>
            <a:spLocks noGrp="1"/>
          </p:cNvSpPr>
          <p:nvPr>
            <p:ph type="body" idx="1"/>
          </p:nvPr>
        </p:nvSpPr>
        <p:spPr/>
        <p:txBody>
          <a:bodyPr/>
          <a:lstStyle/>
          <a:p>
            <a:pPr marL="158750" lvl="0" indent="0">
              <a:buNone/>
            </a:pPr>
            <a:r>
              <a:rPr lang="en-US" dirty="0"/>
              <a:t>There are two problems with this. First, most the human genome is repeats. If you sample a random window from the human genome, chances are it’s going to be mostly or at least some repetitive regions. This effectively turns every single classification task into mostly separating functional elements versus repeats – in evaluations, models may not even have to detect signatures of function within these elements but simply notice that the DNA sequence is not low complexity. Second, it ignores local sequence biases. The human genome has huge local variation in GC composition ranging from 30% to 70% within windows in the genome. If you take random DNA from very far away, it may look very different from DNA proximate to the element.</a:t>
            </a:r>
          </a:p>
        </p:txBody>
      </p:sp>
    </p:spTree>
    <p:extLst>
      <p:ext uri="{BB962C8B-B14F-4D97-AF65-F5344CB8AC3E}">
        <p14:creationId xmlns:p14="http://schemas.microsoft.com/office/powerpoint/2010/main" val="1830011843"/>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108365-5428-5DB0-C551-BDFCB56D82A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E9602D-4615-27DF-28CB-703FB2429812}"/>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65897443-3B59-626E-5B3D-819B89323DFE}"/>
              </a:ext>
            </a:extLst>
          </p:cNvPr>
          <p:cNvSpPr>
            <a:spLocks noGrp="1"/>
          </p:cNvSpPr>
          <p:nvPr>
            <p:ph type="body" idx="1"/>
          </p:nvPr>
        </p:nvSpPr>
        <p:spPr/>
        <p:txBody>
          <a:bodyPr/>
          <a:lstStyle/>
          <a:p>
            <a:pPr marL="158750" lvl="0" indent="0">
              <a:buNone/>
            </a:pPr>
            <a:r>
              <a:rPr lang="en-US" dirty="0"/>
              <a:t>We introduce four different evaluation settings, that introduce increasing levels of confounders that control for these issues. Our first setting is just like everyone else – we match randomly sampled windows.</a:t>
            </a:r>
          </a:p>
        </p:txBody>
      </p:sp>
    </p:spTree>
    <p:extLst>
      <p:ext uri="{BB962C8B-B14F-4D97-AF65-F5344CB8AC3E}">
        <p14:creationId xmlns:p14="http://schemas.microsoft.com/office/powerpoint/2010/main" val="95115044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E5EE12-16B1-ABA9-629E-61B2B3E4869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F0EFC6-CCB0-B36A-9256-A44D3F657696}"/>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A4502687-D98F-6046-6807-5DFAB20EED45}"/>
              </a:ext>
            </a:extLst>
          </p:cNvPr>
          <p:cNvSpPr>
            <a:spLocks noGrp="1"/>
          </p:cNvSpPr>
          <p:nvPr>
            <p:ph type="body" idx="1"/>
          </p:nvPr>
        </p:nvSpPr>
        <p:spPr/>
        <p:txBody>
          <a:bodyPr/>
          <a:lstStyle/>
          <a:p>
            <a:pPr marL="158750" lvl="0" indent="0">
              <a:buNone/>
            </a:pPr>
            <a:r>
              <a:rPr lang="en-US" dirty="0"/>
              <a:t>In our second setting, we try to address the imbalance of repeats and use other functional regions as confounders against each other.</a:t>
            </a:r>
          </a:p>
        </p:txBody>
      </p:sp>
    </p:spTree>
    <p:extLst>
      <p:ext uri="{BB962C8B-B14F-4D97-AF65-F5344CB8AC3E}">
        <p14:creationId xmlns:p14="http://schemas.microsoft.com/office/powerpoint/2010/main" val="1842800760"/>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927F65-9FCE-89D3-D379-F68E467D48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0A17ED9-BD6C-D4A9-1EF5-EB76BF1E7473}"/>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7EE6AF1D-E4CD-1A9E-3632-98A974A1DF52}"/>
              </a:ext>
            </a:extLst>
          </p:cNvPr>
          <p:cNvSpPr>
            <a:spLocks noGrp="1"/>
          </p:cNvSpPr>
          <p:nvPr>
            <p:ph type="body" idx="1"/>
          </p:nvPr>
        </p:nvSpPr>
        <p:spPr/>
        <p:txBody>
          <a:bodyPr/>
          <a:lstStyle/>
          <a:p>
            <a:pPr marL="158750" lvl="0" indent="0">
              <a:buNone/>
            </a:pPr>
            <a:r>
              <a:rPr lang="en-US" dirty="0"/>
              <a:t>However, different functional regions can have different lengths. Exons tend to be much longer than promoters, for example. This can leak information about the function of the element. In our third setting, we further control for this by sampling a 100 base pair window from the sequence, instead of using the full sequence, which standardizes sequence lengths. </a:t>
            </a:r>
          </a:p>
        </p:txBody>
      </p:sp>
    </p:spTree>
    <p:extLst>
      <p:ext uri="{BB962C8B-B14F-4D97-AF65-F5344CB8AC3E}">
        <p14:creationId xmlns:p14="http://schemas.microsoft.com/office/powerpoint/2010/main" val="2859076709"/>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42ABDB-EAFE-4ADE-2264-781EE1F03A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F2BBA9C-F6D4-1DF3-2AD9-05CDC21CB6CE}"/>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6D137F45-1483-A49B-890D-4961F76A1221}"/>
              </a:ext>
            </a:extLst>
          </p:cNvPr>
          <p:cNvSpPr>
            <a:spLocks noGrp="1"/>
          </p:cNvSpPr>
          <p:nvPr>
            <p:ph type="body" idx="1"/>
          </p:nvPr>
        </p:nvSpPr>
        <p:spPr/>
        <p:txBody>
          <a:bodyPr/>
          <a:lstStyle/>
          <a:p>
            <a:pPr marL="158750" lvl="0" indent="0">
              <a:buNone/>
            </a:pPr>
            <a:r>
              <a:rPr lang="en-US" dirty="0"/>
              <a:t>Finally, in our fourth setting, we attempt to control for locality biases – we sample 2KB upstream windows of the same length, ensuring that these nucleotides all belong to a different functional class. </a:t>
            </a:r>
          </a:p>
        </p:txBody>
      </p:sp>
    </p:spTree>
    <p:extLst>
      <p:ext uri="{BB962C8B-B14F-4D97-AF65-F5344CB8AC3E}">
        <p14:creationId xmlns:p14="http://schemas.microsoft.com/office/powerpoint/2010/main" val="298800840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920F0F-E036-2EEB-A624-3C5D41E6B5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7EF45E2-1B91-ADC3-4A73-127FB9B0CF01}"/>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EC4CFC1D-8414-8252-A534-7EB35656CA46}"/>
              </a:ext>
            </a:extLst>
          </p:cNvPr>
          <p:cNvSpPr>
            <a:spLocks noGrp="1"/>
          </p:cNvSpPr>
          <p:nvPr>
            <p:ph type="body" idx="1"/>
          </p:nvPr>
        </p:nvSpPr>
        <p:spPr/>
        <p:txBody>
          <a:bodyPr/>
          <a:lstStyle/>
          <a:p>
            <a:pPr marL="158750" lvl="0" indent="0">
              <a:buNone/>
            </a:pPr>
            <a:r>
              <a:rPr lang="en-US" dirty="0"/>
              <a:t>To recap, we benchmark under four evaluation settings for functional region classification. Settings 2 and 3 control for repeat bias in genomes. And setting 4 controls for local biases in sequences. And we do all of this zero-shot. Having established our evaluations, I’m now going to show you the results of this benchmark. </a:t>
            </a:r>
          </a:p>
        </p:txBody>
      </p:sp>
    </p:spTree>
    <p:extLst>
      <p:ext uri="{BB962C8B-B14F-4D97-AF65-F5344CB8AC3E}">
        <p14:creationId xmlns:p14="http://schemas.microsoft.com/office/powerpoint/2010/main" val="291248213"/>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indent="0">
              <a:buNone/>
            </a:pPr>
            <a:r>
              <a:rPr lang="en-US" dirty="0"/>
              <a:t>These four plots show our four evaluation settings. The y-axis shows nearest neighbor retrieval accuracy, the higher it is, the better. Notice the different scaling between plots – settings 2 and 3 are harder than 1 and 4, suggesting that controlling for repeat bias is critical to difficulty. I have a bar plot associated with each model, and in light colors, I show the performance of a randomly initialized equivalent architecture. You’ll notice across all models I will show you, pretrained models outperform their randomly initialized counterparts – which is good, because it indicates our benchmark is challenging enough that it is not solved by random models. Next, you’ll notice I show models pretrained using evolutionary conservation only in purple, and models pretrained using sequence reconstruction only in orange. For almost all models – 3 out of 4 tasks, and 7 of 8 architecture and task combinations, conservation score pretraining outperforms sequence reconstruction. This result tells us that pretraining on conservation scores is an effective strategy.</a:t>
            </a:r>
          </a:p>
        </p:txBody>
      </p:sp>
    </p:spTree>
    <p:extLst>
      <p:ext uri="{BB962C8B-B14F-4D97-AF65-F5344CB8AC3E}">
        <p14:creationId xmlns:p14="http://schemas.microsoft.com/office/powerpoint/2010/main" val="3785357753"/>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indent="0">
              <a:buNone/>
            </a:pPr>
            <a:r>
              <a:rPr lang="en-US" dirty="0"/>
              <a:t>Next, let’s look at how these pretraining tasks can combine. The blue bars show models trained using both conservation score and sequence reconstruction pretraining. Across all four settings, the combined models are on par with, if not better with, the better of the two pretraining strategies. Notably, for evaluation setting 3 – discriminating functional elements from each other with only 100 bp of sequence – the combined model outperforms either model alone, suggesting there is some degree of synergy. What this tells us is that while there is sometimes some instability in whether conservation or sequence pretraining is superior – using both objectives leads to best-of-both-worlds performance. </a:t>
            </a:r>
          </a:p>
        </p:txBody>
      </p:sp>
    </p:spTree>
    <p:extLst>
      <p:ext uri="{BB962C8B-B14F-4D97-AF65-F5344CB8AC3E}">
        <p14:creationId xmlns:p14="http://schemas.microsoft.com/office/powerpoint/2010/main" val="1775548793"/>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indent="0">
              <a:buNone/>
            </a:pPr>
            <a:r>
              <a:rPr lang="en-US" dirty="0"/>
              <a:t>Finally, we expanded our benchmarking to other genome language models, in orange, and to bioinformatics baselines, in grey. This was surprising to us – our tiny </a:t>
            </a:r>
            <a:r>
              <a:rPr lang="en-US" dirty="0" err="1"/>
              <a:t>Gamba</a:t>
            </a:r>
            <a:r>
              <a:rPr lang="en-US" dirty="0"/>
              <a:t> models are comparable with, or better than larger </a:t>
            </a:r>
            <a:r>
              <a:rPr lang="en-US" dirty="0" err="1"/>
              <a:t>gLMs</a:t>
            </a:r>
            <a:r>
              <a:rPr lang="en-US" dirty="0"/>
              <a:t>. Our models have 4 million and 66 million parameters, and you can compare that to models like nucleotide transformer, which has 500 million parameters. We weren’t trying to beat SOTA in this work, just conduct a principled evaluation. But even so, you can see our best </a:t>
            </a:r>
            <a:r>
              <a:rPr lang="en-US" dirty="0" err="1"/>
              <a:t>Gamba</a:t>
            </a:r>
            <a:r>
              <a:rPr lang="en-US" dirty="0"/>
              <a:t> models typically outperform every other genome language model we tried, except Evo2. But even comparing against Evo2, our performance is impressive – we have 0.06 to 0.97% of the parameters and we still achieve 95 to 98% of its performance. In other words – the name of our model ended up being a lucky coincidence. We originally called this </a:t>
            </a:r>
            <a:r>
              <a:rPr lang="en-US" dirty="0" err="1"/>
              <a:t>Gamba</a:t>
            </a:r>
            <a:r>
              <a:rPr lang="en-US" dirty="0"/>
              <a:t> as a riff off Jamba, but Mica informed me it also means “shrimp” in Spanish – and I think that creates a cute mental image of how a 4 million parameter model can still stand up to a 9 billion parameter model. </a:t>
            </a:r>
          </a:p>
        </p:txBody>
      </p:sp>
    </p:spTree>
    <p:extLst>
      <p:ext uri="{BB962C8B-B14F-4D97-AF65-F5344CB8AC3E}">
        <p14:creationId xmlns:p14="http://schemas.microsoft.com/office/powerpoint/2010/main" val="3546780987"/>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FE5192-2893-C68F-A5F8-13E3B6A6102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7D0AF2-0741-71EE-69DA-9328105EE5B8}"/>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7A9AE2C8-2DF1-F9DC-2BC5-F19496ACDDBB}"/>
              </a:ext>
            </a:extLst>
          </p:cNvPr>
          <p:cNvSpPr>
            <a:spLocks noGrp="1"/>
          </p:cNvSpPr>
          <p:nvPr>
            <p:ph type="body" idx="1"/>
          </p:nvPr>
        </p:nvSpPr>
        <p:spPr/>
        <p:txBody>
          <a:bodyPr/>
          <a:lstStyle/>
          <a:p>
            <a:pPr marL="158750" lvl="0" indent="0">
              <a:buNone/>
            </a:pPr>
            <a:r>
              <a:rPr lang="en-US" dirty="0"/>
              <a:t>Great. I’ve shown you a result that demonstrates that evolutionary conservation pretraining can be effective. I next want to talk about where we’re still limited – and not just for our models, but the field at large. For this, I’m going to show you benchmarks on a task called variant effect prediction. The goal is to rank mutated sequences based upon their pathogenicity. You have some sequences that have mutations that are known to cause disease, and some sequences that are benign, and the goal is to rank these sequences, such that the disease-causing variants are at the top. </a:t>
            </a:r>
          </a:p>
        </p:txBody>
      </p:sp>
    </p:spTree>
    <p:extLst>
      <p:ext uri="{BB962C8B-B14F-4D97-AF65-F5344CB8AC3E}">
        <p14:creationId xmlns:p14="http://schemas.microsoft.com/office/powerpoint/2010/main" val="546473230"/>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72DE71-D989-E0F3-6D3B-4EE58DA462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F51D2E-3339-5C5F-4F6A-C552C85C2B32}"/>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C410E238-D095-3C8D-4E9C-C644BC02E1D1}"/>
              </a:ext>
            </a:extLst>
          </p:cNvPr>
          <p:cNvSpPr>
            <a:spLocks noGrp="1"/>
          </p:cNvSpPr>
          <p:nvPr>
            <p:ph type="body" idx="1"/>
          </p:nvPr>
        </p:nvSpPr>
        <p:spPr/>
        <p:txBody>
          <a:bodyPr/>
          <a:lstStyle/>
          <a:p>
            <a:pPr marL="158750" lvl="0" indent="0">
              <a:buNone/>
            </a:pPr>
            <a:r>
              <a:rPr lang="en-US" dirty="0"/>
              <a:t>Here are our benchmarking results. I’m showing five datasets here – these are derived from different sources, and divided into coding, and non-coding variants. The higher the number along the x-axis, the better the model. I’m showing one representative </a:t>
            </a:r>
            <a:r>
              <a:rPr lang="en-US" dirty="0" err="1"/>
              <a:t>Gamba</a:t>
            </a:r>
            <a:r>
              <a:rPr lang="en-US" dirty="0"/>
              <a:t> model, and it does okay in this setting – for two of five tasks, it’s comparable with or better than Evo2. But I think the real story here is how well </a:t>
            </a:r>
            <a:r>
              <a:rPr lang="en-US" dirty="0" err="1"/>
              <a:t>PhyloP</a:t>
            </a:r>
            <a:r>
              <a:rPr lang="en-US" dirty="0"/>
              <a:t> does – on four of the five tasks, it blows either genome language model out of the water. For context on why this is surprising – I think of </a:t>
            </a:r>
            <a:r>
              <a:rPr lang="en-US" dirty="0" err="1"/>
              <a:t>PhyloP</a:t>
            </a:r>
            <a:r>
              <a:rPr lang="en-US" dirty="0"/>
              <a:t> as a weak baseline. The principle behind why </a:t>
            </a:r>
            <a:r>
              <a:rPr lang="en-US" dirty="0" err="1"/>
              <a:t>PhyloP</a:t>
            </a:r>
            <a:r>
              <a:rPr lang="en-US" dirty="0"/>
              <a:t> works for variant effect prediction is if a mutation is pathogenic, it often gets filtered out by evolution, so you observe that position tends to be more conserved. But this is only possible if you can construct a good alignment, which can be challenging if a part of a genome evolves rapidly. It’s exceptionally surprising to see that </a:t>
            </a:r>
            <a:r>
              <a:rPr lang="en-US" dirty="0" err="1"/>
              <a:t>PhyloP</a:t>
            </a:r>
            <a:r>
              <a:rPr lang="en-US" dirty="0"/>
              <a:t> does so well for non-coding variants, as non-coding regions tend to evolve much more rapidly than coding regions. But the other surprising part is that both genome language models should be learning evolution. </a:t>
            </a:r>
            <a:r>
              <a:rPr lang="en-US" dirty="0" err="1"/>
              <a:t>Gamba</a:t>
            </a:r>
            <a:r>
              <a:rPr lang="en-US" dirty="0"/>
              <a:t> is self-explanatory – we train it on </a:t>
            </a:r>
            <a:r>
              <a:rPr lang="en-US" dirty="0" err="1"/>
              <a:t>PhyloP</a:t>
            </a:r>
            <a:r>
              <a:rPr lang="en-US" dirty="0"/>
              <a:t> scores. Evo2 is trained with tens of thousands of genomes across species, and what we know from studies from similar strategies in protein language models, it should be implicitly learning conservation – patterns that repeat over evolution stand out as important and get amortized into the model. So even though in principle, both models should be learning evolutionary conservation – </a:t>
            </a:r>
            <a:r>
              <a:rPr lang="en-US" dirty="0" err="1"/>
              <a:t>Gamba</a:t>
            </a:r>
            <a:r>
              <a:rPr lang="en-US" dirty="0"/>
              <a:t> explicitly, and Evo2 implicitly – they’re clearly not doing well enough to beat a weak bioinformatics baseline that has direct access to this. Perhaps </a:t>
            </a:r>
            <a:r>
              <a:rPr lang="en-US" dirty="0" err="1"/>
              <a:t>Gamba</a:t>
            </a:r>
            <a:r>
              <a:rPr lang="en-US" dirty="0"/>
              <a:t> is excusable – we’re training tiny models, so maybe they don’t have the capacity to learn evolution at a fine-grained single nucleotide resolution, even if they seem to do so coarsely for regions. But Evo2 has been scaled to nearly the limits of what we have for genomes, at least across species – so again, this suggests that sequence reconstruction pretraining tasks may not be very effective, or at least efficient, at learning biological signal. </a:t>
            </a:r>
          </a:p>
        </p:txBody>
      </p:sp>
    </p:spTree>
    <p:extLst>
      <p:ext uri="{BB962C8B-B14F-4D97-AF65-F5344CB8AC3E}">
        <p14:creationId xmlns:p14="http://schemas.microsoft.com/office/powerpoint/2010/main" val="30535282"/>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58E3B5-3BF8-7B7E-811F-E110CEBF2E6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6B40870-CC83-017F-479E-4547E347EEBC}"/>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597B12F8-792B-ADBB-2789-E7BE9FFD7D56}"/>
              </a:ext>
            </a:extLst>
          </p:cNvPr>
          <p:cNvSpPr>
            <a:spLocks noGrp="1"/>
          </p:cNvSpPr>
          <p:nvPr>
            <p:ph type="body" idx="1"/>
          </p:nvPr>
        </p:nvSpPr>
        <p:spPr/>
        <p:txBody>
          <a:bodyPr/>
          <a:lstStyle/>
          <a:p>
            <a:pPr marL="158750" lvl="0" indent="0">
              <a:buNone/>
            </a:pPr>
            <a:r>
              <a:rPr lang="en-US" dirty="0"/>
              <a:t>To recap key takeaways from the </a:t>
            </a:r>
            <a:r>
              <a:rPr lang="en-US" dirty="0" err="1"/>
              <a:t>Gamba</a:t>
            </a:r>
            <a:r>
              <a:rPr lang="en-US" dirty="0"/>
              <a:t> project…</a:t>
            </a:r>
          </a:p>
          <a:p>
            <a:pPr marL="158750" lvl="0" indent="0">
              <a:buNone/>
            </a:pPr>
            <a:endParaRPr lang="en-US" dirty="0"/>
          </a:p>
          <a:p>
            <a:pPr marL="158750" lvl="0" indent="0">
              <a:buNone/>
            </a:pPr>
            <a:r>
              <a:rPr lang="en-US" dirty="0"/>
              <a:t>(21 minutes for this section)</a:t>
            </a:r>
          </a:p>
        </p:txBody>
      </p:sp>
    </p:spTree>
    <p:extLst>
      <p:ext uri="{BB962C8B-B14F-4D97-AF65-F5344CB8AC3E}">
        <p14:creationId xmlns:p14="http://schemas.microsoft.com/office/powerpoint/2010/main" val="2497011587"/>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C0791A-1CA6-0D8F-16E6-99F15C22D5C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2C89E6B-3B6A-25DC-9E80-3EE405AFA499}"/>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AAFD30A2-F15F-A113-A8D4-18C52F4C595E}"/>
              </a:ext>
            </a:extLst>
          </p:cNvPr>
          <p:cNvSpPr>
            <a:spLocks noGrp="1"/>
          </p:cNvSpPr>
          <p:nvPr>
            <p:ph type="body" idx="1"/>
          </p:nvPr>
        </p:nvSpPr>
        <p:spPr/>
        <p:txBody>
          <a:bodyPr/>
          <a:lstStyle/>
          <a:p>
            <a:pPr marL="158750" lvl="0" indent="0">
              <a:buNone/>
            </a:pPr>
            <a:r>
              <a:rPr lang="en-US" sz="1100" b="0" i="0" u="none" strike="noStrike" cap="none" dirty="0">
                <a:solidFill>
                  <a:srgbClr val="000000"/>
                </a:solidFill>
                <a:effectLst/>
                <a:latin typeface="Arial"/>
                <a:ea typeface="Arial"/>
                <a:cs typeface="Arial"/>
                <a:sym typeface="Arial"/>
              </a:rPr>
              <a:t>Next, let’s move onto </a:t>
            </a:r>
            <a:r>
              <a:rPr lang="en-US" sz="1100" b="0" i="0" u="none" strike="noStrike" cap="none" dirty="0" err="1">
                <a:solidFill>
                  <a:srgbClr val="000000"/>
                </a:solidFill>
                <a:effectLst/>
                <a:latin typeface="Arial"/>
                <a:ea typeface="Arial"/>
                <a:cs typeface="Arial"/>
                <a:sym typeface="Arial"/>
              </a:rPr>
              <a:t>EnhancAR</a:t>
            </a:r>
            <a:r>
              <a:rPr lang="en-US" sz="1100" b="0" i="0" u="none" strike="noStrike" cap="none" dirty="0">
                <a:solidFill>
                  <a:srgbClr val="000000"/>
                </a:solidFill>
                <a:effectLst/>
                <a:latin typeface="Arial"/>
                <a:ea typeface="Arial"/>
                <a:cs typeface="Arial"/>
                <a:sym typeface="Arial"/>
              </a:rPr>
              <a:t>, which is led by Andrew Duncan, another PhD student at the University of Toronto. </a:t>
            </a:r>
            <a:endParaRPr lang="en-US" dirty="0"/>
          </a:p>
        </p:txBody>
      </p:sp>
    </p:spTree>
    <p:extLst>
      <p:ext uri="{BB962C8B-B14F-4D97-AF65-F5344CB8AC3E}">
        <p14:creationId xmlns:p14="http://schemas.microsoft.com/office/powerpoint/2010/main" val="3645306209"/>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627727-6CF0-F2BF-40CB-5810F57141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3C3CCE-A959-AA69-5B4D-B8F0C83EAAC8}"/>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D7729DFF-9CD4-B850-C3E4-4B259F7FA5E6}"/>
              </a:ext>
            </a:extLst>
          </p:cNvPr>
          <p:cNvSpPr>
            <a:spLocks noGrp="1"/>
          </p:cNvSpPr>
          <p:nvPr>
            <p:ph type="body" idx="1"/>
          </p:nvPr>
        </p:nvSpPr>
        <p:spPr/>
        <p:txBody>
          <a:bodyPr/>
          <a:lstStyle/>
          <a:p>
            <a:pPr marL="158750" lvl="0" indent="0">
              <a:buNone/>
            </a:pPr>
            <a:r>
              <a:rPr lang="en-US" dirty="0"/>
              <a:t>The overarching goal of this project is to generate enhancer sequences that drive gene expression in specific contexts. As I previously explained, enhancers are cis-regulatory elements that are responsible for increasing the rate of gene transcription. </a:t>
            </a:r>
          </a:p>
        </p:txBody>
      </p:sp>
    </p:spTree>
    <p:extLst>
      <p:ext uri="{BB962C8B-B14F-4D97-AF65-F5344CB8AC3E}">
        <p14:creationId xmlns:p14="http://schemas.microsoft.com/office/powerpoint/2010/main" val="3644133054"/>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2F07F7-B7BC-38C4-75E3-17A3DA1EA5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1CC570E-2F0B-D055-93F3-C1E9B3675853}"/>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EF116285-AA27-C578-13B1-7F472E6D7A53}"/>
              </a:ext>
            </a:extLst>
          </p:cNvPr>
          <p:cNvSpPr>
            <a:spLocks noGrp="1"/>
          </p:cNvSpPr>
          <p:nvPr>
            <p:ph type="body" idx="1"/>
          </p:nvPr>
        </p:nvSpPr>
        <p:spPr/>
        <p:txBody>
          <a:bodyPr/>
          <a:lstStyle/>
          <a:p>
            <a:pPr marL="158750" lvl="0" indent="0">
              <a:buNone/>
            </a:pPr>
            <a:r>
              <a:rPr lang="en-US" dirty="0"/>
              <a:t>They are responsive to cellular context, so the same enhancer sequence may be active in certain contexts…</a:t>
            </a:r>
          </a:p>
        </p:txBody>
      </p:sp>
    </p:spTree>
    <p:extLst>
      <p:ext uri="{BB962C8B-B14F-4D97-AF65-F5344CB8AC3E}">
        <p14:creationId xmlns:p14="http://schemas.microsoft.com/office/powerpoint/2010/main" val="1574709588"/>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98F2AD-6416-D305-F950-2D9524E7715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43D73F8-45C1-EDDD-D566-BDCDEABF2557}"/>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DDA543CC-2C32-0479-DE89-64C8DFD3CBC3}"/>
              </a:ext>
            </a:extLst>
          </p:cNvPr>
          <p:cNvSpPr>
            <a:spLocks noGrp="1"/>
          </p:cNvSpPr>
          <p:nvPr>
            <p:ph type="body" idx="1"/>
          </p:nvPr>
        </p:nvSpPr>
        <p:spPr/>
        <p:txBody>
          <a:bodyPr/>
          <a:lstStyle/>
          <a:p>
            <a:pPr marL="158750" lvl="0" indent="0">
              <a:buNone/>
            </a:pPr>
            <a:r>
              <a:rPr lang="en-US" dirty="0"/>
              <a:t>…but inactive in others. </a:t>
            </a:r>
          </a:p>
        </p:txBody>
      </p:sp>
    </p:spTree>
    <p:extLst>
      <p:ext uri="{BB962C8B-B14F-4D97-AF65-F5344CB8AC3E}">
        <p14:creationId xmlns:p14="http://schemas.microsoft.com/office/powerpoint/2010/main" val="38230018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7362EF-F99D-3985-B1BB-0A0E599B4B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F5AC26-FE61-FC40-9C6D-42EAD87D593F}"/>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49480F80-BAE2-775B-44DC-D219C9EB243C}"/>
              </a:ext>
            </a:extLst>
          </p:cNvPr>
          <p:cNvSpPr>
            <a:spLocks noGrp="1"/>
          </p:cNvSpPr>
          <p:nvPr>
            <p:ph type="body" idx="1"/>
          </p:nvPr>
        </p:nvSpPr>
        <p:spPr/>
        <p:txBody>
          <a:bodyPr/>
          <a:lstStyle/>
          <a:p>
            <a:pPr marL="158750" lvl="0" indent="0">
              <a:buNone/>
            </a:pPr>
            <a:r>
              <a:rPr lang="en-US" dirty="0"/>
              <a:t>For this part of the talk, we’re going to focus on a goal of context-specific enhancer design. Can we design enhancer sequences that are active in certain cellular contexts, but not in others?</a:t>
            </a:r>
          </a:p>
        </p:txBody>
      </p:sp>
    </p:spTree>
    <p:extLst>
      <p:ext uri="{BB962C8B-B14F-4D97-AF65-F5344CB8AC3E}">
        <p14:creationId xmlns:p14="http://schemas.microsoft.com/office/powerpoint/2010/main" val="837733370"/>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7098AC-826C-DC5A-9344-C3E61912ED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B060D50-196A-8E1E-3536-EB3D33AB3396}"/>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488C133B-6274-0E50-FC99-85CE944D2C9F}"/>
              </a:ext>
            </a:extLst>
          </p:cNvPr>
          <p:cNvSpPr>
            <a:spLocks noGrp="1"/>
          </p:cNvSpPr>
          <p:nvPr>
            <p:ph type="body" idx="1"/>
          </p:nvPr>
        </p:nvSpPr>
        <p:spPr/>
        <p:txBody>
          <a:bodyPr/>
          <a:lstStyle/>
          <a:p>
            <a:pPr marL="158750" lvl="0" indent="0">
              <a:buNone/>
            </a:pPr>
            <a:r>
              <a:rPr lang="en-US" dirty="0"/>
              <a:t>Why do we want to do this? Context-specific enhancer design enables control and understanding of gene expression. The ability to control gene expression has impacts on applications like gene therapy. Let’s say that you have a plasmid, that maybe expresses a pathogenic protein that will kill off a cell.</a:t>
            </a:r>
          </a:p>
        </p:txBody>
      </p:sp>
    </p:spTree>
    <p:extLst>
      <p:ext uri="{BB962C8B-B14F-4D97-AF65-F5344CB8AC3E}">
        <p14:creationId xmlns:p14="http://schemas.microsoft.com/office/powerpoint/2010/main" val="4247328770"/>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D99AE3-67AB-6DAF-5768-BCC5EF1FE2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FB26800-6D9D-300D-D165-C589062467BC}"/>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5321A9A5-C27C-9AA3-4DE1-616AEE852BD7}"/>
              </a:ext>
            </a:extLst>
          </p:cNvPr>
          <p:cNvSpPr>
            <a:spLocks noGrp="1"/>
          </p:cNvSpPr>
          <p:nvPr>
            <p:ph type="body" idx="1"/>
          </p:nvPr>
        </p:nvSpPr>
        <p:spPr/>
        <p:txBody>
          <a:bodyPr/>
          <a:lstStyle/>
          <a:p>
            <a:pPr marL="158750" lvl="0" indent="0">
              <a:buNone/>
            </a:pPr>
            <a:r>
              <a:rPr lang="en-US" dirty="0"/>
              <a:t>You could broadly transfect cells with the plasmid but design an enhancer sequence that means the gene (animation) will only be expressed in cancer cells, but not in other cells. In other words, this gives us strategies where the targeting of cells doesn’t have to be specific, because our control of gene expression is. But taking a step back into more basic biological questions – I said earlier that we still don’t completely understand the principles in how enhancers drive this specificity. Being able to design enhancer sequences that drive this kind of cell state specific gene expression also means that we can reverse engineer principles – we can analyze sequences to try to determine features or properties of the sequence that drive this specificity. </a:t>
            </a:r>
          </a:p>
        </p:txBody>
      </p:sp>
    </p:spTree>
    <p:extLst>
      <p:ext uri="{BB962C8B-B14F-4D97-AF65-F5344CB8AC3E}">
        <p14:creationId xmlns:p14="http://schemas.microsoft.com/office/powerpoint/2010/main" val="3658981678"/>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3F7D5D-33C9-BE9B-A8E7-3C5032463E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7D627DF-B502-F529-1DBC-1C0F406A3C03}"/>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B3A9C20B-0507-25E5-C687-BAF44FDD0FED}"/>
              </a:ext>
            </a:extLst>
          </p:cNvPr>
          <p:cNvSpPr>
            <a:spLocks noGrp="1"/>
          </p:cNvSpPr>
          <p:nvPr>
            <p:ph type="body" idx="1"/>
          </p:nvPr>
        </p:nvSpPr>
        <p:spPr/>
        <p:txBody>
          <a:bodyPr/>
          <a:lstStyle/>
          <a:p>
            <a:pPr marL="158750" lvl="0" indent="0">
              <a:buNone/>
            </a:pPr>
            <a:r>
              <a:rPr lang="en-US" dirty="0"/>
              <a:t>Because context-specific enhancer design is so impactful, there have already been conditional generative models proposed for this. Most of these rely upon massive parallel reporter assays, or MPRAs, to label sequences for training. MPRAs usually start with libraries of plasmids. Each plasmid will contain a different enhancer sequence, a reporter gene – usually green fluorescent protein, and a barcode. </a:t>
            </a:r>
          </a:p>
        </p:txBody>
      </p:sp>
    </p:spTree>
    <p:extLst>
      <p:ext uri="{BB962C8B-B14F-4D97-AF65-F5344CB8AC3E}">
        <p14:creationId xmlns:p14="http://schemas.microsoft.com/office/powerpoint/2010/main" val="2911577384"/>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6FD242-C961-5D84-3DE4-2BF7956F7F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EBC2ADA-B17C-BD46-80E9-358BC1D002A6}"/>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09427D45-B104-4D54-6449-1645F831FCB2}"/>
              </a:ext>
            </a:extLst>
          </p:cNvPr>
          <p:cNvSpPr>
            <a:spLocks noGrp="1"/>
          </p:cNvSpPr>
          <p:nvPr>
            <p:ph type="body" idx="1"/>
          </p:nvPr>
        </p:nvSpPr>
        <p:spPr/>
        <p:txBody>
          <a:bodyPr/>
          <a:lstStyle/>
          <a:p>
            <a:pPr marL="158750" lvl="0" indent="0">
              <a:buNone/>
            </a:pPr>
            <a:r>
              <a:rPr lang="en-US" dirty="0"/>
              <a:t>We can transfect cells representing different cellular contexts with this plasmid library. The idea is that if the enhancer drives gene expression in a specific cell context…</a:t>
            </a:r>
          </a:p>
        </p:txBody>
      </p:sp>
    </p:spTree>
    <p:extLst>
      <p:ext uri="{BB962C8B-B14F-4D97-AF65-F5344CB8AC3E}">
        <p14:creationId xmlns:p14="http://schemas.microsoft.com/office/powerpoint/2010/main" val="1754370266"/>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03F2A8-1C29-587E-AD20-0C67221333F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FE21EB-EF03-F81D-D032-17483FBF965A}"/>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6C9093B4-F9C7-1ADD-9F80-AE81996377A5}"/>
              </a:ext>
            </a:extLst>
          </p:cNvPr>
          <p:cNvSpPr>
            <a:spLocks noGrp="1"/>
          </p:cNvSpPr>
          <p:nvPr>
            <p:ph type="body" idx="1"/>
          </p:nvPr>
        </p:nvSpPr>
        <p:spPr/>
        <p:txBody>
          <a:bodyPr/>
          <a:lstStyle/>
          <a:p>
            <a:pPr marL="158750" lvl="0" indent="0">
              <a:buNone/>
            </a:pPr>
            <a:r>
              <a:rPr lang="en-US" dirty="0"/>
              <a:t>Green fluorescent protein will be expressed, causing the cell to glow under certain wavelengths of light, whereas if the enhancer doesn’t drive gene expression, the cell won’t. </a:t>
            </a:r>
          </a:p>
        </p:txBody>
      </p:sp>
    </p:spTree>
    <p:extLst>
      <p:ext uri="{BB962C8B-B14F-4D97-AF65-F5344CB8AC3E}">
        <p14:creationId xmlns:p14="http://schemas.microsoft.com/office/powerpoint/2010/main" val="2120905558"/>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F86456-F28C-515B-3515-A15EED7B835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FE7981-B8C7-5315-1193-3E80778F37D0}"/>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6807A72C-40B2-8D45-7988-AFB913A01582}"/>
              </a:ext>
            </a:extLst>
          </p:cNvPr>
          <p:cNvSpPr>
            <a:spLocks noGrp="1"/>
          </p:cNvSpPr>
          <p:nvPr>
            <p:ph type="body" idx="1"/>
          </p:nvPr>
        </p:nvSpPr>
        <p:spPr/>
        <p:txBody>
          <a:bodyPr/>
          <a:lstStyle/>
          <a:p>
            <a:pPr marL="158750" lvl="0" indent="0">
              <a:buNone/>
            </a:pPr>
            <a:r>
              <a:rPr lang="en-US" dirty="0"/>
              <a:t>We can use this fluorescent signal to sort cells, sequence just the fluorescent cells, and use the barcodes to identify what enhancer sequences drive expression in what cell contexts.</a:t>
            </a:r>
          </a:p>
        </p:txBody>
      </p:sp>
    </p:spTree>
    <p:extLst>
      <p:ext uri="{BB962C8B-B14F-4D97-AF65-F5344CB8AC3E}">
        <p14:creationId xmlns:p14="http://schemas.microsoft.com/office/powerpoint/2010/main" val="3728773268"/>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AD06CC-67EE-4165-C44B-9639A977C3C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1017B4-6897-55C1-B703-2C91CC0C5655}"/>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FBC6DBD5-D619-EF1A-E219-060D131DC01C}"/>
              </a:ext>
            </a:extLst>
          </p:cNvPr>
          <p:cNvSpPr>
            <a:spLocks noGrp="1"/>
          </p:cNvSpPr>
          <p:nvPr>
            <p:ph type="body" idx="1"/>
          </p:nvPr>
        </p:nvSpPr>
        <p:spPr/>
        <p:txBody>
          <a:bodyPr/>
          <a:lstStyle/>
          <a:p>
            <a:pPr marL="158750" lvl="0" indent="0">
              <a:buNone/>
            </a:pPr>
            <a:r>
              <a:rPr lang="en-US" dirty="0"/>
              <a:t>This data effectively gives us a list of sequences that drive activity for a specific cellular context and can be used to train conditional generative models. During training, the model is given an identifier representing the cell context we want to design sequences for and trained to output these sequences.</a:t>
            </a:r>
          </a:p>
        </p:txBody>
      </p:sp>
    </p:spTree>
    <p:extLst>
      <p:ext uri="{BB962C8B-B14F-4D97-AF65-F5344CB8AC3E}">
        <p14:creationId xmlns:p14="http://schemas.microsoft.com/office/powerpoint/2010/main" val="2077926846"/>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107532-8925-82EC-F1B5-8601E2A4924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4B53F8-4DF7-9D94-EE57-2A90C8F9DD8E}"/>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E21CF7E9-B5FC-E75D-43B0-5830E259033E}"/>
              </a:ext>
            </a:extLst>
          </p:cNvPr>
          <p:cNvSpPr>
            <a:spLocks noGrp="1"/>
          </p:cNvSpPr>
          <p:nvPr>
            <p:ph type="body" idx="1"/>
          </p:nvPr>
        </p:nvSpPr>
        <p:spPr/>
        <p:txBody>
          <a:bodyPr/>
          <a:lstStyle/>
          <a:p>
            <a:pPr marL="158750" lvl="0" indent="0">
              <a:buNone/>
            </a:pPr>
            <a:r>
              <a:rPr lang="en-US" dirty="0"/>
              <a:t>Hopefully, if we have enough data to train a generalizable model, the model will generate novel sequences during test time that are active in the cell context. Overall, this is a beautiful cycle between wet lab experimentation and computational modeling, but it has its limitations. </a:t>
            </a:r>
          </a:p>
        </p:txBody>
      </p:sp>
    </p:spTree>
    <p:extLst>
      <p:ext uri="{BB962C8B-B14F-4D97-AF65-F5344CB8AC3E}">
        <p14:creationId xmlns:p14="http://schemas.microsoft.com/office/powerpoint/2010/main" val="298578177"/>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4D5F0C-8A47-B58D-9D51-C8F5E6BCD8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86E469-8D03-4DE9-1BC7-EE7543B2063C}"/>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E505E8D1-20B1-E336-FD85-D71F03A92FCC}"/>
              </a:ext>
            </a:extLst>
          </p:cNvPr>
          <p:cNvSpPr>
            <a:spLocks noGrp="1"/>
          </p:cNvSpPr>
          <p:nvPr>
            <p:ph type="body" idx="1"/>
          </p:nvPr>
        </p:nvSpPr>
        <p:spPr/>
        <p:txBody>
          <a:bodyPr/>
          <a:lstStyle/>
          <a:p>
            <a:pPr marL="158750" lvl="0" indent="0">
              <a:buNone/>
            </a:pPr>
            <a:r>
              <a:rPr lang="en-US" dirty="0"/>
              <a:t>And in particular – I think it creates a chicken and egg problem with experimentation. Because if you go back to the MPRA – chances are if you can do a MPRA, these are going to be cells you can easily culture.</a:t>
            </a:r>
          </a:p>
        </p:txBody>
      </p:sp>
    </p:spTree>
    <p:extLst>
      <p:ext uri="{BB962C8B-B14F-4D97-AF65-F5344CB8AC3E}">
        <p14:creationId xmlns:p14="http://schemas.microsoft.com/office/powerpoint/2010/main" val="30070775"/>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4466FC-ED8F-26D0-D914-D722F99881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33A3FB1-51DD-EA92-49CE-1092298DC078}"/>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3E59DAEF-E752-DA21-E76C-6FFC7F1906CD}"/>
              </a:ext>
            </a:extLst>
          </p:cNvPr>
          <p:cNvSpPr>
            <a:spLocks noGrp="1"/>
          </p:cNvSpPr>
          <p:nvPr>
            <p:ph type="body" idx="1"/>
          </p:nvPr>
        </p:nvSpPr>
        <p:spPr/>
        <p:txBody>
          <a:bodyPr/>
          <a:lstStyle/>
          <a:p>
            <a:pPr marL="158750" lvl="0" indent="0">
              <a:buNone/>
            </a:pPr>
            <a:r>
              <a:rPr lang="en-US" dirty="0"/>
              <a:t>This leaves out rare cell types, or transient cell states, that may be difficult to collect data for. </a:t>
            </a:r>
          </a:p>
        </p:txBody>
      </p:sp>
    </p:spTree>
    <p:extLst>
      <p:ext uri="{BB962C8B-B14F-4D97-AF65-F5344CB8AC3E}">
        <p14:creationId xmlns:p14="http://schemas.microsoft.com/office/powerpoint/2010/main" val="2764291510"/>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8C04FE-517D-C39C-63C0-FB3BCA501BE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3A0154-3414-4B4E-B724-B89F112C096D}"/>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73A4531B-DA9E-1E82-B2EA-6BB5955E2DEA}"/>
              </a:ext>
            </a:extLst>
          </p:cNvPr>
          <p:cNvSpPr>
            <a:spLocks noGrp="1"/>
          </p:cNvSpPr>
          <p:nvPr>
            <p:ph type="body" idx="1"/>
          </p:nvPr>
        </p:nvSpPr>
        <p:spPr/>
        <p:txBody>
          <a:bodyPr/>
          <a:lstStyle/>
          <a:p>
            <a:pPr marL="15875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dirty="0"/>
              <a:t>Typically, MPRAs are conducted on different cell types in baseline conditions. But cell type is not the only thing that will influence enhancer activity – things like environmental perturbations, epigenetic modifications, and other factors, can also alter activity. However, considering these factors means cell context space grows combinatorically. That’s another limitation of this strategy – brute force collection of data for all the cell states we want to generate sequences for is just not tractable. In sum - we don’t just want to design for well-studied contexts that are the most amenable for wet lab experimentation. How do we reach cell contexts that don’t have high-throughput data associated with them?</a:t>
            </a:r>
          </a:p>
          <a:p>
            <a:pPr marL="158750" lvl="0" indent="0">
              <a:buNone/>
            </a:pPr>
            <a:endParaRPr lang="en-US" dirty="0"/>
          </a:p>
        </p:txBody>
      </p:sp>
    </p:spTree>
    <p:extLst>
      <p:ext uri="{BB962C8B-B14F-4D97-AF65-F5344CB8AC3E}">
        <p14:creationId xmlns:p14="http://schemas.microsoft.com/office/powerpoint/2010/main" val="207494273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CF73A5-5AD6-C1CC-5616-20E35213EF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AB4C9E0-FA4D-3203-229C-2F6350850E72}"/>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71CE0769-CAAC-E761-E4E5-CCC1D326D3B4}"/>
              </a:ext>
            </a:extLst>
          </p:cNvPr>
          <p:cNvSpPr>
            <a:spLocks noGrp="1"/>
          </p:cNvSpPr>
          <p:nvPr>
            <p:ph type="body" idx="1"/>
          </p:nvPr>
        </p:nvSpPr>
        <p:spPr/>
        <p:txBody>
          <a:bodyPr/>
          <a:lstStyle/>
          <a:p>
            <a:pPr marL="158750" lvl="0" indent="0">
              <a:buNone/>
            </a:pPr>
            <a:r>
              <a:rPr lang="en-US" dirty="0"/>
              <a:t>My proposal is that instead of building generative models that rely upon specification of cellular context to conditionally generate sequences, why don’t we conditionally generate enhancers through examples? We would show the model one or multiple sequences, and we would ask it to generate different sequences, that have a similar function. This means we could still generate sequences even if we knew only a single enhancer sequence active in that cell context. It also means we can conditionally generate sequences even if we don’t fully know the function of the sequence a priori – and that might help us figure out the function of the sequence, because we have more examples to identify patterns from. In other words, generating from example means we can still generate sequences even when we have limited data, or limited prior knowledge of function. </a:t>
            </a:r>
          </a:p>
        </p:txBody>
      </p:sp>
    </p:spTree>
    <p:extLst>
      <p:ext uri="{BB962C8B-B14F-4D97-AF65-F5344CB8AC3E}">
        <p14:creationId xmlns:p14="http://schemas.microsoft.com/office/powerpoint/2010/main" val="346035920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F38357-8F98-4F2B-6C14-F7B4BF3D50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77FA218-0402-805C-D844-92D10F73ADF6}"/>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6AA47CD9-29C3-6251-14E8-F2859DC37EC7}"/>
              </a:ext>
            </a:extLst>
          </p:cNvPr>
          <p:cNvSpPr>
            <a:spLocks noGrp="1"/>
          </p:cNvSpPr>
          <p:nvPr>
            <p:ph type="body" idx="1"/>
          </p:nvPr>
        </p:nvSpPr>
        <p:spPr/>
        <p:txBody>
          <a:bodyPr/>
          <a:lstStyle/>
          <a:p>
            <a:pPr marL="158750" lvl="0" indent="0">
              <a:buNone/>
            </a:pPr>
            <a:r>
              <a:rPr lang="en-US" dirty="0"/>
              <a:t>To train a model that can conditionally generate from example – we need to have, as training data, sets of enhancer sequences that have similar and diverse functions.</a:t>
            </a:r>
          </a:p>
        </p:txBody>
      </p:sp>
    </p:spTree>
    <p:extLst>
      <p:ext uri="{BB962C8B-B14F-4D97-AF65-F5344CB8AC3E}">
        <p14:creationId xmlns:p14="http://schemas.microsoft.com/office/powerpoint/2010/main" val="1741560477"/>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EDC130-702F-C943-71A1-A9419E8803C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D40A0BC-49BB-D173-2214-8F80D662CDF4}"/>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AD3750E2-2C29-51EC-E506-DE0123D847ED}"/>
              </a:ext>
            </a:extLst>
          </p:cNvPr>
          <p:cNvSpPr>
            <a:spLocks noGrp="1"/>
          </p:cNvSpPr>
          <p:nvPr>
            <p:ph type="body" idx="1"/>
          </p:nvPr>
        </p:nvSpPr>
        <p:spPr/>
        <p:txBody>
          <a:bodyPr/>
          <a:lstStyle/>
          <a:p>
            <a:pPr marL="158750" lvl="0" indent="0">
              <a:buNone/>
            </a:pPr>
            <a:r>
              <a:rPr lang="en-US" dirty="0"/>
              <a:t>Evolution provides us with these observations!</a:t>
            </a:r>
          </a:p>
        </p:txBody>
      </p:sp>
    </p:spTree>
    <p:extLst>
      <p:ext uri="{BB962C8B-B14F-4D97-AF65-F5344CB8AC3E}">
        <p14:creationId xmlns:p14="http://schemas.microsoft.com/office/powerpoint/2010/main" val="7039187"/>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261A86-D729-CC28-2D43-CBA8FA4F3FB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040DAA4-2B03-D31F-6C31-CFA69988464C}"/>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4B54756C-DA4A-2D2F-2D53-0CE1A877DD17}"/>
              </a:ext>
            </a:extLst>
          </p:cNvPr>
          <p:cNvSpPr>
            <a:spLocks noGrp="1"/>
          </p:cNvSpPr>
          <p:nvPr>
            <p:ph type="body" idx="1"/>
          </p:nvPr>
        </p:nvSpPr>
        <p:spPr/>
        <p:txBody>
          <a:bodyPr/>
          <a:lstStyle/>
          <a:p>
            <a:pPr marL="158750" lvl="0" indent="0">
              <a:buNone/>
            </a:pPr>
            <a:r>
              <a:rPr lang="en-US" sz="1100" b="0" i="0" u="none" strike="noStrike" cap="none" dirty="0">
                <a:solidFill>
                  <a:srgbClr val="000000"/>
                </a:solidFill>
                <a:effectLst/>
                <a:latin typeface="Arial"/>
                <a:ea typeface="Arial"/>
                <a:cs typeface="Arial"/>
                <a:sym typeface="Arial"/>
              </a:rPr>
              <a:t>Revisiting multiple sequence alignments, what these alignments can do is identify instances of the same enhancer over different species. (Animation) Because evolutionary time causes the accumulation of mutations, and non-coding regions tend to evolve fairly rapidly, these sequences are going to be naturally diverged. But because function tends to evolve slower than sequence, these sequences will have similar, but probably not exactly the same function. But the point is that evolution can give us a huge amount of reasonable quality data, to train our from-example generative model.</a:t>
            </a:r>
          </a:p>
        </p:txBody>
      </p:sp>
    </p:spTree>
    <p:extLst>
      <p:ext uri="{BB962C8B-B14F-4D97-AF65-F5344CB8AC3E}">
        <p14:creationId xmlns:p14="http://schemas.microsoft.com/office/powerpoint/2010/main" val="1467388198"/>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3932F8-A4DD-9591-EE1A-832C212603D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8A0FB0-FD2D-C74A-3F9B-6BD06F88FB77}"/>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9B0DE2E7-0846-B3F3-4315-EA5062BB3336}"/>
              </a:ext>
            </a:extLst>
          </p:cNvPr>
          <p:cNvSpPr>
            <a:spLocks noGrp="1"/>
          </p:cNvSpPr>
          <p:nvPr>
            <p:ph type="body" idx="1"/>
          </p:nvPr>
        </p:nvSpPr>
        <p:spPr/>
        <p:txBody>
          <a:bodyPr/>
          <a:lstStyle/>
          <a:p>
            <a:pPr marL="158750" lvl="0" indent="0">
              <a:buNone/>
            </a:pPr>
            <a:r>
              <a:rPr lang="en-US" sz="1100" b="0" i="0" u="none" strike="noStrike" cap="none" dirty="0">
                <a:solidFill>
                  <a:srgbClr val="000000"/>
                </a:solidFill>
                <a:effectLst/>
                <a:latin typeface="Arial"/>
                <a:ea typeface="Arial"/>
                <a:cs typeface="Arial"/>
                <a:sym typeface="Arial"/>
              </a:rPr>
              <a:t>To implement this idea, we created the largest collection of enhancer homology families to date. This is done by taking ENCODE SCREEN, which has identified 1.7 million candidate human enhancers, and cross-referencing it against the </a:t>
            </a:r>
            <a:r>
              <a:rPr lang="en-US" sz="1100" b="0" i="0" u="none" strike="noStrike" cap="none" dirty="0" err="1">
                <a:solidFill>
                  <a:srgbClr val="000000"/>
                </a:solidFill>
                <a:effectLst/>
                <a:latin typeface="Arial"/>
                <a:ea typeface="Arial"/>
                <a:cs typeface="Arial"/>
                <a:sym typeface="Arial"/>
              </a:rPr>
              <a:t>Zoonomia</a:t>
            </a:r>
            <a:r>
              <a:rPr lang="en-US" sz="1100" b="0" i="0" u="none" strike="noStrike" cap="none" dirty="0">
                <a:solidFill>
                  <a:srgbClr val="000000"/>
                </a:solidFill>
                <a:effectLst/>
                <a:latin typeface="Arial"/>
                <a:ea typeface="Arial"/>
                <a:cs typeface="Arial"/>
                <a:sym typeface="Arial"/>
              </a:rPr>
              <a:t> project’s 241-way mammalian alignment to identify homologs for these enhancers. When this is done, we curate more than 200 million homologs, across 1.7 million enhancer homology sets.</a:t>
            </a:r>
          </a:p>
        </p:txBody>
      </p:sp>
    </p:spTree>
    <p:extLst>
      <p:ext uri="{BB962C8B-B14F-4D97-AF65-F5344CB8AC3E}">
        <p14:creationId xmlns:p14="http://schemas.microsoft.com/office/powerpoint/2010/main" val="1961243875"/>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5BEF92-45A7-E6F4-ADDF-E07C52FCA6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80A2AB-E5E3-7582-336C-F68706C37CC5}"/>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286EAC66-8B61-40FB-74AB-DAC147FB8BD9}"/>
              </a:ext>
            </a:extLst>
          </p:cNvPr>
          <p:cNvSpPr>
            <a:spLocks noGrp="1"/>
          </p:cNvSpPr>
          <p:nvPr>
            <p:ph type="body" idx="1"/>
          </p:nvPr>
        </p:nvSpPr>
        <p:spPr/>
        <p:txBody>
          <a:bodyPr/>
          <a:lstStyle/>
          <a:p>
            <a:pPr marL="158750" lvl="0" indent="0">
              <a:buNone/>
            </a:pPr>
            <a:r>
              <a:rPr lang="en-US" sz="1100" b="0" i="0" u="none" strike="noStrike" cap="none" dirty="0">
                <a:solidFill>
                  <a:srgbClr val="000000"/>
                </a:solidFill>
                <a:effectLst/>
                <a:latin typeface="Arial"/>
                <a:ea typeface="Arial"/>
                <a:cs typeface="Arial"/>
                <a:sym typeface="Arial"/>
              </a:rPr>
              <a:t>To train our model, we take these homology sets, randomly sample up to 64 sequences, and unroll them as a single long sequence that separates individual homologs with separator tokens. We train an autoregressive model called </a:t>
            </a:r>
            <a:r>
              <a:rPr lang="en-US" sz="1100" b="0" i="0" u="none" strike="noStrike" cap="none" dirty="0" err="1">
                <a:solidFill>
                  <a:srgbClr val="000000"/>
                </a:solidFill>
                <a:effectLst/>
                <a:latin typeface="Arial"/>
                <a:ea typeface="Arial"/>
                <a:cs typeface="Arial"/>
                <a:sym typeface="Arial"/>
              </a:rPr>
              <a:t>EnhancAR</a:t>
            </a:r>
            <a:r>
              <a:rPr lang="en-US" sz="1100" b="0" i="0" u="none" strike="noStrike" cap="none" dirty="0">
                <a:solidFill>
                  <a:srgbClr val="000000"/>
                </a:solidFill>
                <a:effectLst/>
                <a:latin typeface="Arial"/>
                <a:ea typeface="Arial"/>
                <a:cs typeface="Arial"/>
                <a:sym typeface="Arial"/>
              </a:rPr>
              <a:t> on these unrolled sequences, using a next token prediction task.</a:t>
            </a:r>
          </a:p>
        </p:txBody>
      </p:sp>
    </p:spTree>
    <p:extLst>
      <p:ext uri="{BB962C8B-B14F-4D97-AF65-F5344CB8AC3E}">
        <p14:creationId xmlns:p14="http://schemas.microsoft.com/office/powerpoint/2010/main" val="805662367"/>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6E87F1-A1AD-BB85-9ABE-B015C741B0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8C4DE50-E0D8-6EC4-B1F6-D23DAB792066}"/>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EEC1C7E7-F20A-A2D6-6324-28CF1FF352AE}"/>
              </a:ext>
            </a:extLst>
          </p:cNvPr>
          <p:cNvSpPr>
            <a:spLocks noGrp="1"/>
          </p:cNvSpPr>
          <p:nvPr>
            <p:ph type="body" idx="1"/>
          </p:nvPr>
        </p:nvSpPr>
        <p:spPr/>
        <p:txBody>
          <a:bodyPr/>
          <a:lstStyle/>
          <a:p>
            <a:pPr marL="158750" lvl="0" indent="0">
              <a:buNone/>
            </a:pPr>
            <a:r>
              <a:rPr lang="en-US" sz="1100" b="0" i="0" u="none" strike="noStrike" cap="none" dirty="0">
                <a:solidFill>
                  <a:srgbClr val="000000"/>
                </a:solidFill>
                <a:effectLst/>
                <a:latin typeface="Arial"/>
                <a:ea typeface="Arial"/>
                <a:cs typeface="Arial"/>
                <a:sym typeface="Arial"/>
              </a:rPr>
              <a:t>The reason why we decided to train this model autoregressively is because it enables flexible generation modes. Autoregressive training means that </a:t>
            </a:r>
            <a:r>
              <a:rPr lang="en-US" sz="1100" b="0" i="0" u="none" strike="noStrike" cap="none" dirty="0" err="1">
                <a:solidFill>
                  <a:srgbClr val="000000"/>
                </a:solidFill>
                <a:effectLst/>
                <a:latin typeface="Arial"/>
                <a:ea typeface="Arial"/>
                <a:cs typeface="Arial"/>
                <a:sym typeface="Arial"/>
              </a:rPr>
              <a:t>EnhancAR</a:t>
            </a:r>
            <a:r>
              <a:rPr lang="en-US" sz="1100" b="0" i="0" u="none" strike="noStrike" cap="none" dirty="0">
                <a:solidFill>
                  <a:srgbClr val="000000"/>
                </a:solidFill>
                <a:effectLst/>
                <a:latin typeface="Arial"/>
                <a:ea typeface="Arial"/>
                <a:cs typeface="Arial"/>
                <a:sym typeface="Arial"/>
              </a:rPr>
              <a:t> sees homology families with a variable number of sequences during training. Sometimes it’ll see one sequence and be asked to generate the next token. Sometimes it’ll see two, or more. And sometimes it may not see any sequences and have to generate completely from scratch. We reasoned this is a good property, because during inference, for a given sequence, we might have a lot of examples, or we may have very few examples. Autoregressive training means </a:t>
            </a:r>
            <a:r>
              <a:rPr lang="en-US" sz="1100" b="0" i="0" u="none" strike="noStrike" cap="none" dirty="0" err="1">
                <a:solidFill>
                  <a:srgbClr val="000000"/>
                </a:solidFill>
                <a:effectLst/>
                <a:latin typeface="Arial"/>
                <a:ea typeface="Arial"/>
                <a:cs typeface="Arial"/>
                <a:sym typeface="Arial"/>
              </a:rPr>
              <a:t>EnhancAR</a:t>
            </a:r>
            <a:r>
              <a:rPr lang="en-US" sz="1100" b="0" i="0" u="none" strike="noStrike" cap="none" dirty="0">
                <a:solidFill>
                  <a:srgbClr val="000000"/>
                </a:solidFill>
                <a:effectLst/>
                <a:latin typeface="Arial"/>
                <a:ea typeface="Arial"/>
                <a:cs typeface="Arial"/>
                <a:sym typeface="Arial"/>
              </a:rPr>
              <a:t> has been exposed to both kinds of inputs, so it should be able to handle both scenarios. </a:t>
            </a:r>
          </a:p>
          <a:p>
            <a:pPr marL="158750" lvl="0" indent="0">
              <a:buNone/>
            </a:pPr>
            <a:endParaRPr lang="en-US" sz="1100" b="0" i="0" u="none" strike="noStrike" cap="none" dirty="0">
              <a:solidFill>
                <a:srgbClr val="000000"/>
              </a:solidFill>
              <a:effectLst/>
              <a:latin typeface="Arial"/>
              <a:ea typeface="Arial"/>
              <a:cs typeface="Arial"/>
              <a:sym typeface="Arial"/>
            </a:endParaRPr>
          </a:p>
          <a:p>
            <a:pPr marL="158750" lvl="0" indent="0">
              <a:buNone/>
            </a:pPr>
            <a:r>
              <a:rPr lang="en-US" sz="1100" b="0" i="0" u="none" strike="noStrike" cap="none" dirty="0">
                <a:solidFill>
                  <a:srgbClr val="000000"/>
                </a:solidFill>
                <a:effectLst/>
                <a:latin typeface="Arial"/>
                <a:ea typeface="Arial"/>
                <a:cs typeface="Arial"/>
                <a:sym typeface="Arial"/>
              </a:rPr>
              <a:t>(8:30)</a:t>
            </a:r>
          </a:p>
        </p:txBody>
      </p:sp>
    </p:spTree>
    <p:extLst>
      <p:ext uri="{BB962C8B-B14F-4D97-AF65-F5344CB8AC3E}">
        <p14:creationId xmlns:p14="http://schemas.microsoft.com/office/powerpoint/2010/main" val="3288237579"/>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DE1E95-0834-DD77-DDDC-AE1B21A929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881E29-B67E-8167-054B-176B3C4C942C}"/>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6CEA3407-E5A5-C53F-0FD6-98450D41D158}"/>
              </a:ext>
            </a:extLst>
          </p:cNvPr>
          <p:cNvSpPr>
            <a:spLocks noGrp="1"/>
          </p:cNvSpPr>
          <p:nvPr>
            <p:ph type="body" idx="1"/>
          </p:nvPr>
        </p:nvSpPr>
        <p:spPr/>
        <p:txBody>
          <a:bodyPr/>
          <a:lstStyle/>
          <a:p>
            <a:pPr marL="158750" lvl="0" indent="0">
              <a:buNone/>
            </a:pPr>
            <a:r>
              <a:rPr lang="en-US" sz="1100" b="0" i="0" u="none" strike="noStrike" cap="none" dirty="0">
                <a:solidFill>
                  <a:srgbClr val="000000"/>
                </a:solidFill>
                <a:effectLst/>
                <a:latin typeface="Arial"/>
                <a:ea typeface="Arial"/>
                <a:cs typeface="Arial"/>
                <a:sym typeface="Arial"/>
              </a:rPr>
              <a:t>This was a long project that went over two years, and in fact, we’re still working on wet lab validation. It’s impossible for me to show you all of our results today, so I’m going to focus on three key results. I’ll show you that </a:t>
            </a:r>
            <a:r>
              <a:rPr lang="en-US" sz="1100" b="0" i="0" u="none" strike="noStrike" cap="none" dirty="0" err="1">
                <a:solidFill>
                  <a:srgbClr val="000000"/>
                </a:solidFill>
                <a:effectLst/>
                <a:latin typeface="Arial"/>
                <a:ea typeface="Arial"/>
                <a:cs typeface="Arial"/>
                <a:sym typeface="Arial"/>
              </a:rPr>
              <a:t>EnhancAR</a:t>
            </a:r>
            <a:r>
              <a:rPr lang="en-US" sz="1100" b="0" i="0" u="none" strike="noStrike" cap="none" dirty="0">
                <a:solidFill>
                  <a:srgbClr val="000000"/>
                </a:solidFill>
                <a:effectLst/>
                <a:latin typeface="Arial"/>
                <a:ea typeface="Arial"/>
                <a:cs typeface="Arial"/>
                <a:sym typeface="Arial"/>
              </a:rPr>
              <a:t>, for arbitrary enhancers in the genome, can generate novel sequences that preserve functional features – motifs. Second, </a:t>
            </a:r>
            <a:r>
              <a:rPr lang="en-US" sz="1100" b="0" i="0" u="none" strike="noStrike" cap="none" dirty="0" err="1">
                <a:solidFill>
                  <a:srgbClr val="000000"/>
                </a:solidFill>
                <a:effectLst/>
                <a:latin typeface="Arial"/>
                <a:ea typeface="Arial"/>
                <a:cs typeface="Arial"/>
                <a:sym typeface="Arial"/>
              </a:rPr>
              <a:t>EnhancAR</a:t>
            </a:r>
            <a:r>
              <a:rPr lang="en-US" sz="1100" b="0" i="0" u="none" strike="noStrike" cap="none" dirty="0">
                <a:solidFill>
                  <a:srgbClr val="000000"/>
                </a:solidFill>
                <a:effectLst/>
                <a:latin typeface="Arial"/>
                <a:ea typeface="Arial"/>
                <a:cs typeface="Arial"/>
                <a:sym typeface="Arial"/>
              </a:rPr>
              <a:t> can design enhancers predicted to be cell-type specific, without explicit cell-type information at training or inference time. Third, I’ll show you how the number of examples interacts with generation quality. </a:t>
            </a:r>
          </a:p>
        </p:txBody>
      </p:sp>
    </p:spTree>
    <p:extLst>
      <p:ext uri="{BB962C8B-B14F-4D97-AF65-F5344CB8AC3E}">
        <p14:creationId xmlns:p14="http://schemas.microsoft.com/office/powerpoint/2010/main" val="3237842407"/>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FBCE45-9FBC-DE2B-CFA6-14E03CA6BCC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CA914A-1C76-BFEB-65CF-44C88CA66D78}"/>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A5C92539-9B0D-64AE-CEB4-0B29B57DB319}"/>
              </a:ext>
            </a:extLst>
          </p:cNvPr>
          <p:cNvSpPr>
            <a:spLocks noGrp="1"/>
          </p:cNvSpPr>
          <p:nvPr>
            <p:ph type="body" idx="1"/>
          </p:nvPr>
        </p:nvSpPr>
        <p:spPr/>
        <p:txBody>
          <a:bodyPr/>
          <a:lstStyle/>
          <a:p>
            <a:pPr marL="158750" lvl="0" indent="0">
              <a:buNone/>
            </a:pPr>
            <a:r>
              <a:rPr lang="en-US" sz="1100" b="0" i="0" u="none" strike="noStrike" cap="none" dirty="0">
                <a:solidFill>
                  <a:srgbClr val="000000"/>
                </a:solidFill>
                <a:effectLst/>
                <a:latin typeface="Arial"/>
                <a:ea typeface="Arial"/>
                <a:cs typeface="Arial"/>
                <a:sym typeface="Arial"/>
              </a:rPr>
              <a:t>The first thing we did was to evaluate if </a:t>
            </a:r>
            <a:r>
              <a:rPr lang="en-US" sz="1100" b="0" i="0" u="none" strike="noStrike" cap="none" dirty="0" err="1">
                <a:solidFill>
                  <a:srgbClr val="000000"/>
                </a:solidFill>
                <a:effectLst/>
                <a:latin typeface="Arial"/>
                <a:ea typeface="Arial"/>
                <a:cs typeface="Arial"/>
                <a:sym typeface="Arial"/>
              </a:rPr>
              <a:t>EnhancAR</a:t>
            </a:r>
            <a:r>
              <a:rPr lang="en-US" sz="1100" b="0" i="0" u="none" strike="noStrike" cap="none" dirty="0">
                <a:solidFill>
                  <a:srgbClr val="000000"/>
                </a:solidFill>
                <a:effectLst/>
                <a:latin typeface="Arial"/>
                <a:ea typeface="Arial"/>
                <a:cs typeface="Arial"/>
                <a:sym typeface="Arial"/>
              </a:rPr>
              <a:t> is capable of generating novel and diverse sequences. Our strategy is to generate sequences from example. There’s not much of a point in our model, if it just gives us sequences that are basically identical to the sequences we prompt it with. To make sure this isn’t happening, we generate sequences from prompt sequences that are real homologs – for our experiments, we use 63 prompt homologs – and we quantify novelty by measuring the percent identity of the generated sequence against any of the prompts. </a:t>
            </a:r>
          </a:p>
        </p:txBody>
      </p:sp>
    </p:spTree>
    <p:extLst>
      <p:ext uri="{BB962C8B-B14F-4D97-AF65-F5344CB8AC3E}">
        <p14:creationId xmlns:p14="http://schemas.microsoft.com/office/powerpoint/2010/main" val="181887118"/>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40FDFD-BDE4-1177-95FB-2B2258B1EE0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3B2CCDA-7913-8EB4-3ED6-1E34313BE0BA}"/>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EA44EBEA-1CED-3C66-0C66-3D68C4D34EC9}"/>
              </a:ext>
            </a:extLst>
          </p:cNvPr>
          <p:cNvSpPr>
            <a:spLocks noGrp="1"/>
          </p:cNvSpPr>
          <p:nvPr>
            <p:ph type="body" idx="1"/>
          </p:nvPr>
        </p:nvSpPr>
        <p:spPr/>
        <p:txBody>
          <a:bodyPr/>
          <a:lstStyle/>
          <a:p>
            <a:pPr marL="158750" lvl="0" indent="0">
              <a:buNone/>
            </a:pPr>
            <a:r>
              <a:rPr lang="en-US" sz="1100" b="0" i="0" u="none" strike="noStrike" cap="none" dirty="0">
                <a:solidFill>
                  <a:srgbClr val="000000"/>
                </a:solidFill>
                <a:effectLst/>
                <a:latin typeface="Arial"/>
                <a:ea typeface="Arial"/>
                <a:cs typeface="Arial"/>
                <a:sym typeface="Arial"/>
              </a:rPr>
              <a:t>The second thing we wanted to check if </a:t>
            </a:r>
            <a:r>
              <a:rPr lang="en-US" sz="1100" b="0" i="0" u="none" strike="noStrike" cap="none" dirty="0" err="1">
                <a:solidFill>
                  <a:srgbClr val="000000"/>
                </a:solidFill>
                <a:effectLst/>
                <a:latin typeface="Arial"/>
                <a:ea typeface="Arial"/>
                <a:cs typeface="Arial"/>
                <a:sym typeface="Arial"/>
              </a:rPr>
              <a:t>EnhancAR</a:t>
            </a:r>
            <a:r>
              <a:rPr lang="en-US" sz="1100" b="0" i="0" u="none" strike="noStrike" cap="none" dirty="0">
                <a:solidFill>
                  <a:srgbClr val="000000"/>
                </a:solidFill>
                <a:effectLst/>
                <a:latin typeface="Arial"/>
                <a:ea typeface="Arial"/>
                <a:cs typeface="Arial"/>
                <a:sym typeface="Arial"/>
              </a:rPr>
              <a:t> diversifies generations. If you generate sequences over and over again, using different random seeds, from the same homology family, do you get the same generated sequence each time? Or do you get different generated sequences? We measure this by generating multiple sequences – 63 again in our experiments – and comparing the percent identity of sequences within the set of generated sequences against each other. </a:t>
            </a:r>
          </a:p>
        </p:txBody>
      </p:sp>
    </p:spTree>
    <p:extLst>
      <p:ext uri="{BB962C8B-B14F-4D97-AF65-F5344CB8AC3E}">
        <p14:creationId xmlns:p14="http://schemas.microsoft.com/office/powerpoint/2010/main" val="176564677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853739-A5CB-C492-1CAD-CDDF3097FFF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F14015-7810-2814-89AF-7EE572EE1A29}"/>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C8C92B57-DB9D-1C71-8E35-4B83C4A03297}"/>
              </a:ext>
            </a:extLst>
          </p:cNvPr>
          <p:cNvSpPr>
            <a:spLocks noGrp="1"/>
          </p:cNvSpPr>
          <p:nvPr>
            <p:ph type="body" idx="1"/>
          </p:nvPr>
        </p:nvSpPr>
        <p:spPr/>
        <p:txBody>
          <a:bodyPr/>
          <a:lstStyle/>
          <a:p>
            <a:pPr marL="158750" lvl="0" indent="0">
              <a:buNone/>
            </a:pPr>
            <a:r>
              <a:rPr lang="en-US" sz="1100" b="0" i="0" u="none" strike="noStrike" cap="none" dirty="0">
                <a:solidFill>
                  <a:srgbClr val="000000"/>
                </a:solidFill>
                <a:effectLst/>
                <a:latin typeface="Arial"/>
                <a:ea typeface="Arial"/>
                <a:cs typeface="Arial"/>
                <a:sym typeface="Arial"/>
              </a:rPr>
              <a:t>To test this, we generated sequences for 1000 randomly selected test enhancers in the genome. First, our novelty metric – the y-axis is showing percent identity, so the lower the bar, the more novel the sequence. We hold out the human sequence from all our prompts, so we can use it as a baseline of a real enhancer sequence. We also calculate the consensus sequence, as a naïve design strategy. As a lower bound, we scramble the human sequence – this will in almost all cases totally destroy the function of the enhancer, but tells you what the floor on this metric is if you didn’t care about preserving function. Our generated enhancers are obviously not at that floor, but we still generate sequences with a lower percent identity than the human sequence, and consensus design strategies.</a:t>
            </a:r>
          </a:p>
        </p:txBody>
      </p:sp>
    </p:spTree>
    <p:extLst>
      <p:ext uri="{BB962C8B-B14F-4D97-AF65-F5344CB8AC3E}">
        <p14:creationId xmlns:p14="http://schemas.microsoft.com/office/powerpoint/2010/main" val="356242665"/>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681011-9570-520E-7C91-B230D007D5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D1CF3E2-CAD8-1D0E-DC8F-7A691D6DAFAC}"/>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5BF586C9-470B-6CC1-7782-3F451798E6F5}"/>
              </a:ext>
            </a:extLst>
          </p:cNvPr>
          <p:cNvSpPr>
            <a:spLocks noGrp="1"/>
          </p:cNvSpPr>
          <p:nvPr>
            <p:ph type="body" idx="1"/>
          </p:nvPr>
        </p:nvSpPr>
        <p:spPr/>
        <p:txBody>
          <a:bodyPr/>
          <a:lstStyle/>
          <a:p>
            <a:pPr marL="158750" lvl="0" indent="0">
              <a:buNone/>
            </a:pPr>
            <a:r>
              <a:rPr lang="en-US" sz="1100" b="0" i="0" u="none" strike="noStrike" cap="none" dirty="0">
                <a:solidFill>
                  <a:srgbClr val="000000"/>
                </a:solidFill>
                <a:effectLst/>
                <a:latin typeface="Arial"/>
                <a:ea typeface="Arial"/>
                <a:cs typeface="Arial"/>
                <a:sym typeface="Arial"/>
              </a:rPr>
              <a:t>Next testing the diversity of our sequence sets, we compared sets of sequences generated from the same homology family as prompt, against real held-out homology families. We also shuffle the members of homology families and calculate their similarity – and again, this is our floor, showing what similarity would be if we had sets of sequences that did not share function with each other. The diversity of sequences we generate with a set, is statistically significantly lower, just by a little bit, for the level of diversity that we see for real homologs. This is good, because it suggests that our model, at minimum, is generating sequences at a level of diversity similar to what evolution induces between mammals. </a:t>
            </a:r>
          </a:p>
        </p:txBody>
      </p:sp>
    </p:spTree>
    <p:extLst>
      <p:ext uri="{BB962C8B-B14F-4D97-AF65-F5344CB8AC3E}">
        <p14:creationId xmlns:p14="http://schemas.microsoft.com/office/powerpoint/2010/main" val="815825127"/>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FBFD48-AC2A-6E24-EB30-132FF8A62A7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EB46387-40E3-78D2-7C51-D9CDB2696B8D}"/>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02EF00BB-6B0A-ECC4-8484-1E0B364A7D93}"/>
              </a:ext>
            </a:extLst>
          </p:cNvPr>
          <p:cNvSpPr>
            <a:spLocks noGrp="1"/>
          </p:cNvSpPr>
          <p:nvPr>
            <p:ph type="body" idx="1"/>
          </p:nvPr>
        </p:nvSpPr>
        <p:spPr/>
        <p:txBody>
          <a:bodyPr/>
          <a:lstStyle/>
          <a:p>
            <a:pPr marL="158750" lvl="0" indent="0">
              <a:buNone/>
            </a:pPr>
            <a:r>
              <a:rPr lang="en-US" sz="1100" b="0" i="0" u="none" strike="noStrike" cap="none" dirty="0">
                <a:solidFill>
                  <a:srgbClr val="000000"/>
                </a:solidFill>
                <a:effectLst/>
                <a:latin typeface="Arial"/>
                <a:ea typeface="Arial"/>
                <a:cs typeface="Arial"/>
                <a:sym typeface="Arial"/>
              </a:rPr>
              <a:t>Of course, just making the sequence different isn’t worth much unless we’re retaining the function of the sequence. This is somewhat difficult to quantify, as we’re working with randomly selected enhancers in the genome – the function of most enhancers isn’t strongly characterized. But as a proxy for function, we can look to the JASPAR database, which catalogues known transcription factor binding motifs. These are patterns in sequences that are known to have strong affinities for transcription factors, so if that motif occurs in an enhancer, it is more likely to be a functional feature of the sequence than say, a randomly selected </a:t>
            </a:r>
            <a:r>
              <a:rPr lang="en-US" sz="1100" b="0" i="0" u="none" strike="noStrike" cap="none" dirty="0" err="1">
                <a:solidFill>
                  <a:srgbClr val="000000"/>
                </a:solidFill>
                <a:effectLst/>
                <a:latin typeface="Arial"/>
                <a:ea typeface="Arial"/>
                <a:cs typeface="Arial"/>
                <a:sym typeface="Arial"/>
              </a:rPr>
              <a:t>subwindow</a:t>
            </a:r>
            <a:r>
              <a:rPr lang="en-US" sz="1100" b="0" i="0" u="none" strike="noStrike" cap="none" dirty="0">
                <a:solidFill>
                  <a:srgbClr val="000000"/>
                </a:solidFill>
                <a:effectLst/>
                <a:latin typeface="Arial"/>
                <a:ea typeface="Arial"/>
                <a:cs typeface="Arial"/>
                <a:sym typeface="Arial"/>
              </a:rPr>
              <a:t>. We can scan sequences for these motifs and construct a vector that represents the presence or absence each of these motifs – there are about 900 of them. In the right figure, we calculated the Pearson correlation coefficient between these motif vectors for sets of generated enhancers, versus the real homology families used to prompt generation. There is a strong diagonal in this matrix, and not off the diagonal. This tells us that our generations preserve the unique “signature” of motifs seen for each given prompt homology family, suggesting that we preserve these functional sequence features in our generations. </a:t>
            </a:r>
          </a:p>
        </p:txBody>
      </p:sp>
    </p:spTree>
    <p:extLst>
      <p:ext uri="{BB962C8B-B14F-4D97-AF65-F5344CB8AC3E}">
        <p14:creationId xmlns:p14="http://schemas.microsoft.com/office/powerpoint/2010/main" val="211093710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EB7A98-0B9C-E629-EAD7-FC8370A0AD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6B4ABE-BEAA-FD17-B293-679711EA2A11}"/>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62E42E20-C439-9055-43D6-348B0E2571E6}"/>
              </a:ext>
            </a:extLst>
          </p:cNvPr>
          <p:cNvSpPr>
            <a:spLocks noGrp="1"/>
          </p:cNvSpPr>
          <p:nvPr>
            <p:ph type="body" idx="1"/>
          </p:nvPr>
        </p:nvSpPr>
        <p:spPr/>
        <p:txBody>
          <a:bodyPr/>
          <a:lstStyle/>
          <a:p>
            <a:pPr marL="158750" lvl="0" indent="0">
              <a:buNone/>
            </a:pPr>
            <a:r>
              <a:rPr lang="en-US" sz="1100" b="0" i="0" u="none" strike="noStrike" cap="none" dirty="0">
                <a:solidFill>
                  <a:srgbClr val="000000"/>
                </a:solidFill>
                <a:effectLst/>
                <a:latin typeface="Arial"/>
                <a:ea typeface="Arial"/>
                <a:cs typeface="Arial"/>
                <a:sym typeface="Arial"/>
              </a:rPr>
              <a:t>Since motifs are just a weak proxy for function, we next wanted to more strongly verify we were designing functional sequences. To do this, we decided to see if </a:t>
            </a:r>
            <a:r>
              <a:rPr lang="en-US" sz="1100" b="0" i="0" u="none" strike="noStrike" cap="none" dirty="0" err="1">
                <a:solidFill>
                  <a:srgbClr val="000000"/>
                </a:solidFill>
                <a:effectLst/>
                <a:latin typeface="Arial"/>
                <a:ea typeface="Arial"/>
                <a:cs typeface="Arial"/>
                <a:sym typeface="Arial"/>
              </a:rPr>
              <a:t>EnhancAR</a:t>
            </a:r>
            <a:r>
              <a:rPr lang="en-US" sz="1100" b="0" i="0" u="none" strike="noStrike" cap="none" dirty="0">
                <a:solidFill>
                  <a:srgbClr val="000000"/>
                </a:solidFill>
                <a:effectLst/>
                <a:latin typeface="Arial"/>
                <a:ea typeface="Arial"/>
                <a:cs typeface="Arial"/>
                <a:sym typeface="Arial"/>
              </a:rPr>
              <a:t> can generate cell-type specific enhancers, because cell types are where the field has the strongest grasp of enhancer function. Remember that </a:t>
            </a:r>
            <a:r>
              <a:rPr lang="en-US" sz="1100" b="0" i="0" u="none" strike="noStrike" cap="none" dirty="0" err="1">
                <a:solidFill>
                  <a:srgbClr val="000000"/>
                </a:solidFill>
                <a:effectLst/>
                <a:latin typeface="Arial"/>
                <a:ea typeface="Arial"/>
                <a:cs typeface="Arial"/>
                <a:sym typeface="Arial"/>
              </a:rPr>
              <a:t>EnhancAR</a:t>
            </a:r>
            <a:r>
              <a:rPr lang="en-US" sz="1100" b="0" i="0" u="none" strike="noStrike" cap="none" dirty="0">
                <a:solidFill>
                  <a:srgbClr val="000000"/>
                </a:solidFill>
                <a:effectLst/>
                <a:latin typeface="Arial"/>
                <a:ea typeface="Arial"/>
                <a:cs typeface="Arial"/>
                <a:sym typeface="Arial"/>
              </a:rPr>
              <a:t> has never been trained on cell type labels. The way we generate cell type-specific enhancers then, is we identify human enhancers that are specific to a cell type, get homologs for these enhancers, and then generate sequences using these homologs as prompts. We then verify the generations using computational oracles, and if we are really generating cell-type specific enhancers, then we should see predicted activity for that cell type, but not others. </a:t>
            </a:r>
          </a:p>
        </p:txBody>
      </p:sp>
    </p:spTree>
    <p:extLst>
      <p:ext uri="{BB962C8B-B14F-4D97-AF65-F5344CB8AC3E}">
        <p14:creationId xmlns:p14="http://schemas.microsoft.com/office/powerpoint/2010/main" val="2509974610"/>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C9C381-C2C1-6463-44E0-1905AE9D61F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D94EB2-C3B9-8B9E-74ED-F3FC9B8057A6}"/>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F3DD69C0-F73D-F4E0-835E-6454F0FD12E4}"/>
              </a:ext>
            </a:extLst>
          </p:cNvPr>
          <p:cNvSpPr>
            <a:spLocks noGrp="1"/>
          </p:cNvSpPr>
          <p:nvPr>
            <p:ph type="body" idx="1"/>
          </p:nvPr>
        </p:nvSpPr>
        <p:spPr/>
        <p:txBody>
          <a:bodyPr/>
          <a:lstStyle/>
          <a:p>
            <a:pPr marL="158750" lvl="0" indent="0">
              <a:buNone/>
            </a:pPr>
            <a:r>
              <a:rPr lang="en-US" sz="1100" b="0" i="0" u="none" strike="noStrike" cap="none" dirty="0">
                <a:solidFill>
                  <a:srgbClr val="000000"/>
                </a:solidFill>
                <a:effectLst/>
                <a:latin typeface="Arial"/>
                <a:ea typeface="Arial"/>
                <a:cs typeface="Arial"/>
                <a:sym typeface="Arial"/>
              </a:rPr>
              <a:t>Here, we validate </a:t>
            </a:r>
            <a:r>
              <a:rPr lang="en-US" sz="1100" b="0" i="0" u="none" strike="noStrike" cap="none" dirty="0" err="1">
                <a:solidFill>
                  <a:srgbClr val="000000"/>
                </a:solidFill>
                <a:effectLst/>
                <a:latin typeface="Arial"/>
                <a:ea typeface="Arial"/>
                <a:cs typeface="Arial"/>
                <a:sym typeface="Arial"/>
              </a:rPr>
              <a:t>EnhancAR</a:t>
            </a:r>
            <a:r>
              <a:rPr lang="en-US" sz="1100" b="0" i="0" u="none" strike="noStrike" cap="none" dirty="0">
                <a:solidFill>
                  <a:srgbClr val="000000"/>
                </a:solidFill>
                <a:effectLst/>
                <a:latin typeface="Arial"/>
                <a:ea typeface="Arial"/>
                <a:cs typeface="Arial"/>
                <a:sym typeface="Arial"/>
              </a:rPr>
              <a:t> designs using the </a:t>
            </a:r>
            <a:r>
              <a:rPr lang="en-US" sz="1100" b="0" i="0" u="none" strike="noStrike" cap="none" dirty="0" err="1">
                <a:solidFill>
                  <a:srgbClr val="000000"/>
                </a:solidFill>
                <a:effectLst/>
                <a:latin typeface="Arial"/>
                <a:ea typeface="Arial"/>
                <a:cs typeface="Arial"/>
                <a:sym typeface="Arial"/>
              </a:rPr>
              <a:t>MPRALegNet</a:t>
            </a:r>
            <a:r>
              <a:rPr lang="en-US" sz="1100" b="0" i="0" u="none" strike="noStrike" cap="none" dirty="0">
                <a:solidFill>
                  <a:srgbClr val="000000"/>
                </a:solidFill>
                <a:effectLst/>
                <a:latin typeface="Arial"/>
                <a:ea typeface="Arial"/>
                <a:cs typeface="Arial"/>
                <a:sym typeface="Arial"/>
              </a:rPr>
              <a:t> models previously trained by Agarwal et al. 2025. These models predict enhancer activity based upon sequence, and there are three oracles, for HepG2, K652, and WTC11 cells. For each of these cell, we identify enhancers specific to the cell type, and we evaluate the activity of the human enhancers, of homologs of the human enhancer, and of our generations. We have the scrambled human sequence as a negative control here. Let’s focus on the human enhancer, which is our positive control. Across oracles, the human cell-type specific enhancer has high activity in the relevant cell type, but no activity in others. That’s good. Next if you look at the homologs, they also exhibit this specificity, although expression is predicted to be lower than using the human sequence. This makes sense biologically – homologs probably don’t perfectly preserve human activity. For example, transcription factor affinity for sequence may drift over evolution. We can’t fully rule out technical explanations – the oracles are trained on human sequences, so it’s possible they don’t generalize across sequences from different species. But I do think the biological explanation is compelling through principle still. What this means is that design through example homologs may not optimize function, even if it gets you something functional. And this is exactly what we see in our generations – generally, our generations are specific to cell types, but they match the activity of homologs, not the real human enhancers. That’s still exciting – it means that </a:t>
            </a:r>
            <a:r>
              <a:rPr lang="en-US" sz="1100" b="0" i="0" u="none" strike="noStrike" cap="none" dirty="0" err="1">
                <a:solidFill>
                  <a:srgbClr val="000000"/>
                </a:solidFill>
                <a:effectLst/>
                <a:latin typeface="Arial"/>
                <a:ea typeface="Arial"/>
                <a:cs typeface="Arial"/>
                <a:sym typeface="Arial"/>
              </a:rPr>
              <a:t>EnhancAR</a:t>
            </a:r>
            <a:r>
              <a:rPr lang="en-US" sz="1100" b="0" i="0" u="none" strike="noStrike" cap="none" dirty="0">
                <a:solidFill>
                  <a:srgbClr val="000000"/>
                </a:solidFill>
                <a:effectLst/>
                <a:latin typeface="Arial"/>
                <a:ea typeface="Arial"/>
                <a:cs typeface="Arial"/>
                <a:sym typeface="Arial"/>
              </a:rPr>
              <a:t> can generate cell-type specific enhancers. </a:t>
            </a:r>
          </a:p>
        </p:txBody>
      </p:sp>
    </p:spTree>
    <p:extLst>
      <p:ext uri="{BB962C8B-B14F-4D97-AF65-F5344CB8AC3E}">
        <p14:creationId xmlns:p14="http://schemas.microsoft.com/office/powerpoint/2010/main" val="2042816574"/>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D6B73C-F559-A528-2637-BCB45D4B4E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C7B8BD-8458-722F-418E-7B1B6E877ACF}"/>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6E20144D-3725-ECD6-CDB2-944CB3E6548A}"/>
              </a:ext>
            </a:extLst>
          </p:cNvPr>
          <p:cNvSpPr>
            <a:spLocks noGrp="1"/>
          </p:cNvSpPr>
          <p:nvPr>
            <p:ph type="body" idx="1"/>
          </p:nvPr>
        </p:nvSpPr>
        <p:spPr/>
        <p:txBody>
          <a:bodyPr/>
          <a:lstStyle/>
          <a:p>
            <a:pPr marL="15875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dirty="0"/>
              <a:t>Ok – that’s </a:t>
            </a:r>
            <a:r>
              <a:rPr lang="en-US" dirty="0" err="1"/>
              <a:t>EnhancAR</a:t>
            </a:r>
            <a:r>
              <a:rPr lang="en-US" dirty="0"/>
              <a:t>. Key takeaways. I argued in this part of the talk, that using evolutionary homology to prompt generation enables conditional design of enhancers without prior knowledge or experimental data of function. To demonstrate this, I showed you that </a:t>
            </a:r>
            <a:r>
              <a:rPr lang="en-US" dirty="0" err="1"/>
              <a:t>EnhancAR</a:t>
            </a:r>
            <a:r>
              <a:rPr lang="en-US" dirty="0"/>
              <a:t> can design cell-type specific enhancers cell-type information at training or inference time. Of course, cell-type specific enhancer design is only the tip of the iceberg, because we think this strategy is most useful for less understood cell contexts – but in future iterations of our work, we have some wet lab experiments lined up that will demonstrate this. Finally, I think it’s important that we acknowledge some limitations of our strategy here – design through homology may not optimize activity, even if it maintains it. This puts </a:t>
            </a:r>
            <a:r>
              <a:rPr lang="en-US" dirty="0" err="1"/>
              <a:t>EnhancAR</a:t>
            </a:r>
            <a:r>
              <a:rPr lang="en-US" dirty="0"/>
              <a:t> in contrast to some previous proposals that show that you can design activities that exceed that seen of nature – here we simply aim to match what is maintained by evolution. </a:t>
            </a:r>
          </a:p>
        </p:txBody>
      </p:sp>
    </p:spTree>
    <p:extLst>
      <p:ext uri="{BB962C8B-B14F-4D97-AF65-F5344CB8AC3E}">
        <p14:creationId xmlns:p14="http://schemas.microsoft.com/office/powerpoint/2010/main" val="2118452840"/>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indent="0">
              <a:buNone/>
            </a:pPr>
            <a:r>
              <a:rPr lang="en-US" dirty="0"/>
              <a:t>To conclude the talk, let’s zoom out. I showed you today that evolution improves generative genomic models. I showed you that predicting the rate of evolution as a pretraining task leads to improved latent understanding of genomic sequences in the </a:t>
            </a:r>
            <a:r>
              <a:rPr lang="en-US" dirty="0" err="1"/>
              <a:t>Gamba</a:t>
            </a:r>
            <a:r>
              <a:rPr lang="en-US" dirty="0"/>
              <a:t> project. And I showed you that using homologs to prompt generative models can help us reach new design spaces for enhancers.</a:t>
            </a:r>
          </a:p>
        </p:txBody>
      </p:sp>
    </p:spTree>
    <p:extLst>
      <p:ext uri="{BB962C8B-B14F-4D97-AF65-F5344CB8AC3E}">
        <p14:creationId xmlns:p14="http://schemas.microsoft.com/office/powerpoint/2010/main" val="3655501699"/>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indent="0">
              <a:buNone/>
            </a:pPr>
            <a:r>
              <a:rPr lang="en-US" dirty="0"/>
              <a:t>While these technical innovations are exciting, I want to emphasize – these are not new insights. In some ways, the fact that evolution both improves and expands capabilities of generative genomics models is an obvious insight. Bioinformatics have used evolution as decades – it is one of the most powerful and widely applied indicators of function. Part of me is like, I’m very happy we did this work, but it also felt like a pretty obvious thing to try. </a:t>
            </a:r>
          </a:p>
        </p:txBody>
      </p:sp>
    </p:spTree>
    <p:extLst>
      <p:ext uri="{BB962C8B-B14F-4D97-AF65-F5344CB8AC3E}">
        <p14:creationId xmlns:p14="http://schemas.microsoft.com/office/powerpoint/2010/main" val="828857625"/>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indent="0">
              <a:buNone/>
            </a:pPr>
            <a:r>
              <a:rPr lang="en-US" dirty="0"/>
              <a:t>The big picture here then is the importance of domain knowledge and interdisciplinary collaboration. As we gear up efforts in AI for biology, we need to recognize that these are storied fields with long legacies of methods – and the reason why some methods have persisted so long, is because they incorporate strategies that are tailored to biological data. </a:t>
            </a:r>
            <a:r>
              <a:rPr lang="en-US" sz="1100" b="0" i="0" u="none" strike="noStrike" cap="none" dirty="0">
                <a:solidFill>
                  <a:srgbClr val="000000"/>
                </a:solidFill>
                <a:effectLst/>
                <a:latin typeface="Arial"/>
                <a:ea typeface="Arial"/>
                <a:cs typeface="Arial"/>
                <a:sym typeface="Arial"/>
              </a:rPr>
              <a:t>I think for us to build truly effective generative genomics models, we need to look to strategies, methods, and knowledge that has been accumulated in bioinformatics over decades. And I think this is going to be key to solving how models are currently not as effective, efficient, or general as we’d like, empowering the next wave of generative modeling efforts.</a:t>
            </a:r>
            <a:endParaRPr lang="en-US" dirty="0"/>
          </a:p>
          <a:p>
            <a:pPr marL="158750" indent="0">
              <a:buNone/>
            </a:pPr>
            <a:r>
              <a:rPr lang="en-US" dirty="0"/>
              <a:t>(13 minutes)</a:t>
            </a:r>
          </a:p>
        </p:txBody>
      </p:sp>
    </p:spTree>
    <p:extLst>
      <p:ext uri="{BB962C8B-B14F-4D97-AF65-F5344CB8AC3E}">
        <p14:creationId xmlns:p14="http://schemas.microsoft.com/office/powerpoint/2010/main" val="4165365227"/>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0">
          <a:extLst>
            <a:ext uri="{FF2B5EF4-FFF2-40B4-BE49-F238E27FC236}">
              <a16:creationId xmlns:a16="http://schemas.microsoft.com/office/drawing/2014/main" id="{D96E55F4-5F50-A3A2-B07C-8F7E63B1FCD7}"/>
            </a:ext>
          </a:extLst>
        </p:cNvPr>
        <p:cNvGrpSpPr/>
        <p:nvPr/>
      </p:nvGrpSpPr>
      <p:grpSpPr>
        <a:xfrm>
          <a:off x="0" y="0"/>
          <a:ext cx="0" cy="0"/>
          <a:chOff x="0" y="0"/>
          <a:chExt cx="0" cy="0"/>
        </a:xfrm>
      </p:grpSpPr>
      <p:sp>
        <p:nvSpPr>
          <p:cNvPr id="411" name="Google Shape;411;g2161ca7da69_2_0:notes">
            <a:extLst>
              <a:ext uri="{FF2B5EF4-FFF2-40B4-BE49-F238E27FC236}">
                <a16:creationId xmlns:a16="http://schemas.microsoft.com/office/drawing/2014/main" id="{2395275D-DD3E-5E8C-3982-10A2DCE52AE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2" name="Google Shape;412;g2161ca7da69_2_0:notes">
            <a:extLst>
              <a:ext uri="{FF2B5EF4-FFF2-40B4-BE49-F238E27FC236}">
                <a16:creationId xmlns:a16="http://schemas.microsoft.com/office/drawing/2014/main" id="{A8B9B474-252B-8A97-F091-504DB5435DB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dirty="0">
                <a:solidFill>
                  <a:srgbClr val="000000"/>
                </a:solidFill>
                <a:effectLst/>
                <a:latin typeface="Arial"/>
                <a:ea typeface="Arial"/>
                <a:cs typeface="Arial"/>
                <a:sym typeface="Arial"/>
              </a:rPr>
              <a:t>“You guys – it turns out that genomic sequences are really, really complicated.” That might sound obvious – but I want us to appreciate just how much our appreciation of the complexity of genomes has advanced in a short time.</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sz="1100" b="0" i="0" u="none" strike="noStrike" cap="none" dirty="0">
              <a:solidFill>
                <a:srgbClr val="000000"/>
              </a:solidFill>
              <a:effectLst/>
              <a:latin typeface="Arial"/>
              <a:ea typeface="Arial"/>
              <a:cs typeface="Arial"/>
              <a:sym typeface="Arial"/>
            </a:endParaRPr>
          </a:p>
          <a:p>
            <a:pPr marL="0" lvl="0" indent="0" algn="l" rtl="0">
              <a:spcBef>
                <a:spcPts val="0"/>
              </a:spcBef>
              <a:spcAft>
                <a:spcPts val="0"/>
              </a:spcAft>
              <a:buNone/>
            </a:pPr>
            <a:endParaRPr dirty="0"/>
          </a:p>
        </p:txBody>
      </p:sp>
    </p:spTree>
    <p:extLst>
      <p:ext uri="{BB962C8B-B14F-4D97-AF65-F5344CB8AC3E}">
        <p14:creationId xmlns:p14="http://schemas.microsoft.com/office/powerpoint/2010/main" val="3720157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5AC6AC-A422-7EF8-0EE6-8B395FE1AF4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1C9C578-BB7E-80D4-52CE-04DF6A3A0C75}"/>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9790EC95-993E-B1B1-C3D7-D3C6A90B923D}"/>
              </a:ext>
            </a:extLst>
          </p:cNvPr>
          <p:cNvSpPr>
            <a:spLocks noGrp="1"/>
          </p:cNvSpPr>
          <p:nvPr>
            <p:ph type="body" idx="1"/>
          </p:nvPr>
        </p:nvSpPr>
        <p:spPr/>
        <p:txBody>
          <a:bodyPr/>
          <a:lstStyle/>
          <a:p>
            <a:pPr marL="158750" lvl="0" indent="0">
              <a:buNone/>
            </a:pPr>
            <a:r>
              <a:rPr lang="en-US" dirty="0"/>
              <a:t>There are a few ways you can execute this. First, if you have a genome language model trained on sequence reconstruction - these are generative models. You can look at the probability of generating the mutated nucleotide versus the reference genome nucleotide at the position, and score the sequence based upon how improbable the mutant is relative to the reference. The more improbable, the most pathogenic the sequence will be. </a:t>
            </a:r>
          </a:p>
        </p:txBody>
      </p:sp>
    </p:spTree>
    <p:extLst>
      <p:ext uri="{BB962C8B-B14F-4D97-AF65-F5344CB8AC3E}">
        <p14:creationId xmlns:p14="http://schemas.microsoft.com/office/powerpoint/2010/main" val="3961122689"/>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0F4B12-4DF1-8482-B63F-DEED5B7CF48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EF3D98B-EE4C-7840-4985-F52F2F3CAE98}"/>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99C31555-4A40-47BC-0215-32EE9297182B}"/>
              </a:ext>
            </a:extLst>
          </p:cNvPr>
          <p:cNvSpPr>
            <a:spLocks noGrp="1"/>
          </p:cNvSpPr>
          <p:nvPr>
            <p:ph type="body" idx="1"/>
          </p:nvPr>
        </p:nvSpPr>
        <p:spPr/>
        <p:txBody>
          <a:bodyPr/>
          <a:lstStyle/>
          <a:p>
            <a:pPr marL="158750" lvl="0" indent="0">
              <a:buNone/>
            </a:pPr>
            <a:r>
              <a:rPr lang="en-US" dirty="0"/>
              <a:t>Conversely, if you’re working with conservation scores like </a:t>
            </a:r>
            <a:r>
              <a:rPr lang="en-US" dirty="0" err="1"/>
              <a:t>PhyloP</a:t>
            </a:r>
            <a:r>
              <a:rPr lang="en-US" dirty="0"/>
              <a:t>, or models like ours that predict scores, then you can use the score itself to rank variants. The higher the score is, indicating that the position is more conserved, the higher you want to rank the variant – it indicates mutations in that position are not observed frequently in nature. </a:t>
            </a:r>
          </a:p>
        </p:txBody>
      </p:sp>
    </p:spTree>
    <p:extLst>
      <p:ext uri="{BB962C8B-B14F-4D97-AF65-F5344CB8AC3E}">
        <p14:creationId xmlns:p14="http://schemas.microsoft.com/office/powerpoint/2010/main" val="281014716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p:nvPr/>
        </p:nvSpPr>
        <p:spPr>
          <a:xfrm>
            <a:off x="7346075" y="130450"/>
            <a:ext cx="4889100" cy="48891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 name="Google Shape;10;p2"/>
          <p:cNvGrpSpPr/>
          <p:nvPr/>
        </p:nvGrpSpPr>
        <p:grpSpPr>
          <a:xfrm>
            <a:off x="727425" y="-49275"/>
            <a:ext cx="7703400" cy="5243325"/>
            <a:chOff x="727425" y="-49275"/>
            <a:chExt cx="7703400" cy="5243325"/>
          </a:xfrm>
        </p:grpSpPr>
        <p:sp>
          <p:nvSpPr>
            <p:cNvPr id="11" name="Google Shape;11;p2"/>
            <p:cNvSpPr/>
            <p:nvPr/>
          </p:nvSpPr>
          <p:spPr>
            <a:xfrm>
              <a:off x="727425" y="533550"/>
              <a:ext cx="7703400" cy="4074900"/>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2" name="Google Shape;12;p2"/>
            <p:cNvCxnSpPr/>
            <p:nvPr/>
          </p:nvCxnSpPr>
          <p:spPr>
            <a:xfrm rot="10800000">
              <a:off x="727425" y="-49275"/>
              <a:ext cx="0" cy="585600"/>
            </a:xfrm>
            <a:prstGeom prst="straightConnector1">
              <a:avLst/>
            </a:prstGeom>
            <a:noFill/>
            <a:ln w="19050" cap="flat" cmpd="sng">
              <a:solidFill>
                <a:schemeClr val="dk1"/>
              </a:solidFill>
              <a:prstDash val="solid"/>
              <a:round/>
              <a:headEnd type="none" w="med" len="med"/>
              <a:tailEnd type="none" w="med" len="med"/>
            </a:ln>
          </p:spPr>
        </p:cxnSp>
        <p:cxnSp>
          <p:nvCxnSpPr>
            <p:cNvPr id="13" name="Google Shape;13;p2"/>
            <p:cNvCxnSpPr/>
            <p:nvPr/>
          </p:nvCxnSpPr>
          <p:spPr>
            <a:xfrm rot="10800000">
              <a:off x="8430775" y="4608450"/>
              <a:ext cx="0" cy="585600"/>
            </a:xfrm>
            <a:prstGeom prst="straightConnector1">
              <a:avLst/>
            </a:prstGeom>
            <a:noFill/>
            <a:ln w="19050" cap="flat" cmpd="sng">
              <a:solidFill>
                <a:schemeClr val="dk1"/>
              </a:solidFill>
              <a:prstDash val="solid"/>
              <a:round/>
              <a:headEnd type="none" w="med" len="med"/>
              <a:tailEnd type="none" w="med" len="med"/>
            </a:ln>
          </p:spPr>
        </p:cxnSp>
      </p:grpSp>
      <p:sp>
        <p:nvSpPr>
          <p:cNvPr id="14" name="Google Shape;14;p2"/>
          <p:cNvSpPr txBox="1">
            <a:spLocks noGrp="1"/>
          </p:cNvSpPr>
          <p:nvPr>
            <p:ph type="ctrTitle"/>
          </p:nvPr>
        </p:nvSpPr>
        <p:spPr>
          <a:xfrm>
            <a:off x="1087125" y="1670213"/>
            <a:ext cx="5897400" cy="1392600"/>
          </a:xfrm>
          <a:prstGeom prst="rect">
            <a:avLst/>
          </a:prstGeom>
        </p:spPr>
        <p:txBody>
          <a:bodyPr spcFirstLastPara="1" wrap="square" lIns="91425" tIns="91425" rIns="91425" bIns="91425" anchor="b" anchorCtr="0">
            <a:noAutofit/>
          </a:bodyPr>
          <a:lstStyle>
            <a:lvl1pPr lvl="0">
              <a:spcBef>
                <a:spcPts val="0"/>
              </a:spcBef>
              <a:spcAft>
                <a:spcPts val="0"/>
              </a:spcAft>
              <a:buSzPts val="5200"/>
              <a:buNone/>
              <a:defRPr sz="38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5" name="Google Shape;15;p2"/>
          <p:cNvSpPr txBox="1">
            <a:spLocks noGrp="1"/>
          </p:cNvSpPr>
          <p:nvPr>
            <p:ph type="subTitle" idx="1"/>
          </p:nvPr>
        </p:nvSpPr>
        <p:spPr>
          <a:xfrm>
            <a:off x="1087125" y="2997488"/>
            <a:ext cx="5897400" cy="4758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Clr>
                <a:schemeClr val="dk1"/>
              </a:buClr>
              <a:buSzPts val="1400"/>
              <a:buNone/>
              <a:defRPr>
                <a:solidFill>
                  <a:schemeClr val="dk1"/>
                </a:solidFill>
              </a:defRPr>
            </a:lvl1pPr>
            <a:lvl2pPr lvl="1" algn="ctr">
              <a:lnSpc>
                <a:spcPct val="100000"/>
              </a:lnSpc>
              <a:spcBef>
                <a:spcPts val="0"/>
              </a:spcBef>
              <a:spcAft>
                <a:spcPts val="0"/>
              </a:spcAft>
              <a:buClr>
                <a:schemeClr val="dk1"/>
              </a:buClr>
              <a:buSzPts val="1800"/>
              <a:buNone/>
              <a:defRPr sz="1800">
                <a:solidFill>
                  <a:schemeClr val="dk1"/>
                </a:solidFill>
              </a:defRPr>
            </a:lvl2pPr>
            <a:lvl3pPr lvl="2" algn="ctr">
              <a:lnSpc>
                <a:spcPct val="100000"/>
              </a:lnSpc>
              <a:spcBef>
                <a:spcPts val="0"/>
              </a:spcBef>
              <a:spcAft>
                <a:spcPts val="0"/>
              </a:spcAft>
              <a:buClr>
                <a:schemeClr val="dk1"/>
              </a:buClr>
              <a:buSzPts val="1800"/>
              <a:buNone/>
              <a:defRPr sz="1800">
                <a:solidFill>
                  <a:schemeClr val="dk1"/>
                </a:solidFill>
              </a:defRPr>
            </a:lvl3pPr>
            <a:lvl4pPr lvl="3" algn="ctr">
              <a:lnSpc>
                <a:spcPct val="100000"/>
              </a:lnSpc>
              <a:spcBef>
                <a:spcPts val="0"/>
              </a:spcBef>
              <a:spcAft>
                <a:spcPts val="0"/>
              </a:spcAft>
              <a:buClr>
                <a:schemeClr val="dk1"/>
              </a:buClr>
              <a:buSzPts val="1800"/>
              <a:buNone/>
              <a:defRPr sz="1800">
                <a:solidFill>
                  <a:schemeClr val="dk1"/>
                </a:solidFill>
              </a:defRPr>
            </a:lvl4pPr>
            <a:lvl5pPr lvl="4" algn="ctr">
              <a:lnSpc>
                <a:spcPct val="100000"/>
              </a:lnSpc>
              <a:spcBef>
                <a:spcPts val="0"/>
              </a:spcBef>
              <a:spcAft>
                <a:spcPts val="0"/>
              </a:spcAft>
              <a:buClr>
                <a:schemeClr val="dk1"/>
              </a:buClr>
              <a:buSzPts val="1800"/>
              <a:buNone/>
              <a:defRPr sz="1800">
                <a:solidFill>
                  <a:schemeClr val="dk1"/>
                </a:solidFill>
              </a:defRPr>
            </a:lvl5pPr>
            <a:lvl6pPr lvl="5" algn="ctr">
              <a:lnSpc>
                <a:spcPct val="100000"/>
              </a:lnSpc>
              <a:spcBef>
                <a:spcPts val="0"/>
              </a:spcBef>
              <a:spcAft>
                <a:spcPts val="0"/>
              </a:spcAft>
              <a:buClr>
                <a:schemeClr val="dk1"/>
              </a:buClr>
              <a:buSzPts val="1800"/>
              <a:buNone/>
              <a:defRPr sz="1800">
                <a:solidFill>
                  <a:schemeClr val="dk1"/>
                </a:solidFill>
              </a:defRPr>
            </a:lvl6pPr>
            <a:lvl7pPr lvl="6" algn="ctr">
              <a:lnSpc>
                <a:spcPct val="100000"/>
              </a:lnSpc>
              <a:spcBef>
                <a:spcPts val="0"/>
              </a:spcBef>
              <a:spcAft>
                <a:spcPts val="0"/>
              </a:spcAft>
              <a:buClr>
                <a:schemeClr val="dk1"/>
              </a:buClr>
              <a:buSzPts val="1800"/>
              <a:buNone/>
              <a:defRPr sz="1800">
                <a:solidFill>
                  <a:schemeClr val="dk1"/>
                </a:solidFill>
              </a:defRPr>
            </a:lvl7pPr>
            <a:lvl8pPr lvl="7" algn="ctr">
              <a:lnSpc>
                <a:spcPct val="100000"/>
              </a:lnSpc>
              <a:spcBef>
                <a:spcPts val="0"/>
              </a:spcBef>
              <a:spcAft>
                <a:spcPts val="0"/>
              </a:spcAft>
              <a:buClr>
                <a:schemeClr val="dk1"/>
              </a:buClr>
              <a:buSzPts val="1800"/>
              <a:buNone/>
              <a:defRPr sz="1800">
                <a:solidFill>
                  <a:schemeClr val="dk1"/>
                </a:solidFill>
              </a:defRPr>
            </a:lvl8pPr>
            <a:lvl9pPr lvl="8" algn="ctr">
              <a:lnSpc>
                <a:spcPct val="100000"/>
              </a:lnSpc>
              <a:spcBef>
                <a:spcPts val="0"/>
              </a:spcBef>
              <a:spcAft>
                <a:spcPts val="0"/>
              </a:spcAft>
              <a:buClr>
                <a:schemeClr val="dk1"/>
              </a:buClr>
              <a:buSzPts val="1800"/>
              <a:buNone/>
              <a:defRPr sz="1800">
                <a:solidFill>
                  <a:schemeClr val="dk1"/>
                </a:solidFill>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5"/>
        <p:cNvGrpSpPr/>
        <p:nvPr/>
      </p:nvGrpSpPr>
      <p:grpSpPr>
        <a:xfrm>
          <a:off x="0" y="0"/>
          <a:ext cx="0" cy="0"/>
          <a:chOff x="0" y="0"/>
          <a:chExt cx="0" cy="0"/>
        </a:xfrm>
      </p:grpSpPr>
      <p:sp>
        <p:nvSpPr>
          <p:cNvPr id="26" name="Google Shape;26;p4"/>
          <p:cNvSpPr/>
          <p:nvPr/>
        </p:nvSpPr>
        <p:spPr>
          <a:xfrm>
            <a:off x="8240650" y="4204325"/>
            <a:ext cx="1861500" cy="18615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7" name="Google Shape;27;p4"/>
          <p:cNvGrpSpPr/>
          <p:nvPr/>
        </p:nvGrpSpPr>
        <p:grpSpPr>
          <a:xfrm>
            <a:off x="-19050" y="232800"/>
            <a:ext cx="8930250" cy="5027400"/>
            <a:chOff x="-19050" y="232800"/>
            <a:chExt cx="8930250" cy="5027400"/>
          </a:xfrm>
        </p:grpSpPr>
        <p:sp>
          <p:nvSpPr>
            <p:cNvPr id="28" name="Google Shape;28;p4"/>
            <p:cNvSpPr/>
            <p:nvPr/>
          </p:nvSpPr>
          <p:spPr>
            <a:xfrm>
              <a:off x="232200" y="232800"/>
              <a:ext cx="8679000" cy="4684500"/>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9" name="Google Shape;29;p4"/>
            <p:cNvCxnSpPr/>
            <p:nvPr/>
          </p:nvCxnSpPr>
          <p:spPr>
            <a:xfrm rot="10800000">
              <a:off x="-19050" y="232800"/>
              <a:ext cx="258900" cy="0"/>
            </a:xfrm>
            <a:prstGeom prst="straightConnector1">
              <a:avLst/>
            </a:prstGeom>
            <a:noFill/>
            <a:ln w="19050" cap="flat" cmpd="sng">
              <a:solidFill>
                <a:schemeClr val="dk1"/>
              </a:solidFill>
              <a:prstDash val="solid"/>
              <a:round/>
              <a:headEnd type="none" w="med" len="med"/>
              <a:tailEnd type="none" w="med" len="med"/>
            </a:ln>
          </p:spPr>
        </p:cxnSp>
        <p:cxnSp>
          <p:nvCxnSpPr>
            <p:cNvPr id="30" name="Google Shape;30;p4"/>
            <p:cNvCxnSpPr/>
            <p:nvPr/>
          </p:nvCxnSpPr>
          <p:spPr>
            <a:xfrm>
              <a:off x="8911200" y="4917300"/>
              <a:ext cx="0" cy="342900"/>
            </a:xfrm>
            <a:prstGeom prst="straightConnector1">
              <a:avLst/>
            </a:prstGeom>
            <a:noFill/>
            <a:ln w="19050" cap="flat" cmpd="sng">
              <a:solidFill>
                <a:schemeClr val="dk1"/>
              </a:solidFill>
              <a:prstDash val="solid"/>
              <a:round/>
              <a:headEnd type="none" w="med" len="med"/>
              <a:tailEnd type="none" w="med" len="med"/>
            </a:ln>
          </p:spPr>
        </p:cxnSp>
      </p:grpSp>
      <p:sp>
        <p:nvSpPr>
          <p:cNvPr id="31" name="Google Shape;31;p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32" name="Google Shape;32;p4"/>
          <p:cNvSpPr txBox="1">
            <a:spLocks noGrp="1"/>
          </p:cNvSpPr>
          <p:nvPr>
            <p:ph type="body" idx="1"/>
          </p:nvPr>
        </p:nvSpPr>
        <p:spPr>
          <a:xfrm>
            <a:off x="720000" y="1215750"/>
            <a:ext cx="7704000" cy="3233100"/>
          </a:xfrm>
          <a:prstGeom prst="rect">
            <a:avLst/>
          </a:prstGeom>
        </p:spPr>
        <p:txBody>
          <a:bodyPr spcFirstLastPara="1" wrap="square" lIns="91425" tIns="91425" rIns="91425" bIns="91425" anchor="t" anchorCtr="0">
            <a:noAutofit/>
          </a:bodyPr>
          <a:lstStyle>
            <a:lvl1pPr marL="457200" lvl="0" indent="-279400" rtl="0">
              <a:spcBef>
                <a:spcPts val="0"/>
              </a:spcBef>
              <a:spcAft>
                <a:spcPts val="0"/>
              </a:spcAft>
              <a:buSzPts val="800"/>
              <a:buChar char="●"/>
              <a:defRPr>
                <a:latin typeface="Hanken Grotesk"/>
                <a:ea typeface="Hanken Grotesk"/>
                <a:cs typeface="Hanken Grotesk"/>
                <a:sym typeface="Hanken Grotesk"/>
              </a:defRPr>
            </a:lvl1pPr>
            <a:lvl2pPr marL="914400" lvl="1" indent="-304800" rtl="0">
              <a:spcBef>
                <a:spcPts val="0"/>
              </a:spcBef>
              <a:spcAft>
                <a:spcPts val="0"/>
              </a:spcAft>
              <a:buSzPts val="1200"/>
              <a:buChar char="○"/>
              <a:defRPr>
                <a:latin typeface="Hanken Grotesk"/>
                <a:ea typeface="Hanken Grotesk"/>
                <a:cs typeface="Hanken Grotesk"/>
                <a:sym typeface="Hanken Grotesk"/>
              </a:defRPr>
            </a:lvl2pPr>
            <a:lvl3pPr marL="1371600" lvl="2" indent="-304800" rtl="0">
              <a:lnSpc>
                <a:spcPct val="115000"/>
              </a:lnSpc>
              <a:spcBef>
                <a:spcPts val="0"/>
              </a:spcBef>
              <a:spcAft>
                <a:spcPts val="0"/>
              </a:spcAft>
              <a:buSzPts val="1200"/>
              <a:buChar char="■"/>
              <a:defRPr/>
            </a:lvl3pPr>
            <a:lvl4pPr marL="1828800" lvl="3" indent="-304800" rtl="0">
              <a:lnSpc>
                <a:spcPct val="115000"/>
              </a:lnSpc>
              <a:spcBef>
                <a:spcPts val="0"/>
              </a:spcBef>
              <a:spcAft>
                <a:spcPts val="0"/>
              </a:spcAft>
              <a:buSzPts val="1200"/>
              <a:buChar char="●"/>
              <a:defRPr/>
            </a:lvl4pPr>
            <a:lvl5pPr marL="2286000" lvl="4" indent="-304800" rtl="0">
              <a:lnSpc>
                <a:spcPct val="115000"/>
              </a:lnSpc>
              <a:spcBef>
                <a:spcPts val="0"/>
              </a:spcBef>
              <a:spcAft>
                <a:spcPts val="0"/>
              </a:spcAft>
              <a:buSzPts val="1200"/>
              <a:buChar char="○"/>
              <a:defRPr/>
            </a:lvl5pPr>
            <a:lvl6pPr marL="2743200" lvl="5" indent="-304800" rtl="0">
              <a:lnSpc>
                <a:spcPct val="115000"/>
              </a:lnSpc>
              <a:spcBef>
                <a:spcPts val="0"/>
              </a:spcBef>
              <a:spcAft>
                <a:spcPts val="0"/>
              </a:spcAft>
              <a:buSzPts val="1200"/>
              <a:buChar char="■"/>
              <a:defRPr/>
            </a:lvl6pPr>
            <a:lvl7pPr marL="3200400" lvl="6" indent="-304800" rtl="0">
              <a:lnSpc>
                <a:spcPct val="115000"/>
              </a:lnSpc>
              <a:spcBef>
                <a:spcPts val="0"/>
              </a:spcBef>
              <a:spcAft>
                <a:spcPts val="0"/>
              </a:spcAft>
              <a:buSzPts val="1200"/>
              <a:buChar char="●"/>
              <a:defRPr/>
            </a:lvl7pPr>
            <a:lvl8pPr marL="3657600" lvl="7" indent="-304800" rtl="0">
              <a:lnSpc>
                <a:spcPct val="115000"/>
              </a:lnSpc>
              <a:spcBef>
                <a:spcPts val="0"/>
              </a:spcBef>
              <a:spcAft>
                <a:spcPts val="0"/>
              </a:spcAft>
              <a:buSzPts val="1200"/>
              <a:buChar char="○"/>
              <a:defRPr/>
            </a:lvl8pPr>
            <a:lvl9pPr marL="4114800" lvl="8" indent="-304800" rtl="0">
              <a:lnSpc>
                <a:spcPct val="115000"/>
              </a:lnSpc>
              <a:spcBef>
                <a:spcPts val="0"/>
              </a:spcBef>
              <a:spcAft>
                <a:spcPts val="0"/>
              </a:spcAft>
              <a:buSzPts val="1200"/>
              <a:buChar char="■"/>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68"/>
        <p:cNvGrpSpPr/>
        <p:nvPr/>
      </p:nvGrpSpPr>
      <p:grpSpPr>
        <a:xfrm>
          <a:off x="0" y="0"/>
          <a:ext cx="0" cy="0"/>
          <a:chOff x="0" y="0"/>
          <a:chExt cx="0" cy="0"/>
        </a:xfrm>
      </p:grpSpPr>
      <p:sp>
        <p:nvSpPr>
          <p:cNvPr id="69" name="Google Shape;69;p9"/>
          <p:cNvSpPr/>
          <p:nvPr/>
        </p:nvSpPr>
        <p:spPr>
          <a:xfrm>
            <a:off x="-2613450" y="-126025"/>
            <a:ext cx="5402100" cy="54021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0" name="Google Shape;70;p9"/>
          <p:cNvGrpSpPr/>
          <p:nvPr/>
        </p:nvGrpSpPr>
        <p:grpSpPr>
          <a:xfrm>
            <a:off x="727425" y="-49275"/>
            <a:ext cx="7703400" cy="5243325"/>
            <a:chOff x="727425" y="-49275"/>
            <a:chExt cx="7703400" cy="5243325"/>
          </a:xfrm>
        </p:grpSpPr>
        <p:sp>
          <p:nvSpPr>
            <p:cNvPr id="71" name="Google Shape;71;p9"/>
            <p:cNvSpPr/>
            <p:nvPr/>
          </p:nvSpPr>
          <p:spPr>
            <a:xfrm>
              <a:off x="727425" y="533550"/>
              <a:ext cx="7703400" cy="4074900"/>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72" name="Google Shape;72;p9"/>
            <p:cNvCxnSpPr/>
            <p:nvPr/>
          </p:nvCxnSpPr>
          <p:spPr>
            <a:xfrm rot="10800000">
              <a:off x="727425" y="-49275"/>
              <a:ext cx="0" cy="585600"/>
            </a:xfrm>
            <a:prstGeom prst="straightConnector1">
              <a:avLst/>
            </a:prstGeom>
            <a:noFill/>
            <a:ln w="19050" cap="flat" cmpd="sng">
              <a:solidFill>
                <a:schemeClr val="dk1"/>
              </a:solidFill>
              <a:prstDash val="solid"/>
              <a:round/>
              <a:headEnd type="none" w="med" len="med"/>
              <a:tailEnd type="none" w="med" len="med"/>
            </a:ln>
          </p:spPr>
        </p:cxnSp>
        <p:cxnSp>
          <p:nvCxnSpPr>
            <p:cNvPr id="73" name="Google Shape;73;p9"/>
            <p:cNvCxnSpPr/>
            <p:nvPr/>
          </p:nvCxnSpPr>
          <p:spPr>
            <a:xfrm rot="10800000">
              <a:off x="8430775" y="4608450"/>
              <a:ext cx="0" cy="585600"/>
            </a:xfrm>
            <a:prstGeom prst="straightConnector1">
              <a:avLst/>
            </a:prstGeom>
            <a:noFill/>
            <a:ln w="19050" cap="flat" cmpd="sng">
              <a:solidFill>
                <a:schemeClr val="dk1"/>
              </a:solidFill>
              <a:prstDash val="solid"/>
              <a:round/>
              <a:headEnd type="none" w="med" len="med"/>
              <a:tailEnd type="none" w="med" len="med"/>
            </a:ln>
          </p:spPr>
        </p:cxnSp>
      </p:grpSp>
      <p:sp>
        <p:nvSpPr>
          <p:cNvPr id="74" name="Google Shape;74;p9"/>
          <p:cNvSpPr txBox="1">
            <a:spLocks noGrp="1"/>
          </p:cNvSpPr>
          <p:nvPr>
            <p:ph type="title"/>
          </p:nvPr>
        </p:nvSpPr>
        <p:spPr>
          <a:xfrm>
            <a:off x="3496850" y="1021763"/>
            <a:ext cx="4294800" cy="2095200"/>
          </a:xfrm>
          <a:prstGeom prst="rect">
            <a:avLst/>
          </a:prstGeom>
        </p:spPr>
        <p:txBody>
          <a:bodyPr spcFirstLastPara="1" wrap="square" lIns="91425" tIns="91425" rIns="91425" bIns="91425" anchor="b" anchorCtr="0">
            <a:noAutofit/>
          </a:bodyPr>
          <a:lstStyle>
            <a:lvl1pPr lvl="0" rtl="0">
              <a:spcBef>
                <a:spcPts val="0"/>
              </a:spcBef>
              <a:spcAft>
                <a:spcPts val="0"/>
              </a:spcAft>
              <a:buSzPts val="2800"/>
              <a:buNone/>
              <a:defRPr sz="40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75" name="Google Shape;75;p9"/>
          <p:cNvSpPr txBox="1">
            <a:spLocks noGrp="1"/>
          </p:cNvSpPr>
          <p:nvPr>
            <p:ph type="subTitle" idx="1"/>
          </p:nvPr>
        </p:nvSpPr>
        <p:spPr>
          <a:xfrm>
            <a:off x="3496850" y="3117038"/>
            <a:ext cx="4294800" cy="10047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chemeClr val="accent2"/>
        </a:solidFill>
        <a:effectLst/>
      </p:bgPr>
    </p:bg>
    <p:spTree>
      <p:nvGrpSpPr>
        <p:cNvPr id="1" name="Shape 87"/>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ackground">
  <p:cSld name="CUSTOM_7">
    <p:spTree>
      <p:nvGrpSpPr>
        <p:cNvPr id="1" name="Shape 266"/>
        <p:cNvGrpSpPr/>
        <p:nvPr/>
      </p:nvGrpSpPr>
      <p:grpSpPr>
        <a:xfrm>
          <a:off x="0" y="0"/>
          <a:ext cx="0" cy="0"/>
          <a:chOff x="0" y="0"/>
          <a:chExt cx="0" cy="0"/>
        </a:xfrm>
      </p:grpSpPr>
      <p:sp>
        <p:nvSpPr>
          <p:cNvPr id="267" name="Google Shape;267;p28"/>
          <p:cNvSpPr/>
          <p:nvPr/>
        </p:nvSpPr>
        <p:spPr>
          <a:xfrm>
            <a:off x="8240650" y="4204325"/>
            <a:ext cx="1861500" cy="18615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68" name="Google Shape;268;p28"/>
          <p:cNvGrpSpPr/>
          <p:nvPr/>
        </p:nvGrpSpPr>
        <p:grpSpPr>
          <a:xfrm>
            <a:off x="232200" y="-49400"/>
            <a:ext cx="8679000" cy="5250800"/>
            <a:chOff x="232200" y="-49400"/>
            <a:chExt cx="8679000" cy="5250800"/>
          </a:xfrm>
        </p:grpSpPr>
        <p:sp>
          <p:nvSpPr>
            <p:cNvPr id="269" name="Google Shape;269;p28"/>
            <p:cNvSpPr/>
            <p:nvPr/>
          </p:nvSpPr>
          <p:spPr>
            <a:xfrm>
              <a:off x="232200" y="232800"/>
              <a:ext cx="8679000" cy="4684500"/>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70" name="Google Shape;270;p28"/>
            <p:cNvGrpSpPr/>
            <p:nvPr/>
          </p:nvGrpSpPr>
          <p:grpSpPr>
            <a:xfrm>
              <a:off x="232200" y="-49400"/>
              <a:ext cx="8679000" cy="5250800"/>
              <a:chOff x="232200" y="-49400"/>
              <a:chExt cx="8679000" cy="5250800"/>
            </a:xfrm>
          </p:grpSpPr>
          <p:cxnSp>
            <p:nvCxnSpPr>
              <p:cNvPr id="271" name="Google Shape;271;p28"/>
              <p:cNvCxnSpPr/>
              <p:nvPr/>
            </p:nvCxnSpPr>
            <p:spPr>
              <a:xfrm rot="10800000">
                <a:off x="232200" y="-49400"/>
                <a:ext cx="0" cy="284100"/>
              </a:xfrm>
              <a:prstGeom prst="straightConnector1">
                <a:avLst/>
              </a:prstGeom>
              <a:noFill/>
              <a:ln w="19050" cap="flat" cmpd="sng">
                <a:solidFill>
                  <a:schemeClr val="dk1"/>
                </a:solidFill>
                <a:prstDash val="solid"/>
                <a:round/>
                <a:headEnd type="none" w="med" len="med"/>
                <a:tailEnd type="none" w="med" len="med"/>
              </a:ln>
            </p:spPr>
          </p:cxnSp>
          <p:cxnSp>
            <p:nvCxnSpPr>
              <p:cNvPr id="272" name="Google Shape;272;p28"/>
              <p:cNvCxnSpPr/>
              <p:nvPr/>
            </p:nvCxnSpPr>
            <p:spPr>
              <a:xfrm rot="10800000">
                <a:off x="8911200" y="4917300"/>
                <a:ext cx="0" cy="284100"/>
              </a:xfrm>
              <a:prstGeom prst="straightConnector1">
                <a:avLst/>
              </a:prstGeom>
              <a:noFill/>
              <a:ln w="19050" cap="flat" cmpd="sng">
                <a:solidFill>
                  <a:schemeClr val="dk1"/>
                </a:solidFill>
                <a:prstDash val="solid"/>
                <a:round/>
                <a:headEnd type="none" w="med" len="med"/>
                <a:tailEnd type="none" w="med" len="med"/>
              </a:ln>
            </p:spPr>
          </p:cxnSp>
        </p:gr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ackground 1">
  <p:cSld name="CUSTOM_8">
    <p:spTree>
      <p:nvGrpSpPr>
        <p:cNvPr id="1" name="Shape 273"/>
        <p:cNvGrpSpPr/>
        <p:nvPr/>
      </p:nvGrpSpPr>
      <p:grpSpPr>
        <a:xfrm>
          <a:off x="0" y="0"/>
          <a:ext cx="0" cy="0"/>
          <a:chOff x="0" y="0"/>
          <a:chExt cx="0" cy="0"/>
        </a:xfrm>
      </p:grpSpPr>
      <p:sp>
        <p:nvSpPr>
          <p:cNvPr id="274" name="Google Shape;274;p29"/>
          <p:cNvSpPr/>
          <p:nvPr/>
        </p:nvSpPr>
        <p:spPr>
          <a:xfrm>
            <a:off x="8141975" y="-886575"/>
            <a:ext cx="1861500" cy="18615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75" name="Google Shape;275;p29"/>
          <p:cNvGrpSpPr/>
          <p:nvPr/>
        </p:nvGrpSpPr>
        <p:grpSpPr>
          <a:xfrm>
            <a:off x="232200" y="232800"/>
            <a:ext cx="9045000" cy="4975500"/>
            <a:chOff x="232200" y="232800"/>
            <a:chExt cx="9045000" cy="4975500"/>
          </a:xfrm>
        </p:grpSpPr>
        <p:sp>
          <p:nvSpPr>
            <p:cNvPr id="276" name="Google Shape;276;p29"/>
            <p:cNvSpPr/>
            <p:nvPr/>
          </p:nvSpPr>
          <p:spPr>
            <a:xfrm>
              <a:off x="232200" y="232800"/>
              <a:ext cx="8679000" cy="4684500"/>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77" name="Google Shape;277;p29"/>
            <p:cNvCxnSpPr/>
            <p:nvPr/>
          </p:nvCxnSpPr>
          <p:spPr>
            <a:xfrm>
              <a:off x="8911200" y="232800"/>
              <a:ext cx="366000" cy="0"/>
            </a:xfrm>
            <a:prstGeom prst="straightConnector1">
              <a:avLst/>
            </a:prstGeom>
            <a:noFill/>
            <a:ln w="19050" cap="flat" cmpd="sng">
              <a:solidFill>
                <a:schemeClr val="dk1"/>
              </a:solidFill>
              <a:prstDash val="solid"/>
              <a:round/>
              <a:headEnd type="none" w="med" len="med"/>
              <a:tailEnd type="none" w="med" len="med"/>
            </a:ln>
          </p:spPr>
        </p:cxnSp>
        <p:cxnSp>
          <p:nvCxnSpPr>
            <p:cNvPr id="278" name="Google Shape;278;p29"/>
            <p:cNvCxnSpPr/>
            <p:nvPr/>
          </p:nvCxnSpPr>
          <p:spPr>
            <a:xfrm>
              <a:off x="232200" y="4917300"/>
              <a:ext cx="1200" cy="291000"/>
            </a:xfrm>
            <a:prstGeom prst="straightConnector1">
              <a:avLst/>
            </a:prstGeom>
            <a:noFill/>
            <a:ln w="19050" cap="flat" cmpd="sng">
              <a:solidFill>
                <a:schemeClr val="dk1"/>
              </a:solidFill>
              <a:prstDash val="solid"/>
              <a:round/>
              <a:headEnd type="none" w="med" len="med"/>
              <a:tailEnd type="none" w="med" len="med"/>
            </a:ln>
          </p:spPr>
        </p:cxn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 point">
    <p:spTree>
      <p:nvGrpSpPr>
        <p:cNvPr id="1" name="Shape 61"/>
        <p:cNvGrpSpPr/>
        <p:nvPr/>
      </p:nvGrpSpPr>
      <p:grpSpPr>
        <a:xfrm>
          <a:off x="0" y="0"/>
          <a:ext cx="0" cy="0"/>
          <a:chOff x="0" y="0"/>
          <a:chExt cx="0" cy="0"/>
        </a:xfrm>
      </p:grpSpPr>
      <p:sp>
        <p:nvSpPr>
          <p:cNvPr id="62" name="Google Shape;62;p8"/>
          <p:cNvSpPr/>
          <p:nvPr/>
        </p:nvSpPr>
        <p:spPr>
          <a:xfrm>
            <a:off x="2007375" y="2776900"/>
            <a:ext cx="5143500" cy="51435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3" name="Google Shape;63;p8"/>
          <p:cNvGrpSpPr/>
          <p:nvPr/>
        </p:nvGrpSpPr>
        <p:grpSpPr>
          <a:xfrm>
            <a:off x="-25" y="533550"/>
            <a:ext cx="9270975" cy="4075025"/>
            <a:chOff x="-25" y="533550"/>
            <a:chExt cx="9270975" cy="4075025"/>
          </a:xfrm>
        </p:grpSpPr>
        <p:sp>
          <p:nvSpPr>
            <p:cNvPr id="64" name="Google Shape;64;p8"/>
            <p:cNvSpPr/>
            <p:nvPr/>
          </p:nvSpPr>
          <p:spPr>
            <a:xfrm>
              <a:off x="727425" y="533550"/>
              <a:ext cx="7703400" cy="4074900"/>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3800">
                <a:solidFill>
                  <a:schemeClr val="dk1"/>
                </a:solidFill>
                <a:latin typeface="Figtree Black"/>
                <a:ea typeface="Figtree Black"/>
                <a:cs typeface="Figtree Black"/>
                <a:sym typeface="Figtree Black"/>
              </a:endParaRPr>
            </a:p>
          </p:txBody>
        </p:sp>
        <p:cxnSp>
          <p:nvCxnSpPr>
            <p:cNvPr id="65" name="Google Shape;65;p8"/>
            <p:cNvCxnSpPr/>
            <p:nvPr/>
          </p:nvCxnSpPr>
          <p:spPr>
            <a:xfrm rot="10800000">
              <a:off x="8430950" y="533550"/>
              <a:ext cx="840000" cy="0"/>
            </a:xfrm>
            <a:prstGeom prst="straightConnector1">
              <a:avLst/>
            </a:prstGeom>
            <a:noFill/>
            <a:ln w="19050" cap="flat" cmpd="sng">
              <a:solidFill>
                <a:schemeClr val="dk1"/>
              </a:solidFill>
              <a:prstDash val="solid"/>
              <a:round/>
              <a:headEnd type="none" w="med" len="med"/>
              <a:tailEnd type="none" w="med" len="med"/>
            </a:ln>
          </p:spPr>
        </p:cxnSp>
        <p:cxnSp>
          <p:nvCxnSpPr>
            <p:cNvPr id="66" name="Google Shape;66;p8"/>
            <p:cNvCxnSpPr/>
            <p:nvPr/>
          </p:nvCxnSpPr>
          <p:spPr>
            <a:xfrm rot="10800000">
              <a:off x="-25" y="4608575"/>
              <a:ext cx="740700" cy="0"/>
            </a:xfrm>
            <a:prstGeom prst="straightConnector1">
              <a:avLst/>
            </a:prstGeom>
            <a:noFill/>
            <a:ln w="19050" cap="flat" cmpd="sng">
              <a:solidFill>
                <a:schemeClr val="dk1"/>
              </a:solidFill>
              <a:prstDash val="solid"/>
              <a:round/>
              <a:headEnd type="none" w="med" len="med"/>
              <a:tailEnd type="none" w="med" len="med"/>
            </a:ln>
          </p:spPr>
        </p:cxnSp>
      </p:grpSp>
      <p:sp>
        <p:nvSpPr>
          <p:cNvPr id="67" name="Google Shape;67;p8"/>
          <p:cNvSpPr txBox="1">
            <a:spLocks noGrp="1"/>
          </p:cNvSpPr>
          <p:nvPr>
            <p:ph type="title"/>
          </p:nvPr>
        </p:nvSpPr>
        <p:spPr>
          <a:xfrm>
            <a:off x="1644450" y="1733400"/>
            <a:ext cx="5855100" cy="760800"/>
          </a:xfrm>
          <a:prstGeom prst="rect">
            <a:avLst/>
          </a:prstGeom>
        </p:spPr>
        <p:txBody>
          <a:bodyPr spcFirstLastPara="1" wrap="square" lIns="91425" tIns="91425" rIns="91425" bIns="91425" anchor="b" anchorCtr="0">
            <a:noAutofit/>
          </a:bodyPr>
          <a:lstStyle>
            <a:lvl1pPr lvl="0" algn="ctr">
              <a:spcBef>
                <a:spcPts val="0"/>
              </a:spcBef>
              <a:spcAft>
                <a:spcPts val="0"/>
              </a:spcAft>
              <a:buSzPts val="4800"/>
              <a:buNone/>
              <a:defRPr sz="43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Tree>
    <p:extLst>
      <p:ext uri="{BB962C8B-B14F-4D97-AF65-F5344CB8AC3E}">
        <p14:creationId xmlns:p14="http://schemas.microsoft.com/office/powerpoint/2010/main" val="28847250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2800"/>
              <a:buFont typeface="Figtree Black"/>
              <a:buNone/>
              <a:defRPr sz="2800">
                <a:solidFill>
                  <a:schemeClr val="dk1"/>
                </a:solidFill>
                <a:latin typeface="Figtree Black"/>
                <a:ea typeface="Figtree Black"/>
                <a:cs typeface="Figtree Black"/>
                <a:sym typeface="Figtree Black"/>
              </a:defRPr>
            </a:lvl1pPr>
            <a:lvl2pPr lvl="1" rtl="0">
              <a:spcBef>
                <a:spcPts val="0"/>
              </a:spcBef>
              <a:spcAft>
                <a:spcPts val="0"/>
              </a:spcAft>
              <a:buClr>
                <a:schemeClr val="dk1"/>
              </a:buClr>
              <a:buSzPts val="3000"/>
              <a:buFont typeface="Figtree Black"/>
              <a:buNone/>
              <a:defRPr sz="3000">
                <a:solidFill>
                  <a:schemeClr val="dk1"/>
                </a:solidFill>
                <a:latin typeface="Figtree Black"/>
                <a:ea typeface="Figtree Black"/>
                <a:cs typeface="Figtree Black"/>
                <a:sym typeface="Figtree Black"/>
              </a:defRPr>
            </a:lvl2pPr>
            <a:lvl3pPr lvl="2" rtl="0">
              <a:spcBef>
                <a:spcPts val="0"/>
              </a:spcBef>
              <a:spcAft>
                <a:spcPts val="0"/>
              </a:spcAft>
              <a:buClr>
                <a:schemeClr val="dk1"/>
              </a:buClr>
              <a:buSzPts val="3000"/>
              <a:buFont typeface="Figtree Black"/>
              <a:buNone/>
              <a:defRPr sz="3000">
                <a:solidFill>
                  <a:schemeClr val="dk1"/>
                </a:solidFill>
                <a:latin typeface="Figtree Black"/>
                <a:ea typeface="Figtree Black"/>
                <a:cs typeface="Figtree Black"/>
                <a:sym typeface="Figtree Black"/>
              </a:defRPr>
            </a:lvl3pPr>
            <a:lvl4pPr lvl="3" rtl="0">
              <a:spcBef>
                <a:spcPts val="0"/>
              </a:spcBef>
              <a:spcAft>
                <a:spcPts val="0"/>
              </a:spcAft>
              <a:buClr>
                <a:schemeClr val="dk1"/>
              </a:buClr>
              <a:buSzPts val="3000"/>
              <a:buFont typeface="Figtree Black"/>
              <a:buNone/>
              <a:defRPr sz="3000">
                <a:solidFill>
                  <a:schemeClr val="dk1"/>
                </a:solidFill>
                <a:latin typeface="Figtree Black"/>
                <a:ea typeface="Figtree Black"/>
                <a:cs typeface="Figtree Black"/>
                <a:sym typeface="Figtree Black"/>
              </a:defRPr>
            </a:lvl4pPr>
            <a:lvl5pPr lvl="4" rtl="0">
              <a:spcBef>
                <a:spcPts val="0"/>
              </a:spcBef>
              <a:spcAft>
                <a:spcPts val="0"/>
              </a:spcAft>
              <a:buClr>
                <a:schemeClr val="dk1"/>
              </a:buClr>
              <a:buSzPts val="3000"/>
              <a:buFont typeface="Figtree Black"/>
              <a:buNone/>
              <a:defRPr sz="3000">
                <a:solidFill>
                  <a:schemeClr val="dk1"/>
                </a:solidFill>
                <a:latin typeface="Figtree Black"/>
                <a:ea typeface="Figtree Black"/>
                <a:cs typeface="Figtree Black"/>
                <a:sym typeface="Figtree Black"/>
              </a:defRPr>
            </a:lvl5pPr>
            <a:lvl6pPr lvl="5" rtl="0">
              <a:spcBef>
                <a:spcPts val="0"/>
              </a:spcBef>
              <a:spcAft>
                <a:spcPts val="0"/>
              </a:spcAft>
              <a:buClr>
                <a:schemeClr val="dk1"/>
              </a:buClr>
              <a:buSzPts val="3000"/>
              <a:buFont typeface="Figtree Black"/>
              <a:buNone/>
              <a:defRPr sz="3000">
                <a:solidFill>
                  <a:schemeClr val="dk1"/>
                </a:solidFill>
                <a:latin typeface="Figtree Black"/>
                <a:ea typeface="Figtree Black"/>
                <a:cs typeface="Figtree Black"/>
                <a:sym typeface="Figtree Black"/>
              </a:defRPr>
            </a:lvl6pPr>
            <a:lvl7pPr lvl="6" rtl="0">
              <a:spcBef>
                <a:spcPts val="0"/>
              </a:spcBef>
              <a:spcAft>
                <a:spcPts val="0"/>
              </a:spcAft>
              <a:buClr>
                <a:schemeClr val="dk1"/>
              </a:buClr>
              <a:buSzPts val="3000"/>
              <a:buFont typeface="Figtree Black"/>
              <a:buNone/>
              <a:defRPr sz="3000">
                <a:solidFill>
                  <a:schemeClr val="dk1"/>
                </a:solidFill>
                <a:latin typeface="Figtree Black"/>
                <a:ea typeface="Figtree Black"/>
                <a:cs typeface="Figtree Black"/>
                <a:sym typeface="Figtree Black"/>
              </a:defRPr>
            </a:lvl7pPr>
            <a:lvl8pPr lvl="7" rtl="0">
              <a:spcBef>
                <a:spcPts val="0"/>
              </a:spcBef>
              <a:spcAft>
                <a:spcPts val="0"/>
              </a:spcAft>
              <a:buClr>
                <a:schemeClr val="dk1"/>
              </a:buClr>
              <a:buSzPts val="3000"/>
              <a:buFont typeface="Figtree Black"/>
              <a:buNone/>
              <a:defRPr sz="3000">
                <a:solidFill>
                  <a:schemeClr val="dk1"/>
                </a:solidFill>
                <a:latin typeface="Figtree Black"/>
                <a:ea typeface="Figtree Black"/>
                <a:cs typeface="Figtree Black"/>
                <a:sym typeface="Figtree Black"/>
              </a:defRPr>
            </a:lvl8pPr>
            <a:lvl9pPr lvl="8" rtl="0">
              <a:spcBef>
                <a:spcPts val="0"/>
              </a:spcBef>
              <a:spcAft>
                <a:spcPts val="0"/>
              </a:spcAft>
              <a:buClr>
                <a:schemeClr val="dk1"/>
              </a:buClr>
              <a:buSzPts val="3000"/>
              <a:buFont typeface="Figtree Black"/>
              <a:buNone/>
              <a:defRPr sz="3000">
                <a:solidFill>
                  <a:schemeClr val="dk1"/>
                </a:solidFill>
                <a:latin typeface="Figtree Black"/>
                <a:ea typeface="Figtree Black"/>
                <a:cs typeface="Figtree Black"/>
                <a:sym typeface="Figtree Black"/>
              </a:defRPr>
            </a:lvl9pPr>
          </a:lstStyle>
          <a:p>
            <a:endParaRPr/>
          </a:p>
        </p:txBody>
      </p:sp>
      <p:sp>
        <p:nvSpPr>
          <p:cNvPr id="7" name="Google Shape;7;p1"/>
          <p:cNvSpPr txBox="1">
            <a:spLocks noGrp="1"/>
          </p:cNvSpPr>
          <p:nvPr>
            <p:ph type="body" idx="1"/>
          </p:nvPr>
        </p:nvSpPr>
        <p:spPr>
          <a:xfrm>
            <a:off x="713400" y="1152475"/>
            <a:ext cx="7717500" cy="3416400"/>
          </a:xfrm>
          <a:prstGeom prst="rect">
            <a:avLst/>
          </a:prstGeom>
          <a:noFill/>
          <a:ln>
            <a:noFill/>
          </a:ln>
        </p:spPr>
        <p:txBody>
          <a:bodyPr spcFirstLastPara="1" wrap="square" lIns="91425" tIns="91425" rIns="91425" bIns="91425" anchor="t" anchorCtr="0">
            <a:noAutofit/>
          </a:bodyPr>
          <a:lstStyle>
            <a:lvl1pPr marL="457200" lvl="0" indent="-317500">
              <a:lnSpc>
                <a:spcPct val="115000"/>
              </a:lnSpc>
              <a:spcBef>
                <a:spcPts val="0"/>
              </a:spcBef>
              <a:spcAft>
                <a:spcPts val="0"/>
              </a:spcAft>
              <a:buClr>
                <a:schemeClr val="dk1"/>
              </a:buClr>
              <a:buSzPts val="1400"/>
              <a:buFont typeface="Hanken Grotesk"/>
              <a:buChar char="●"/>
              <a:defRPr>
                <a:solidFill>
                  <a:schemeClr val="dk1"/>
                </a:solidFill>
                <a:latin typeface="Hanken Grotesk"/>
                <a:ea typeface="Hanken Grotesk"/>
                <a:cs typeface="Hanken Grotesk"/>
                <a:sym typeface="Hanken Grotesk"/>
              </a:defRPr>
            </a:lvl1pPr>
            <a:lvl2pPr marL="914400" lvl="1" indent="-317500">
              <a:lnSpc>
                <a:spcPct val="115000"/>
              </a:lnSpc>
              <a:spcBef>
                <a:spcPts val="0"/>
              </a:spcBef>
              <a:spcAft>
                <a:spcPts val="0"/>
              </a:spcAft>
              <a:buClr>
                <a:schemeClr val="dk1"/>
              </a:buClr>
              <a:buSzPts val="1400"/>
              <a:buFont typeface="Hanken Grotesk"/>
              <a:buChar char="○"/>
              <a:defRPr>
                <a:solidFill>
                  <a:schemeClr val="dk1"/>
                </a:solidFill>
                <a:latin typeface="Hanken Grotesk"/>
                <a:ea typeface="Hanken Grotesk"/>
                <a:cs typeface="Hanken Grotesk"/>
                <a:sym typeface="Hanken Grotesk"/>
              </a:defRPr>
            </a:lvl2pPr>
            <a:lvl3pPr marL="1371600" lvl="2" indent="-317500">
              <a:lnSpc>
                <a:spcPct val="115000"/>
              </a:lnSpc>
              <a:spcBef>
                <a:spcPts val="0"/>
              </a:spcBef>
              <a:spcAft>
                <a:spcPts val="0"/>
              </a:spcAft>
              <a:buClr>
                <a:schemeClr val="dk1"/>
              </a:buClr>
              <a:buSzPts val="1400"/>
              <a:buFont typeface="Hanken Grotesk"/>
              <a:buChar char="■"/>
              <a:defRPr>
                <a:solidFill>
                  <a:schemeClr val="dk1"/>
                </a:solidFill>
                <a:latin typeface="Hanken Grotesk"/>
                <a:ea typeface="Hanken Grotesk"/>
                <a:cs typeface="Hanken Grotesk"/>
                <a:sym typeface="Hanken Grotesk"/>
              </a:defRPr>
            </a:lvl3pPr>
            <a:lvl4pPr marL="1828800" lvl="3" indent="-317500">
              <a:lnSpc>
                <a:spcPct val="115000"/>
              </a:lnSpc>
              <a:spcBef>
                <a:spcPts val="0"/>
              </a:spcBef>
              <a:spcAft>
                <a:spcPts val="0"/>
              </a:spcAft>
              <a:buClr>
                <a:schemeClr val="dk1"/>
              </a:buClr>
              <a:buSzPts val="1400"/>
              <a:buFont typeface="Hanken Grotesk"/>
              <a:buChar char="●"/>
              <a:defRPr>
                <a:solidFill>
                  <a:schemeClr val="dk1"/>
                </a:solidFill>
                <a:latin typeface="Hanken Grotesk"/>
                <a:ea typeface="Hanken Grotesk"/>
                <a:cs typeface="Hanken Grotesk"/>
                <a:sym typeface="Hanken Grotesk"/>
              </a:defRPr>
            </a:lvl4pPr>
            <a:lvl5pPr marL="2286000" lvl="4" indent="-317500">
              <a:lnSpc>
                <a:spcPct val="115000"/>
              </a:lnSpc>
              <a:spcBef>
                <a:spcPts val="0"/>
              </a:spcBef>
              <a:spcAft>
                <a:spcPts val="0"/>
              </a:spcAft>
              <a:buClr>
                <a:schemeClr val="dk1"/>
              </a:buClr>
              <a:buSzPts val="1400"/>
              <a:buFont typeface="Hanken Grotesk"/>
              <a:buChar char="○"/>
              <a:defRPr>
                <a:solidFill>
                  <a:schemeClr val="dk1"/>
                </a:solidFill>
                <a:latin typeface="Hanken Grotesk"/>
                <a:ea typeface="Hanken Grotesk"/>
                <a:cs typeface="Hanken Grotesk"/>
                <a:sym typeface="Hanken Grotesk"/>
              </a:defRPr>
            </a:lvl5pPr>
            <a:lvl6pPr marL="2743200" lvl="5" indent="-317500">
              <a:lnSpc>
                <a:spcPct val="115000"/>
              </a:lnSpc>
              <a:spcBef>
                <a:spcPts val="0"/>
              </a:spcBef>
              <a:spcAft>
                <a:spcPts val="0"/>
              </a:spcAft>
              <a:buClr>
                <a:schemeClr val="dk1"/>
              </a:buClr>
              <a:buSzPts val="1400"/>
              <a:buFont typeface="Hanken Grotesk"/>
              <a:buChar char="■"/>
              <a:defRPr>
                <a:solidFill>
                  <a:schemeClr val="dk1"/>
                </a:solidFill>
                <a:latin typeface="Hanken Grotesk"/>
                <a:ea typeface="Hanken Grotesk"/>
                <a:cs typeface="Hanken Grotesk"/>
                <a:sym typeface="Hanken Grotesk"/>
              </a:defRPr>
            </a:lvl6pPr>
            <a:lvl7pPr marL="3200400" lvl="6" indent="-317500">
              <a:lnSpc>
                <a:spcPct val="115000"/>
              </a:lnSpc>
              <a:spcBef>
                <a:spcPts val="0"/>
              </a:spcBef>
              <a:spcAft>
                <a:spcPts val="0"/>
              </a:spcAft>
              <a:buClr>
                <a:schemeClr val="dk1"/>
              </a:buClr>
              <a:buSzPts val="1400"/>
              <a:buFont typeface="Hanken Grotesk"/>
              <a:buChar char="●"/>
              <a:defRPr>
                <a:solidFill>
                  <a:schemeClr val="dk1"/>
                </a:solidFill>
                <a:latin typeface="Hanken Grotesk"/>
                <a:ea typeface="Hanken Grotesk"/>
                <a:cs typeface="Hanken Grotesk"/>
                <a:sym typeface="Hanken Grotesk"/>
              </a:defRPr>
            </a:lvl7pPr>
            <a:lvl8pPr marL="3657600" lvl="7" indent="-317500">
              <a:lnSpc>
                <a:spcPct val="115000"/>
              </a:lnSpc>
              <a:spcBef>
                <a:spcPts val="0"/>
              </a:spcBef>
              <a:spcAft>
                <a:spcPts val="0"/>
              </a:spcAft>
              <a:buClr>
                <a:schemeClr val="dk1"/>
              </a:buClr>
              <a:buSzPts val="1400"/>
              <a:buFont typeface="Hanken Grotesk"/>
              <a:buChar char="○"/>
              <a:defRPr>
                <a:solidFill>
                  <a:schemeClr val="dk1"/>
                </a:solidFill>
                <a:latin typeface="Hanken Grotesk"/>
                <a:ea typeface="Hanken Grotesk"/>
                <a:cs typeface="Hanken Grotesk"/>
                <a:sym typeface="Hanken Grotesk"/>
              </a:defRPr>
            </a:lvl8pPr>
            <a:lvl9pPr marL="4114800" lvl="8" indent="-317500">
              <a:lnSpc>
                <a:spcPct val="115000"/>
              </a:lnSpc>
              <a:spcBef>
                <a:spcPts val="0"/>
              </a:spcBef>
              <a:spcAft>
                <a:spcPts val="0"/>
              </a:spcAft>
              <a:buClr>
                <a:schemeClr val="dk1"/>
              </a:buClr>
              <a:buSzPts val="1400"/>
              <a:buFont typeface="Hanken Grotesk"/>
              <a:buChar char="■"/>
              <a:defRPr>
                <a:solidFill>
                  <a:schemeClr val="dk1"/>
                </a:solidFill>
                <a:latin typeface="Hanken Grotesk"/>
                <a:ea typeface="Hanken Grotesk"/>
                <a:cs typeface="Hanken Grotesk"/>
                <a:sym typeface="Hanken Grotesk"/>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0" r:id="rId2"/>
    <p:sldLayoutId id="2147483655" r:id="rId3"/>
    <p:sldLayoutId id="2147483658" r:id="rId4"/>
    <p:sldLayoutId id="2147483674" r:id="rId5"/>
    <p:sldLayoutId id="2147483675" r:id="rId6"/>
    <p:sldLayoutId id="2147483679" r:id="rId7"/>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lualex@microsoft.com"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4.svg"/></Relationships>
</file>

<file path=ppt/slides/_rels/slide1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5.svg"/><Relationship Id="rId4" Type="http://schemas.openxmlformats.org/officeDocument/2006/relationships/image" Target="../media/image4.svg"/></Relationships>
</file>

<file path=ppt/slides/_rels/slide1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customXml" Target="../ink/ink1.xml"/></Relationships>
</file>

<file path=ppt/slides/_rels/slide1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7.svg"/></Relationships>
</file>

<file path=ppt/slides/_rels/slide18.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7.sv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image" Target="../media/image12.svg"/><Relationship Id="rId5" Type="http://schemas.openxmlformats.org/officeDocument/2006/relationships/image" Target="../media/image11.svg"/><Relationship Id="rId4" Type="http://schemas.openxmlformats.org/officeDocument/2006/relationships/image" Target="../media/image10.svg"/></Relationships>
</file>

<file path=ppt/slides/_rels/slide25.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notesSlide" Target="../notesSlides/notesSlide25.xml"/><Relationship Id="rId1" Type="http://schemas.openxmlformats.org/officeDocument/2006/relationships/slideLayout" Target="../slideLayouts/slideLayout2.xml"/><Relationship Id="rId6" Type="http://schemas.openxmlformats.org/officeDocument/2006/relationships/image" Target="../media/image12.svg"/><Relationship Id="rId5" Type="http://schemas.openxmlformats.org/officeDocument/2006/relationships/image" Target="../media/image11.svg"/><Relationship Id="rId4" Type="http://schemas.openxmlformats.org/officeDocument/2006/relationships/image" Target="../media/image10.svg"/></Relationships>
</file>

<file path=ppt/slides/_rels/slide26.xml.rels><?xml version="1.0" encoding="UTF-8" standalone="yes"?>
<Relationships xmlns="http://schemas.openxmlformats.org/package/2006/relationships"><Relationship Id="rId8" Type="http://schemas.openxmlformats.org/officeDocument/2006/relationships/image" Target="../media/image15.png"/><Relationship Id="rId13" Type="http://schemas.openxmlformats.org/officeDocument/2006/relationships/customXml" Target="../ink/ink6.xml"/><Relationship Id="rId18" Type="http://schemas.openxmlformats.org/officeDocument/2006/relationships/image" Target="../media/image18.jpeg"/><Relationship Id="rId3" Type="http://schemas.openxmlformats.org/officeDocument/2006/relationships/image" Target="../media/image6.jpeg"/><Relationship Id="rId21" Type="http://schemas.openxmlformats.org/officeDocument/2006/relationships/image" Target="../media/image21.jpeg"/><Relationship Id="rId7" Type="http://schemas.openxmlformats.org/officeDocument/2006/relationships/customXml" Target="../ink/ink3.xml"/><Relationship Id="rId12" Type="http://schemas.openxmlformats.org/officeDocument/2006/relationships/image" Target="../media/image17.png"/><Relationship Id="rId17" Type="http://schemas.openxmlformats.org/officeDocument/2006/relationships/image" Target="../media/image17.jpeg"/><Relationship Id="rId2" Type="http://schemas.openxmlformats.org/officeDocument/2006/relationships/notesSlide" Target="../notesSlides/notesSlide26.xml"/><Relationship Id="rId16" Type="http://schemas.openxmlformats.org/officeDocument/2006/relationships/image" Target="../media/image16.jpeg"/><Relationship Id="rId20" Type="http://schemas.openxmlformats.org/officeDocument/2006/relationships/image" Target="../media/image20.jpeg"/><Relationship Id="rId1" Type="http://schemas.openxmlformats.org/officeDocument/2006/relationships/slideLayout" Target="../slideLayouts/slideLayout2.xml"/><Relationship Id="rId6" Type="http://schemas.openxmlformats.org/officeDocument/2006/relationships/image" Target="../media/image14.png"/><Relationship Id="rId11" Type="http://schemas.openxmlformats.org/officeDocument/2006/relationships/customXml" Target="../ink/ink5.xml"/><Relationship Id="rId5" Type="http://schemas.openxmlformats.org/officeDocument/2006/relationships/image" Target="../media/image13.png"/><Relationship Id="rId15" Type="http://schemas.openxmlformats.org/officeDocument/2006/relationships/image" Target="../media/image15.jpeg"/><Relationship Id="rId10" Type="http://schemas.openxmlformats.org/officeDocument/2006/relationships/image" Target="../media/image16.png"/><Relationship Id="rId19" Type="http://schemas.openxmlformats.org/officeDocument/2006/relationships/image" Target="../media/image19.jpeg"/><Relationship Id="rId4" Type="http://schemas.openxmlformats.org/officeDocument/2006/relationships/customXml" Target="../ink/ink2.xml"/><Relationship Id="rId9" Type="http://schemas.openxmlformats.org/officeDocument/2006/relationships/customXml" Target="../ink/ink4.xml"/><Relationship Id="rId14" Type="http://schemas.openxmlformats.org/officeDocument/2006/relationships/image" Target="../media/image18.png"/></Relationships>
</file>

<file path=ppt/slides/_rels/slide27.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6.jpeg"/><Relationship Id="rId7" Type="http://schemas.openxmlformats.org/officeDocument/2006/relationships/customXml" Target="../ink/ink8.xml"/><Relationship Id="rId2" Type="http://schemas.openxmlformats.org/officeDocument/2006/relationships/notesSlide" Target="../notesSlides/notesSlide27.xml"/><Relationship Id="rId1" Type="http://schemas.openxmlformats.org/officeDocument/2006/relationships/slideLayout" Target="../slideLayouts/slideLayout2.xml"/><Relationship Id="rId6" Type="http://schemas.openxmlformats.org/officeDocument/2006/relationships/image" Target="../media/image14.png"/><Relationship Id="rId11" Type="http://schemas.openxmlformats.org/officeDocument/2006/relationships/image" Target="../media/image22.jpeg"/><Relationship Id="rId5" Type="http://schemas.openxmlformats.org/officeDocument/2006/relationships/image" Target="../media/image13.png"/><Relationship Id="rId10" Type="http://schemas.openxmlformats.org/officeDocument/2006/relationships/image" Target="../media/image16.png"/><Relationship Id="rId4" Type="http://schemas.openxmlformats.org/officeDocument/2006/relationships/customXml" Target="../ink/ink7.xml"/><Relationship Id="rId9" Type="http://schemas.openxmlformats.org/officeDocument/2006/relationships/customXml" Target="../ink/ink9.xml"/></Relationships>
</file>

<file path=ppt/slides/_rels/slide2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2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3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0.xml"/><Relationship Id="rId1" Type="http://schemas.openxmlformats.org/officeDocument/2006/relationships/slideLayout" Target="../slideLayouts/slideLayout2.xml"/><Relationship Id="rId5" Type="http://schemas.openxmlformats.org/officeDocument/2006/relationships/image" Target="../media/image25.gif"/><Relationship Id="rId4" Type="http://schemas.openxmlformats.org/officeDocument/2006/relationships/image" Target="../media/image24.png"/></Relationships>
</file>

<file path=ppt/slides/_rels/slide3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1.xml"/><Relationship Id="rId1" Type="http://schemas.openxmlformats.org/officeDocument/2006/relationships/slideLayout" Target="../slideLayouts/slideLayout2.xml"/><Relationship Id="rId5" Type="http://schemas.openxmlformats.org/officeDocument/2006/relationships/image" Target="../media/image25.gif"/><Relationship Id="rId4" Type="http://schemas.openxmlformats.org/officeDocument/2006/relationships/image" Target="../media/image24.png"/></Relationships>
</file>

<file path=ppt/slides/_rels/slide32.xml.rels><?xml version="1.0" encoding="UTF-8" standalone="yes"?>
<Relationships xmlns="http://schemas.openxmlformats.org/package/2006/relationships"><Relationship Id="rId3" Type="http://schemas.openxmlformats.org/officeDocument/2006/relationships/image" Target="../media/image25.gif"/><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5.gif"/><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5.gif"/><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5.xml"/><Relationship Id="rId1" Type="http://schemas.openxmlformats.org/officeDocument/2006/relationships/slideLayout" Target="../slideLayouts/slideLayout2.xml"/><Relationship Id="rId6" Type="http://schemas.openxmlformats.org/officeDocument/2006/relationships/image" Target="../media/image25.gif"/><Relationship Id="rId5" Type="http://schemas.openxmlformats.org/officeDocument/2006/relationships/image" Target="../media/image28.png"/><Relationship Id="rId4" Type="http://schemas.openxmlformats.org/officeDocument/2006/relationships/image" Target="../media/image27.png"/></Relationships>
</file>

<file path=ppt/slides/_rels/slide3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6.xml"/><Relationship Id="rId1" Type="http://schemas.openxmlformats.org/officeDocument/2006/relationships/slideLayout" Target="../slideLayouts/slideLayout2.xml"/><Relationship Id="rId6" Type="http://schemas.openxmlformats.org/officeDocument/2006/relationships/image" Target="../media/image31.png"/><Relationship Id="rId5" Type="http://schemas.openxmlformats.org/officeDocument/2006/relationships/image" Target="../media/image25.gif"/><Relationship Id="rId4" Type="http://schemas.openxmlformats.org/officeDocument/2006/relationships/image" Target="../media/image30.png"/></Relationships>
</file>

<file path=ppt/slides/_rels/slide37.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27.png"/><Relationship Id="rId7" Type="http://schemas.openxmlformats.org/officeDocument/2006/relationships/image" Target="../media/image31.png"/><Relationship Id="rId2" Type="http://schemas.openxmlformats.org/officeDocument/2006/relationships/notesSlide" Target="../notesSlides/notesSlide37.xml"/><Relationship Id="rId1" Type="http://schemas.openxmlformats.org/officeDocument/2006/relationships/slideLayout" Target="../slideLayouts/slideLayout2.xml"/><Relationship Id="rId6" Type="http://schemas.openxmlformats.org/officeDocument/2006/relationships/image" Target="../media/image30.png"/><Relationship Id="rId5" Type="http://schemas.openxmlformats.org/officeDocument/2006/relationships/image" Target="../media/image28.png"/><Relationship Id="rId4" Type="http://schemas.openxmlformats.org/officeDocument/2006/relationships/image" Target="../media/image26.png"/></Relationships>
</file>

<file path=ppt/slides/_rels/slide38.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27.png"/><Relationship Id="rId7" Type="http://schemas.openxmlformats.org/officeDocument/2006/relationships/image" Target="../media/image31.png"/><Relationship Id="rId2" Type="http://schemas.openxmlformats.org/officeDocument/2006/relationships/notesSlide" Target="../notesSlides/notesSlide38.xml"/><Relationship Id="rId1" Type="http://schemas.openxmlformats.org/officeDocument/2006/relationships/slideLayout" Target="../slideLayouts/slideLayout2.xml"/><Relationship Id="rId6" Type="http://schemas.openxmlformats.org/officeDocument/2006/relationships/image" Target="../media/image30.png"/><Relationship Id="rId5" Type="http://schemas.openxmlformats.org/officeDocument/2006/relationships/image" Target="../media/image28.png"/><Relationship Id="rId4" Type="http://schemas.openxmlformats.org/officeDocument/2006/relationships/image" Target="../media/image26.png"/></Relationships>
</file>

<file path=ppt/slides/_rels/slide39.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27.png"/><Relationship Id="rId7" Type="http://schemas.openxmlformats.org/officeDocument/2006/relationships/image" Target="../media/image31.png"/><Relationship Id="rId2" Type="http://schemas.openxmlformats.org/officeDocument/2006/relationships/notesSlide" Target="../notesSlides/notesSlide39.xml"/><Relationship Id="rId1" Type="http://schemas.openxmlformats.org/officeDocument/2006/relationships/slideLayout" Target="../slideLayouts/slideLayout2.xml"/><Relationship Id="rId6" Type="http://schemas.openxmlformats.org/officeDocument/2006/relationships/image" Target="../media/image30.png"/><Relationship Id="rId5" Type="http://schemas.openxmlformats.org/officeDocument/2006/relationships/image" Target="../media/image28.png"/><Relationship Id="rId4" Type="http://schemas.openxmlformats.org/officeDocument/2006/relationships/image" Target="../media/image26.png"/></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50.xml"/><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5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6.jpeg"/><Relationship Id="rId7" Type="http://schemas.openxmlformats.org/officeDocument/2006/relationships/customXml" Target="../ink/ink11.xml"/><Relationship Id="rId12" Type="http://schemas.openxmlformats.org/officeDocument/2006/relationships/image" Target="../media/image36.png"/><Relationship Id="rId2" Type="http://schemas.openxmlformats.org/officeDocument/2006/relationships/notesSlide" Target="../notesSlides/notesSlide53.xml"/><Relationship Id="rId1" Type="http://schemas.openxmlformats.org/officeDocument/2006/relationships/slideLayout" Target="../slideLayouts/slideLayout2.xml"/><Relationship Id="rId6" Type="http://schemas.openxmlformats.org/officeDocument/2006/relationships/image" Target="../media/image14.png"/><Relationship Id="rId11" Type="http://schemas.openxmlformats.org/officeDocument/2006/relationships/image" Target="../media/image22.jpeg"/><Relationship Id="rId5" Type="http://schemas.openxmlformats.org/officeDocument/2006/relationships/image" Target="../media/image13.png"/><Relationship Id="rId10" Type="http://schemas.openxmlformats.org/officeDocument/2006/relationships/image" Target="../media/image16.png"/><Relationship Id="rId4" Type="http://schemas.openxmlformats.org/officeDocument/2006/relationships/customXml" Target="../ink/ink10.xml"/><Relationship Id="rId9" Type="http://schemas.openxmlformats.org/officeDocument/2006/relationships/customXml" Target="../ink/ink12.xml"/></Relationships>
</file>

<file path=ppt/slides/_rels/slide54.xml.rels><?xml version="1.0" encoding="UTF-8" standalone="yes"?>
<Relationships xmlns="http://schemas.openxmlformats.org/package/2006/relationships"><Relationship Id="rId8" Type="http://schemas.openxmlformats.org/officeDocument/2006/relationships/image" Target="../media/image16.jpe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notesSlide" Target="../notesSlides/notesSlide54.xml"/><Relationship Id="rId1" Type="http://schemas.openxmlformats.org/officeDocument/2006/relationships/slideLayout" Target="../slideLayouts/slideLayout2.xml"/><Relationship Id="rId6" Type="http://schemas.openxmlformats.org/officeDocument/2006/relationships/customXml" Target="../ink/ink14.xml"/><Relationship Id="rId5" Type="http://schemas.openxmlformats.org/officeDocument/2006/relationships/image" Target="../media/image17.png"/><Relationship Id="rId4" Type="http://schemas.openxmlformats.org/officeDocument/2006/relationships/customXml" Target="../ink/ink13.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57.xml"/><Relationship Id="rId1" Type="http://schemas.openxmlformats.org/officeDocument/2006/relationships/slideLayout" Target="../slideLayouts/slideLayout2.xml"/><Relationship Id="rId4" Type="http://schemas.openxmlformats.org/officeDocument/2006/relationships/image" Target="../media/image37.png"/></Relationships>
</file>

<file path=ppt/slides/_rels/slide5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58.xml"/><Relationship Id="rId1" Type="http://schemas.openxmlformats.org/officeDocument/2006/relationships/slideLayout" Target="../slideLayouts/slideLayout2.xml"/><Relationship Id="rId4" Type="http://schemas.openxmlformats.org/officeDocument/2006/relationships/image" Target="../media/image37.png"/></Relationships>
</file>

<file path=ppt/slides/_rels/slide59.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59.xml"/><Relationship Id="rId1" Type="http://schemas.openxmlformats.org/officeDocument/2006/relationships/slideLayout" Target="../slideLayouts/slideLayout2.xml"/><Relationship Id="rId5" Type="http://schemas.openxmlformats.org/officeDocument/2006/relationships/image" Target="../media/image41.png"/><Relationship Id="rId4" Type="http://schemas.openxmlformats.org/officeDocument/2006/relationships/image" Target="../media/image40.png"/></Relationships>
</file>

<file path=ppt/slides/_rels/slide60.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60.xml"/><Relationship Id="rId1" Type="http://schemas.openxmlformats.org/officeDocument/2006/relationships/slideLayout" Target="../slideLayouts/slideLayout2.xml"/><Relationship Id="rId5" Type="http://schemas.openxmlformats.org/officeDocument/2006/relationships/image" Target="../media/image41.png"/><Relationship Id="rId4" Type="http://schemas.openxmlformats.org/officeDocument/2006/relationships/image" Target="../media/image40.png"/></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62.xml"/><Relationship Id="rId1" Type="http://schemas.openxmlformats.org/officeDocument/2006/relationships/slideLayout" Target="../slideLayouts/slideLayout2.xml"/><Relationship Id="rId4" Type="http://schemas.openxmlformats.org/officeDocument/2006/relationships/image" Target="../media/image40.png"/></Relationships>
</file>

<file path=ppt/slides/_rels/slide63.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63.xml"/><Relationship Id="rId1" Type="http://schemas.openxmlformats.org/officeDocument/2006/relationships/slideLayout" Target="../slideLayouts/slideLayout2.xml"/><Relationship Id="rId5" Type="http://schemas.openxmlformats.org/officeDocument/2006/relationships/image" Target="../media/image42.png"/><Relationship Id="rId4" Type="http://schemas.openxmlformats.org/officeDocument/2006/relationships/image" Target="../media/image40.png"/></Relationships>
</file>

<file path=ppt/slides/_rels/slide64.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64.xml"/><Relationship Id="rId1" Type="http://schemas.openxmlformats.org/officeDocument/2006/relationships/slideLayout" Target="../slideLayouts/slideLayout2.xml"/><Relationship Id="rId5" Type="http://schemas.openxmlformats.org/officeDocument/2006/relationships/image" Target="../media/image42.png"/><Relationship Id="rId4" Type="http://schemas.openxmlformats.org/officeDocument/2006/relationships/image" Target="../media/image40.png"/></Relationships>
</file>

<file path=ppt/slides/_rels/slide65.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65.xml"/><Relationship Id="rId1" Type="http://schemas.openxmlformats.org/officeDocument/2006/relationships/slideLayout" Target="../slideLayouts/slideLayout2.xml"/><Relationship Id="rId4" Type="http://schemas.openxmlformats.org/officeDocument/2006/relationships/image" Target="../media/image42.png"/></Relationships>
</file>

<file path=ppt/slides/_rels/slide66.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66.xml"/><Relationship Id="rId1" Type="http://schemas.openxmlformats.org/officeDocument/2006/relationships/slideLayout" Target="../slideLayouts/slideLayout2.xml"/><Relationship Id="rId4" Type="http://schemas.openxmlformats.org/officeDocument/2006/relationships/image" Target="../media/image42.png"/></Relationships>
</file>

<file path=ppt/slides/_rels/slide6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67.xml"/><Relationship Id="rId1" Type="http://schemas.openxmlformats.org/officeDocument/2006/relationships/slideLayout" Target="../slideLayouts/slideLayout2.xml"/><Relationship Id="rId4" Type="http://schemas.openxmlformats.org/officeDocument/2006/relationships/image" Target="../media/image42.png"/></Relationships>
</file>

<file path=ppt/slides/_rels/slide68.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68.xml"/><Relationship Id="rId1" Type="http://schemas.openxmlformats.org/officeDocument/2006/relationships/slideLayout" Target="../slideLayouts/slideLayout2.xml"/><Relationship Id="rId4" Type="http://schemas.openxmlformats.org/officeDocument/2006/relationships/image" Target="../media/image42.png"/></Relationships>
</file>

<file path=ppt/slides/_rels/slide69.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69.xml"/><Relationship Id="rId1" Type="http://schemas.openxmlformats.org/officeDocument/2006/relationships/slideLayout" Target="../slideLayouts/slideLayout2.xml"/><Relationship Id="rId4" Type="http://schemas.openxmlformats.org/officeDocument/2006/relationships/image" Target="../media/image42.png"/></Relationships>
</file>

<file path=ppt/slides/_rels/slide70.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notesSlide" Target="../notesSlides/notesSlide73.xml"/><Relationship Id="rId1" Type="http://schemas.openxmlformats.org/officeDocument/2006/relationships/slideLayout" Target="../slideLayouts/slideLayout2.xml"/><Relationship Id="rId6" Type="http://schemas.openxmlformats.org/officeDocument/2006/relationships/image" Target="../media/image12.svg"/><Relationship Id="rId5" Type="http://schemas.openxmlformats.org/officeDocument/2006/relationships/image" Target="../media/image11.svg"/><Relationship Id="rId4" Type="http://schemas.openxmlformats.org/officeDocument/2006/relationships/image" Target="../media/image10.svg"/></Relationships>
</file>

<file path=ppt/slides/_rels/slide74.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74.xml"/><Relationship Id="rId1" Type="http://schemas.openxmlformats.org/officeDocument/2006/relationships/slideLayout" Target="../slideLayouts/slideLayout2.xml"/><Relationship Id="rId4" Type="http://schemas.openxmlformats.org/officeDocument/2006/relationships/image" Target="../media/image44.jpeg"/></Relationships>
</file>

<file path=ppt/slides/_rels/slide7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78.xml"/><Relationship Id="rId1" Type="http://schemas.openxmlformats.org/officeDocument/2006/relationships/slideLayout" Target="../slideLayouts/slideLayout2.xml"/><Relationship Id="rId4" Type="http://schemas.openxmlformats.org/officeDocument/2006/relationships/image" Target="../media/image46.png"/></Relationships>
</file>

<file path=ppt/slides/_rels/slide79.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79.xml"/><Relationship Id="rId1" Type="http://schemas.openxmlformats.org/officeDocument/2006/relationships/slideLayout" Target="../slideLayouts/slideLayout2.xml"/><Relationship Id="rId5" Type="http://schemas.openxmlformats.org/officeDocument/2006/relationships/image" Target="../media/image47.png"/><Relationship Id="rId4" Type="http://schemas.openxmlformats.org/officeDocument/2006/relationships/image" Target="../media/image46.png"/></Relationships>
</file>

<file path=ppt/slides/_rels/slide80.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81.xml"/><Relationship Id="rId1" Type="http://schemas.openxmlformats.org/officeDocument/2006/relationships/slideLayout" Target="../slideLayouts/slideLayout2.xml"/><Relationship Id="rId4" Type="http://schemas.openxmlformats.org/officeDocument/2006/relationships/image" Target="../media/image49.png"/></Relationships>
</file>

<file path=ppt/slides/_rels/slide82.xml.rels><?xml version="1.0" encoding="UTF-8" standalone="yes"?>
<Relationships xmlns="http://schemas.openxmlformats.org/package/2006/relationships"><Relationship Id="rId3" Type="http://schemas.openxmlformats.org/officeDocument/2006/relationships/image" Target="../media/image50.svg"/><Relationship Id="rId2" Type="http://schemas.openxmlformats.org/officeDocument/2006/relationships/notesSlide" Target="../notesSlides/notesSlide82.xml"/><Relationship Id="rId1" Type="http://schemas.openxmlformats.org/officeDocument/2006/relationships/slideLayout" Target="../slideLayouts/slideLayout2.xml"/><Relationship Id="rId5" Type="http://schemas.openxmlformats.org/officeDocument/2006/relationships/image" Target="../media/image52.png"/><Relationship Id="rId4" Type="http://schemas.openxmlformats.org/officeDocument/2006/relationships/image" Target="../media/image51.svg"/></Relationships>
</file>

<file path=ppt/slides/_rels/slide83.xml.rels><?xml version="1.0" encoding="UTF-8" standalone="yes"?>
<Relationships xmlns="http://schemas.openxmlformats.org/package/2006/relationships"><Relationship Id="rId3" Type="http://schemas.openxmlformats.org/officeDocument/2006/relationships/image" Target="../media/image53.svg"/><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53.svg"/><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5.xml"/><Relationship Id="rId1" Type="http://schemas.openxmlformats.org/officeDocument/2006/relationships/slideLayout" Target="../slideLayouts/slideLayout2.xml"/><Relationship Id="rId5" Type="http://schemas.openxmlformats.org/officeDocument/2006/relationships/image" Target="../media/image54.png"/><Relationship Id="rId4" Type="http://schemas.openxmlformats.org/officeDocument/2006/relationships/image" Target="../media/image16.jpeg"/></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88"/>
        <p:cNvGrpSpPr/>
        <p:nvPr/>
      </p:nvGrpSpPr>
      <p:grpSpPr>
        <a:xfrm>
          <a:off x="0" y="0"/>
          <a:ext cx="0" cy="0"/>
          <a:chOff x="0" y="0"/>
          <a:chExt cx="0" cy="0"/>
        </a:xfrm>
      </p:grpSpPr>
      <p:sp>
        <p:nvSpPr>
          <p:cNvPr id="289" name="Google Shape;289;p33"/>
          <p:cNvSpPr txBox="1">
            <a:spLocks noGrp="1"/>
          </p:cNvSpPr>
          <p:nvPr>
            <p:ph type="ctrTitle"/>
          </p:nvPr>
        </p:nvSpPr>
        <p:spPr>
          <a:xfrm>
            <a:off x="1087125" y="1670213"/>
            <a:ext cx="5897400" cy="1392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Advancing generative genomics models with evolution</a:t>
            </a:r>
            <a:endParaRPr dirty="0"/>
          </a:p>
        </p:txBody>
      </p:sp>
      <p:sp>
        <p:nvSpPr>
          <p:cNvPr id="290" name="Google Shape;290;p33"/>
          <p:cNvSpPr txBox="1">
            <a:spLocks noGrp="1"/>
          </p:cNvSpPr>
          <p:nvPr>
            <p:ph type="subTitle" idx="1"/>
          </p:nvPr>
        </p:nvSpPr>
        <p:spPr>
          <a:xfrm>
            <a:off x="1087125" y="2997487"/>
            <a:ext cx="5897400" cy="1535041"/>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Hanken Grotesk"/>
                <a:ea typeface="Hanken Grotesk"/>
                <a:cs typeface="Hanken Grotesk"/>
                <a:sym typeface="Hanken Grotesk"/>
              </a:rPr>
              <a:t>Alex Lu – Microsoft Research</a:t>
            </a:r>
          </a:p>
          <a:p>
            <a:pPr marL="0" lvl="0" indent="0" algn="l" rtl="0">
              <a:spcBef>
                <a:spcPts val="0"/>
              </a:spcBef>
              <a:spcAft>
                <a:spcPts val="0"/>
              </a:spcAft>
              <a:buNone/>
            </a:pPr>
            <a:r>
              <a:rPr lang="en-US" dirty="0">
                <a:latin typeface="Hanken Grotesk"/>
                <a:ea typeface="Hanken Grotesk"/>
                <a:cs typeface="Hanken Grotesk"/>
                <a:sym typeface="Hanken Grotesk"/>
                <a:hlinkClick r:id="rId3"/>
              </a:rPr>
              <a:t>lualex@microsoft.com</a:t>
            </a:r>
            <a:r>
              <a:rPr lang="en-US" dirty="0">
                <a:latin typeface="Hanken Grotesk"/>
                <a:ea typeface="Hanken Grotesk"/>
                <a:cs typeface="Hanken Grotesk"/>
                <a:sym typeface="Hanken Grotesk"/>
              </a:rPr>
              <a:t> </a:t>
            </a:r>
            <a:endParaRPr dirty="0">
              <a:latin typeface="Hanken Grotesk"/>
              <a:ea typeface="Hanken Grotesk"/>
              <a:cs typeface="Hanken Grotesk"/>
              <a:sym typeface="Hanken Grotesk"/>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FF8970-828C-4709-D352-B834F7D49EE6}"/>
              </a:ext>
            </a:extLst>
          </p:cNvPr>
          <p:cNvSpPr>
            <a:spLocks noGrp="1"/>
          </p:cNvSpPr>
          <p:nvPr>
            <p:ph type="title"/>
          </p:nvPr>
        </p:nvSpPr>
        <p:spPr/>
        <p:txBody>
          <a:bodyPr/>
          <a:lstStyle/>
          <a:p>
            <a:r>
              <a:rPr lang="en-US" dirty="0"/>
              <a:t>Three decades ago, genomes were largely thought of as “bags of genes”…</a:t>
            </a:r>
          </a:p>
        </p:txBody>
      </p:sp>
      <p:pic>
        <p:nvPicPr>
          <p:cNvPr id="5" name="Picture 4" descr="junk DNA.&#10;&#10;AI-generated content may be incorrect.">
            <a:extLst>
              <a:ext uri="{FF2B5EF4-FFF2-40B4-BE49-F238E27FC236}">
                <a16:creationId xmlns:a16="http://schemas.microsoft.com/office/drawing/2014/main" id="{6357DC4A-A6C4-E5E9-E06E-0633F4604780}"/>
              </a:ext>
            </a:extLst>
          </p:cNvPr>
          <p:cNvPicPr>
            <a:picLocks noChangeAspect="1"/>
          </p:cNvPicPr>
          <p:nvPr/>
        </p:nvPicPr>
        <p:blipFill>
          <a:blip r:embed="rId3"/>
          <a:stretch>
            <a:fillRect/>
          </a:stretch>
        </p:blipFill>
        <p:spPr>
          <a:xfrm>
            <a:off x="1287887" y="2047524"/>
            <a:ext cx="6568225" cy="1671573"/>
          </a:xfrm>
          <a:prstGeom prst="rect">
            <a:avLst/>
          </a:prstGeom>
        </p:spPr>
      </p:pic>
      <p:sp>
        <p:nvSpPr>
          <p:cNvPr id="7" name="TextBox 6">
            <a:extLst>
              <a:ext uri="{FF2B5EF4-FFF2-40B4-BE49-F238E27FC236}">
                <a16:creationId xmlns:a16="http://schemas.microsoft.com/office/drawing/2014/main" id="{13D5B47A-B412-DD65-8637-139C40EA7D6D}"/>
              </a:ext>
            </a:extLst>
          </p:cNvPr>
          <p:cNvSpPr txBox="1"/>
          <p:nvPr/>
        </p:nvSpPr>
        <p:spPr>
          <a:xfrm>
            <a:off x="272067" y="4424394"/>
            <a:ext cx="6077218" cy="430887"/>
          </a:xfrm>
          <a:prstGeom prst="rect">
            <a:avLst/>
          </a:prstGeom>
          <a:noFill/>
        </p:spPr>
        <p:txBody>
          <a:bodyPr wrap="square">
            <a:spAutoFit/>
          </a:bodyPr>
          <a:lstStyle/>
          <a:p>
            <a:r>
              <a:rPr lang="en-US" sz="1100" dirty="0"/>
              <a:t>Virtual exhibit from the NHGRI</a:t>
            </a:r>
            <a:br>
              <a:rPr lang="en-US" sz="1100" dirty="0"/>
            </a:br>
            <a:r>
              <a:rPr lang="en-US" sz="1100" dirty="0"/>
              <a:t>genome.gov/virtual-exhibits/human-genome-project-is-simply-a-bad-idea</a:t>
            </a:r>
          </a:p>
        </p:txBody>
      </p:sp>
      <p:sp>
        <p:nvSpPr>
          <p:cNvPr id="4" name="Text Placeholder 2">
            <a:extLst>
              <a:ext uri="{FF2B5EF4-FFF2-40B4-BE49-F238E27FC236}">
                <a16:creationId xmlns:a16="http://schemas.microsoft.com/office/drawing/2014/main" id="{97A6D26B-265C-F14D-D869-27063C94B435}"/>
              </a:ext>
            </a:extLst>
          </p:cNvPr>
          <p:cNvSpPr>
            <a:spLocks noGrp="1"/>
          </p:cNvSpPr>
          <p:nvPr>
            <p:ph type="body" idx="1"/>
          </p:nvPr>
        </p:nvSpPr>
        <p:spPr>
          <a:xfrm>
            <a:off x="720000" y="1665024"/>
            <a:ext cx="7704000" cy="2890506"/>
          </a:xfrm>
        </p:spPr>
        <p:txBody>
          <a:bodyPr/>
          <a:lstStyle/>
          <a:p>
            <a:pPr marL="177800" indent="0" algn="ctr">
              <a:buNone/>
            </a:pPr>
            <a:r>
              <a:rPr lang="en-US" dirty="0"/>
              <a:t>March 29, 1990</a:t>
            </a:r>
          </a:p>
        </p:txBody>
      </p:sp>
    </p:spTree>
    <p:extLst>
      <p:ext uri="{BB962C8B-B14F-4D97-AF65-F5344CB8AC3E}">
        <p14:creationId xmlns:p14="http://schemas.microsoft.com/office/powerpoint/2010/main" val="900705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446E75-6671-BD0A-0579-0879DBDB044F}"/>
              </a:ext>
            </a:extLst>
          </p:cNvPr>
          <p:cNvSpPr>
            <a:spLocks noGrp="1"/>
          </p:cNvSpPr>
          <p:nvPr>
            <p:ph type="title"/>
          </p:nvPr>
        </p:nvSpPr>
        <p:spPr/>
        <p:txBody>
          <a:bodyPr/>
          <a:lstStyle/>
          <a:p>
            <a:r>
              <a:rPr lang="en-US" dirty="0"/>
              <a:t>Systematic screens reveal extent of human genome dedicated to regulation </a:t>
            </a:r>
          </a:p>
        </p:txBody>
      </p:sp>
      <p:pic>
        <p:nvPicPr>
          <p:cNvPr id="4" name="Picture 3" descr="About ENCODE Data at UCSC">
            <a:extLst>
              <a:ext uri="{FF2B5EF4-FFF2-40B4-BE49-F238E27FC236}">
                <a16:creationId xmlns:a16="http://schemas.microsoft.com/office/drawing/2014/main" id="{A7C01BB3-D1BE-EFAB-42D9-EADD929AB685}"/>
              </a:ext>
            </a:extLst>
          </p:cNvPr>
          <p:cNvPicPr>
            <a:picLocks noChangeAspect="1"/>
          </p:cNvPicPr>
          <p:nvPr/>
        </p:nvPicPr>
        <p:blipFill>
          <a:blip r:embed="rId3"/>
          <a:srcRect t="51415"/>
          <a:stretch>
            <a:fillRect/>
          </a:stretch>
        </p:blipFill>
        <p:spPr>
          <a:xfrm>
            <a:off x="1635008" y="1822360"/>
            <a:ext cx="5873983" cy="2038733"/>
          </a:xfrm>
          <a:prstGeom prst="rect">
            <a:avLst/>
          </a:prstGeom>
        </p:spPr>
      </p:pic>
      <p:sp>
        <p:nvSpPr>
          <p:cNvPr id="7" name="Google Shape;330;p36">
            <a:extLst>
              <a:ext uri="{FF2B5EF4-FFF2-40B4-BE49-F238E27FC236}">
                <a16:creationId xmlns:a16="http://schemas.microsoft.com/office/drawing/2014/main" id="{B2E18B53-879E-3876-924D-3F9DD3632C18}"/>
              </a:ext>
            </a:extLst>
          </p:cNvPr>
          <p:cNvSpPr txBox="1">
            <a:spLocks/>
          </p:cNvSpPr>
          <p:nvPr/>
        </p:nvSpPr>
        <p:spPr>
          <a:xfrm>
            <a:off x="2227466" y="3971248"/>
            <a:ext cx="1256269" cy="727227"/>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79400" algn="l" rtl="0">
              <a:lnSpc>
                <a:spcPct val="115000"/>
              </a:lnSpc>
              <a:spcBef>
                <a:spcPts val="0"/>
              </a:spcBef>
              <a:spcAft>
                <a:spcPts val="0"/>
              </a:spcAft>
              <a:buClr>
                <a:schemeClr val="dk1"/>
              </a:buClr>
              <a:buSzPts val="800"/>
              <a:buFont typeface="Hanken Grotesk"/>
              <a:buChar char="●"/>
              <a:defRPr sz="1400" b="0" i="0" u="none" strike="noStrike" cap="none">
                <a:solidFill>
                  <a:schemeClr val="dk1"/>
                </a:solidFill>
                <a:latin typeface="Hanken Grotesk"/>
                <a:ea typeface="Hanken Grotesk"/>
                <a:cs typeface="Hanken Grotesk"/>
                <a:sym typeface="Hanken Grotesk"/>
              </a:defRPr>
            </a:lvl1pPr>
            <a:lvl2pPr marL="914400" marR="0" lvl="1"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2pPr>
            <a:lvl3pPr marL="1371600" marR="0" lvl="2"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3pPr>
            <a:lvl4pPr marL="1828800" marR="0" lvl="3"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4pPr>
            <a:lvl5pPr marL="2286000" marR="0" lvl="4"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5pPr>
            <a:lvl6pPr marL="2743200" marR="0" lvl="5"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6pPr>
            <a:lvl7pPr marL="3200400" marR="0" lvl="6"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7pPr>
            <a:lvl8pPr marL="3657600" marR="0" lvl="7"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8pPr>
            <a:lvl9pPr marL="4114800" marR="0" lvl="8"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9pPr>
          </a:lstStyle>
          <a:p>
            <a:pPr marL="0" indent="0" algn="ctr">
              <a:buFont typeface="Hanken Grotesk"/>
              <a:buNone/>
            </a:pPr>
            <a:r>
              <a:rPr lang="en-US" sz="1800" b="1" dirty="0">
                <a:solidFill>
                  <a:srgbClr val="C00000"/>
                </a:solidFill>
              </a:rPr>
              <a:t>2,348,854</a:t>
            </a:r>
            <a:r>
              <a:rPr lang="en-US" sz="1800" b="1" dirty="0"/>
              <a:t> elements</a:t>
            </a:r>
          </a:p>
        </p:txBody>
      </p:sp>
      <p:sp>
        <p:nvSpPr>
          <p:cNvPr id="8" name="Google Shape;330;p36">
            <a:extLst>
              <a:ext uri="{FF2B5EF4-FFF2-40B4-BE49-F238E27FC236}">
                <a16:creationId xmlns:a16="http://schemas.microsoft.com/office/drawing/2014/main" id="{CB81D921-EFAD-64D5-4378-9CE5C8EA9037}"/>
              </a:ext>
            </a:extLst>
          </p:cNvPr>
          <p:cNvSpPr txBox="1">
            <a:spLocks/>
          </p:cNvSpPr>
          <p:nvPr/>
        </p:nvSpPr>
        <p:spPr>
          <a:xfrm>
            <a:off x="4571999" y="3971248"/>
            <a:ext cx="2842517" cy="727227"/>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79400" algn="l" rtl="0">
              <a:lnSpc>
                <a:spcPct val="115000"/>
              </a:lnSpc>
              <a:spcBef>
                <a:spcPts val="0"/>
              </a:spcBef>
              <a:spcAft>
                <a:spcPts val="0"/>
              </a:spcAft>
              <a:buClr>
                <a:schemeClr val="dk1"/>
              </a:buClr>
              <a:buSzPts val="800"/>
              <a:buFont typeface="Hanken Grotesk"/>
              <a:buChar char="●"/>
              <a:defRPr sz="1400" b="0" i="0" u="none" strike="noStrike" cap="none">
                <a:solidFill>
                  <a:schemeClr val="dk1"/>
                </a:solidFill>
                <a:latin typeface="Hanken Grotesk"/>
                <a:ea typeface="Hanken Grotesk"/>
                <a:cs typeface="Hanken Grotesk"/>
                <a:sym typeface="Hanken Grotesk"/>
              </a:defRPr>
            </a:lvl1pPr>
            <a:lvl2pPr marL="914400" marR="0" lvl="1"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2pPr>
            <a:lvl3pPr marL="1371600" marR="0" lvl="2"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3pPr>
            <a:lvl4pPr marL="1828800" marR="0" lvl="3"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4pPr>
            <a:lvl5pPr marL="2286000" marR="0" lvl="4"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5pPr>
            <a:lvl6pPr marL="2743200" marR="0" lvl="5"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6pPr>
            <a:lvl7pPr marL="3200400" marR="0" lvl="6"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7pPr>
            <a:lvl8pPr marL="3657600" marR="0" lvl="7"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8pPr>
            <a:lvl9pPr marL="4114800" marR="0" lvl="8"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9pPr>
          </a:lstStyle>
          <a:p>
            <a:pPr marL="0" indent="0" algn="ctr">
              <a:buFont typeface="Hanken Grotesk"/>
              <a:buNone/>
            </a:pPr>
            <a:r>
              <a:rPr lang="en-US" sz="1800" b="1" dirty="0">
                <a:solidFill>
                  <a:srgbClr val="C00000"/>
                </a:solidFill>
              </a:rPr>
              <a:t>19,433</a:t>
            </a:r>
            <a:br>
              <a:rPr lang="en-US" sz="1800" b="1" dirty="0"/>
            </a:br>
            <a:r>
              <a:rPr lang="en-US" sz="1800" b="1" dirty="0"/>
              <a:t>protein-coding genes</a:t>
            </a:r>
          </a:p>
        </p:txBody>
      </p:sp>
      <p:cxnSp>
        <p:nvCxnSpPr>
          <p:cNvPr id="11" name="Straight Arrow Connector 10">
            <a:extLst>
              <a:ext uri="{FF2B5EF4-FFF2-40B4-BE49-F238E27FC236}">
                <a16:creationId xmlns:a16="http://schemas.microsoft.com/office/drawing/2014/main" id="{D1EF84E6-77BB-B842-769F-090CD2A441C8}"/>
              </a:ext>
            </a:extLst>
          </p:cNvPr>
          <p:cNvCxnSpPr>
            <a:endCxn id="7" idx="0"/>
          </p:cNvCxnSpPr>
          <p:nvPr/>
        </p:nvCxnSpPr>
        <p:spPr>
          <a:xfrm>
            <a:off x="2855600" y="3812146"/>
            <a:ext cx="1" cy="159102"/>
          </a:xfrm>
          <a:prstGeom prst="straightConnector1">
            <a:avLst/>
          </a:prstGeom>
          <a:ln w="19050">
            <a:solidFill>
              <a:schemeClr val="bg1">
                <a:lumMod val="1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2E0DB98C-ABE5-1EAF-63BE-6A46A39C6DC8}"/>
              </a:ext>
            </a:extLst>
          </p:cNvPr>
          <p:cNvCxnSpPr>
            <a:cxnSpLocks/>
          </p:cNvCxnSpPr>
          <p:nvPr/>
        </p:nvCxnSpPr>
        <p:spPr>
          <a:xfrm>
            <a:off x="5993257" y="3457977"/>
            <a:ext cx="1" cy="513271"/>
          </a:xfrm>
          <a:prstGeom prst="straightConnector1">
            <a:avLst/>
          </a:prstGeom>
          <a:ln w="19050">
            <a:solidFill>
              <a:schemeClr val="bg1">
                <a:lumMod val="1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C4566D06-85B7-4226-D0F9-C4A79882C683}"/>
              </a:ext>
            </a:extLst>
          </p:cNvPr>
          <p:cNvSpPr txBox="1"/>
          <p:nvPr/>
        </p:nvSpPr>
        <p:spPr>
          <a:xfrm>
            <a:off x="259192" y="4633533"/>
            <a:ext cx="1375816" cy="261610"/>
          </a:xfrm>
          <a:prstGeom prst="rect">
            <a:avLst/>
          </a:prstGeom>
          <a:noFill/>
        </p:spPr>
        <p:txBody>
          <a:bodyPr wrap="square">
            <a:spAutoFit/>
          </a:bodyPr>
          <a:lstStyle/>
          <a:p>
            <a:r>
              <a:rPr lang="en-US" sz="1100" dirty="0"/>
              <a:t>ENCODE Project</a:t>
            </a:r>
          </a:p>
        </p:txBody>
      </p:sp>
    </p:spTree>
    <p:extLst>
      <p:ext uri="{BB962C8B-B14F-4D97-AF65-F5344CB8AC3E}">
        <p14:creationId xmlns:p14="http://schemas.microsoft.com/office/powerpoint/2010/main" val="22854998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F47B10-25F5-9818-1D4B-2E43DC4017CE}"/>
              </a:ext>
            </a:extLst>
          </p:cNvPr>
          <p:cNvSpPr>
            <a:spLocks noGrp="1"/>
          </p:cNvSpPr>
          <p:nvPr>
            <p:ph type="title"/>
          </p:nvPr>
        </p:nvSpPr>
        <p:spPr/>
        <p:txBody>
          <a:bodyPr/>
          <a:lstStyle/>
          <a:p>
            <a:r>
              <a:rPr lang="en-US" dirty="0"/>
              <a:t>Much remains to be discovered about the genomic regulatory code</a:t>
            </a:r>
          </a:p>
        </p:txBody>
      </p:sp>
      <p:sp>
        <p:nvSpPr>
          <p:cNvPr id="3" name="Text Placeholder 2">
            <a:extLst>
              <a:ext uri="{FF2B5EF4-FFF2-40B4-BE49-F238E27FC236}">
                <a16:creationId xmlns:a16="http://schemas.microsoft.com/office/drawing/2014/main" id="{04379C29-F5DE-FF93-DE60-DEB49E3BDB3B}"/>
              </a:ext>
            </a:extLst>
          </p:cNvPr>
          <p:cNvSpPr>
            <a:spLocks noGrp="1"/>
          </p:cNvSpPr>
          <p:nvPr>
            <p:ph type="body" idx="1"/>
          </p:nvPr>
        </p:nvSpPr>
        <p:spPr>
          <a:xfrm>
            <a:off x="720000" y="1558344"/>
            <a:ext cx="7704000" cy="2890506"/>
          </a:xfrm>
        </p:spPr>
        <p:txBody>
          <a:bodyPr/>
          <a:lstStyle/>
          <a:p>
            <a:pPr marL="177800" indent="0" algn="ctr">
              <a:buNone/>
            </a:pPr>
            <a:r>
              <a:rPr lang="en-US" dirty="0"/>
              <a:t>How do genomic sequences encode precise responses to different contexts?</a:t>
            </a:r>
          </a:p>
        </p:txBody>
      </p:sp>
      <p:sp>
        <p:nvSpPr>
          <p:cNvPr id="4" name="Rectangle 3">
            <a:extLst>
              <a:ext uri="{FF2B5EF4-FFF2-40B4-BE49-F238E27FC236}">
                <a16:creationId xmlns:a16="http://schemas.microsoft.com/office/drawing/2014/main" id="{F4951DF5-DBA2-0E44-EF01-9A35769CA8C8}"/>
              </a:ext>
            </a:extLst>
          </p:cNvPr>
          <p:cNvSpPr/>
          <p:nvPr/>
        </p:nvSpPr>
        <p:spPr>
          <a:xfrm>
            <a:off x="892367" y="3641073"/>
            <a:ext cx="7359267" cy="121186"/>
          </a:xfrm>
          <a:prstGeom prst="rect">
            <a:avLst/>
          </a:prstGeom>
          <a:solidFill>
            <a:srgbClr val="71DAFF"/>
          </a:solidFill>
          <a:ln>
            <a:solidFill>
              <a:srgbClr val="71DA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8572ACE2-8077-E448-3F3E-04EE687D75E7}"/>
              </a:ext>
            </a:extLst>
          </p:cNvPr>
          <p:cNvSpPr/>
          <p:nvPr/>
        </p:nvSpPr>
        <p:spPr>
          <a:xfrm>
            <a:off x="1816865" y="3641073"/>
            <a:ext cx="5510270" cy="121186"/>
          </a:xfrm>
          <a:prstGeom prst="rect">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2">
            <a:extLst>
              <a:ext uri="{FF2B5EF4-FFF2-40B4-BE49-F238E27FC236}">
                <a16:creationId xmlns:a16="http://schemas.microsoft.com/office/drawing/2014/main" id="{8E61B045-A720-0C2C-7768-0925EC7E51FC}"/>
              </a:ext>
            </a:extLst>
          </p:cNvPr>
          <p:cNvSpPr txBox="1">
            <a:spLocks/>
          </p:cNvSpPr>
          <p:nvPr/>
        </p:nvSpPr>
        <p:spPr>
          <a:xfrm>
            <a:off x="1944547" y="3803867"/>
            <a:ext cx="5021043" cy="40457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79400" algn="l" rtl="0">
              <a:lnSpc>
                <a:spcPct val="115000"/>
              </a:lnSpc>
              <a:spcBef>
                <a:spcPts val="0"/>
              </a:spcBef>
              <a:spcAft>
                <a:spcPts val="0"/>
              </a:spcAft>
              <a:buClr>
                <a:schemeClr val="dk1"/>
              </a:buClr>
              <a:buSzPts val="800"/>
              <a:buFont typeface="Hanken Grotesk"/>
              <a:buChar char="●"/>
              <a:defRPr sz="1400" b="0" i="0" u="none" strike="noStrike" cap="none">
                <a:solidFill>
                  <a:schemeClr val="dk1"/>
                </a:solidFill>
                <a:latin typeface="Hanken Grotesk"/>
                <a:ea typeface="Hanken Grotesk"/>
                <a:cs typeface="Hanken Grotesk"/>
                <a:sym typeface="Hanken Grotesk"/>
              </a:defRPr>
            </a:lvl1pPr>
            <a:lvl2pPr marL="914400" marR="0" lvl="1"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2pPr>
            <a:lvl3pPr marL="1371600" marR="0" lvl="2"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3pPr>
            <a:lvl4pPr marL="1828800" marR="0" lvl="3"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4pPr>
            <a:lvl5pPr marL="2286000" marR="0" lvl="4"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5pPr>
            <a:lvl6pPr marL="2743200" marR="0" lvl="5"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6pPr>
            <a:lvl7pPr marL="3200400" marR="0" lvl="6"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7pPr>
            <a:lvl8pPr marL="3657600" marR="0" lvl="7"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8pPr>
            <a:lvl9pPr marL="4114800" marR="0" lvl="8"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9pPr>
          </a:lstStyle>
          <a:p>
            <a:pPr marL="177800" indent="0" algn="ctr">
              <a:buFont typeface="Hanken Grotesk"/>
              <a:buNone/>
            </a:pPr>
            <a:r>
              <a:rPr lang="en-US" dirty="0"/>
              <a:t>Enhancer (50-1500 bp)</a:t>
            </a:r>
          </a:p>
        </p:txBody>
      </p:sp>
      <p:cxnSp>
        <p:nvCxnSpPr>
          <p:cNvPr id="8" name="Straight Arrow Connector 7">
            <a:extLst>
              <a:ext uri="{FF2B5EF4-FFF2-40B4-BE49-F238E27FC236}">
                <a16:creationId xmlns:a16="http://schemas.microsoft.com/office/drawing/2014/main" id="{2BCBFEF5-D412-FBD5-95ED-ACA836398AFC}"/>
              </a:ext>
            </a:extLst>
          </p:cNvPr>
          <p:cNvCxnSpPr/>
          <p:nvPr/>
        </p:nvCxnSpPr>
        <p:spPr>
          <a:xfrm>
            <a:off x="5624111" y="4006155"/>
            <a:ext cx="170302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B244E29A-3E5A-945A-25D4-C0E5B3C79CC4}"/>
              </a:ext>
            </a:extLst>
          </p:cNvPr>
          <p:cNvCxnSpPr>
            <a:cxnSpLocks/>
          </p:cNvCxnSpPr>
          <p:nvPr/>
        </p:nvCxnSpPr>
        <p:spPr>
          <a:xfrm flipH="1">
            <a:off x="1816865" y="4009386"/>
            <a:ext cx="170302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913146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8DD085-1EE8-BFD7-646B-A3AD1DF488C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D72CEDE-2116-3941-662D-309DE72618C0}"/>
              </a:ext>
            </a:extLst>
          </p:cNvPr>
          <p:cNvSpPr>
            <a:spLocks noGrp="1"/>
          </p:cNvSpPr>
          <p:nvPr>
            <p:ph type="title"/>
          </p:nvPr>
        </p:nvSpPr>
        <p:spPr/>
        <p:txBody>
          <a:bodyPr/>
          <a:lstStyle/>
          <a:p>
            <a:r>
              <a:rPr lang="en-US" dirty="0"/>
              <a:t>Much remains to be discovered about the genomic regulatory code</a:t>
            </a:r>
          </a:p>
        </p:txBody>
      </p:sp>
      <p:sp>
        <p:nvSpPr>
          <p:cNvPr id="3" name="Text Placeholder 2">
            <a:extLst>
              <a:ext uri="{FF2B5EF4-FFF2-40B4-BE49-F238E27FC236}">
                <a16:creationId xmlns:a16="http://schemas.microsoft.com/office/drawing/2014/main" id="{E934DEAD-EA18-6D38-B33A-9AF3644EA397}"/>
              </a:ext>
            </a:extLst>
          </p:cNvPr>
          <p:cNvSpPr>
            <a:spLocks noGrp="1"/>
          </p:cNvSpPr>
          <p:nvPr>
            <p:ph type="body" idx="1"/>
          </p:nvPr>
        </p:nvSpPr>
        <p:spPr>
          <a:xfrm>
            <a:off x="720000" y="1558344"/>
            <a:ext cx="7704000" cy="2890506"/>
          </a:xfrm>
        </p:spPr>
        <p:txBody>
          <a:bodyPr/>
          <a:lstStyle/>
          <a:p>
            <a:pPr marL="177800" indent="0" algn="ctr">
              <a:buNone/>
            </a:pPr>
            <a:r>
              <a:rPr lang="en-US" dirty="0"/>
              <a:t>How do genomic sequences encode precise responses to different contexts?</a:t>
            </a:r>
          </a:p>
        </p:txBody>
      </p:sp>
      <p:sp>
        <p:nvSpPr>
          <p:cNvPr id="4" name="Rectangle 3">
            <a:extLst>
              <a:ext uri="{FF2B5EF4-FFF2-40B4-BE49-F238E27FC236}">
                <a16:creationId xmlns:a16="http://schemas.microsoft.com/office/drawing/2014/main" id="{73A29F62-D08F-5C4F-9925-0ED40597D8F4}"/>
              </a:ext>
            </a:extLst>
          </p:cNvPr>
          <p:cNvSpPr/>
          <p:nvPr/>
        </p:nvSpPr>
        <p:spPr>
          <a:xfrm>
            <a:off x="892367" y="3641073"/>
            <a:ext cx="7359267" cy="121186"/>
          </a:xfrm>
          <a:prstGeom prst="rect">
            <a:avLst/>
          </a:prstGeom>
          <a:solidFill>
            <a:srgbClr val="71DAFF"/>
          </a:solidFill>
          <a:ln>
            <a:solidFill>
              <a:srgbClr val="71DA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6D621647-43D1-D526-B75A-19A3B27BD161}"/>
              </a:ext>
            </a:extLst>
          </p:cNvPr>
          <p:cNvSpPr/>
          <p:nvPr/>
        </p:nvSpPr>
        <p:spPr>
          <a:xfrm>
            <a:off x="1816865" y="3641073"/>
            <a:ext cx="5510270" cy="121186"/>
          </a:xfrm>
          <a:prstGeom prst="rect">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2">
            <a:extLst>
              <a:ext uri="{FF2B5EF4-FFF2-40B4-BE49-F238E27FC236}">
                <a16:creationId xmlns:a16="http://schemas.microsoft.com/office/drawing/2014/main" id="{C5832626-F3C5-8E30-D5F4-8E47EA209F42}"/>
              </a:ext>
            </a:extLst>
          </p:cNvPr>
          <p:cNvSpPr txBox="1">
            <a:spLocks/>
          </p:cNvSpPr>
          <p:nvPr/>
        </p:nvSpPr>
        <p:spPr>
          <a:xfrm>
            <a:off x="1944547" y="3803867"/>
            <a:ext cx="5021043" cy="40457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79400" algn="l" rtl="0">
              <a:lnSpc>
                <a:spcPct val="115000"/>
              </a:lnSpc>
              <a:spcBef>
                <a:spcPts val="0"/>
              </a:spcBef>
              <a:spcAft>
                <a:spcPts val="0"/>
              </a:spcAft>
              <a:buClr>
                <a:schemeClr val="dk1"/>
              </a:buClr>
              <a:buSzPts val="800"/>
              <a:buFont typeface="Hanken Grotesk"/>
              <a:buChar char="●"/>
              <a:defRPr sz="1400" b="0" i="0" u="none" strike="noStrike" cap="none">
                <a:solidFill>
                  <a:schemeClr val="dk1"/>
                </a:solidFill>
                <a:latin typeface="Hanken Grotesk"/>
                <a:ea typeface="Hanken Grotesk"/>
                <a:cs typeface="Hanken Grotesk"/>
                <a:sym typeface="Hanken Grotesk"/>
              </a:defRPr>
            </a:lvl1pPr>
            <a:lvl2pPr marL="914400" marR="0" lvl="1"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2pPr>
            <a:lvl3pPr marL="1371600" marR="0" lvl="2"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3pPr>
            <a:lvl4pPr marL="1828800" marR="0" lvl="3"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4pPr>
            <a:lvl5pPr marL="2286000" marR="0" lvl="4"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5pPr>
            <a:lvl6pPr marL="2743200" marR="0" lvl="5"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6pPr>
            <a:lvl7pPr marL="3200400" marR="0" lvl="6"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7pPr>
            <a:lvl8pPr marL="3657600" marR="0" lvl="7"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8pPr>
            <a:lvl9pPr marL="4114800" marR="0" lvl="8"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9pPr>
          </a:lstStyle>
          <a:p>
            <a:pPr marL="177800" indent="0" algn="ctr">
              <a:buFont typeface="Hanken Grotesk"/>
              <a:buNone/>
            </a:pPr>
            <a:r>
              <a:rPr lang="en-US" dirty="0"/>
              <a:t>Enhancer (50-1500 bp)</a:t>
            </a:r>
          </a:p>
        </p:txBody>
      </p:sp>
      <p:cxnSp>
        <p:nvCxnSpPr>
          <p:cNvPr id="8" name="Straight Arrow Connector 7">
            <a:extLst>
              <a:ext uri="{FF2B5EF4-FFF2-40B4-BE49-F238E27FC236}">
                <a16:creationId xmlns:a16="http://schemas.microsoft.com/office/drawing/2014/main" id="{D61E9CBD-D169-3C54-5635-D8647CBB86D3}"/>
              </a:ext>
            </a:extLst>
          </p:cNvPr>
          <p:cNvCxnSpPr/>
          <p:nvPr/>
        </p:nvCxnSpPr>
        <p:spPr>
          <a:xfrm>
            <a:off x="5624111" y="4006155"/>
            <a:ext cx="170302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6BB15D24-FBCA-5B50-660E-0B2B3ED4BA12}"/>
              </a:ext>
            </a:extLst>
          </p:cNvPr>
          <p:cNvCxnSpPr>
            <a:cxnSpLocks/>
          </p:cNvCxnSpPr>
          <p:nvPr/>
        </p:nvCxnSpPr>
        <p:spPr>
          <a:xfrm flipH="1">
            <a:off x="1816865" y="4009386"/>
            <a:ext cx="170302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DF0CCD9D-FCE6-D7D7-3409-AC4C1C955CE5}"/>
              </a:ext>
            </a:extLst>
          </p:cNvPr>
          <p:cNvSpPr/>
          <p:nvPr/>
        </p:nvSpPr>
        <p:spPr>
          <a:xfrm>
            <a:off x="2286000" y="3641073"/>
            <a:ext cx="330506" cy="121186"/>
          </a:xfrm>
          <a:prstGeom prst="rect">
            <a:avLst/>
          </a:prstGeom>
          <a:solidFill>
            <a:srgbClr val="FFC0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9D2F00AE-9A21-170E-E0FA-D5490EF29331}"/>
              </a:ext>
            </a:extLst>
          </p:cNvPr>
          <p:cNvSpPr/>
          <p:nvPr/>
        </p:nvSpPr>
        <p:spPr>
          <a:xfrm>
            <a:off x="2372183" y="3640515"/>
            <a:ext cx="330506" cy="121186"/>
          </a:xfrm>
          <a:prstGeom prst="rect">
            <a:avLst/>
          </a:prstGeom>
          <a:solidFill>
            <a:srgbClr val="FFC0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64331D04-87A2-D5E3-5D84-AA369D6511C7}"/>
              </a:ext>
            </a:extLst>
          </p:cNvPr>
          <p:cNvSpPr/>
          <p:nvPr/>
        </p:nvSpPr>
        <p:spPr>
          <a:xfrm>
            <a:off x="2797937" y="3640515"/>
            <a:ext cx="330506" cy="121186"/>
          </a:xfrm>
          <a:prstGeom prst="rect">
            <a:avLst/>
          </a:prstGeom>
          <a:solidFill>
            <a:srgbClr val="FFC0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0F5DEEF-9DD8-B901-268C-20390ECAB44D}"/>
              </a:ext>
            </a:extLst>
          </p:cNvPr>
          <p:cNvSpPr/>
          <p:nvPr/>
        </p:nvSpPr>
        <p:spPr>
          <a:xfrm>
            <a:off x="3592184" y="3640515"/>
            <a:ext cx="330506" cy="121186"/>
          </a:xfrm>
          <a:prstGeom prst="rect">
            <a:avLst/>
          </a:prstGeom>
          <a:solidFill>
            <a:srgbClr val="FFC0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BDA7016-12DD-0FD6-CC0A-42812CBBC483}"/>
              </a:ext>
            </a:extLst>
          </p:cNvPr>
          <p:cNvSpPr/>
          <p:nvPr/>
        </p:nvSpPr>
        <p:spPr>
          <a:xfrm>
            <a:off x="4012430" y="3640515"/>
            <a:ext cx="165253" cy="121186"/>
          </a:xfrm>
          <a:prstGeom prst="rect">
            <a:avLst/>
          </a:prstGeom>
          <a:solidFill>
            <a:srgbClr val="FFC0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1FE8D900-CD0F-F243-5952-CA020596894B}"/>
              </a:ext>
            </a:extLst>
          </p:cNvPr>
          <p:cNvSpPr/>
          <p:nvPr/>
        </p:nvSpPr>
        <p:spPr>
          <a:xfrm>
            <a:off x="4227029" y="3640515"/>
            <a:ext cx="341757" cy="121186"/>
          </a:xfrm>
          <a:prstGeom prst="rect">
            <a:avLst/>
          </a:prstGeom>
          <a:solidFill>
            <a:srgbClr val="FFC0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BA489CE5-9D12-EA59-42A5-82C7EA636FB2}"/>
              </a:ext>
            </a:extLst>
          </p:cNvPr>
          <p:cNvSpPr/>
          <p:nvPr/>
        </p:nvSpPr>
        <p:spPr>
          <a:xfrm>
            <a:off x="4966319" y="3640515"/>
            <a:ext cx="451237" cy="121186"/>
          </a:xfrm>
          <a:prstGeom prst="rect">
            <a:avLst/>
          </a:prstGeom>
          <a:solidFill>
            <a:srgbClr val="FFC0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204B7040-94C8-ED57-5460-6755D81DA5A0}"/>
              </a:ext>
            </a:extLst>
          </p:cNvPr>
          <p:cNvSpPr/>
          <p:nvPr/>
        </p:nvSpPr>
        <p:spPr>
          <a:xfrm>
            <a:off x="5589470" y="3640515"/>
            <a:ext cx="225619" cy="121186"/>
          </a:xfrm>
          <a:prstGeom prst="rect">
            <a:avLst/>
          </a:prstGeom>
          <a:solidFill>
            <a:srgbClr val="FFC0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54534258-3E9F-C677-43BB-BCD09E1A7E9B}"/>
              </a:ext>
            </a:extLst>
          </p:cNvPr>
          <p:cNvSpPr/>
          <p:nvPr/>
        </p:nvSpPr>
        <p:spPr>
          <a:xfrm>
            <a:off x="6116435" y="3640515"/>
            <a:ext cx="451237" cy="121186"/>
          </a:xfrm>
          <a:prstGeom prst="rect">
            <a:avLst/>
          </a:prstGeom>
          <a:solidFill>
            <a:srgbClr val="FFC0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710F3E9C-8C73-5339-93B7-84EF81B190C1}"/>
              </a:ext>
            </a:extLst>
          </p:cNvPr>
          <p:cNvSpPr/>
          <p:nvPr/>
        </p:nvSpPr>
        <p:spPr>
          <a:xfrm>
            <a:off x="6643399" y="3639742"/>
            <a:ext cx="225619" cy="121186"/>
          </a:xfrm>
          <a:prstGeom prst="rect">
            <a:avLst/>
          </a:prstGeom>
          <a:solidFill>
            <a:srgbClr val="FFC0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0" name="Straight Arrow Connector 19">
            <a:extLst>
              <a:ext uri="{FF2B5EF4-FFF2-40B4-BE49-F238E27FC236}">
                <a16:creationId xmlns:a16="http://schemas.microsoft.com/office/drawing/2014/main" id="{0A6232C7-7D47-D7B2-5DD4-5943F18E8CA4}"/>
              </a:ext>
            </a:extLst>
          </p:cNvPr>
          <p:cNvCxnSpPr>
            <a:cxnSpLocks/>
          </p:cNvCxnSpPr>
          <p:nvPr/>
        </p:nvCxnSpPr>
        <p:spPr>
          <a:xfrm>
            <a:off x="2503583" y="3249975"/>
            <a:ext cx="0" cy="30847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428FF1F9-6953-408A-11F5-AE6D1AD1745A}"/>
              </a:ext>
            </a:extLst>
          </p:cNvPr>
          <p:cNvCxnSpPr>
            <a:cxnSpLocks/>
          </p:cNvCxnSpPr>
          <p:nvPr/>
        </p:nvCxnSpPr>
        <p:spPr>
          <a:xfrm>
            <a:off x="2980981" y="3249975"/>
            <a:ext cx="0" cy="30847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559BE356-8B88-56E8-F3EF-F4470E5DA0BB}"/>
              </a:ext>
            </a:extLst>
          </p:cNvPr>
          <p:cNvCxnSpPr>
            <a:cxnSpLocks/>
          </p:cNvCxnSpPr>
          <p:nvPr/>
        </p:nvCxnSpPr>
        <p:spPr>
          <a:xfrm>
            <a:off x="3739308" y="3249975"/>
            <a:ext cx="0" cy="30847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583D8D3C-C322-2DAC-52E0-25A0863CAE9E}"/>
              </a:ext>
            </a:extLst>
          </p:cNvPr>
          <p:cNvCxnSpPr>
            <a:cxnSpLocks/>
          </p:cNvCxnSpPr>
          <p:nvPr/>
        </p:nvCxnSpPr>
        <p:spPr>
          <a:xfrm>
            <a:off x="4106537" y="3249975"/>
            <a:ext cx="0" cy="30847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35EC3759-917A-498B-8485-69F574A6E5A2}"/>
              </a:ext>
            </a:extLst>
          </p:cNvPr>
          <p:cNvCxnSpPr>
            <a:cxnSpLocks/>
          </p:cNvCxnSpPr>
          <p:nvPr/>
        </p:nvCxnSpPr>
        <p:spPr>
          <a:xfrm>
            <a:off x="4407665" y="3249975"/>
            <a:ext cx="0" cy="30847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409BC4BE-7E84-A1A2-31EC-268F5E22C6C7}"/>
              </a:ext>
            </a:extLst>
          </p:cNvPr>
          <p:cNvCxnSpPr>
            <a:cxnSpLocks/>
          </p:cNvCxnSpPr>
          <p:nvPr/>
        </p:nvCxnSpPr>
        <p:spPr>
          <a:xfrm>
            <a:off x="5210060" y="3249975"/>
            <a:ext cx="0" cy="30847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DE639847-1B80-A775-651B-FA585A27AD1B}"/>
              </a:ext>
            </a:extLst>
          </p:cNvPr>
          <p:cNvCxnSpPr>
            <a:cxnSpLocks/>
          </p:cNvCxnSpPr>
          <p:nvPr/>
        </p:nvCxnSpPr>
        <p:spPr>
          <a:xfrm>
            <a:off x="5716836" y="3249975"/>
            <a:ext cx="0" cy="30847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E067FF75-3A2A-8F18-9648-F2ABE3B292D9}"/>
              </a:ext>
            </a:extLst>
          </p:cNvPr>
          <p:cNvCxnSpPr>
            <a:cxnSpLocks/>
          </p:cNvCxnSpPr>
          <p:nvPr/>
        </p:nvCxnSpPr>
        <p:spPr>
          <a:xfrm>
            <a:off x="6328272" y="3249975"/>
            <a:ext cx="0" cy="30847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E210082A-4291-F3D5-7223-B0924213624F}"/>
              </a:ext>
            </a:extLst>
          </p:cNvPr>
          <p:cNvCxnSpPr>
            <a:cxnSpLocks/>
          </p:cNvCxnSpPr>
          <p:nvPr/>
        </p:nvCxnSpPr>
        <p:spPr>
          <a:xfrm>
            <a:off x="6779964" y="3249975"/>
            <a:ext cx="0" cy="30847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0" name="Text Placeholder 2">
            <a:extLst>
              <a:ext uri="{FF2B5EF4-FFF2-40B4-BE49-F238E27FC236}">
                <a16:creationId xmlns:a16="http://schemas.microsoft.com/office/drawing/2014/main" id="{DAE92617-64B0-DE1C-723C-CE7DAD35FB4A}"/>
              </a:ext>
            </a:extLst>
          </p:cNvPr>
          <p:cNvSpPr txBox="1">
            <a:spLocks/>
          </p:cNvSpPr>
          <p:nvPr/>
        </p:nvSpPr>
        <p:spPr>
          <a:xfrm>
            <a:off x="2058264" y="2762570"/>
            <a:ext cx="5021043" cy="40457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79400" algn="l" rtl="0">
              <a:lnSpc>
                <a:spcPct val="115000"/>
              </a:lnSpc>
              <a:spcBef>
                <a:spcPts val="0"/>
              </a:spcBef>
              <a:spcAft>
                <a:spcPts val="0"/>
              </a:spcAft>
              <a:buClr>
                <a:schemeClr val="dk1"/>
              </a:buClr>
              <a:buSzPts val="800"/>
              <a:buFont typeface="Hanken Grotesk"/>
              <a:buChar char="●"/>
              <a:defRPr sz="1400" b="0" i="0" u="none" strike="noStrike" cap="none">
                <a:solidFill>
                  <a:schemeClr val="dk1"/>
                </a:solidFill>
                <a:latin typeface="Hanken Grotesk"/>
                <a:ea typeface="Hanken Grotesk"/>
                <a:cs typeface="Hanken Grotesk"/>
                <a:sym typeface="Hanken Grotesk"/>
              </a:defRPr>
            </a:lvl1pPr>
            <a:lvl2pPr marL="914400" marR="0" lvl="1"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2pPr>
            <a:lvl3pPr marL="1371600" marR="0" lvl="2"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3pPr>
            <a:lvl4pPr marL="1828800" marR="0" lvl="3"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4pPr>
            <a:lvl5pPr marL="2286000" marR="0" lvl="4"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5pPr>
            <a:lvl6pPr marL="2743200" marR="0" lvl="5"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6pPr>
            <a:lvl7pPr marL="3200400" marR="0" lvl="6"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7pPr>
            <a:lvl8pPr marL="3657600" marR="0" lvl="7"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8pPr>
            <a:lvl9pPr marL="4114800" marR="0" lvl="8"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9pPr>
          </a:lstStyle>
          <a:p>
            <a:pPr marL="177800" indent="0" algn="ctr">
              <a:buFont typeface="Hanken Grotesk"/>
              <a:buNone/>
            </a:pPr>
            <a:r>
              <a:rPr lang="en-US" dirty="0"/>
              <a:t>Transcription Factor Binding Sites</a:t>
            </a:r>
          </a:p>
        </p:txBody>
      </p:sp>
    </p:spTree>
    <p:extLst>
      <p:ext uri="{BB962C8B-B14F-4D97-AF65-F5344CB8AC3E}">
        <p14:creationId xmlns:p14="http://schemas.microsoft.com/office/powerpoint/2010/main" val="14220006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C36FCC-5DCA-BF4E-2023-CCCE6F524CA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304645-5A63-6908-0935-94A947D18A1A}"/>
              </a:ext>
            </a:extLst>
          </p:cNvPr>
          <p:cNvSpPr>
            <a:spLocks noGrp="1"/>
          </p:cNvSpPr>
          <p:nvPr>
            <p:ph type="title"/>
          </p:nvPr>
        </p:nvSpPr>
        <p:spPr/>
        <p:txBody>
          <a:bodyPr/>
          <a:lstStyle/>
          <a:p>
            <a:r>
              <a:rPr lang="en-US" dirty="0"/>
              <a:t>Much remains to be discovered about the genomic regulatory code</a:t>
            </a:r>
          </a:p>
        </p:txBody>
      </p:sp>
      <p:sp>
        <p:nvSpPr>
          <p:cNvPr id="3" name="Text Placeholder 2">
            <a:extLst>
              <a:ext uri="{FF2B5EF4-FFF2-40B4-BE49-F238E27FC236}">
                <a16:creationId xmlns:a16="http://schemas.microsoft.com/office/drawing/2014/main" id="{DA7CFA78-7043-3E86-6833-69A5B24D2A8C}"/>
              </a:ext>
            </a:extLst>
          </p:cNvPr>
          <p:cNvSpPr>
            <a:spLocks noGrp="1"/>
          </p:cNvSpPr>
          <p:nvPr>
            <p:ph type="body" idx="1"/>
          </p:nvPr>
        </p:nvSpPr>
        <p:spPr>
          <a:xfrm>
            <a:off x="720000" y="1558344"/>
            <a:ext cx="7704000" cy="2890506"/>
          </a:xfrm>
        </p:spPr>
        <p:txBody>
          <a:bodyPr/>
          <a:lstStyle/>
          <a:p>
            <a:pPr marL="177800" indent="0" algn="ctr">
              <a:buNone/>
            </a:pPr>
            <a:r>
              <a:rPr lang="en-US" dirty="0"/>
              <a:t>How do genomic sequences encode precise responses to different contexts?</a:t>
            </a:r>
          </a:p>
        </p:txBody>
      </p:sp>
      <p:sp>
        <p:nvSpPr>
          <p:cNvPr id="4" name="Rectangle 3">
            <a:extLst>
              <a:ext uri="{FF2B5EF4-FFF2-40B4-BE49-F238E27FC236}">
                <a16:creationId xmlns:a16="http://schemas.microsoft.com/office/drawing/2014/main" id="{E17C51F3-4C2E-233B-99EE-A2F55843B677}"/>
              </a:ext>
            </a:extLst>
          </p:cNvPr>
          <p:cNvSpPr/>
          <p:nvPr/>
        </p:nvSpPr>
        <p:spPr>
          <a:xfrm>
            <a:off x="892367" y="3641073"/>
            <a:ext cx="7359267" cy="121186"/>
          </a:xfrm>
          <a:prstGeom prst="rect">
            <a:avLst/>
          </a:prstGeom>
          <a:solidFill>
            <a:srgbClr val="71DAFF"/>
          </a:solidFill>
          <a:ln>
            <a:solidFill>
              <a:srgbClr val="71DA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393CA3DC-E541-A9FC-2DDB-552E60D5EF10}"/>
              </a:ext>
            </a:extLst>
          </p:cNvPr>
          <p:cNvSpPr/>
          <p:nvPr/>
        </p:nvSpPr>
        <p:spPr>
          <a:xfrm>
            <a:off x="1816865" y="3641073"/>
            <a:ext cx="5510270" cy="121186"/>
          </a:xfrm>
          <a:prstGeom prst="rect">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2">
            <a:extLst>
              <a:ext uri="{FF2B5EF4-FFF2-40B4-BE49-F238E27FC236}">
                <a16:creationId xmlns:a16="http://schemas.microsoft.com/office/drawing/2014/main" id="{30F61CC3-CAF9-A66A-48DD-A108A447B5E9}"/>
              </a:ext>
            </a:extLst>
          </p:cNvPr>
          <p:cNvSpPr txBox="1">
            <a:spLocks/>
          </p:cNvSpPr>
          <p:nvPr/>
        </p:nvSpPr>
        <p:spPr>
          <a:xfrm>
            <a:off x="1944547" y="3803867"/>
            <a:ext cx="5021043" cy="40457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79400" algn="l" rtl="0">
              <a:lnSpc>
                <a:spcPct val="115000"/>
              </a:lnSpc>
              <a:spcBef>
                <a:spcPts val="0"/>
              </a:spcBef>
              <a:spcAft>
                <a:spcPts val="0"/>
              </a:spcAft>
              <a:buClr>
                <a:schemeClr val="dk1"/>
              </a:buClr>
              <a:buSzPts val="800"/>
              <a:buFont typeface="Hanken Grotesk"/>
              <a:buChar char="●"/>
              <a:defRPr sz="1400" b="0" i="0" u="none" strike="noStrike" cap="none">
                <a:solidFill>
                  <a:schemeClr val="dk1"/>
                </a:solidFill>
                <a:latin typeface="Hanken Grotesk"/>
                <a:ea typeface="Hanken Grotesk"/>
                <a:cs typeface="Hanken Grotesk"/>
                <a:sym typeface="Hanken Grotesk"/>
              </a:defRPr>
            </a:lvl1pPr>
            <a:lvl2pPr marL="914400" marR="0" lvl="1"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2pPr>
            <a:lvl3pPr marL="1371600" marR="0" lvl="2"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3pPr>
            <a:lvl4pPr marL="1828800" marR="0" lvl="3"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4pPr>
            <a:lvl5pPr marL="2286000" marR="0" lvl="4"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5pPr>
            <a:lvl6pPr marL="2743200" marR="0" lvl="5"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6pPr>
            <a:lvl7pPr marL="3200400" marR="0" lvl="6"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7pPr>
            <a:lvl8pPr marL="3657600" marR="0" lvl="7"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8pPr>
            <a:lvl9pPr marL="4114800" marR="0" lvl="8"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9pPr>
          </a:lstStyle>
          <a:p>
            <a:pPr marL="177800" indent="0" algn="ctr">
              <a:buFont typeface="Hanken Grotesk"/>
              <a:buNone/>
            </a:pPr>
            <a:r>
              <a:rPr lang="en-US" dirty="0"/>
              <a:t>Enhancer (50-1500 bp)</a:t>
            </a:r>
          </a:p>
        </p:txBody>
      </p:sp>
      <p:cxnSp>
        <p:nvCxnSpPr>
          <p:cNvPr id="8" name="Straight Arrow Connector 7">
            <a:extLst>
              <a:ext uri="{FF2B5EF4-FFF2-40B4-BE49-F238E27FC236}">
                <a16:creationId xmlns:a16="http://schemas.microsoft.com/office/drawing/2014/main" id="{7D3B1EAD-7BEF-E295-FB24-3C65C2DDB35A}"/>
              </a:ext>
            </a:extLst>
          </p:cNvPr>
          <p:cNvCxnSpPr/>
          <p:nvPr/>
        </p:nvCxnSpPr>
        <p:spPr>
          <a:xfrm>
            <a:off x="5624111" y="4006155"/>
            <a:ext cx="170302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54293EF1-0AAA-5807-9AFA-2E3BD065F6FB}"/>
              </a:ext>
            </a:extLst>
          </p:cNvPr>
          <p:cNvCxnSpPr>
            <a:cxnSpLocks/>
          </p:cNvCxnSpPr>
          <p:nvPr/>
        </p:nvCxnSpPr>
        <p:spPr>
          <a:xfrm flipH="1">
            <a:off x="1816865" y="4009386"/>
            <a:ext cx="170302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05E5CCE8-4E24-7623-CC1E-D777E9BD3A41}"/>
              </a:ext>
            </a:extLst>
          </p:cNvPr>
          <p:cNvSpPr/>
          <p:nvPr/>
        </p:nvSpPr>
        <p:spPr>
          <a:xfrm>
            <a:off x="2286000" y="3641073"/>
            <a:ext cx="330506" cy="121186"/>
          </a:xfrm>
          <a:prstGeom prst="rect">
            <a:avLst/>
          </a:prstGeom>
          <a:solidFill>
            <a:srgbClr val="FFC0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DBF5479C-B17E-60A9-589F-19E14181B1F9}"/>
              </a:ext>
            </a:extLst>
          </p:cNvPr>
          <p:cNvSpPr/>
          <p:nvPr/>
        </p:nvSpPr>
        <p:spPr>
          <a:xfrm>
            <a:off x="2372183" y="3640515"/>
            <a:ext cx="330506" cy="121186"/>
          </a:xfrm>
          <a:prstGeom prst="rect">
            <a:avLst/>
          </a:prstGeom>
          <a:solidFill>
            <a:srgbClr val="FFC0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992F2ED7-BF3E-18CA-781D-CC599936F64D}"/>
              </a:ext>
            </a:extLst>
          </p:cNvPr>
          <p:cNvSpPr/>
          <p:nvPr/>
        </p:nvSpPr>
        <p:spPr>
          <a:xfrm>
            <a:off x="2797937" y="3640515"/>
            <a:ext cx="330506" cy="121186"/>
          </a:xfrm>
          <a:prstGeom prst="rect">
            <a:avLst/>
          </a:prstGeom>
          <a:solidFill>
            <a:srgbClr val="FFC0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B8ADA4A-E5B1-205E-CA94-3F1C2E5A7AF9}"/>
              </a:ext>
            </a:extLst>
          </p:cNvPr>
          <p:cNvSpPr/>
          <p:nvPr/>
        </p:nvSpPr>
        <p:spPr>
          <a:xfrm>
            <a:off x="3592184" y="3640515"/>
            <a:ext cx="330506" cy="121186"/>
          </a:xfrm>
          <a:prstGeom prst="rect">
            <a:avLst/>
          </a:prstGeom>
          <a:solidFill>
            <a:srgbClr val="FFC0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C7CF1BD2-10DF-FE4E-9EB7-0F5ED78AE69F}"/>
              </a:ext>
            </a:extLst>
          </p:cNvPr>
          <p:cNvSpPr/>
          <p:nvPr/>
        </p:nvSpPr>
        <p:spPr>
          <a:xfrm>
            <a:off x="4012430" y="3640515"/>
            <a:ext cx="165253" cy="121186"/>
          </a:xfrm>
          <a:prstGeom prst="rect">
            <a:avLst/>
          </a:prstGeom>
          <a:solidFill>
            <a:srgbClr val="FFC0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2FE956DA-4BD9-4A94-BE7B-92E46261C8EF}"/>
              </a:ext>
            </a:extLst>
          </p:cNvPr>
          <p:cNvSpPr/>
          <p:nvPr/>
        </p:nvSpPr>
        <p:spPr>
          <a:xfrm>
            <a:off x="4227029" y="3640515"/>
            <a:ext cx="341757" cy="121186"/>
          </a:xfrm>
          <a:prstGeom prst="rect">
            <a:avLst/>
          </a:prstGeom>
          <a:solidFill>
            <a:srgbClr val="FFC0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AA066686-4B1B-AD8C-C5A1-8D894469C323}"/>
              </a:ext>
            </a:extLst>
          </p:cNvPr>
          <p:cNvSpPr/>
          <p:nvPr/>
        </p:nvSpPr>
        <p:spPr>
          <a:xfrm>
            <a:off x="4966319" y="3640515"/>
            <a:ext cx="451237" cy="121186"/>
          </a:xfrm>
          <a:prstGeom prst="rect">
            <a:avLst/>
          </a:prstGeom>
          <a:solidFill>
            <a:srgbClr val="FFC0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2F5950EA-ECD1-C487-2DBC-D0CFC8C07A2D}"/>
              </a:ext>
            </a:extLst>
          </p:cNvPr>
          <p:cNvSpPr/>
          <p:nvPr/>
        </p:nvSpPr>
        <p:spPr>
          <a:xfrm>
            <a:off x="5589470" y="3640515"/>
            <a:ext cx="225619" cy="121186"/>
          </a:xfrm>
          <a:prstGeom prst="rect">
            <a:avLst/>
          </a:prstGeom>
          <a:solidFill>
            <a:srgbClr val="FFC0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332F61C7-F7FA-A3F1-886D-434D24FA8A08}"/>
              </a:ext>
            </a:extLst>
          </p:cNvPr>
          <p:cNvSpPr/>
          <p:nvPr/>
        </p:nvSpPr>
        <p:spPr>
          <a:xfrm>
            <a:off x="6116435" y="3640515"/>
            <a:ext cx="451237" cy="121186"/>
          </a:xfrm>
          <a:prstGeom prst="rect">
            <a:avLst/>
          </a:prstGeom>
          <a:solidFill>
            <a:srgbClr val="FFC0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3040649E-86E6-2D91-99D4-8AC8849EEAEB}"/>
              </a:ext>
            </a:extLst>
          </p:cNvPr>
          <p:cNvSpPr/>
          <p:nvPr/>
        </p:nvSpPr>
        <p:spPr>
          <a:xfrm>
            <a:off x="6643399" y="3639742"/>
            <a:ext cx="225619" cy="121186"/>
          </a:xfrm>
          <a:prstGeom prst="rect">
            <a:avLst/>
          </a:prstGeom>
          <a:solidFill>
            <a:srgbClr val="FFC0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0" name="Straight Arrow Connector 19">
            <a:extLst>
              <a:ext uri="{FF2B5EF4-FFF2-40B4-BE49-F238E27FC236}">
                <a16:creationId xmlns:a16="http://schemas.microsoft.com/office/drawing/2014/main" id="{D13F199E-25C9-53F4-5E9E-1D4DC1049C37}"/>
              </a:ext>
            </a:extLst>
          </p:cNvPr>
          <p:cNvCxnSpPr>
            <a:cxnSpLocks/>
          </p:cNvCxnSpPr>
          <p:nvPr/>
        </p:nvCxnSpPr>
        <p:spPr>
          <a:xfrm>
            <a:off x="2503583" y="3249975"/>
            <a:ext cx="0" cy="30847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5410B508-EE41-8393-AD93-F6BABB83D059}"/>
              </a:ext>
            </a:extLst>
          </p:cNvPr>
          <p:cNvCxnSpPr>
            <a:cxnSpLocks/>
          </p:cNvCxnSpPr>
          <p:nvPr/>
        </p:nvCxnSpPr>
        <p:spPr>
          <a:xfrm>
            <a:off x="2980981" y="3249975"/>
            <a:ext cx="0" cy="30847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9EA6459C-845E-C58C-5A29-597714AB4EFC}"/>
              </a:ext>
            </a:extLst>
          </p:cNvPr>
          <p:cNvCxnSpPr>
            <a:cxnSpLocks/>
          </p:cNvCxnSpPr>
          <p:nvPr/>
        </p:nvCxnSpPr>
        <p:spPr>
          <a:xfrm>
            <a:off x="6328272" y="3249975"/>
            <a:ext cx="0" cy="30847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Oval 10">
            <a:extLst>
              <a:ext uri="{FF2B5EF4-FFF2-40B4-BE49-F238E27FC236}">
                <a16:creationId xmlns:a16="http://schemas.microsoft.com/office/drawing/2014/main" id="{6F0D4908-7E62-1B5E-8B7A-6B4E4D822941}"/>
              </a:ext>
            </a:extLst>
          </p:cNvPr>
          <p:cNvSpPr/>
          <p:nvPr/>
        </p:nvSpPr>
        <p:spPr>
          <a:xfrm>
            <a:off x="2338330" y="2440236"/>
            <a:ext cx="330506" cy="727670"/>
          </a:xfrm>
          <a:prstGeom prst="ellipse">
            <a:avLst/>
          </a:prstGeom>
          <a:gradFill flip="none" rotWithShape="1">
            <a:gsLst>
              <a:gs pos="0">
                <a:srgbClr val="0070C0">
                  <a:shade val="30000"/>
                  <a:satMod val="115000"/>
                </a:srgbClr>
              </a:gs>
              <a:gs pos="50000">
                <a:srgbClr val="0070C0">
                  <a:shade val="67500"/>
                  <a:satMod val="115000"/>
                </a:srgbClr>
              </a:gs>
              <a:gs pos="100000">
                <a:srgbClr val="0070C0">
                  <a:shade val="100000"/>
                  <a:satMod val="115000"/>
                </a:srgbClr>
              </a:gs>
            </a:gsLst>
            <a:path path="circle">
              <a:fillToRect l="50000" t="50000" r="50000" b="50000"/>
            </a:path>
            <a:tileRect/>
          </a:gra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1E53E0DA-667A-CC25-22C0-BA064C2CDDD7}"/>
              </a:ext>
            </a:extLst>
          </p:cNvPr>
          <p:cNvSpPr/>
          <p:nvPr/>
        </p:nvSpPr>
        <p:spPr>
          <a:xfrm>
            <a:off x="2819971" y="2859434"/>
            <a:ext cx="330506" cy="308471"/>
          </a:xfrm>
          <a:prstGeom prst="ellipse">
            <a:avLst/>
          </a:prstGeom>
          <a:gradFill flip="none" rotWithShape="1">
            <a:gsLst>
              <a:gs pos="0">
                <a:srgbClr val="0070C0">
                  <a:shade val="30000"/>
                  <a:satMod val="115000"/>
                </a:srgbClr>
              </a:gs>
              <a:gs pos="50000">
                <a:srgbClr val="0070C0">
                  <a:shade val="67500"/>
                  <a:satMod val="115000"/>
                </a:srgbClr>
              </a:gs>
              <a:gs pos="100000">
                <a:srgbClr val="0070C0">
                  <a:shade val="100000"/>
                  <a:satMod val="115000"/>
                </a:srgbClr>
              </a:gs>
            </a:gsLst>
            <a:path path="circle">
              <a:fillToRect l="50000" t="50000" r="50000" b="50000"/>
            </a:path>
            <a:tileRect/>
          </a:gra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a:extLst>
              <a:ext uri="{FF2B5EF4-FFF2-40B4-BE49-F238E27FC236}">
                <a16:creationId xmlns:a16="http://schemas.microsoft.com/office/drawing/2014/main" id="{C9BB9406-B22F-33AC-A135-666B714637C9}"/>
              </a:ext>
            </a:extLst>
          </p:cNvPr>
          <p:cNvSpPr/>
          <p:nvPr/>
        </p:nvSpPr>
        <p:spPr>
          <a:xfrm>
            <a:off x="6034949" y="2670893"/>
            <a:ext cx="586646" cy="429003"/>
          </a:xfrm>
          <a:prstGeom prst="ellipse">
            <a:avLst/>
          </a:prstGeom>
          <a:gradFill flip="none" rotWithShape="1">
            <a:gsLst>
              <a:gs pos="0">
                <a:srgbClr val="0070C0">
                  <a:shade val="30000"/>
                  <a:satMod val="115000"/>
                </a:srgbClr>
              </a:gs>
              <a:gs pos="50000">
                <a:srgbClr val="0070C0">
                  <a:shade val="67500"/>
                  <a:satMod val="115000"/>
                </a:srgbClr>
              </a:gs>
              <a:gs pos="100000">
                <a:srgbClr val="0070C0">
                  <a:shade val="100000"/>
                  <a:satMod val="115000"/>
                </a:srgbClr>
              </a:gs>
            </a:gsLst>
            <a:path path="circle">
              <a:fillToRect l="50000" t="50000" r="50000" b="50000"/>
            </a:path>
            <a:tileRect/>
          </a:gra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Text Placeholder 2">
            <a:extLst>
              <a:ext uri="{FF2B5EF4-FFF2-40B4-BE49-F238E27FC236}">
                <a16:creationId xmlns:a16="http://schemas.microsoft.com/office/drawing/2014/main" id="{05F9285E-B55C-597A-2EE0-9D8D3AB3AE5D}"/>
              </a:ext>
            </a:extLst>
          </p:cNvPr>
          <p:cNvSpPr txBox="1">
            <a:spLocks/>
          </p:cNvSpPr>
          <p:nvPr/>
        </p:nvSpPr>
        <p:spPr>
          <a:xfrm>
            <a:off x="1992163" y="2063365"/>
            <a:ext cx="5021043" cy="40457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79400" algn="l" rtl="0">
              <a:lnSpc>
                <a:spcPct val="115000"/>
              </a:lnSpc>
              <a:spcBef>
                <a:spcPts val="0"/>
              </a:spcBef>
              <a:spcAft>
                <a:spcPts val="0"/>
              </a:spcAft>
              <a:buClr>
                <a:schemeClr val="dk1"/>
              </a:buClr>
              <a:buSzPts val="800"/>
              <a:buFont typeface="Hanken Grotesk"/>
              <a:buChar char="●"/>
              <a:defRPr sz="1400" b="0" i="0" u="none" strike="noStrike" cap="none">
                <a:solidFill>
                  <a:schemeClr val="dk1"/>
                </a:solidFill>
                <a:latin typeface="Hanken Grotesk"/>
                <a:ea typeface="Hanken Grotesk"/>
                <a:cs typeface="Hanken Grotesk"/>
                <a:sym typeface="Hanken Grotesk"/>
              </a:defRPr>
            </a:lvl1pPr>
            <a:lvl2pPr marL="914400" marR="0" lvl="1"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2pPr>
            <a:lvl3pPr marL="1371600" marR="0" lvl="2"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3pPr>
            <a:lvl4pPr marL="1828800" marR="0" lvl="3"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4pPr>
            <a:lvl5pPr marL="2286000" marR="0" lvl="4"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5pPr>
            <a:lvl6pPr marL="2743200" marR="0" lvl="5"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6pPr>
            <a:lvl7pPr marL="3200400" marR="0" lvl="6"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7pPr>
            <a:lvl8pPr marL="3657600" marR="0" lvl="7"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8pPr>
            <a:lvl9pPr marL="4114800" marR="0" lvl="8"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9pPr>
          </a:lstStyle>
          <a:p>
            <a:pPr marL="177800" indent="0" algn="ctr">
              <a:buNone/>
            </a:pPr>
            <a:r>
              <a:rPr lang="en-US" dirty="0">
                <a:solidFill>
                  <a:srgbClr val="C00000"/>
                </a:solidFill>
              </a:rPr>
              <a:t>Transcription Factor Binding </a:t>
            </a:r>
            <a:br>
              <a:rPr lang="en-US" dirty="0">
                <a:solidFill>
                  <a:srgbClr val="C00000"/>
                </a:solidFill>
              </a:rPr>
            </a:br>
            <a:r>
              <a:rPr lang="en-US" dirty="0">
                <a:solidFill>
                  <a:srgbClr val="C00000"/>
                </a:solidFill>
              </a:rPr>
              <a:t>in </a:t>
            </a:r>
            <a:r>
              <a:rPr lang="en-US" b="1" dirty="0">
                <a:solidFill>
                  <a:srgbClr val="C00000"/>
                </a:solidFill>
              </a:rPr>
              <a:t>Cell State A</a:t>
            </a:r>
          </a:p>
        </p:txBody>
      </p:sp>
    </p:spTree>
    <p:extLst>
      <p:ext uri="{BB962C8B-B14F-4D97-AF65-F5344CB8AC3E}">
        <p14:creationId xmlns:p14="http://schemas.microsoft.com/office/powerpoint/2010/main" val="31329682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C1BC3A-16B1-BD51-6A47-3EF0FAD3385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A056DC1-95CF-3017-25FF-B08B89CDC207}"/>
              </a:ext>
            </a:extLst>
          </p:cNvPr>
          <p:cNvSpPr>
            <a:spLocks noGrp="1"/>
          </p:cNvSpPr>
          <p:nvPr>
            <p:ph type="title"/>
          </p:nvPr>
        </p:nvSpPr>
        <p:spPr/>
        <p:txBody>
          <a:bodyPr/>
          <a:lstStyle/>
          <a:p>
            <a:r>
              <a:rPr lang="en-US" dirty="0"/>
              <a:t>Much remains to be discovered about the genomic regulatory code</a:t>
            </a:r>
          </a:p>
        </p:txBody>
      </p:sp>
      <p:sp>
        <p:nvSpPr>
          <p:cNvPr id="3" name="Text Placeholder 2">
            <a:extLst>
              <a:ext uri="{FF2B5EF4-FFF2-40B4-BE49-F238E27FC236}">
                <a16:creationId xmlns:a16="http://schemas.microsoft.com/office/drawing/2014/main" id="{FC60E31B-2A65-6A54-81A9-4792C35829E2}"/>
              </a:ext>
            </a:extLst>
          </p:cNvPr>
          <p:cNvSpPr>
            <a:spLocks noGrp="1"/>
          </p:cNvSpPr>
          <p:nvPr>
            <p:ph type="body" idx="1"/>
          </p:nvPr>
        </p:nvSpPr>
        <p:spPr>
          <a:xfrm>
            <a:off x="720000" y="1558344"/>
            <a:ext cx="7704000" cy="2890506"/>
          </a:xfrm>
        </p:spPr>
        <p:txBody>
          <a:bodyPr/>
          <a:lstStyle/>
          <a:p>
            <a:pPr marL="177800" indent="0" algn="ctr">
              <a:buNone/>
            </a:pPr>
            <a:r>
              <a:rPr lang="en-US" dirty="0"/>
              <a:t>How do genomic sequences encode precise responses to different contexts?</a:t>
            </a:r>
          </a:p>
        </p:txBody>
      </p:sp>
      <p:sp>
        <p:nvSpPr>
          <p:cNvPr id="4" name="Rectangle 3">
            <a:extLst>
              <a:ext uri="{FF2B5EF4-FFF2-40B4-BE49-F238E27FC236}">
                <a16:creationId xmlns:a16="http://schemas.microsoft.com/office/drawing/2014/main" id="{CC2C8EA3-623A-F777-0126-299AE8E08459}"/>
              </a:ext>
            </a:extLst>
          </p:cNvPr>
          <p:cNvSpPr/>
          <p:nvPr/>
        </p:nvSpPr>
        <p:spPr>
          <a:xfrm>
            <a:off x="892367" y="3641073"/>
            <a:ext cx="7359267" cy="121186"/>
          </a:xfrm>
          <a:prstGeom prst="rect">
            <a:avLst/>
          </a:prstGeom>
          <a:solidFill>
            <a:srgbClr val="71DAFF"/>
          </a:solidFill>
          <a:ln>
            <a:solidFill>
              <a:srgbClr val="71DA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7E164197-4A00-433C-465B-F99A70F8FED4}"/>
              </a:ext>
            </a:extLst>
          </p:cNvPr>
          <p:cNvSpPr/>
          <p:nvPr/>
        </p:nvSpPr>
        <p:spPr>
          <a:xfrm>
            <a:off x="1816865" y="3641073"/>
            <a:ext cx="5510270" cy="121186"/>
          </a:xfrm>
          <a:prstGeom prst="rect">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2">
            <a:extLst>
              <a:ext uri="{FF2B5EF4-FFF2-40B4-BE49-F238E27FC236}">
                <a16:creationId xmlns:a16="http://schemas.microsoft.com/office/drawing/2014/main" id="{4007CF1D-E4ED-A48C-CEE0-A49FFF7E8D2B}"/>
              </a:ext>
            </a:extLst>
          </p:cNvPr>
          <p:cNvSpPr txBox="1">
            <a:spLocks/>
          </p:cNvSpPr>
          <p:nvPr/>
        </p:nvSpPr>
        <p:spPr>
          <a:xfrm>
            <a:off x="1944547" y="3803867"/>
            <a:ext cx="5021043" cy="40457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79400" algn="l" rtl="0">
              <a:lnSpc>
                <a:spcPct val="115000"/>
              </a:lnSpc>
              <a:spcBef>
                <a:spcPts val="0"/>
              </a:spcBef>
              <a:spcAft>
                <a:spcPts val="0"/>
              </a:spcAft>
              <a:buClr>
                <a:schemeClr val="dk1"/>
              </a:buClr>
              <a:buSzPts val="800"/>
              <a:buFont typeface="Hanken Grotesk"/>
              <a:buChar char="●"/>
              <a:defRPr sz="1400" b="0" i="0" u="none" strike="noStrike" cap="none">
                <a:solidFill>
                  <a:schemeClr val="dk1"/>
                </a:solidFill>
                <a:latin typeface="Hanken Grotesk"/>
                <a:ea typeface="Hanken Grotesk"/>
                <a:cs typeface="Hanken Grotesk"/>
                <a:sym typeface="Hanken Grotesk"/>
              </a:defRPr>
            </a:lvl1pPr>
            <a:lvl2pPr marL="914400" marR="0" lvl="1"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2pPr>
            <a:lvl3pPr marL="1371600" marR="0" lvl="2"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3pPr>
            <a:lvl4pPr marL="1828800" marR="0" lvl="3"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4pPr>
            <a:lvl5pPr marL="2286000" marR="0" lvl="4"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5pPr>
            <a:lvl6pPr marL="2743200" marR="0" lvl="5"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6pPr>
            <a:lvl7pPr marL="3200400" marR="0" lvl="6"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7pPr>
            <a:lvl8pPr marL="3657600" marR="0" lvl="7"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8pPr>
            <a:lvl9pPr marL="4114800" marR="0" lvl="8"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9pPr>
          </a:lstStyle>
          <a:p>
            <a:pPr marL="177800" indent="0" algn="ctr">
              <a:buFont typeface="Hanken Grotesk"/>
              <a:buNone/>
            </a:pPr>
            <a:r>
              <a:rPr lang="en-US" dirty="0"/>
              <a:t>Enhancer (50-1500 bp)</a:t>
            </a:r>
          </a:p>
        </p:txBody>
      </p:sp>
      <p:cxnSp>
        <p:nvCxnSpPr>
          <p:cNvPr id="8" name="Straight Arrow Connector 7">
            <a:extLst>
              <a:ext uri="{FF2B5EF4-FFF2-40B4-BE49-F238E27FC236}">
                <a16:creationId xmlns:a16="http://schemas.microsoft.com/office/drawing/2014/main" id="{36E00CBB-F16F-3DD7-9807-2A1930D07707}"/>
              </a:ext>
            </a:extLst>
          </p:cNvPr>
          <p:cNvCxnSpPr/>
          <p:nvPr/>
        </p:nvCxnSpPr>
        <p:spPr>
          <a:xfrm>
            <a:off x="5624111" y="4006155"/>
            <a:ext cx="170302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76DD592A-04B9-3D84-CEE7-37A24392A1EE}"/>
              </a:ext>
            </a:extLst>
          </p:cNvPr>
          <p:cNvCxnSpPr>
            <a:cxnSpLocks/>
          </p:cNvCxnSpPr>
          <p:nvPr/>
        </p:nvCxnSpPr>
        <p:spPr>
          <a:xfrm flipH="1">
            <a:off x="1816865" y="4009386"/>
            <a:ext cx="170302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53DE4D9A-603A-6D70-17CC-DD2939F17C50}"/>
              </a:ext>
            </a:extLst>
          </p:cNvPr>
          <p:cNvSpPr/>
          <p:nvPr/>
        </p:nvSpPr>
        <p:spPr>
          <a:xfrm>
            <a:off x="2286000" y="3641073"/>
            <a:ext cx="330506" cy="121186"/>
          </a:xfrm>
          <a:prstGeom prst="rect">
            <a:avLst/>
          </a:prstGeom>
          <a:solidFill>
            <a:srgbClr val="FFC0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4DA6FD6B-7956-92B1-6DB4-6BD821B7D54B}"/>
              </a:ext>
            </a:extLst>
          </p:cNvPr>
          <p:cNvSpPr/>
          <p:nvPr/>
        </p:nvSpPr>
        <p:spPr>
          <a:xfrm>
            <a:off x="2372183" y="3640515"/>
            <a:ext cx="330506" cy="121186"/>
          </a:xfrm>
          <a:prstGeom prst="rect">
            <a:avLst/>
          </a:prstGeom>
          <a:solidFill>
            <a:srgbClr val="FFC0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EEA5323-3A02-9A18-9A66-81F4024D2A45}"/>
              </a:ext>
            </a:extLst>
          </p:cNvPr>
          <p:cNvSpPr/>
          <p:nvPr/>
        </p:nvSpPr>
        <p:spPr>
          <a:xfrm>
            <a:off x="2797937" y="3640515"/>
            <a:ext cx="330506" cy="121186"/>
          </a:xfrm>
          <a:prstGeom prst="rect">
            <a:avLst/>
          </a:prstGeom>
          <a:solidFill>
            <a:srgbClr val="FFC0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BC9F7EF2-B616-8A4A-F4D0-0BA26D5E2137}"/>
              </a:ext>
            </a:extLst>
          </p:cNvPr>
          <p:cNvSpPr/>
          <p:nvPr/>
        </p:nvSpPr>
        <p:spPr>
          <a:xfrm>
            <a:off x="3592184" y="3640515"/>
            <a:ext cx="330506" cy="121186"/>
          </a:xfrm>
          <a:prstGeom prst="rect">
            <a:avLst/>
          </a:prstGeom>
          <a:solidFill>
            <a:srgbClr val="FFC0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B98121B-14F1-2A96-F027-367FF835A137}"/>
              </a:ext>
            </a:extLst>
          </p:cNvPr>
          <p:cNvSpPr/>
          <p:nvPr/>
        </p:nvSpPr>
        <p:spPr>
          <a:xfrm>
            <a:off x="4012430" y="3640515"/>
            <a:ext cx="165253" cy="121186"/>
          </a:xfrm>
          <a:prstGeom prst="rect">
            <a:avLst/>
          </a:prstGeom>
          <a:solidFill>
            <a:srgbClr val="FFC0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4A8677FF-E40F-885E-DF0D-6BE2C2D46DE5}"/>
              </a:ext>
            </a:extLst>
          </p:cNvPr>
          <p:cNvSpPr/>
          <p:nvPr/>
        </p:nvSpPr>
        <p:spPr>
          <a:xfrm>
            <a:off x="4227029" y="3640515"/>
            <a:ext cx="341757" cy="121186"/>
          </a:xfrm>
          <a:prstGeom prst="rect">
            <a:avLst/>
          </a:prstGeom>
          <a:solidFill>
            <a:srgbClr val="FFC0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19C776A1-620F-B526-14F9-F5326F643256}"/>
              </a:ext>
            </a:extLst>
          </p:cNvPr>
          <p:cNvSpPr/>
          <p:nvPr/>
        </p:nvSpPr>
        <p:spPr>
          <a:xfrm>
            <a:off x="4966319" y="3640515"/>
            <a:ext cx="451237" cy="121186"/>
          </a:xfrm>
          <a:prstGeom prst="rect">
            <a:avLst/>
          </a:prstGeom>
          <a:solidFill>
            <a:srgbClr val="FFC0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D6126458-9BBE-438A-3C29-DD1132491652}"/>
              </a:ext>
            </a:extLst>
          </p:cNvPr>
          <p:cNvSpPr/>
          <p:nvPr/>
        </p:nvSpPr>
        <p:spPr>
          <a:xfrm>
            <a:off x="5589470" y="3640515"/>
            <a:ext cx="225619" cy="121186"/>
          </a:xfrm>
          <a:prstGeom prst="rect">
            <a:avLst/>
          </a:prstGeom>
          <a:solidFill>
            <a:srgbClr val="FFC0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029DDE40-D770-E06C-C977-029494FB5E81}"/>
              </a:ext>
            </a:extLst>
          </p:cNvPr>
          <p:cNvSpPr/>
          <p:nvPr/>
        </p:nvSpPr>
        <p:spPr>
          <a:xfrm>
            <a:off x="6116435" y="3640515"/>
            <a:ext cx="451237" cy="121186"/>
          </a:xfrm>
          <a:prstGeom prst="rect">
            <a:avLst/>
          </a:prstGeom>
          <a:solidFill>
            <a:srgbClr val="FFC0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10A7A0C5-F604-E28F-13F4-A7F2778657D7}"/>
              </a:ext>
            </a:extLst>
          </p:cNvPr>
          <p:cNvSpPr/>
          <p:nvPr/>
        </p:nvSpPr>
        <p:spPr>
          <a:xfrm>
            <a:off x="6643399" y="3639742"/>
            <a:ext cx="225619" cy="121186"/>
          </a:xfrm>
          <a:prstGeom prst="rect">
            <a:avLst/>
          </a:prstGeom>
          <a:solidFill>
            <a:srgbClr val="FFC0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3" name="Straight Arrow Connector 22">
            <a:extLst>
              <a:ext uri="{FF2B5EF4-FFF2-40B4-BE49-F238E27FC236}">
                <a16:creationId xmlns:a16="http://schemas.microsoft.com/office/drawing/2014/main" id="{6B2638F2-8107-E451-E320-FDC392ED4721}"/>
              </a:ext>
            </a:extLst>
          </p:cNvPr>
          <p:cNvCxnSpPr>
            <a:cxnSpLocks/>
          </p:cNvCxnSpPr>
          <p:nvPr/>
        </p:nvCxnSpPr>
        <p:spPr>
          <a:xfrm>
            <a:off x="3739308" y="3249975"/>
            <a:ext cx="0" cy="30847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54387463-CB69-9360-8EC5-2969AE293472}"/>
              </a:ext>
            </a:extLst>
          </p:cNvPr>
          <p:cNvCxnSpPr>
            <a:cxnSpLocks/>
          </p:cNvCxnSpPr>
          <p:nvPr/>
        </p:nvCxnSpPr>
        <p:spPr>
          <a:xfrm>
            <a:off x="4407665" y="3249975"/>
            <a:ext cx="0" cy="30847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FABFC4E2-DE87-6E52-F9DF-5FD61965B8CD}"/>
              </a:ext>
            </a:extLst>
          </p:cNvPr>
          <p:cNvCxnSpPr>
            <a:cxnSpLocks/>
          </p:cNvCxnSpPr>
          <p:nvPr/>
        </p:nvCxnSpPr>
        <p:spPr>
          <a:xfrm>
            <a:off x="5716836" y="3249975"/>
            <a:ext cx="0" cy="30847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974B2F9B-9269-3E61-0E27-283A507BB2DF}"/>
              </a:ext>
            </a:extLst>
          </p:cNvPr>
          <p:cNvCxnSpPr>
            <a:cxnSpLocks/>
          </p:cNvCxnSpPr>
          <p:nvPr/>
        </p:nvCxnSpPr>
        <p:spPr>
          <a:xfrm>
            <a:off x="6328272" y="3249975"/>
            <a:ext cx="0" cy="30847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Oval 10">
            <a:extLst>
              <a:ext uri="{FF2B5EF4-FFF2-40B4-BE49-F238E27FC236}">
                <a16:creationId xmlns:a16="http://schemas.microsoft.com/office/drawing/2014/main" id="{9923CE7B-6C66-8E8F-AF58-E9A6D4851BCD}"/>
              </a:ext>
            </a:extLst>
          </p:cNvPr>
          <p:cNvSpPr/>
          <p:nvPr/>
        </p:nvSpPr>
        <p:spPr>
          <a:xfrm>
            <a:off x="3574055" y="2445745"/>
            <a:ext cx="330506" cy="627446"/>
          </a:xfrm>
          <a:prstGeom prst="ellipse">
            <a:avLst/>
          </a:prstGeom>
          <a:gradFill flip="none" rotWithShape="1">
            <a:gsLst>
              <a:gs pos="0">
                <a:srgbClr val="0070C0">
                  <a:shade val="30000"/>
                  <a:satMod val="115000"/>
                </a:srgbClr>
              </a:gs>
              <a:gs pos="50000">
                <a:srgbClr val="0070C0">
                  <a:shade val="67500"/>
                  <a:satMod val="115000"/>
                </a:srgbClr>
              </a:gs>
              <a:gs pos="100000">
                <a:srgbClr val="0070C0">
                  <a:shade val="100000"/>
                  <a:satMod val="115000"/>
                </a:srgbClr>
              </a:gs>
            </a:gsLst>
            <a:path path="circle">
              <a:fillToRect l="50000" t="50000" r="50000" b="50000"/>
            </a:path>
            <a:tileRect/>
          </a:gra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A34572B8-1775-D379-12B5-DACA6DFB24E0}"/>
              </a:ext>
            </a:extLst>
          </p:cNvPr>
          <p:cNvSpPr/>
          <p:nvPr/>
        </p:nvSpPr>
        <p:spPr>
          <a:xfrm>
            <a:off x="4226110" y="2324559"/>
            <a:ext cx="330506" cy="775337"/>
          </a:xfrm>
          <a:prstGeom prst="ellipse">
            <a:avLst/>
          </a:prstGeom>
          <a:gradFill flip="none" rotWithShape="1">
            <a:gsLst>
              <a:gs pos="0">
                <a:srgbClr val="0070C0">
                  <a:shade val="30000"/>
                  <a:satMod val="115000"/>
                </a:srgbClr>
              </a:gs>
              <a:gs pos="50000">
                <a:srgbClr val="0070C0">
                  <a:shade val="67500"/>
                  <a:satMod val="115000"/>
                </a:srgbClr>
              </a:gs>
              <a:gs pos="100000">
                <a:srgbClr val="0070C0">
                  <a:shade val="100000"/>
                  <a:satMod val="115000"/>
                </a:srgbClr>
              </a:gs>
            </a:gsLst>
            <a:path path="circle">
              <a:fillToRect l="50000" t="50000" r="50000" b="50000"/>
            </a:path>
            <a:tileRect/>
          </a:gra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a:extLst>
              <a:ext uri="{FF2B5EF4-FFF2-40B4-BE49-F238E27FC236}">
                <a16:creationId xmlns:a16="http://schemas.microsoft.com/office/drawing/2014/main" id="{E7FB0515-B205-B0D2-821A-5D4A67D7678E}"/>
              </a:ext>
            </a:extLst>
          </p:cNvPr>
          <p:cNvSpPr/>
          <p:nvPr/>
        </p:nvSpPr>
        <p:spPr>
          <a:xfrm>
            <a:off x="5537026" y="2764720"/>
            <a:ext cx="330506" cy="308471"/>
          </a:xfrm>
          <a:prstGeom prst="ellipse">
            <a:avLst/>
          </a:prstGeom>
          <a:gradFill flip="none" rotWithShape="1">
            <a:gsLst>
              <a:gs pos="0">
                <a:srgbClr val="0070C0">
                  <a:shade val="30000"/>
                  <a:satMod val="115000"/>
                </a:srgbClr>
              </a:gs>
              <a:gs pos="50000">
                <a:srgbClr val="0070C0">
                  <a:shade val="67500"/>
                  <a:satMod val="115000"/>
                </a:srgbClr>
              </a:gs>
              <a:gs pos="100000">
                <a:srgbClr val="0070C0">
                  <a:shade val="100000"/>
                  <a:satMod val="115000"/>
                </a:srgbClr>
              </a:gs>
            </a:gsLst>
            <a:path path="circle">
              <a:fillToRect l="50000" t="50000" r="50000" b="50000"/>
            </a:path>
            <a:tileRect/>
          </a:gra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a:extLst>
              <a:ext uri="{FF2B5EF4-FFF2-40B4-BE49-F238E27FC236}">
                <a16:creationId xmlns:a16="http://schemas.microsoft.com/office/drawing/2014/main" id="{62A2FF8F-A21F-55A2-E9FD-71FEF3911558}"/>
              </a:ext>
            </a:extLst>
          </p:cNvPr>
          <p:cNvSpPr/>
          <p:nvPr/>
        </p:nvSpPr>
        <p:spPr>
          <a:xfrm>
            <a:off x="6034949" y="2670893"/>
            <a:ext cx="586646" cy="429003"/>
          </a:xfrm>
          <a:prstGeom prst="ellipse">
            <a:avLst/>
          </a:prstGeom>
          <a:gradFill flip="none" rotWithShape="1">
            <a:gsLst>
              <a:gs pos="0">
                <a:srgbClr val="0070C0">
                  <a:shade val="30000"/>
                  <a:satMod val="115000"/>
                </a:srgbClr>
              </a:gs>
              <a:gs pos="50000">
                <a:srgbClr val="0070C0">
                  <a:shade val="67500"/>
                  <a:satMod val="115000"/>
                </a:srgbClr>
              </a:gs>
              <a:gs pos="100000">
                <a:srgbClr val="0070C0">
                  <a:shade val="100000"/>
                  <a:satMod val="115000"/>
                </a:srgbClr>
              </a:gs>
            </a:gsLst>
            <a:path path="circle">
              <a:fillToRect l="50000" t="50000" r="50000" b="50000"/>
            </a:path>
            <a:tileRect/>
          </a:gra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 Placeholder 2">
            <a:extLst>
              <a:ext uri="{FF2B5EF4-FFF2-40B4-BE49-F238E27FC236}">
                <a16:creationId xmlns:a16="http://schemas.microsoft.com/office/drawing/2014/main" id="{0A01EA21-D0EC-2454-FBEB-8B675EBE019F}"/>
              </a:ext>
            </a:extLst>
          </p:cNvPr>
          <p:cNvSpPr txBox="1">
            <a:spLocks/>
          </p:cNvSpPr>
          <p:nvPr/>
        </p:nvSpPr>
        <p:spPr>
          <a:xfrm>
            <a:off x="1255640" y="1963406"/>
            <a:ext cx="2667050" cy="775337"/>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79400" algn="l" rtl="0">
              <a:lnSpc>
                <a:spcPct val="115000"/>
              </a:lnSpc>
              <a:spcBef>
                <a:spcPts val="0"/>
              </a:spcBef>
              <a:spcAft>
                <a:spcPts val="0"/>
              </a:spcAft>
              <a:buClr>
                <a:schemeClr val="dk1"/>
              </a:buClr>
              <a:buSzPts val="800"/>
              <a:buFont typeface="Hanken Grotesk"/>
              <a:buChar char="●"/>
              <a:defRPr sz="1400" b="0" i="0" u="none" strike="noStrike" cap="none">
                <a:solidFill>
                  <a:schemeClr val="dk1"/>
                </a:solidFill>
                <a:latin typeface="Hanken Grotesk"/>
                <a:ea typeface="Hanken Grotesk"/>
                <a:cs typeface="Hanken Grotesk"/>
                <a:sym typeface="Hanken Grotesk"/>
              </a:defRPr>
            </a:lvl1pPr>
            <a:lvl2pPr marL="914400" marR="0" lvl="1"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2pPr>
            <a:lvl3pPr marL="1371600" marR="0" lvl="2"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3pPr>
            <a:lvl4pPr marL="1828800" marR="0" lvl="3"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4pPr>
            <a:lvl5pPr marL="2286000" marR="0" lvl="4"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5pPr>
            <a:lvl6pPr marL="2743200" marR="0" lvl="5"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6pPr>
            <a:lvl7pPr marL="3200400" marR="0" lvl="6"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7pPr>
            <a:lvl8pPr marL="3657600" marR="0" lvl="7"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8pPr>
            <a:lvl9pPr marL="4114800" marR="0" lvl="8"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9pPr>
          </a:lstStyle>
          <a:p>
            <a:pPr marL="177800" indent="0" algn="ctr">
              <a:buFont typeface="Hanken Grotesk"/>
              <a:buNone/>
            </a:pPr>
            <a:r>
              <a:rPr lang="en-US" dirty="0">
                <a:solidFill>
                  <a:srgbClr val="C00000"/>
                </a:solidFill>
              </a:rPr>
              <a:t>Transcription Factor Binding </a:t>
            </a:r>
            <a:br>
              <a:rPr lang="en-US" dirty="0">
                <a:solidFill>
                  <a:srgbClr val="C00000"/>
                </a:solidFill>
              </a:rPr>
            </a:br>
            <a:r>
              <a:rPr lang="en-US" dirty="0">
                <a:solidFill>
                  <a:srgbClr val="C00000"/>
                </a:solidFill>
              </a:rPr>
              <a:t>in </a:t>
            </a:r>
            <a:r>
              <a:rPr lang="en-US" b="1" dirty="0">
                <a:solidFill>
                  <a:srgbClr val="C00000"/>
                </a:solidFill>
              </a:rPr>
              <a:t>Cell State B</a:t>
            </a:r>
          </a:p>
        </p:txBody>
      </p:sp>
    </p:spTree>
    <p:extLst>
      <p:ext uri="{BB962C8B-B14F-4D97-AF65-F5344CB8AC3E}">
        <p14:creationId xmlns:p14="http://schemas.microsoft.com/office/powerpoint/2010/main" val="10625909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5D12F4-E99C-F226-7BA3-8C9A03F62C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611D21-BBCE-9246-8A1A-FB14A8227AC1}"/>
              </a:ext>
            </a:extLst>
          </p:cNvPr>
          <p:cNvSpPr>
            <a:spLocks noGrp="1"/>
          </p:cNvSpPr>
          <p:nvPr>
            <p:ph type="title"/>
          </p:nvPr>
        </p:nvSpPr>
        <p:spPr/>
        <p:txBody>
          <a:bodyPr/>
          <a:lstStyle/>
          <a:p>
            <a:r>
              <a:rPr lang="en-US" dirty="0"/>
              <a:t>Much remains to be discovered about the genomic regulatory code</a:t>
            </a:r>
          </a:p>
        </p:txBody>
      </p:sp>
      <p:sp>
        <p:nvSpPr>
          <p:cNvPr id="3" name="Text Placeholder 2">
            <a:extLst>
              <a:ext uri="{FF2B5EF4-FFF2-40B4-BE49-F238E27FC236}">
                <a16:creationId xmlns:a16="http://schemas.microsoft.com/office/drawing/2014/main" id="{DF7EB7D7-B5E4-4E65-0A72-A6AECFDD6B35}"/>
              </a:ext>
            </a:extLst>
          </p:cNvPr>
          <p:cNvSpPr>
            <a:spLocks noGrp="1"/>
          </p:cNvSpPr>
          <p:nvPr>
            <p:ph type="body" idx="1"/>
          </p:nvPr>
        </p:nvSpPr>
        <p:spPr>
          <a:xfrm>
            <a:off x="720000" y="1558344"/>
            <a:ext cx="7704000" cy="2890506"/>
          </a:xfrm>
        </p:spPr>
        <p:txBody>
          <a:bodyPr/>
          <a:lstStyle/>
          <a:p>
            <a:pPr marL="177800" indent="0" algn="ctr">
              <a:buNone/>
            </a:pPr>
            <a:r>
              <a:rPr lang="en-US" dirty="0"/>
              <a:t>How do genomic sequences encode precise responses to different contexts?</a:t>
            </a:r>
          </a:p>
        </p:txBody>
      </p:sp>
      <p:sp>
        <p:nvSpPr>
          <p:cNvPr id="4" name="Rectangle 3">
            <a:extLst>
              <a:ext uri="{FF2B5EF4-FFF2-40B4-BE49-F238E27FC236}">
                <a16:creationId xmlns:a16="http://schemas.microsoft.com/office/drawing/2014/main" id="{5B5A9328-F4CF-DD2D-09D7-8ACD05E6C319}"/>
              </a:ext>
            </a:extLst>
          </p:cNvPr>
          <p:cNvSpPr/>
          <p:nvPr/>
        </p:nvSpPr>
        <p:spPr>
          <a:xfrm>
            <a:off x="892367" y="3641073"/>
            <a:ext cx="7359267" cy="121186"/>
          </a:xfrm>
          <a:prstGeom prst="rect">
            <a:avLst/>
          </a:prstGeom>
          <a:solidFill>
            <a:srgbClr val="71DAFF"/>
          </a:solidFill>
          <a:ln>
            <a:solidFill>
              <a:srgbClr val="71DA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934442B5-3875-AA0F-9E05-E665C9951D5D}"/>
              </a:ext>
            </a:extLst>
          </p:cNvPr>
          <p:cNvSpPr/>
          <p:nvPr/>
        </p:nvSpPr>
        <p:spPr>
          <a:xfrm>
            <a:off x="1816865" y="3641073"/>
            <a:ext cx="5510270" cy="121186"/>
          </a:xfrm>
          <a:prstGeom prst="rect">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2">
            <a:extLst>
              <a:ext uri="{FF2B5EF4-FFF2-40B4-BE49-F238E27FC236}">
                <a16:creationId xmlns:a16="http://schemas.microsoft.com/office/drawing/2014/main" id="{23099471-C074-9035-1FF0-2BE38678CCC2}"/>
              </a:ext>
            </a:extLst>
          </p:cNvPr>
          <p:cNvSpPr txBox="1">
            <a:spLocks/>
          </p:cNvSpPr>
          <p:nvPr/>
        </p:nvSpPr>
        <p:spPr>
          <a:xfrm>
            <a:off x="1944547" y="3803867"/>
            <a:ext cx="5021043" cy="40457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79400" algn="l" rtl="0">
              <a:lnSpc>
                <a:spcPct val="115000"/>
              </a:lnSpc>
              <a:spcBef>
                <a:spcPts val="0"/>
              </a:spcBef>
              <a:spcAft>
                <a:spcPts val="0"/>
              </a:spcAft>
              <a:buClr>
                <a:schemeClr val="dk1"/>
              </a:buClr>
              <a:buSzPts val="800"/>
              <a:buFont typeface="Hanken Grotesk"/>
              <a:buChar char="●"/>
              <a:defRPr sz="1400" b="0" i="0" u="none" strike="noStrike" cap="none">
                <a:solidFill>
                  <a:schemeClr val="dk1"/>
                </a:solidFill>
                <a:latin typeface="Hanken Grotesk"/>
                <a:ea typeface="Hanken Grotesk"/>
                <a:cs typeface="Hanken Grotesk"/>
                <a:sym typeface="Hanken Grotesk"/>
              </a:defRPr>
            </a:lvl1pPr>
            <a:lvl2pPr marL="914400" marR="0" lvl="1"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2pPr>
            <a:lvl3pPr marL="1371600" marR="0" lvl="2"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3pPr>
            <a:lvl4pPr marL="1828800" marR="0" lvl="3"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4pPr>
            <a:lvl5pPr marL="2286000" marR="0" lvl="4"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5pPr>
            <a:lvl6pPr marL="2743200" marR="0" lvl="5"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6pPr>
            <a:lvl7pPr marL="3200400" marR="0" lvl="6"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7pPr>
            <a:lvl8pPr marL="3657600" marR="0" lvl="7"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8pPr>
            <a:lvl9pPr marL="4114800" marR="0" lvl="8"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9pPr>
          </a:lstStyle>
          <a:p>
            <a:pPr marL="177800" indent="0" algn="ctr">
              <a:buFont typeface="Hanken Grotesk"/>
              <a:buNone/>
            </a:pPr>
            <a:r>
              <a:rPr lang="en-US" dirty="0"/>
              <a:t>Enhancer (50-1500 bp)</a:t>
            </a:r>
          </a:p>
        </p:txBody>
      </p:sp>
      <p:cxnSp>
        <p:nvCxnSpPr>
          <p:cNvPr id="8" name="Straight Arrow Connector 7">
            <a:extLst>
              <a:ext uri="{FF2B5EF4-FFF2-40B4-BE49-F238E27FC236}">
                <a16:creationId xmlns:a16="http://schemas.microsoft.com/office/drawing/2014/main" id="{6945C70F-2E05-9BFF-79EE-B82459B3B6DB}"/>
              </a:ext>
            </a:extLst>
          </p:cNvPr>
          <p:cNvCxnSpPr/>
          <p:nvPr/>
        </p:nvCxnSpPr>
        <p:spPr>
          <a:xfrm>
            <a:off x="5624111" y="4006155"/>
            <a:ext cx="170302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906600C5-EC86-AFA4-FF22-2B8626DD2DC4}"/>
              </a:ext>
            </a:extLst>
          </p:cNvPr>
          <p:cNvCxnSpPr>
            <a:cxnSpLocks/>
          </p:cNvCxnSpPr>
          <p:nvPr/>
        </p:nvCxnSpPr>
        <p:spPr>
          <a:xfrm flipH="1">
            <a:off x="1816865" y="4009386"/>
            <a:ext cx="170302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2556E3C0-25CC-B16E-9267-63672C72C3D0}"/>
              </a:ext>
            </a:extLst>
          </p:cNvPr>
          <p:cNvSpPr/>
          <p:nvPr/>
        </p:nvSpPr>
        <p:spPr>
          <a:xfrm>
            <a:off x="2286000" y="3641073"/>
            <a:ext cx="330506" cy="121186"/>
          </a:xfrm>
          <a:prstGeom prst="rect">
            <a:avLst/>
          </a:prstGeom>
          <a:solidFill>
            <a:srgbClr val="FFC0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B5B0239E-F5FC-7055-90CD-ACFBFF0BA6B5}"/>
              </a:ext>
            </a:extLst>
          </p:cNvPr>
          <p:cNvSpPr/>
          <p:nvPr/>
        </p:nvSpPr>
        <p:spPr>
          <a:xfrm>
            <a:off x="2372183" y="3640515"/>
            <a:ext cx="330506" cy="121186"/>
          </a:xfrm>
          <a:prstGeom prst="rect">
            <a:avLst/>
          </a:prstGeom>
          <a:solidFill>
            <a:srgbClr val="FFC0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0EF0F35D-A8A4-6C69-FB70-DFF28DE52A73}"/>
              </a:ext>
            </a:extLst>
          </p:cNvPr>
          <p:cNvSpPr/>
          <p:nvPr/>
        </p:nvSpPr>
        <p:spPr>
          <a:xfrm>
            <a:off x="2797937" y="3640515"/>
            <a:ext cx="330506" cy="121186"/>
          </a:xfrm>
          <a:prstGeom prst="rect">
            <a:avLst/>
          </a:prstGeom>
          <a:solidFill>
            <a:srgbClr val="FFC0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5C0C2D2E-1902-9622-5286-A099EC34076F}"/>
              </a:ext>
            </a:extLst>
          </p:cNvPr>
          <p:cNvSpPr/>
          <p:nvPr/>
        </p:nvSpPr>
        <p:spPr>
          <a:xfrm>
            <a:off x="3592184" y="3640515"/>
            <a:ext cx="330506" cy="121186"/>
          </a:xfrm>
          <a:prstGeom prst="rect">
            <a:avLst/>
          </a:prstGeom>
          <a:solidFill>
            <a:srgbClr val="FFC0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57D2AB80-BB7A-D14D-3973-5562F66BB2D8}"/>
              </a:ext>
            </a:extLst>
          </p:cNvPr>
          <p:cNvSpPr/>
          <p:nvPr/>
        </p:nvSpPr>
        <p:spPr>
          <a:xfrm>
            <a:off x="4012430" y="3640515"/>
            <a:ext cx="165253" cy="121186"/>
          </a:xfrm>
          <a:prstGeom prst="rect">
            <a:avLst/>
          </a:prstGeom>
          <a:solidFill>
            <a:srgbClr val="FFC0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D7ED1E4F-6825-E0DF-BE56-257C4789E200}"/>
              </a:ext>
            </a:extLst>
          </p:cNvPr>
          <p:cNvSpPr/>
          <p:nvPr/>
        </p:nvSpPr>
        <p:spPr>
          <a:xfrm>
            <a:off x="4227029" y="3640515"/>
            <a:ext cx="341757" cy="121186"/>
          </a:xfrm>
          <a:prstGeom prst="rect">
            <a:avLst/>
          </a:prstGeom>
          <a:solidFill>
            <a:srgbClr val="FFC0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7DE84920-D26F-9952-E93C-F3DB2A065DA6}"/>
              </a:ext>
            </a:extLst>
          </p:cNvPr>
          <p:cNvSpPr/>
          <p:nvPr/>
        </p:nvSpPr>
        <p:spPr>
          <a:xfrm>
            <a:off x="4966319" y="3640515"/>
            <a:ext cx="451237" cy="121186"/>
          </a:xfrm>
          <a:prstGeom prst="rect">
            <a:avLst/>
          </a:prstGeom>
          <a:solidFill>
            <a:srgbClr val="FFC0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11FDA4BA-F837-0897-A2CD-82106A4A2575}"/>
              </a:ext>
            </a:extLst>
          </p:cNvPr>
          <p:cNvSpPr/>
          <p:nvPr/>
        </p:nvSpPr>
        <p:spPr>
          <a:xfrm>
            <a:off x="5589470" y="3640515"/>
            <a:ext cx="225619" cy="121186"/>
          </a:xfrm>
          <a:prstGeom prst="rect">
            <a:avLst/>
          </a:prstGeom>
          <a:solidFill>
            <a:srgbClr val="FFC0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89F3591B-7AB1-A4C4-980D-88890F3798A3}"/>
              </a:ext>
            </a:extLst>
          </p:cNvPr>
          <p:cNvSpPr/>
          <p:nvPr/>
        </p:nvSpPr>
        <p:spPr>
          <a:xfrm>
            <a:off x="6116435" y="3640515"/>
            <a:ext cx="451237" cy="121186"/>
          </a:xfrm>
          <a:prstGeom prst="rect">
            <a:avLst/>
          </a:prstGeom>
          <a:solidFill>
            <a:srgbClr val="FFC0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40DA3A61-97F5-F3A1-8FDB-9C2983B12D70}"/>
              </a:ext>
            </a:extLst>
          </p:cNvPr>
          <p:cNvSpPr/>
          <p:nvPr/>
        </p:nvSpPr>
        <p:spPr>
          <a:xfrm>
            <a:off x="6643399" y="3639742"/>
            <a:ext cx="225619" cy="121186"/>
          </a:xfrm>
          <a:prstGeom prst="rect">
            <a:avLst/>
          </a:prstGeom>
          <a:solidFill>
            <a:srgbClr val="FFC0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3" name="Straight Arrow Connector 22">
            <a:extLst>
              <a:ext uri="{FF2B5EF4-FFF2-40B4-BE49-F238E27FC236}">
                <a16:creationId xmlns:a16="http://schemas.microsoft.com/office/drawing/2014/main" id="{2B405AD3-9E6A-2FF9-0A53-869A6C455ABD}"/>
              </a:ext>
            </a:extLst>
          </p:cNvPr>
          <p:cNvCxnSpPr>
            <a:cxnSpLocks/>
          </p:cNvCxnSpPr>
          <p:nvPr/>
        </p:nvCxnSpPr>
        <p:spPr>
          <a:xfrm>
            <a:off x="3739308" y="3249975"/>
            <a:ext cx="0" cy="30847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DE4BF621-515E-3F76-6F83-F30E2C3CC368}"/>
              </a:ext>
            </a:extLst>
          </p:cNvPr>
          <p:cNvCxnSpPr>
            <a:cxnSpLocks/>
          </p:cNvCxnSpPr>
          <p:nvPr/>
        </p:nvCxnSpPr>
        <p:spPr>
          <a:xfrm>
            <a:off x="4106537" y="3249975"/>
            <a:ext cx="0" cy="30847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B473B7D7-86B5-BAE2-090D-86994F560636}"/>
              </a:ext>
            </a:extLst>
          </p:cNvPr>
          <p:cNvCxnSpPr>
            <a:cxnSpLocks/>
          </p:cNvCxnSpPr>
          <p:nvPr/>
        </p:nvCxnSpPr>
        <p:spPr>
          <a:xfrm>
            <a:off x="4407665" y="3249975"/>
            <a:ext cx="0" cy="30847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33B09B7B-BDEF-7CE6-53B9-C36FCEB47CAD}"/>
              </a:ext>
            </a:extLst>
          </p:cNvPr>
          <p:cNvCxnSpPr>
            <a:cxnSpLocks/>
          </p:cNvCxnSpPr>
          <p:nvPr/>
        </p:nvCxnSpPr>
        <p:spPr>
          <a:xfrm>
            <a:off x="5716836" y="3249975"/>
            <a:ext cx="0" cy="30847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FE0FBCF9-3143-2DAC-3DB5-20B52D0868B1}"/>
              </a:ext>
            </a:extLst>
          </p:cNvPr>
          <p:cNvCxnSpPr>
            <a:cxnSpLocks/>
          </p:cNvCxnSpPr>
          <p:nvPr/>
        </p:nvCxnSpPr>
        <p:spPr>
          <a:xfrm>
            <a:off x="6328272" y="3249975"/>
            <a:ext cx="0" cy="30847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Oval 10">
            <a:extLst>
              <a:ext uri="{FF2B5EF4-FFF2-40B4-BE49-F238E27FC236}">
                <a16:creationId xmlns:a16="http://schemas.microsoft.com/office/drawing/2014/main" id="{43D8B296-F1CB-F3A9-4F96-D0590E60201F}"/>
              </a:ext>
            </a:extLst>
          </p:cNvPr>
          <p:cNvSpPr/>
          <p:nvPr/>
        </p:nvSpPr>
        <p:spPr>
          <a:xfrm>
            <a:off x="3574055" y="2445745"/>
            <a:ext cx="330506" cy="627446"/>
          </a:xfrm>
          <a:prstGeom prst="ellipse">
            <a:avLst/>
          </a:prstGeom>
          <a:gradFill flip="none" rotWithShape="1">
            <a:gsLst>
              <a:gs pos="0">
                <a:srgbClr val="0070C0">
                  <a:shade val="30000"/>
                  <a:satMod val="115000"/>
                </a:srgbClr>
              </a:gs>
              <a:gs pos="50000">
                <a:srgbClr val="0070C0">
                  <a:shade val="67500"/>
                  <a:satMod val="115000"/>
                </a:srgbClr>
              </a:gs>
              <a:gs pos="100000">
                <a:srgbClr val="0070C0">
                  <a:shade val="100000"/>
                  <a:satMod val="115000"/>
                </a:srgbClr>
              </a:gs>
            </a:gsLst>
            <a:path path="circle">
              <a:fillToRect l="50000" t="50000" r="50000" b="50000"/>
            </a:path>
            <a:tileRect/>
          </a:gra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E589FB2A-A748-AB4B-18B8-A4852512783B}"/>
              </a:ext>
            </a:extLst>
          </p:cNvPr>
          <p:cNvSpPr/>
          <p:nvPr/>
        </p:nvSpPr>
        <p:spPr>
          <a:xfrm>
            <a:off x="4226110" y="2324559"/>
            <a:ext cx="330506" cy="775337"/>
          </a:xfrm>
          <a:prstGeom prst="ellipse">
            <a:avLst/>
          </a:prstGeom>
          <a:gradFill flip="none" rotWithShape="1">
            <a:gsLst>
              <a:gs pos="0">
                <a:srgbClr val="0070C0">
                  <a:shade val="30000"/>
                  <a:satMod val="115000"/>
                </a:srgbClr>
              </a:gs>
              <a:gs pos="50000">
                <a:srgbClr val="0070C0">
                  <a:shade val="67500"/>
                  <a:satMod val="115000"/>
                </a:srgbClr>
              </a:gs>
              <a:gs pos="100000">
                <a:srgbClr val="0070C0">
                  <a:shade val="100000"/>
                  <a:satMod val="115000"/>
                </a:srgbClr>
              </a:gs>
            </a:gsLst>
            <a:path path="circle">
              <a:fillToRect l="50000" t="50000" r="50000" b="50000"/>
            </a:path>
            <a:tileRect/>
          </a:gra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a:extLst>
              <a:ext uri="{FF2B5EF4-FFF2-40B4-BE49-F238E27FC236}">
                <a16:creationId xmlns:a16="http://schemas.microsoft.com/office/drawing/2014/main" id="{46C40D81-CB5F-39E8-8EC4-009F23165F12}"/>
              </a:ext>
            </a:extLst>
          </p:cNvPr>
          <p:cNvSpPr/>
          <p:nvPr/>
        </p:nvSpPr>
        <p:spPr>
          <a:xfrm>
            <a:off x="5537026" y="2764720"/>
            <a:ext cx="330506" cy="308471"/>
          </a:xfrm>
          <a:prstGeom prst="ellipse">
            <a:avLst/>
          </a:prstGeom>
          <a:gradFill flip="none" rotWithShape="1">
            <a:gsLst>
              <a:gs pos="0">
                <a:srgbClr val="0070C0">
                  <a:shade val="30000"/>
                  <a:satMod val="115000"/>
                </a:srgbClr>
              </a:gs>
              <a:gs pos="50000">
                <a:srgbClr val="0070C0">
                  <a:shade val="67500"/>
                  <a:satMod val="115000"/>
                </a:srgbClr>
              </a:gs>
              <a:gs pos="100000">
                <a:srgbClr val="0070C0">
                  <a:shade val="100000"/>
                  <a:satMod val="115000"/>
                </a:srgbClr>
              </a:gs>
            </a:gsLst>
            <a:path path="circle">
              <a:fillToRect l="50000" t="50000" r="50000" b="50000"/>
            </a:path>
            <a:tileRect/>
          </a:gra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a:extLst>
              <a:ext uri="{FF2B5EF4-FFF2-40B4-BE49-F238E27FC236}">
                <a16:creationId xmlns:a16="http://schemas.microsoft.com/office/drawing/2014/main" id="{4A9531CC-1B7A-14DD-52CA-12B57C04BA7C}"/>
              </a:ext>
            </a:extLst>
          </p:cNvPr>
          <p:cNvSpPr/>
          <p:nvPr/>
        </p:nvSpPr>
        <p:spPr>
          <a:xfrm>
            <a:off x="6034949" y="2670893"/>
            <a:ext cx="586646" cy="429003"/>
          </a:xfrm>
          <a:prstGeom prst="ellipse">
            <a:avLst/>
          </a:prstGeom>
          <a:gradFill flip="none" rotWithShape="1">
            <a:gsLst>
              <a:gs pos="0">
                <a:srgbClr val="0070C0">
                  <a:shade val="30000"/>
                  <a:satMod val="115000"/>
                </a:srgbClr>
              </a:gs>
              <a:gs pos="50000">
                <a:srgbClr val="0070C0">
                  <a:shade val="67500"/>
                  <a:satMod val="115000"/>
                </a:srgbClr>
              </a:gs>
              <a:gs pos="100000">
                <a:srgbClr val="0070C0">
                  <a:shade val="100000"/>
                  <a:satMod val="115000"/>
                </a:srgbClr>
              </a:gs>
            </a:gsLst>
            <a:path path="circle">
              <a:fillToRect l="50000" t="50000" r="50000" b="50000"/>
            </a:path>
            <a:tileRect/>
          </a:gra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 Placeholder 2">
            <a:extLst>
              <a:ext uri="{FF2B5EF4-FFF2-40B4-BE49-F238E27FC236}">
                <a16:creationId xmlns:a16="http://schemas.microsoft.com/office/drawing/2014/main" id="{7C50C5AD-27B0-12E6-1FC3-EADA3E9A4E1B}"/>
              </a:ext>
            </a:extLst>
          </p:cNvPr>
          <p:cNvSpPr txBox="1">
            <a:spLocks/>
          </p:cNvSpPr>
          <p:nvPr/>
        </p:nvSpPr>
        <p:spPr>
          <a:xfrm>
            <a:off x="1260486" y="2111238"/>
            <a:ext cx="2051028" cy="948213"/>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79400" algn="l" rtl="0">
              <a:lnSpc>
                <a:spcPct val="115000"/>
              </a:lnSpc>
              <a:spcBef>
                <a:spcPts val="0"/>
              </a:spcBef>
              <a:spcAft>
                <a:spcPts val="0"/>
              </a:spcAft>
              <a:buClr>
                <a:schemeClr val="dk1"/>
              </a:buClr>
              <a:buSzPts val="800"/>
              <a:buFont typeface="Hanken Grotesk"/>
              <a:buChar char="●"/>
              <a:defRPr sz="1400" b="0" i="0" u="none" strike="noStrike" cap="none">
                <a:solidFill>
                  <a:schemeClr val="dk1"/>
                </a:solidFill>
                <a:latin typeface="Hanken Grotesk"/>
                <a:ea typeface="Hanken Grotesk"/>
                <a:cs typeface="Hanken Grotesk"/>
                <a:sym typeface="Hanken Grotesk"/>
              </a:defRPr>
            </a:lvl1pPr>
            <a:lvl2pPr marL="914400" marR="0" lvl="1"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2pPr>
            <a:lvl3pPr marL="1371600" marR="0" lvl="2"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3pPr>
            <a:lvl4pPr marL="1828800" marR="0" lvl="3"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4pPr>
            <a:lvl5pPr marL="2286000" marR="0" lvl="4"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5pPr>
            <a:lvl6pPr marL="2743200" marR="0" lvl="5"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6pPr>
            <a:lvl7pPr marL="3200400" marR="0" lvl="6"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7pPr>
            <a:lvl8pPr marL="3657600" marR="0" lvl="7"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8pPr>
            <a:lvl9pPr marL="4114800" marR="0" lvl="8"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9pPr>
          </a:lstStyle>
          <a:p>
            <a:pPr marL="177800" indent="0" algn="ctr">
              <a:buFont typeface="Hanken Grotesk"/>
              <a:buNone/>
            </a:pPr>
            <a:r>
              <a:rPr lang="en-US" b="1" dirty="0">
                <a:solidFill>
                  <a:srgbClr val="C00000"/>
                </a:solidFill>
              </a:rPr>
              <a:t>Small differences</a:t>
            </a:r>
            <a:br>
              <a:rPr lang="en-US" b="1" dirty="0">
                <a:solidFill>
                  <a:srgbClr val="C00000"/>
                </a:solidFill>
              </a:rPr>
            </a:br>
            <a:r>
              <a:rPr lang="en-US" b="1" dirty="0">
                <a:solidFill>
                  <a:srgbClr val="C00000"/>
                </a:solidFill>
              </a:rPr>
              <a:t>can lead to vastly </a:t>
            </a:r>
            <a:br>
              <a:rPr lang="en-US" b="1" dirty="0">
                <a:solidFill>
                  <a:srgbClr val="C00000"/>
                </a:solidFill>
              </a:rPr>
            </a:br>
            <a:r>
              <a:rPr lang="en-US" b="1" dirty="0">
                <a:solidFill>
                  <a:srgbClr val="C00000"/>
                </a:solidFill>
              </a:rPr>
              <a:t>different outcomes!</a:t>
            </a:r>
          </a:p>
        </p:txBody>
      </p:sp>
      <p:sp>
        <p:nvSpPr>
          <p:cNvPr id="20" name="Oval 19">
            <a:extLst>
              <a:ext uri="{FF2B5EF4-FFF2-40B4-BE49-F238E27FC236}">
                <a16:creationId xmlns:a16="http://schemas.microsoft.com/office/drawing/2014/main" id="{FFE2DF6D-2CB8-C463-A683-980BCFB156A0}"/>
              </a:ext>
            </a:extLst>
          </p:cNvPr>
          <p:cNvSpPr/>
          <p:nvPr/>
        </p:nvSpPr>
        <p:spPr>
          <a:xfrm>
            <a:off x="3893440" y="2526288"/>
            <a:ext cx="330506" cy="543638"/>
          </a:xfrm>
          <a:prstGeom prst="ellipse">
            <a:avLst/>
          </a:prstGeom>
          <a:gradFill flip="none" rotWithShape="1">
            <a:gsLst>
              <a:gs pos="0">
                <a:srgbClr val="0070C0">
                  <a:shade val="30000"/>
                  <a:satMod val="115000"/>
                </a:srgbClr>
              </a:gs>
              <a:gs pos="50000">
                <a:srgbClr val="0070C0">
                  <a:shade val="67500"/>
                  <a:satMod val="115000"/>
                </a:srgbClr>
              </a:gs>
              <a:gs pos="100000">
                <a:srgbClr val="0070C0">
                  <a:shade val="100000"/>
                  <a:satMod val="115000"/>
                </a:srgbClr>
              </a:gs>
            </a:gsLst>
            <a:path path="circle">
              <a:fillToRect l="50000" t="50000" r="50000" b="50000"/>
            </a:path>
            <a:tileRect/>
          </a:gra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Arrow: U-Turn 21">
            <a:extLst>
              <a:ext uri="{FF2B5EF4-FFF2-40B4-BE49-F238E27FC236}">
                <a16:creationId xmlns:a16="http://schemas.microsoft.com/office/drawing/2014/main" id="{CB0ECE3B-C71F-FF6F-A018-F5F9FDC96D8F}"/>
              </a:ext>
            </a:extLst>
          </p:cNvPr>
          <p:cNvSpPr/>
          <p:nvPr/>
        </p:nvSpPr>
        <p:spPr>
          <a:xfrm>
            <a:off x="4054207" y="1985111"/>
            <a:ext cx="457200" cy="460634"/>
          </a:xfrm>
          <a:prstGeom prst="uturnArrow">
            <a:avLst>
              <a:gd name="adj1" fmla="val 10641"/>
              <a:gd name="adj2" fmla="val 25000"/>
              <a:gd name="adj3" fmla="val 22599"/>
              <a:gd name="adj4" fmla="val 43750"/>
              <a:gd name="adj5" fmla="val 7500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6" name="Arrow: U-Turn 25">
            <a:extLst>
              <a:ext uri="{FF2B5EF4-FFF2-40B4-BE49-F238E27FC236}">
                <a16:creationId xmlns:a16="http://schemas.microsoft.com/office/drawing/2014/main" id="{2F1657D2-E6C0-A0A6-8C15-34B0CF2AB6FD}"/>
              </a:ext>
            </a:extLst>
          </p:cNvPr>
          <p:cNvSpPr/>
          <p:nvPr/>
        </p:nvSpPr>
        <p:spPr>
          <a:xfrm flipH="1">
            <a:off x="3678492" y="1983585"/>
            <a:ext cx="330506" cy="460634"/>
          </a:xfrm>
          <a:prstGeom prst="uturnArrow">
            <a:avLst>
              <a:gd name="adj1" fmla="val 11846"/>
              <a:gd name="adj2" fmla="val 25000"/>
              <a:gd name="adj3" fmla="val 23804"/>
              <a:gd name="adj4" fmla="val 43750"/>
              <a:gd name="adj5" fmla="val 9652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27672944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E83A99-684B-3F3D-56B7-855F45A71FC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DEFEDAB-98BC-7547-2852-4CAC17AADC8C}"/>
              </a:ext>
            </a:extLst>
          </p:cNvPr>
          <p:cNvSpPr>
            <a:spLocks noGrp="1"/>
          </p:cNvSpPr>
          <p:nvPr>
            <p:ph type="title"/>
          </p:nvPr>
        </p:nvSpPr>
        <p:spPr/>
        <p:txBody>
          <a:bodyPr/>
          <a:lstStyle/>
          <a:p>
            <a:r>
              <a:rPr lang="en-US" dirty="0"/>
              <a:t>Much remains to be discovered about the genomic regulatory code</a:t>
            </a:r>
          </a:p>
        </p:txBody>
      </p:sp>
      <p:sp>
        <p:nvSpPr>
          <p:cNvPr id="3" name="Text Placeholder 2">
            <a:extLst>
              <a:ext uri="{FF2B5EF4-FFF2-40B4-BE49-F238E27FC236}">
                <a16:creationId xmlns:a16="http://schemas.microsoft.com/office/drawing/2014/main" id="{FF2B15D5-E953-1124-DDD2-4453E3337E79}"/>
              </a:ext>
            </a:extLst>
          </p:cNvPr>
          <p:cNvSpPr>
            <a:spLocks noGrp="1"/>
          </p:cNvSpPr>
          <p:nvPr>
            <p:ph type="body" idx="1"/>
          </p:nvPr>
        </p:nvSpPr>
        <p:spPr>
          <a:xfrm>
            <a:off x="720000" y="1558344"/>
            <a:ext cx="7704000" cy="2890506"/>
          </a:xfrm>
        </p:spPr>
        <p:txBody>
          <a:bodyPr/>
          <a:lstStyle/>
          <a:p>
            <a:pPr marL="177800" indent="0" algn="ctr">
              <a:buNone/>
            </a:pPr>
            <a:r>
              <a:rPr lang="en-US" dirty="0"/>
              <a:t>How do genomic sequences encode precise responses to different contexts?</a:t>
            </a:r>
          </a:p>
        </p:txBody>
      </p:sp>
      <p:sp>
        <p:nvSpPr>
          <p:cNvPr id="4" name="Rectangle 3">
            <a:extLst>
              <a:ext uri="{FF2B5EF4-FFF2-40B4-BE49-F238E27FC236}">
                <a16:creationId xmlns:a16="http://schemas.microsoft.com/office/drawing/2014/main" id="{C73C99D9-EAEF-2199-F1A6-69F4D40FAD87}"/>
              </a:ext>
            </a:extLst>
          </p:cNvPr>
          <p:cNvSpPr/>
          <p:nvPr/>
        </p:nvSpPr>
        <p:spPr>
          <a:xfrm>
            <a:off x="892367" y="3641073"/>
            <a:ext cx="7359267" cy="121186"/>
          </a:xfrm>
          <a:prstGeom prst="rect">
            <a:avLst/>
          </a:prstGeom>
          <a:solidFill>
            <a:srgbClr val="71DAFF"/>
          </a:solidFill>
          <a:ln>
            <a:solidFill>
              <a:srgbClr val="71DA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E3CD1ECD-4DB9-9315-E885-DAF05FA64942}"/>
              </a:ext>
            </a:extLst>
          </p:cNvPr>
          <p:cNvSpPr/>
          <p:nvPr/>
        </p:nvSpPr>
        <p:spPr>
          <a:xfrm>
            <a:off x="1816865" y="3641073"/>
            <a:ext cx="5510270" cy="121186"/>
          </a:xfrm>
          <a:prstGeom prst="rect">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2">
            <a:extLst>
              <a:ext uri="{FF2B5EF4-FFF2-40B4-BE49-F238E27FC236}">
                <a16:creationId xmlns:a16="http://schemas.microsoft.com/office/drawing/2014/main" id="{D7DA534B-A81E-0363-541A-040F687D9953}"/>
              </a:ext>
            </a:extLst>
          </p:cNvPr>
          <p:cNvSpPr txBox="1">
            <a:spLocks/>
          </p:cNvSpPr>
          <p:nvPr/>
        </p:nvSpPr>
        <p:spPr>
          <a:xfrm>
            <a:off x="1944547" y="3803867"/>
            <a:ext cx="5021043" cy="40457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79400" algn="l" rtl="0">
              <a:lnSpc>
                <a:spcPct val="115000"/>
              </a:lnSpc>
              <a:spcBef>
                <a:spcPts val="0"/>
              </a:spcBef>
              <a:spcAft>
                <a:spcPts val="0"/>
              </a:spcAft>
              <a:buClr>
                <a:schemeClr val="dk1"/>
              </a:buClr>
              <a:buSzPts val="800"/>
              <a:buFont typeface="Hanken Grotesk"/>
              <a:buChar char="●"/>
              <a:defRPr sz="1400" b="0" i="0" u="none" strike="noStrike" cap="none">
                <a:solidFill>
                  <a:schemeClr val="dk1"/>
                </a:solidFill>
                <a:latin typeface="Hanken Grotesk"/>
                <a:ea typeface="Hanken Grotesk"/>
                <a:cs typeface="Hanken Grotesk"/>
                <a:sym typeface="Hanken Grotesk"/>
              </a:defRPr>
            </a:lvl1pPr>
            <a:lvl2pPr marL="914400" marR="0" lvl="1"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2pPr>
            <a:lvl3pPr marL="1371600" marR="0" lvl="2"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3pPr>
            <a:lvl4pPr marL="1828800" marR="0" lvl="3"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4pPr>
            <a:lvl5pPr marL="2286000" marR="0" lvl="4"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5pPr>
            <a:lvl6pPr marL="2743200" marR="0" lvl="5"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6pPr>
            <a:lvl7pPr marL="3200400" marR="0" lvl="6"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7pPr>
            <a:lvl8pPr marL="3657600" marR="0" lvl="7"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8pPr>
            <a:lvl9pPr marL="4114800" marR="0" lvl="8"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9pPr>
          </a:lstStyle>
          <a:p>
            <a:pPr marL="177800" indent="0" algn="ctr">
              <a:buFont typeface="Hanken Grotesk"/>
              <a:buNone/>
            </a:pPr>
            <a:r>
              <a:rPr lang="en-US" dirty="0"/>
              <a:t>Enhancer (50-1500 bp)</a:t>
            </a:r>
          </a:p>
        </p:txBody>
      </p:sp>
      <p:cxnSp>
        <p:nvCxnSpPr>
          <p:cNvPr id="8" name="Straight Arrow Connector 7">
            <a:extLst>
              <a:ext uri="{FF2B5EF4-FFF2-40B4-BE49-F238E27FC236}">
                <a16:creationId xmlns:a16="http://schemas.microsoft.com/office/drawing/2014/main" id="{23A4E834-1D28-A8BD-2C75-6D35B00B0722}"/>
              </a:ext>
            </a:extLst>
          </p:cNvPr>
          <p:cNvCxnSpPr/>
          <p:nvPr/>
        </p:nvCxnSpPr>
        <p:spPr>
          <a:xfrm>
            <a:off x="5624111" y="4006155"/>
            <a:ext cx="170302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FA9FBDAE-26E3-4D6B-21F6-66743B12A252}"/>
              </a:ext>
            </a:extLst>
          </p:cNvPr>
          <p:cNvCxnSpPr>
            <a:cxnSpLocks/>
          </p:cNvCxnSpPr>
          <p:nvPr/>
        </p:nvCxnSpPr>
        <p:spPr>
          <a:xfrm flipH="1">
            <a:off x="1816865" y="4009386"/>
            <a:ext cx="170302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1A0AC12C-2DAE-A441-FD0B-ADE4A73BE51B}"/>
              </a:ext>
            </a:extLst>
          </p:cNvPr>
          <p:cNvSpPr/>
          <p:nvPr/>
        </p:nvSpPr>
        <p:spPr>
          <a:xfrm>
            <a:off x="2286000" y="3641073"/>
            <a:ext cx="330506" cy="121186"/>
          </a:xfrm>
          <a:prstGeom prst="rect">
            <a:avLst/>
          </a:prstGeom>
          <a:solidFill>
            <a:srgbClr val="FFC0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2AF42B0-46FF-03DE-030B-50443045936A}"/>
              </a:ext>
            </a:extLst>
          </p:cNvPr>
          <p:cNvSpPr/>
          <p:nvPr/>
        </p:nvSpPr>
        <p:spPr>
          <a:xfrm>
            <a:off x="2372183" y="3640515"/>
            <a:ext cx="330506" cy="121186"/>
          </a:xfrm>
          <a:prstGeom prst="rect">
            <a:avLst/>
          </a:prstGeom>
          <a:solidFill>
            <a:srgbClr val="FFC0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92829F3D-4223-FEDA-4FC3-6BC2C0216A34}"/>
              </a:ext>
            </a:extLst>
          </p:cNvPr>
          <p:cNvSpPr/>
          <p:nvPr/>
        </p:nvSpPr>
        <p:spPr>
          <a:xfrm>
            <a:off x="2797937" y="3640515"/>
            <a:ext cx="330506" cy="121186"/>
          </a:xfrm>
          <a:prstGeom prst="rect">
            <a:avLst/>
          </a:prstGeom>
          <a:solidFill>
            <a:srgbClr val="FFC0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0FA0B995-C0FA-A703-262E-B340D22F4CAE}"/>
              </a:ext>
            </a:extLst>
          </p:cNvPr>
          <p:cNvSpPr/>
          <p:nvPr/>
        </p:nvSpPr>
        <p:spPr>
          <a:xfrm>
            <a:off x="3592184" y="3640515"/>
            <a:ext cx="330506" cy="121186"/>
          </a:xfrm>
          <a:prstGeom prst="rect">
            <a:avLst/>
          </a:prstGeom>
          <a:solidFill>
            <a:srgbClr val="FFC0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A3A65E10-ABB7-BF85-C1E5-EF1D3E92DC48}"/>
              </a:ext>
            </a:extLst>
          </p:cNvPr>
          <p:cNvSpPr/>
          <p:nvPr/>
        </p:nvSpPr>
        <p:spPr>
          <a:xfrm>
            <a:off x="4012430" y="3640515"/>
            <a:ext cx="165253" cy="121186"/>
          </a:xfrm>
          <a:prstGeom prst="rect">
            <a:avLst/>
          </a:prstGeom>
          <a:solidFill>
            <a:srgbClr val="FFC0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FCE5E3F2-97FF-F31C-A284-A7CDD4CB7AE2}"/>
              </a:ext>
            </a:extLst>
          </p:cNvPr>
          <p:cNvSpPr/>
          <p:nvPr/>
        </p:nvSpPr>
        <p:spPr>
          <a:xfrm>
            <a:off x="4966319" y="3640515"/>
            <a:ext cx="451237" cy="121186"/>
          </a:xfrm>
          <a:prstGeom prst="rect">
            <a:avLst/>
          </a:prstGeom>
          <a:solidFill>
            <a:srgbClr val="FFC0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C01FF2CC-C8A8-1361-A596-A757136AB3CB}"/>
              </a:ext>
            </a:extLst>
          </p:cNvPr>
          <p:cNvSpPr/>
          <p:nvPr/>
        </p:nvSpPr>
        <p:spPr>
          <a:xfrm>
            <a:off x="5589470" y="3640515"/>
            <a:ext cx="225619" cy="121186"/>
          </a:xfrm>
          <a:prstGeom prst="rect">
            <a:avLst/>
          </a:prstGeom>
          <a:solidFill>
            <a:srgbClr val="FFC0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C95820AD-E33D-BC12-81C0-071AD57722DE}"/>
              </a:ext>
            </a:extLst>
          </p:cNvPr>
          <p:cNvSpPr/>
          <p:nvPr/>
        </p:nvSpPr>
        <p:spPr>
          <a:xfrm>
            <a:off x="6116435" y="3640515"/>
            <a:ext cx="451237" cy="121186"/>
          </a:xfrm>
          <a:prstGeom prst="rect">
            <a:avLst/>
          </a:prstGeom>
          <a:solidFill>
            <a:srgbClr val="FFC0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8F05AD49-A335-B4D6-8116-A222F5EE9365}"/>
              </a:ext>
            </a:extLst>
          </p:cNvPr>
          <p:cNvSpPr/>
          <p:nvPr/>
        </p:nvSpPr>
        <p:spPr>
          <a:xfrm>
            <a:off x="6643399" y="3639742"/>
            <a:ext cx="225619" cy="121186"/>
          </a:xfrm>
          <a:prstGeom prst="rect">
            <a:avLst/>
          </a:prstGeom>
          <a:solidFill>
            <a:srgbClr val="FFC0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3" name="Straight Arrow Connector 22">
            <a:extLst>
              <a:ext uri="{FF2B5EF4-FFF2-40B4-BE49-F238E27FC236}">
                <a16:creationId xmlns:a16="http://schemas.microsoft.com/office/drawing/2014/main" id="{CCD2B495-8252-46A2-8BBF-317A3EE02BCF}"/>
              </a:ext>
            </a:extLst>
          </p:cNvPr>
          <p:cNvCxnSpPr>
            <a:cxnSpLocks/>
          </p:cNvCxnSpPr>
          <p:nvPr/>
        </p:nvCxnSpPr>
        <p:spPr>
          <a:xfrm>
            <a:off x="3739308" y="3249975"/>
            <a:ext cx="0" cy="30847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A650D1C8-CB01-607D-90B1-DE62F72AF195}"/>
              </a:ext>
            </a:extLst>
          </p:cNvPr>
          <p:cNvCxnSpPr>
            <a:cxnSpLocks/>
          </p:cNvCxnSpPr>
          <p:nvPr/>
        </p:nvCxnSpPr>
        <p:spPr>
          <a:xfrm>
            <a:off x="4106537" y="3249975"/>
            <a:ext cx="0" cy="30847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E55B7D26-091D-21C0-41DE-13B8966C8F42}"/>
              </a:ext>
            </a:extLst>
          </p:cNvPr>
          <p:cNvCxnSpPr>
            <a:cxnSpLocks/>
          </p:cNvCxnSpPr>
          <p:nvPr/>
        </p:nvCxnSpPr>
        <p:spPr>
          <a:xfrm>
            <a:off x="4622491" y="3249975"/>
            <a:ext cx="0" cy="30847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0F1A766C-3459-241E-5086-07C622C73D78}"/>
              </a:ext>
            </a:extLst>
          </p:cNvPr>
          <p:cNvCxnSpPr>
            <a:cxnSpLocks/>
          </p:cNvCxnSpPr>
          <p:nvPr/>
        </p:nvCxnSpPr>
        <p:spPr>
          <a:xfrm>
            <a:off x="5716836" y="3249975"/>
            <a:ext cx="0" cy="30847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87F8A7A5-8D88-DD5F-DB21-9C7A0AFC2F3D}"/>
              </a:ext>
            </a:extLst>
          </p:cNvPr>
          <p:cNvCxnSpPr>
            <a:cxnSpLocks/>
          </p:cNvCxnSpPr>
          <p:nvPr/>
        </p:nvCxnSpPr>
        <p:spPr>
          <a:xfrm>
            <a:off x="6328272" y="3249975"/>
            <a:ext cx="0" cy="30847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Oval 10">
            <a:extLst>
              <a:ext uri="{FF2B5EF4-FFF2-40B4-BE49-F238E27FC236}">
                <a16:creationId xmlns:a16="http://schemas.microsoft.com/office/drawing/2014/main" id="{0BD5C55A-9F71-AAEF-E972-51CED4A51888}"/>
              </a:ext>
            </a:extLst>
          </p:cNvPr>
          <p:cNvSpPr/>
          <p:nvPr/>
        </p:nvSpPr>
        <p:spPr>
          <a:xfrm>
            <a:off x="3574055" y="2445745"/>
            <a:ext cx="330506" cy="627446"/>
          </a:xfrm>
          <a:prstGeom prst="ellipse">
            <a:avLst/>
          </a:prstGeom>
          <a:gradFill flip="none" rotWithShape="1">
            <a:gsLst>
              <a:gs pos="0">
                <a:srgbClr val="0070C0">
                  <a:shade val="30000"/>
                  <a:satMod val="115000"/>
                </a:srgbClr>
              </a:gs>
              <a:gs pos="50000">
                <a:srgbClr val="0070C0">
                  <a:shade val="67500"/>
                  <a:satMod val="115000"/>
                </a:srgbClr>
              </a:gs>
              <a:gs pos="100000">
                <a:srgbClr val="0070C0">
                  <a:shade val="100000"/>
                  <a:satMod val="115000"/>
                </a:srgbClr>
              </a:gs>
            </a:gsLst>
            <a:path path="circle">
              <a:fillToRect l="50000" t="50000" r="50000" b="50000"/>
            </a:path>
            <a:tileRect/>
          </a:gra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3BB26ABE-E452-20F4-0DD1-D8E987310A32}"/>
              </a:ext>
            </a:extLst>
          </p:cNvPr>
          <p:cNvSpPr/>
          <p:nvPr/>
        </p:nvSpPr>
        <p:spPr>
          <a:xfrm>
            <a:off x="4440936" y="2324559"/>
            <a:ext cx="330506" cy="775337"/>
          </a:xfrm>
          <a:prstGeom prst="ellipse">
            <a:avLst/>
          </a:prstGeom>
          <a:gradFill flip="none" rotWithShape="1">
            <a:gsLst>
              <a:gs pos="0">
                <a:srgbClr val="0070C0">
                  <a:shade val="30000"/>
                  <a:satMod val="115000"/>
                </a:srgbClr>
              </a:gs>
              <a:gs pos="50000">
                <a:srgbClr val="0070C0">
                  <a:shade val="67500"/>
                  <a:satMod val="115000"/>
                </a:srgbClr>
              </a:gs>
              <a:gs pos="100000">
                <a:srgbClr val="0070C0">
                  <a:shade val="100000"/>
                  <a:satMod val="115000"/>
                </a:srgbClr>
              </a:gs>
            </a:gsLst>
            <a:path path="circle">
              <a:fillToRect l="50000" t="50000" r="50000" b="50000"/>
            </a:path>
            <a:tileRect/>
          </a:gra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a:extLst>
              <a:ext uri="{FF2B5EF4-FFF2-40B4-BE49-F238E27FC236}">
                <a16:creationId xmlns:a16="http://schemas.microsoft.com/office/drawing/2014/main" id="{B841E808-8C86-9953-A6C2-CE791EDC5360}"/>
              </a:ext>
            </a:extLst>
          </p:cNvPr>
          <p:cNvSpPr/>
          <p:nvPr/>
        </p:nvSpPr>
        <p:spPr>
          <a:xfrm>
            <a:off x="5537026" y="2764720"/>
            <a:ext cx="330506" cy="308471"/>
          </a:xfrm>
          <a:prstGeom prst="ellipse">
            <a:avLst/>
          </a:prstGeom>
          <a:gradFill flip="none" rotWithShape="1">
            <a:gsLst>
              <a:gs pos="0">
                <a:srgbClr val="0070C0">
                  <a:shade val="30000"/>
                  <a:satMod val="115000"/>
                </a:srgbClr>
              </a:gs>
              <a:gs pos="50000">
                <a:srgbClr val="0070C0">
                  <a:shade val="67500"/>
                  <a:satMod val="115000"/>
                </a:srgbClr>
              </a:gs>
              <a:gs pos="100000">
                <a:srgbClr val="0070C0">
                  <a:shade val="100000"/>
                  <a:satMod val="115000"/>
                </a:srgbClr>
              </a:gs>
            </a:gsLst>
            <a:path path="circle">
              <a:fillToRect l="50000" t="50000" r="50000" b="50000"/>
            </a:path>
            <a:tileRect/>
          </a:gra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a:extLst>
              <a:ext uri="{FF2B5EF4-FFF2-40B4-BE49-F238E27FC236}">
                <a16:creationId xmlns:a16="http://schemas.microsoft.com/office/drawing/2014/main" id="{3E5AEC92-33AC-FAC3-2AE0-BC95AC62596C}"/>
              </a:ext>
            </a:extLst>
          </p:cNvPr>
          <p:cNvSpPr/>
          <p:nvPr/>
        </p:nvSpPr>
        <p:spPr>
          <a:xfrm>
            <a:off x="6034949" y="2670893"/>
            <a:ext cx="586646" cy="429003"/>
          </a:xfrm>
          <a:prstGeom prst="ellipse">
            <a:avLst/>
          </a:prstGeom>
          <a:gradFill flip="none" rotWithShape="1">
            <a:gsLst>
              <a:gs pos="0">
                <a:srgbClr val="0070C0">
                  <a:shade val="30000"/>
                  <a:satMod val="115000"/>
                </a:srgbClr>
              </a:gs>
              <a:gs pos="50000">
                <a:srgbClr val="0070C0">
                  <a:shade val="67500"/>
                  <a:satMod val="115000"/>
                </a:srgbClr>
              </a:gs>
              <a:gs pos="100000">
                <a:srgbClr val="0070C0">
                  <a:shade val="100000"/>
                  <a:satMod val="115000"/>
                </a:srgbClr>
              </a:gs>
            </a:gsLst>
            <a:path path="circle">
              <a:fillToRect l="50000" t="50000" r="50000" b="50000"/>
            </a:path>
            <a:tileRect/>
          </a:gra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 Placeholder 2">
            <a:extLst>
              <a:ext uri="{FF2B5EF4-FFF2-40B4-BE49-F238E27FC236}">
                <a16:creationId xmlns:a16="http://schemas.microsoft.com/office/drawing/2014/main" id="{B8A890AA-3E12-9147-C5F0-279D57A0E947}"/>
              </a:ext>
            </a:extLst>
          </p:cNvPr>
          <p:cNvSpPr txBox="1">
            <a:spLocks/>
          </p:cNvSpPr>
          <p:nvPr/>
        </p:nvSpPr>
        <p:spPr>
          <a:xfrm>
            <a:off x="1260486" y="2111238"/>
            <a:ext cx="2051028" cy="948213"/>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79400" algn="l" rtl="0">
              <a:lnSpc>
                <a:spcPct val="115000"/>
              </a:lnSpc>
              <a:spcBef>
                <a:spcPts val="0"/>
              </a:spcBef>
              <a:spcAft>
                <a:spcPts val="0"/>
              </a:spcAft>
              <a:buClr>
                <a:schemeClr val="dk1"/>
              </a:buClr>
              <a:buSzPts val="800"/>
              <a:buFont typeface="Hanken Grotesk"/>
              <a:buChar char="●"/>
              <a:defRPr sz="1400" b="0" i="0" u="none" strike="noStrike" cap="none">
                <a:solidFill>
                  <a:schemeClr val="dk1"/>
                </a:solidFill>
                <a:latin typeface="Hanken Grotesk"/>
                <a:ea typeface="Hanken Grotesk"/>
                <a:cs typeface="Hanken Grotesk"/>
                <a:sym typeface="Hanken Grotesk"/>
              </a:defRPr>
            </a:lvl1pPr>
            <a:lvl2pPr marL="914400" marR="0" lvl="1"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2pPr>
            <a:lvl3pPr marL="1371600" marR="0" lvl="2"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3pPr>
            <a:lvl4pPr marL="1828800" marR="0" lvl="3"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4pPr>
            <a:lvl5pPr marL="2286000" marR="0" lvl="4"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5pPr>
            <a:lvl6pPr marL="2743200" marR="0" lvl="5"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6pPr>
            <a:lvl7pPr marL="3200400" marR="0" lvl="6"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7pPr>
            <a:lvl8pPr marL="3657600" marR="0" lvl="7"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8pPr>
            <a:lvl9pPr marL="4114800" marR="0" lvl="8"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9pPr>
          </a:lstStyle>
          <a:p>
            <a:pPr marL="177800" indent="0" algn="ctr">
              <a:buFont typeface="Hanken Grotesk"/>
              <a:buNone/>
            </a:pPr>
            <a:r>
              <a:rPr lang="en-US" b="1" dirty="0">
                <a:solidFill>
                  <a:srgbClr val="C00000"/>
                </a:solidFill>
              </a:rPr>
              <a:t>Small differences</a:t>
            </a:r>
            <a:br>
              <a:rPr lang="en-US" b="1" dirty="0">
                <a:solidFill>
                  <a:srgbClr val="C00000"/>
                </a:solidFill>
              </a:rPr>
            </a:br>
            <a:r>
              <a:rPr lang="en-US" b="1" dirty="0">
                <a:solidFill>
                  <a:srgbClr val="C00000"/>
                </a:solidFill>
              </a:rPr>
              <a:t>can lead to vastly </a:t>
            </a:r>
            <a:br>
              <a:rPr lang="en-US" b="1" dirty="0">
                <a:solidFill>
                  <a:srgbClr val="C00000"/>
                </a:solidFill>
              </a:rPr>
            </a:br>
            <a:r>
              <a:rPr lang="en-US" b="1" dirty="0">
                <a:solidFill>
                  <a:srgbClr val="C00000"/>
                </a:solidFill>
              </a:rPr>
              <a:t>different outcomes!</a:t>
            </a:r>
          </a:p>
        </p:txBody>
      </p:sp>
      <p:sp>
        <p:nvSpPr>
          <p:cNvPr id="20" name="Oval 19">
            <a:extLst>
              <a:ext uri="{FF2B5EF4-FFF2-40B4-BE49-F238E27FC236}">
                <a16:creationId xmlns:a16="http://schemas.microsoft.com/office/drawing/2014/main" id="{6B24B8F6-AD19-37AD-F342-45BC14C2C095}"/>
              </a:ext>
            </a:extLst>
          </p:cNvPr>
          <p:cNvSpPr/>
          <p:nvPr/>
        </p:nvSpPr>
        <p:spPr>
          <a:xfrm>
            <a:off x="3893440" y="2526288"/>
            <a:ext cx="330506" cy="543638"/>
          </a:xfrm>
          <a:prstGeom prst="ellipse">
            <a:avLst/>
          </a:prstGeom>
          <a:gradFill flip="none" rotWithShape="1">
            <a:gsLst>
              <a:gs pos="0">
                <a:srgbClr val="0070C0">
                  <a:shade val="30000"/>
                  <a:satMod val="115000"/>
                </a:srgbClr>
              </a:gs>
              <a:gs pos="50000">
                <a:srgbClr val="0070C0">
                  <a:shade val="67500"/>
                  <a:satMod val="115000"/>
                </a:srgbClr>
              </a:gs>
              <a:gs pos="100000">
                <a:srgbClr val="0070C0">
                  <a:shade val="100000"/>
                  <a:satMod val="115000"/>
                </a:srgbClr>
              </a:gs>
            </a:gsLst>
            <a:path path="circle">
              <a:fillToRect l="50000" t="50000" r="50000" b="50000"/>
            </a:path>
            <a:tileRect/>
          </a:gra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Arrow: U-Turn 25">
            <a:extLst>
              <a:ext uri="{FF2B5EF4-FFF2-40B4-BE49-F238E27FC236}">
                <a16:creationId xmlns:a16="http://schemas.microsoft.com/office/drawing/2014/main" id="{B523047E-9A88-BC12-F419-56CBE8709605}"/>
              </a:ext>
            </a:extLst>
          </p:cNvPr>
          <p:cNvSpPr/>
          <p:nvPr/>
        </p:nvSpPr>
        <p:spPr>
          <a:xfrm flipH="1">
            <a:off x="3678492" y="1983585"/>
            <a:ext cx="330506" cy="460634"/>
          </a:xfrm>
          <a:prstGeom prst="uturnArrow">
            <a:avLst>
              <a:gd name="adj1" fmla="val 11846"/>
              <a:gd name="adj2" fmla="val 25000"/>
              <a:gd name="adj3" fmla="val 23804"/>
              <a:gd name="adj4" fmla="val 43750"/>
              <a:gd name="adj5" fmla="val 9652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9" name="Rectangle 28">
            <a:extLst>
              <a:ext uri="{FF2B5EF4-FFF2-40B4-BE49-F238E27FC236}">
                <a16:creationId xmlns:a16="http://schemas.microsoft.com/office/drawing/2014/main" id="{AC456AC4-DBF2-9A3D-6348-9C00AD5140FB}"/>
              </a:ext>
            </a:extLst>
          </p:cNvPr>
          <p:cNvSpPr/>
          <p:nvPr/>
        </p:nvSpPr>
        <p:spPr>
          <a:xfrm>
            <a:off x="4382200" y="3639742"/>
            <a:ext cx="341757" cy="121186"/>
          </a:xfrm>
          <a:prstGeom prst="rect">
            <a:avLst/>
          </a:prstGeom>
          <a:solidFill>
            <a:srgbClr val="FFC0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EFCE8D32-44BD-7588-4045-AA1A1457E276}"/>
              </a:ext>
            </a:extLst>
          </p:cNvPr>
          <p:cNvSpPr/>
          <p:nvPr/>
        </p:nvSpPr>
        <p:spPr>
          <a:xfrm>
            <a:off x="4223946" y="3639742"/>
            <a:ext cx="341757" cy="121186"/>
          </a:xfrm>
          <a:prstGeom prst="rect">
            <a:avLst/>
          </a:prstGeom>
          <a:noFill/>
          <a:ln>
            <a:solidFill>
              <a:srgbClr val="1A100D"/>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0" name="Straight Arrow Connector 39">
            <a:extLst>
              <a:ext uri="{FF2B5EF4-FFF2-40B4-BE49-F238E27FC236}">
                <a16:creationId xmlns:a16="http://schemas.microsoft.com/office/drawing/2014/main" id="{33218B1C-6003-0A3F-6EAC-C0E9C94B114B}"/>
              </a:ext>
            </a:extLst>
          </p:cNvPr>
          <p:cNvCxnSpPr>
            <a:cxnSpLocks/>
          </p:cNvCxnSpPr>
          <p:nvPr/>
        </p:nvCxnSpPr>
        <p:spPr>
          <a:xfrm>
            <a:off x="4382200" y="2764720"/>
            <a:ext cx="240291" cy="0"/>
          </a:xfrm>
          <a:prstGeom prst="straightConnector1">
            <a:avLst/>
          </a:prstGeom>
          <a:ln w="28575">
            <a:solidFill>
              <a:schemeClr val="accent2">
                <a:lumMod val="85000"/>
              </a:schemeClr>
            </a:solidFill>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2337390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7751BA-F58E-7A96-0CA9-CE5A13A096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C9866EA-80EB-1A57-8D72-43878F1E58BE}"/>
              </a:ext>
            </a:extLst>
          </p:cNvPr>
          <p:cNvSpPr>
            <a:spLocks noGrp="1"/>
          </p:cNvSpPr>
          <p:nvPr>
            <p:ph type="title"/>
          </p:nvPr>
        </p:nvSpPr>
        <p:spPr/>
        <p:txBody>
          <a:bodyPr/>
          <a:lstStyle/>
          <a:p>
            <a:pPr algn="ctr"/>
            <a:r>
              <a:rPr lang="en-US" dirty="0"/>
              <a:t>Much remains to be discovered </a:t>
            </a:r>
            <a:br>
              <a:rPr lang="en-US" dirty="0"/>
            </a:br>
            <a:r>
              <a:rPr lang="en-US" dirty="0"/>
              <a:t>about the genomic regulatory code</a:t>
            </a:r>
          </a:p>
        </p:txBody>
      </p:sp>
      <p:sp>
        <p:nvSpPr>
          <p:cNvPr id="4" name="Text Placeholder 2">
            <a:extLst>
              <a:ext uri="{FF2B5EF4-FFF2-40B4-BE49-F238E27FC236}">
                <a16:creationId xmlns:a16="http://schemas.microsoft.com/office/drawing/2014/main" id="{E572BB6C-56DC-310F-A48D-7C96BF7C226B}"/>
              </a:ext>
            </a:extLst>
          </p:cNvPr>
          <p:cNvSpPr txBox="1">
            <a:spLocks/>
          </p:cNvSpPr>
          <p:nvPr/>
        </p:nvSpPr>
        <p:spPr>
          <a:xfrm>
            <a:off x="1786441" y="1534731"/>
            <a:ext cx="5571118" cy="289050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79400" algn="l" rtl="0">
              <a:lnSpc>
                <a:spcPct val="115000"/>
              </a:lnSpc>
              <a:spcBef>
                <a:spcPts val="0"/>
              </a:spcBef>
              <a:spcAft>
                <a:spcPts val="0"/>
              </a:spcAft>
              <a:buClr>
                <a:schemeClr val="dk1"/>
              </a:buClr>
              <a:buSzPts val="800"/>
              <a:buFont typeface="Hanken Grotesk"/>
              <a:buChar char="●"/>
              <a:defRPr sz="1400" b="0" i="0" u="none" strike="noStrike" cap="none">
                <a:solidFill>
                  <a:schemeClr val="dk1"/>
                </a:solidFill>
                <a:latin typeface="Hanken Grotesk"/>
                <a:ea typeface="Hanken Grotesk"/>
                <a:cs typeface="Hanken Grotesk"/>
                <a:sym typeface="Hanken Grotesk"/>
              </a:defRPr>
            </a:lvl1pPr>
            <a:lvl2pPr marL="914400" marR="0" lvl="1"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2pPr>
            <a:lvl3pPr marL="1371600" marR="0" lvl="2"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3pPr>
            <a:lvl4pPr marL="1828800" marR="0" lvl="3"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4pPr>
            <a:lvl5pPr marL="2286000" marR="0" lvl="4"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5pPr>
            <a:lvl6pPr marL="2743200" marR="0" lvl="5"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6pPr>
            <a:lvl7pPr marL="3200400" marR="0" lvl="6"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7pPr>
            <a:lvl8pPr marL="3657600" marR="0" lvl="7"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8pPr>
            <a:lvl9pPr marL="4114800" marR="0" lvl="8"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9pPr>
          </a:lstStyle>
          <a:p>
            <a:pPr marL="177800" indent="0" algn="ctr">
              <a:buFont typeface="Hanken Grotesk"/>
              <a:buNone/>
            </a:pPr>
            <a:r>
              <a:rPr lang="en-US" dirty="0"/>
              <a:t>Understanding this helps understand what makes us human!</a:t>
            </a:r>
          </a:p>
        </p:txBody>
      </p:sp>
    </p:spTree>
    <p:extLst>
      <p:ext uri="{BB962C8B-B14F-4D97-AF65-F5344CB8AC3E}">
        <p14:creationId xmlns:p14="http://schemas.microsoft.com/office/powerpoint/2010/main" val="37634227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499331-96B2-2F4A-20AD-9C6FC203DC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EE426E0-57F4-3532-10FA-5D9EEE2E492F}"/>
              </a:ext>
            </a:extLst>
          </p:cNvPr>
          <p:cNvSpPr>
            <a:spLocks noGrp="1"/>
          </p:cNvSpPr>
          <p:nvPr>
            <p:ph type="title"/>
          </p:nvPr>
        </p:nvSpPr>
        <p:spPr/>
        <p:txBody>
          <a:bodyPr/>
          <a:lstStyle/>
          <a:p>
            <a:pPr algn="ctr"/>
            <a:r>
              <a:rPr lang="en-US" dirty="0"/>
              <a:t>Why do we care about understanding </a:t>
            </a:r>
            <a:br>
              <a:rPr lang="en-US" dirty="0"/>
            </a:br>
            <a:r>
              <a:rPr lang="en-US" dirty="0"/>
              <a:t>the regulatory code?</a:t>
            </a:r>
          </a:p>
        </p:txBody>
      </p:sp>
      <p:sp>
        <p:nvSpPr>
          <p:cNvPr id="4" name="Text Placeholder 2">
            <a:extLst>
              <a:ext uri="{FF2B5EF4-FFF2-40B4-BE49-F238E27FC236}">
                <a16:creationId xmlns:a16="http://schemas.microsoft.com/office/drawing/2014/main" id="{E81AAF18-532B-554A-EAAE-3A491FDB34D6}"/>
              </a:ext>
            </a:extLst>
          </p:cNvPr>
          <p:cNvSpPr txBox="1">
            <a:spLocks/>
          </p:cNvSpPr>
          <p:nvPr/>
        </p:nvSpPr>
        <p:spPr>
          <a:xfrm>
            <a:off x="2061477" y="1527174"/>
            <a:ext cx="5021043" cy="289050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79400" algn="l" rtl="0">
              <a:lnSpc>
                <a:spcPct val="115000"/>
              </a:lnSpc>
              <a:spcBef>
                <a:spcPts val="0"/>
              </a:spcBef>
              <a:spcAft>
                <a:spcPts val="0"/>
              </a:spcAft>
              <a:buClr>
                <a:schemeClr val="dk1"/>
              </a:buClr>
              <a:buSzPts val="800"/>
              <a:buFont typeface="Hanken Grotesk"/>
              <a:buChar char="●"/>
              <a:defRPr sz="1400" b="0" i="0" u="none" strike="noStrike" cap="none">
                <a:solidFill>
                  <a:schemeClr val="dk1"/>
                </a:solidFill>
                <a:latin typeface="Hanken Grotesk"/>
                <a:ea typeface="Hanken Grotesk"/>
                <a:cs typeface="Hanken Grotesk"/>
                <a:sym typeface="Hanken Grotesk"/>
              </a:defRPr>
            </a:lvl1pPr>
            <a:lvl2pPr marL="914400" marR="0" lvl="1"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2pPr>
            <a:lvl3pPr marL="1371600" marR="0" lvl="2"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3pPr>
            <a:lvl4pPr marL="1828800" marR="0" lvl="3"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4pPr>
            <a:lvl5pPr marL="2286000" marR="0" lvl="4"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5pPr>
            <a:lvl6pPr marL="2743200" marR="0" lvl="5"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6pPr>
            <a:lvl7pPr marL="3200400" marR="0" lvl="6"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7pPr>
            <a:lvl8pPr marL="3657600" marR="0" lvl="7"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8pPr>
            <a:lvl9pPr marL="4114800" marR="0" lvl="8"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9pPr>
          </a:lstStyle>
          <a:p>
            <a:pPr marL="177800" indent="0" algn="ctr">
              <a:buFont typeface="Hanken Grotesk"/>
              <a:buNone/>
            </a:pPr>
            <a:r>
              <a:rPr lang="en-US" dirty="0"/>
              <a:t>Understanding what makes us human!</a:t>
            </a:r>
          </a:p>
          <a:p>
            <a:pPr marL="177800" indent="0" algn="ctr">
              <a:buFont typeface="Hanken Grotesk"/>
              <a:buNone/>
            </a:pPr>
            <a:r>
              <a:rPr lang="en-US" b="1" dirty="0"/>
              <a:t>The regulatory code…</a:t>
            </a:r>
          </a:p>
        </p:txBody>
      </p:sp>
      <p:sp>
        <p:nvSpPr>
          <p:cNvPr id="6" name="Text Placeholder 2">
            <a:extLst>
              <a:ext uri="{FF2B5EF4-FFF2-40B4-BE49-F238E27FC236}">
                <a16:creationId xmlns:a16="http://schemas.microsoft.com/office/drawing/2014/main" id="{F420C175-1947-573B-D846-6E28F6C6356F}"/>
              </a:ext>
            </a:extLst>
          </p:cNvPr>
          <p:cNvSpPr txBox="1">
            <a:spLocks/>
          </p:cNvSpPr>
          <p:nvPr/>
        </p:nvSpPr>
        <p:spPr>
          <a:xfrm>
            <a:off x="1895945" y="2535051"/>
            <a:ext cx="1787103" cy="471118"/>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79400" algn="l" rtl="0">
              <a:lnSpc>
                <a:spcPct val="115000"/>
              </a:lnSpc>
              <a:spcBef>
                <a:spcPts val="0"/>
              </a:spcBef>
              <a:spcAft>
                <a:spcPts val="0"/>
              </a:spcAft>
              <a:buClr>
                <a:schemeClr val="dk1"/>
              </a:buClr>
              <a:buSzPts val="800"/>
              <a:buFont typeface="Hanken Grotesk"/>
              <a:buChar char="●"/>
              <a:defRPr sz="1400" b="0" i="0" u="none" strike="noStrike" cap="none">
                <a:solidFill>
                  <a:schemeClr val="dk1"/>
                </a:solidFill>
                <a:latin typeface="Hanken Grotesk"/>
                <a:ea typeface="Hanken Grotesk"/>
                <a:cs typeface="Hanken Grotesk"/>
                <a:sym typeface="Hanken Grotesk"/>
              </a:defRPr>
            </a:lvl1pPr>
            <a:lvl2pPr marL="914400" marR="0" lvl="1"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2pPr>
            <a:lvl3pPr marL="1371600" marR="0" lvl="2"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3pPr>
            <a:lvl4pPr marL="1828800" marR="0" lvl="3"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4pPr>
            <a:lvl5pPr marL="2286000" marR="0" lvl="4"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5pPr>
            <a:lvl6pPr marL="2743200" marR="0" lvl="5"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6pPr>
            <a:lvl7pPr marL="3200400" marR="0" lvl="6"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7pPr>
            <a:lvl8pPr marL="3657600" marR="0" lvl="7"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8pPr>
            <a:lvl9pPr marL="4114800" marR="0" lvl="8"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9pPr>
          </a:lstStyle>
          <a:p>
            <a:pPr marL="177800" indent="0" algn="ctr">
              <a:buFont typeface="Hanken Grotesk"/>
              <a:buNone/>
            </a:pPr>
            <a:r>
              <a:rPr lang="en-US" dirty="0"/>
              <a:t>Different cell types in our body</a:t>
            </a:r>
          </a:p>
        </p:txBody>
      </p:sp>
      <p:sp>
        <p:nvSpPr>
          <p:cNvPr id="9" name="TextBox 8">
            <a:extLst>
              <a:ext uri="{FF2B5EF4-FFF2-40B4-BE49-F238E27FC236}">
                <a16:creationId xmlns:a16="http://schemas.microsoft.com/office/drawing/2014/main" id="{C037F431-4B0C-3EBD-1BF4-5088A0CAF0AA}"/>
              </a:ext>
            </a:extLst>
          </p:cNvPr>
          <p:cNvSpPr txBox="1"/>
          <p:nvPr/>
        </p:nvSpPr>
        <p:spPr>
          <a:xfrm>
            <a:off x="1090819" y="3366127"/>
            <a:ext cx="5062250" cy="307777"/>
          </a:xfrm>
          <a:prstGeom prst="rect">
            <a:avLst/>
          </a:prstGeom>
          <a:noFill/>
        </p:spPr>
        <p:txBody>
          <a:bodyPr wrap="square">
            <a:spAutoFit/>
          </a:bodyPr>
          <a:lstStyle/>
          <a:p>
            <a:endParaRPr lang="en-US" dirty="0"/>
          </a:p>
        </p:txBody>
      </p:sp>
      <p:pic>
        <p:nvPicPr>
          <p:cNvPr id="17" name="Graphic 16" descr="Germ with solid fill">
            <a:extLst>
              <a:ext uri="{FF2B5EF4-FFF2-40B4-BE49-F238E27FC236}">
                <a16:creationId xmlns:a16="http://schemas.microsoft.com/office/drawing/2014/main" id="{E456AB17-14F7-F6A1-8F44-BC3DBE1206A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492716" y="3366127"/>
            <a:ext cx="914400" cy="914400"/>
          </a:xfrm>
          <a:prstGeom prst="rect">
            <a:avLst/>
          </a:prstGeom>
        </p:spPr>
      </p:pic>
      <p:sp>
        <p:nvSpPr>
          <p:cNvPr id="10" name="Text Placeholder 2">
            <a:extLst>
              <a:ext uri="{FF2B5EF4-FFF2-40B4-BE49-F238E27FC236}">
                <a16:creationId xmlns:a16="http://schemas.microsoft.com/office/drawing/2014/main" id="{BDE1D6A6-1BAF-347A-E76F-88DE37AAECCA}"/>
              </a:ext>
            </a:extLst>
          </p:cNvPr>
          <p:cNvSpPr txBox="1">
            <a:spLocks/>
          </p:cNvSpPr>
          <p:nvPr/>
        </p:nvSpPr>
        <p:spPr>
          <a:xfrm>
            <a:off x="1703184" y="2211092"/>
            <a:ext cx="2172624" cy="471118"/>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79400" algn="l" rtl="0">
              <a:lnSpc>
                <a:spcPct val="115000"/>
              </a:lnSpc>
              <a:spcBef>
                <a:spcPts val="0"/>
              </a:spcBef>
              <a:spcAft>
                <a:spcPts val="0"/>
              </a:spcAft>
              <a:buClr>
                <a:schemeClr val="dk1"/>
              </a:buClr>
              <a:buSzPts val="800"/>
              <a:buFont typeface="Hanken Grotesk"/>
              <a:buChar char="●"/>
              <a:defRPr sz="1400" b="0" i="0" u="none" strike="noStrike" cap="none">
                <a:solidFill>
                  <a:schemeClr val="dk1"/>
                </a:solidFill>
                <a:latin typeface="Hanken Grotesk"/>
                <a:ea typeface="Hanken Grotesk"/>
                <a:cs typeface="Hanken Grotesk"/>
                <a:sym typeface="Hanken Grotesk"/>
              </a:defRPr>
            </a:lvl1pPr>
            <a:lvl2pPr marL="914400" marR="0" lvl="1"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2pPr>
            <a:lvl3pPr marL="1371600" marR="0" lvl="2"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3pPr>
            <a:lvl4pPr marL="1828800" marR="0" lvl="3"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4pPr>
            <a:lvl5pPr marL="2286000" marR="0" lvl="4"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5pPr>
            <a:lvl6pPr marL="2743200" marR="0" lvl="5"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6pPr>
            <a:lvl7pPr marL="3200400" marR="0" lvl="6"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7pPr>
            <a:lvl8pPr marL="3657600" marR="0" lvl="7"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8pPr>
            <a:lvl9pPr marL="4114800" marR="0" lvl="8"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9pPr>
          </a:lstStyle>
          <a:p>
            <a:pPr marL="177800" indent="0" algn="ctr">
              <a:buFont typeface="Hanken Grotesk"/>
              <a:buNone/>
            </a:pPr>
            <a:r>
              <a:rPr lang="en-US" b="1" dirty="0"/>
              <a:t>…differentiates cells.</a:t>
            </a:r>
          </a:p>
        </p:txBody>
      </p:sp>
    </p:spTree>
    <p:extLst>
      <p:ext uri="{BB962C8B-B14F-4D97-AF65-F5344CB8AC3E}">
        <p14:creationId xmlns:p14="http://schemas.microsoft.com/office/powerpoint/2010/main" val="5078335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93F851-A954-4EF4-677E-D62145EFA4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A64D35B-1E1A-918E-DDEA-ECB4325BA208}"/>
              </a:ext>
            </a:extLst>
          </p:cNvPr>
          <p:cNvSpPr>
            <a:spLocks noGrp="1"/>
          </p:cNvSpPr>
          <p:nvPr>
            <p:ph type="title"/>
          </p:nvPr>
        </p:nvSpPr>
        <p:spPr/>
        <p:txBody>
          <a:bodyPr/>
          <a:lstStyle/>
          <a:p>
            <a:pPr algn="ctr"/>
            <a:r>
              <a:rPr lang="en-US" dirty="0"/>
              <a:t>Why do we care about understanding </a:t>
            </a:r>
            <a:br>
              <a:rPr lang="en-US" dirty="0"/>
            </a:br>
            <a:r>
              <a:rPr lang="en-US" dirty="0"/>
              <a:t>the regulatory code?</a:t>
            </a:r>
          </a:p>
        </p:txBody>
      </p:sp>
      <p:sp>
        <p:nvSpPr>
          <p:cNvPr id="4" name="Text Placeholder 2">
            <a:extLst>
              <a:ext uri="{FF2B5EF4-FFF2-40B4-BE49-F238E27FC236}">
                <a16:creationId xmlns:a16="http://schemas.microsoft.com/office/drawing/2014/main" id="{28BAC5EE-5B31-0D7F-292A-13A50A979A4C}"/>
              </a:ext>
            </a:extLst>
          </p:cNvPr>
          <p:cNvSpPr txBox="1">
            <a:spLocks/>
          </p:cNvSpPr>
          <p:nvPr/>
        </p:nvSpPr>
        <p:spPr>
          <a:xfrm>
            <a:off x="2061477" y="1527174"/>
            <a:ext cx="5021043" cy="289050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79400" algn="l" rtl="0">
              <a:lnSpc>
                <a:spcPct val="115000"/>
              </a:lnSpc>
              <a:spcBef>
                <a:spcPts val="0"/>
              </a:spcBef>
              <a:spcAft>
                <a:spcPts val="0"/>
              </a:spcAft>
              <a:buClr>
                <a:schemeClr val="dk1"/>
              </a:buClr>
              <a:buSzPts val="800"/>
              <a:buFont typeface="Hanken Grotesk"/>
              <a:buChar char="●"/>
              <a:defRPr sz="1400" b="0" i="0" u="none" strike="noStrike" cap="none">
                <a:solidFill>
                  <a:schemeClr val="dk1"/>
                </a:solidFill>
                <a:latin typeface="Hanken Grotesk"/>
                <a:ea typeface="Hanken Grotesk"/>
                <a:cs typeface="Hanken Grotesk"/>
                <a:sym typeface="Hanken Grotesk"/>
              </a:defRPr>
            </a:lvl1pPr>
            <a:lvl2pPr marL="914400" marR="0" lvl="1"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2pPr>
            <a:lvl3pPr marL="1371600" marR="0" lvl="2"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3pPr>
            <a:lvl4pPr marL="1828800" marR="0" lvl="3"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4pPr>
            <a:lvl5pPr marL="2286000" marR="0" lvl="4"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5pPr>
            <a:lvl6pPr marL="2743200" marR="0" lvl="5"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6pPr>
            <a:lvl7pPr marL="3200400" marR="0" lvl="6"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7pPr>
            <a:lvl8pPr marL="3657600" marR="0" lvl="7"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8pPr>
            <a:lvl9pPr marL="4114800" marR="0" lvl="8"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9pPr>
          </a:lstStyle>
          <a:p>
            <a:pPr marL="177800" indent="0" algn="ctr">
              <a:buFont typeface="Hanken Grotesk"/>
              <a:buNone/>
            </a:pPr>
            <a:r>
              <a:rPr lang="en-US" dirty="0"/>
              <a:t>Understanding what makes us human!</a:t>
            </a:r>
          </a:p>
          <a:p>
            <a:pPr marL="177800" indent="0" algn="ctr">
              <a:buFont typeface="Hanken Grotesk"/>
              <a:buNone/>
            </a:pPr>
            <a:r>
              <a:rPr lang="en-US" b="1" dirty="0"/>
              <a:t>The regulatory code…</a:t>
            </a:r>
          </a:p>
        </p:txBody>
      </p:sp>
      <p:sp>
        <p:nvSpPr>
          <p:cNvPr id="6" name="Text Placeholder 2">
            <a:extLst>
              <a:ext uri="{FF2B5EF4-FFF2-40B4-BE49-F238E27FC236}">
                <a16:creationId xmlns:a16="http://schemas.microsoft.com/office/drawing/2014/main" id="{20F92E83-AD4C-191D-C1A3-A8274EA43832}"/>
              </a:ext>
            </a:extLst>
          </p:cNvPr>
          <p:cNvSpPr txBox="1">
            <a:spLocks/>
          </p:cNvSpPr>
          <p:nvPr/>
        </p:nvSpPr>
        <p:spPr>
          <a:xfrm>
            <a:off x="1895945" y="2535051"/>
            <a:ext cx="1787103" cy="471118"/>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79400" algn="l" rtl="0">
              <a:lnSpc>
                <a:spcPct val="115000"/>
              </a:lnSpc>
              <a:spcBef>
                <a:spcPts val="0"/>
              </a:spcBef>
              <a:spcAft>
                <a:spcPts val="0"/>
              </a:spcAft>
              <a:buClr>
                <a:schemeClr val="dk1"/>
              </a:buClr>
              <a:buSzPts val="800"/>
              <a:buFont typeface="Hanken Grotesk"/>
              <a:buChar char="●"/>
              <a:defRPr sz="1400" b="0" i="0" u="none" strike="noStrike" cap="none">
                <a:solidFill>
                  <a:schemeClr val="dk1"/>
                </a:solidFill>
                <a:latin typeface="Hanken Grotesk"/>
                <a:ea typeface="Hanken Grotesk"/>
                <a:cs typeface="Hanken Grotesk"/>
                <a:sym typeface="Hanken Grotesk"/>
              </a:defRPr>
            </a:lvl1pPr>
            <a:lvl2pPr marL="914400" marR="0" lvl="1"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2pPr>
            <a:lvl3pPr marL="1371600" marR="0" lvl="2"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3pPr>
            <a:lvl4pPr marL="1828800" marR="0" lvl="3"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4pPr>
            <a:lvl5pPr marL="2286000" marR="0" lvl="4"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5pPr>
            <a:lvl6pPr marL="2743200" marR="0" lvl="5"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6pPr>
            <a:lvl7pPr marL="3200400" marR="0" lvl="6"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7pPr>
            <a:lvl8pPr marL="3657600" marR="0" lvl="7"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8pPr>
            <a:lvl9pPr marL="4114800" marR="0" lvl="8"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9pPr>
          </a:lstStyle>
          <a:p>
            <a:pPr marL="177800" indent="0" algn="ctr">
              <a:buFont typeface="Hanken Grotesk"/>
              <a:buNone/>
            </a:pPr>
            <a:r>
              <a:rPr lang="en-US" dirty="0"/>
              <a:t>Different cell types in our body</a:t>
            </a:r>
          </a:p>
        </p:txBody>
      </p:sp>
      <p:sp>
        <p:nvSpPr>
          <p:cNvPr id="7" name="Text Placeholder 2">
            <a:extLst>
              <a:ext uri="{FF2B5EF4-FFF2-40B4-BE49-F238E27FC236}">
                <a16:creationId xmlns:a16="http://schemas.microsoft.com/office/drawing/2014/main" id="{C4857FF0-1BDB-EF4C-FC1E-10C2AD6BAE6B}"/>
              </a:ext>
            </a:extLst>
          </p:cNvPr>
          <p:cNvSpPr txBox="1">
            <a:spLocks/>
          </p:cNvSpPr>
          <p:nvPr/>
        </p:nvSpPr>
        <p:spPr>
          <a:xfrm>
            <a:off x="3771788" y="2535051"/>
            <a:ext cx="1600422" cy="471118"/>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79400" algn="l" rtl="0">
              <a:lnSpc>
                <a:spcPct val="115000"/>
              </a:lnSpc>
              <a:spcBef>
                <a:spcPts val="0"/>
              </a:spcBef>
              <a:spcAft>
                <a:spcPts val="0"/>
              </a:spcAft>
              <a:buClr>
                <a:schemeClr val="dk1"/>
              </a:buClr>
              <a:buSzPts val="800"/>
              <a:buFont typeface="Hanken Grotesk"/>
              <a:buChar char="●"/>
              <a:defRPr sz="1400" b="0" i="0" u="none" strike="noStrike" cap="none">
                <a:solidFill>
                  <a:schemeClr val="dk1"/>
                </a:solidFill>
                <a:latin typeface="Hanken Grotesk"/>
                <a:ea typeface="Hanken Grotesk"/>
                <a:cs typeface="Hanken Grotesk"/>
                <a:sym typeface="Hanken Grotesk"/>
              </a:defRPr>
            </a:lvl1pPr>
            <a:lvl2pPr marL="914400" marR="0" lvl="1"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2pPr>
            <a:lvl3pPr marL="1371600" marR="0" lvl="2"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3pPr>
            <a:lvl4pPr marL="1828800" marR="0" lvl="3"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4pPr>
            <a:lvl5pPr marL="2286000" marR="0" lvl="4"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5pPr>
            <a:lvl6pPr marL="2743200" marR="0" lvl="5"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6pPr>
            <a:lvl7pPr marL="3200400" marR="0" lvl="6"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7pPr>
            <a:lvl8pPr marL="3657600" marR="0" lvl="7"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8pPr>
            <a:lvl9pPr marL="4114800" marR="0" lvl="8"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9pPr>
          </a:lstStyle>
          <a:p>
            <a:pPr marL="177800" indent="0" algn="ctr">
              <a:buFont typeface="Hanken Grotesk"/>
              <a:buNone/>
            </a:pPr>
            <a:r>
              <a:rPr lang="en-US" dirty="0"/>
              <a:t>Our sense </a:t>
            </a:r>
            <a:br>
              <a:rPr lang="en-US" dirty="0"/>
            </a:br>
            <a:r>
              <a:rPr lang="en-US" dirty="0"/>
              <a:t>of smell</a:t>
            </a:r>
          </a:p>
        </p:txBody>
      </p:sp>
      <p:sp>
        <p:nvSpPr>
          <p:cNvPr id="9" name="TextBox 8">
            <a:extLst>
              <a:ext uri="{FF2B5EF4-FFF2-40B4-BE49-F238E27FC236}">
                <a16:creationId xmlns:a16="http://schemas.microsoft.com/office/drawing/2014/main" id="{D9A6C9B8-CEC0-A876-AB8A-A229652CCDAE}"/>
              </a:ext>
            </a:extLst>
          </p:cNvPr>
          <p:cNvSpPr txBox="1"/>
          <p:nvPr/>
        </p:nvSpPr>
        <p:spPr>
          <a:xfrm>
            <a:off x="1090819" y="3366127"/>
            <a:ext cx="5062250" cy="307777"/>
          </a:xfrm>
          <a:prstGeom prst="rect">
            <a:avLst/>
          </a:prstGeom>
          <a:noFill/>
        </p:spPr>
        <p:txBody>
          <a:bodyPr wrap="square">
            <a:spAutoFit/>
          </a:bodyPr>
          <a:lstStyle/>
          <a:p>
            <a:endParaRPr lang="en-US" dirty="0"/>
          </a:p>
        </p:txBody>
      </p:sp>
      <p:pic>
        <p:nvPicPr>
          <p:cNvPr id="17" name="Graphic 16" descr="Germ with solid fill">
            <a:extLst>
              <a:ext uri="{FF2B5EF4-FFF2-40B4-BE49-F238E27FC236}">
                <a16:creationId xmlns:a16="http://schemas.microsoft.com/office/drawing/2014/main" id="{754E6445-A4FE-B2D2-6156-ECFB8614261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492716" y="3366127"/>
            <a:ext cx="914400" cy="914400"/>
          </a:xfrm>
          <a:prstGeom prst="rect">
            <a:avLst/>
          </a:prstGeom>
        </p:spPr>
      </p:pic>
      <p:pic>
        <p:nvPicPr>
          <p:cNvPr id="19" name="Graphic 18" descr="Nose with solid fill">
            <a:extLst>
              <a:ext uri="{FF2B5EF4-FFF2-40B4-BE49-F238E27FC236}">
                <a16:creationId xmlns:a16="http://schemas.microsoft.com/office/drawing/2014/main" id="{0D564FBE-ACDB-9079-4F18-B342FA88C3B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205839" y="3366127"/>
            <a:ext cx="914400" cy="914400"/>
          </a:xfrm>
          <a:prstGeom prst="rect">
            <a:avLst/>
          </a:prstGeom>
        </p:spPr>
      </p:pic>
      <p:sp>
        <p:nvSpPr>
          <p:cNvPr id="3" name="Text Placeholder 2">
            <a:extLst>
              <a:ext uri="{FF2B5EF4-FFF2-40B4-BE49-F238E27FC236}">
                <a16:creationId xmlns:a16="http://schemas.microsoft.com/office/drawing/2014/main" id="{96D8913B-BF71-DA55-DDB9-7A51C72174B7}"/>
              </a:ext>
            </a:extLst>
          </p:cNvPr>
          <p:cNvSpPr txBox="1">
            <a:spLocks/>
          </p:cNvSpPr>
          <p:nvPr/>
        </p:nvSpPr>
        <p:spPr>
          <a:xfrm>
            <a:off x="3678448" y="2211092"/>
            <a:ext cx="1787103" cy="471118"/>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79400" algn="l" rtl="0">
              <a:lnSpc>
                <a:spcPct val="115000"/>
              </a:lnSpc>
              <a:spcBef>
                <a:spcPts val="0"/>
              </a:spcBef>
              <a:spcAft>
                <a:spcPts val="0"/>
              </a:spcAft>
              <a:buClr>
                <a:schemeClr val="dk1"/>
              </a:buClr>
              <a:buSzPts val="800"/>
              <a:buFont typeface="Hanken Grotesk"/>
              <a:buChar char="●"/>
              <a:defRPr sz="1400" b="0" i="0" u="none" strike="noStrike" cap="none">
                <a:solidFill>
                  <a:schemeClr val="dk1"/>
                </a:solidFill>
                <a:latin typeface="Hanken Grotesk"/>
                <a:ea typeface="Hanken Grotesk"/>
                <a:cs typeface="Hanken Grotesk"/>
                <a:sym typeface="Hanken Grotesk"/>
              </a:defRPr>
            </a:lvl1pPr>
            <a:lvl2pPr marL="914400" marR="0" lvl="1"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2pPr>
            <a:lvl3pPr marL="1371600" marR="0" lvl="2"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3pPr>
            <a:lvl4pPr marL="1828800" marR="0" lvl="3"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4pPr>
            <a:lvl5pPr marL="2286000" marR="0" lvl="4"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5pPr>
            <a:lvl6pPr marL="2743200" marR="0" lvl="5"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6pPr>
            <a:lvl7pPr marL="3200400" marR="0" lvl="6"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7pPr>
            <a:lvl8pPr marL="3657600" marR="0" lvl="7"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8pPr>
            <a:lvl9pPr marL="4114800" marR="0" lvl="8"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9pPr>
          </a:lstStyle>
          <a:p>
            <a:pPr marL="177800" indent="0" algn="ctr">
              <a:buFont typeface="Hanken Grotesk"/>
              <a:buNone/>
            </a:pPr>
            <a:r>
              <a:rPr lang="en-US" b="1" dirty="0"/>
              <a:t>…is precise.</a:t>
            </a:r>
          </a:p>
        </p:txBody>
      </p:sp>
      <p:sp>
        <p:nvSpPr>
          <p:cNvPr id="10" name="Text Placeholder 2">
            <a:extLst>
              <a:ext uri="{FF2B5EF4-FFF2-40B4-BE49-F238E27FC236}">
                <a16:creationId xmlns:a16="http://schemas.microsoft.com/office/drawing/2014/main" id="{94AF8BD8-A36E-DD78-2444-0F859463322D}"/>
              </a:ext>
            </a:extLst>
          </p:cNvPr>
          <p:cNvSpPr txBox="1">
            <a:spLocks/>
          </p:cNvSpPr>
          <p:nvPr/>
        </p:nvSpPr>
        <p:spPr>
          <a:xfrm>
            <a:off x="1703184" y="2211092"/>
            <a:ext cx="2172624" cy="471118"/>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79400" algn="l" rtl="0">
              <a:lnSpc>
                <a:spcPct val="115000"/>
              </a:lnSpc>
              <a:spcBef>
                <a:spcPts val="0"/>
              </a:spcBef>
              <a:spcAft>
                <a:spcPts val="0"/>
              </a:spcAft>
              <a:buClr>
                <a:schemeClr val="dk1"/>
              </a:buClr>
              <a:buSzPts val="800"/>
              <a:buFont typeface="Hanken Grotesk"/>
              <a:buChar char="●"/>
              <a:defRPr sz="1400" b="0" i="0" u="none" strike="noStrike" cap="none">
                <a:solidFill>
                  <a:schemeClr val="dk1"/>
                </a:solidFill>
                <a:latin typeface="Hanken Grotesk"/>
                <a:ea typeface="Hanken Grotesk"/>
                <a:cs typeface="Hanken Grotesk"/>
                <a:sym typeface="Hanken Grotesk"/>
              </a:defRPr>
            </a:lvl1pPr>
            <a:lvl2pPr marL="914400" marR="0" lvl="1"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2pPr>
            <a:lvl3pPr marL="1371600" marR="0" lvl="2"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3pPr>
            <a:lvl4pPr marL="1828800" marR="0" lvl="3"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4pPr>
            <a:lvl5pPr marL="2286000" marR="0" lvl="4"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5pPr>
            <a:lvl6pPr marL="2743200" marR="0" lvl="5"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6pPr>
            <a:lvl7pPr marL="3200400" marR="0" lvl="6"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7pPr>
            <a:lvl8pPr marL="3657600" marR="0" lvl="7"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8pPr>
            <a:lvl9pPr marL="4114800" marR="0" lvl="8"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9pPr>
          </a:lstStyle>
          <a:p>
            <a:pPr marL="177800" indent="0" algn="ctr">
              <a:buFont typeface="Hanken Grotesk"/>
              <a:buNone/>
            </a:pPr>
            <a:r>
              <a:rPr lang="en-US" b="1" dirty="0"/>
              <a:t>…differentiates cells.</a:t>
            </a:r>
          </a:p>
        </p:txBody>
      </p:sp>
    </p:spTree>
    <p:extLst>
      <p:ext uri="{BB962C8B-B14F-4D97-AF65-F5344CB8AC3E}">
        <p14:creationId xmlns:p14="http://schemas.microsoft.com/office/powerpoint/2010/main" val="19939624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58FDAB-72C4-DC5B-06D0-3672E70E4D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D05D644-6C97-6F69-36DC-CB2EB25FA7BD}"/>
              </a:ext>
            </a:extLst>
          </p:cNvPr>
          <p:cNvSpPr>
            <a:spLocks noGrp="1"/>
          </p:cNvSpPr>
          <p:nvPr>
            <p:ph type="title"/>
          </p:nvPr>
        </p:nvSpPr>
        <p:spPr/>
        <p:txBody>
          <a:bodyPr/>
          <a:lstStyle/>
          <a:p>
            <a:pPr algn="ctr"/>
            <a:r>
              <a:rPr lang="en-US" dirty="0"/>
              <a:t>Why do we care about understanding </a:t>
            </a:r>
            <a:br>
              <a:rPr lang="en-US" dirty="0"/>
            </a:br>
            <a:r>
              <a:rPr lang="en-US" dirty="0"/>
              <a:t>the regulatory code?</a:t>
            </a:r>
          </a:p>
        </p:txBody>
      </p:sp>
      <p:sp>
        <p:nvSpPr>
          <p:cNvPr id="4" name="Text Placeholder 2">
            <a:extLst>
              <a:ext uri="{FF2B5EF4-FFF2-40B4-BE49-F238E27FC236}">
                <a16:creationId xmlns:a16="http://schemas.microsoft.com/office/drawing/2014/main" id="{4AF9E1A9-7306-E111-D307-A2DFC3818E35}"/>
              </a:ext>
            </a:extLst>
          </p:cNvPr>
          <p:cNvSpPr txBox="1">
            <a:spLocks/>
          </p:cNvSpPr>
          <p:nvPr/>
        </p:nvSpPr>
        <p:spPr>
          <a:xfrm>
            <a:off x="2061477" y="1527174"/>
            <a:ext cx="5021043" cy="289050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79400" algn="l" rtl="0">
              <a:lnSpc>
                <a:spcPct val="115000"/>
              </a:lnSpc>
              <a:spcBef>
                <a:spcPts val="0"/>
              </a:spcBef>
              <a:spcAft>
                <a:spcPts val="0"/>
              </a:spcAft>
              <a:buClr>
                <a:schemeClr val="dk1"/>
              </a:buClr>
              <a:buSzPts val="800"/>
              <a:buFont typeface="Hanken Grotesk"/>
              <a:buChar char="●"/>
              <a:defRPr sz="1400" b="0" i="0" u="none" strike="noStrike" cap="none">
                <a:solidFill>
                  <a:schemeClr val="dk1"/>
                </a:solidFill>
                <a:latin typeface="Hanken Grotesk"/>
                <a:ea typeface="Hanken Grotesk"/>
                <a:cs typeface="Hanken Grotesk"/>
                <a:sym typeface="Hanken Grotesk"/>
              </a:defRPr>
            </a:lvl1pPr>
            <a:lvl2pPr marL="914400" marR="0" lvl="1"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2pPr>
            <a:lvl3pPr marL="1371600" marR="0" lvl="2"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3pPr>
            <a:lvl4pPr marL="1828800" marR="0" lvl="3"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4pPr>
            <a:lvl5pPr marL="2286000" marR="0" lvl="4"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5pPr>
            <a:lvl6pPr marL="2743200" marR="0" lvl="5"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6pPr>
            <a:lvl7pPr marL="3200400" marR="0" lvl="6"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7pPr>
            <a:lvl8pPr marL="3657600" marR="0" lvl="7"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8pPr>
            <a:lvl9pPr marL="4114800" marR="0" lvl="8"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9pPr>
          </a:lstStyle>
          <a:p>
            <a:pPr marL="177800" indent="0" algn="ctr">
              <a:buFont typeface="Hanken Grotesk"/>
              <a:buNone/>
            </a:pPr>
            <a:r>
              <a:rPr lang="en-US" dirty="0"/>
              <a:t>Understanding what makes us human!</a:t>
            </a:r>
          </a:p>
          <a:p>
            <a:pPr marL="177800" indent="0" algn="ctr">
              <a:buFont typeface="Hanken Grotesk"/>
              <a:buNone/>
            </a:pPr>
            <a:r>
              <a:rPr lang="en-US" b="1" dirty="0"/>
              <a:t>The regulatory code…</a:t>
            </a:r>
          </a:p>
        </p:txBody>
      </p:sp>
      <p:sp>
        <p:nvSpPr>
          <p:cNvPr id="6" name="Text Placeholder 2">
            <a:extLst>
              <a:ext uri="{FF2B5EF4-FFF2-40B4-BE49-F238E27FC236}">
                <a16:creationId xmlns:a16="http://schemas.microsoft.com/office/drawing/2014/main" id="{E08153E0-5216-F300-1361-C86F91AF2833}"/>
              </a:ext>
            </a:extLst>
          </p:cNvPr>
          <p:cNvSpPr txBox="1">
            <a:spLocks/>
          </p:cNvSpPr>
          <p:nvPr/>
        </p:nvSpPr>
        <p:spPr>
          <a:xfrm>
            <a:off x="1895945" y="2535051"/>
            <a:ext cx="1787103" cy="471118"/>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79400" algn="l" rtl="0">
              <a:lnSpc>
                <a:spcPct val="115000"/>
              </a:lnSpc>
              <a:spcBef>
                <a:spcPts val="0"/>
              </a:spcBef>
              <a:spcAft>
                <a:spcPts val="0"/>
              </a:spcAft>
              <a:buClr>
                <a:schemeClr val="dk1"/>
              </a:buClr>
              <a:buSzPts val="800"/>
              <a:buFont typeface="Hanken Grotesk"/>
              <a:buChar char="●"/>
              <a:defRPr sz="1400" b="0" i="0" u="none" strike="noStrike" cap="none">
                <a:solidFill>
                  <a:schemeClr val="dk1"/>
                </a:solidFill>
                <a:latin typeface="Hanken Grotesk"/>
                <a:ea typeface="Hanken Grotesk"/>
                <a:cs typeface="Hanken Grotesk"/>
                <a:sym typeface="Hanken Grotesk"/>
              </a:defRPr>
            </a:lvl1pPr>
            <a:lvl2pPr marL="914400" marR="0" lvl="1"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2pPr>
            <a:lvl3pPr marL="1371600" marR="0" lvl="2"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3pPr>
            <a:lvl4pPr marL="1828800" marR="0" lvl="3"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4pPr>
            <a:lvl5pPr marL="2286000" marR="0" lvl="4"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5pPr>
            <a:lvl6pPr marL="2743200" marR="0" lvl="5"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6pPr>
            <a:lvl7pPr marL="3200400" marR="0" lvl="6"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7pPr>
            <a:lvl8pPr marL="3657600" marR="0" lvl="7"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8pPr>
            <a:lvl9pPr marL="4114800" marR="0" lvl="8"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9pPr>
          </a:lstStyle>
          <a:p>
            <a:pPr marL="177800" indent="0" algn="ctr">
              <a:buFont typeface="Hanken Grotesk"/>
              <a:buNone/>
            </a:pPr>
            <a:r>
              <a:rPr lang="en-US" dirty="0"/>
              <a:t>Different cell types in our body</a:t>
            </a:r>
          </a:p>
        </p:txBody>
      </p:sp>
      <p:sp>
        <p:nvSpPr>
          <p:cNvPr id="7" name="Text Placeholder 2">
            <a:extLst>
              <a:ext uri="{FF2B5EF4-FFF2-40B4-BE49-F238E27FC236}">
                <a16:creationId xmlns:a16="http://schemas.microsoft.com/office/drawing/2014/main" id="{CE1B3BE5-BAD1-6814-D539-A6E59B5A4A94}"/>
              </a:ext>
            </a:extLst>
          </p:cNvPr>
          <p:cNvSpPr txBox="1">
            <a:spLocks/>
          </p:cNvSpPr>
          <p:nvPr/>
        </p:nvSpPr>
        <p:spPr>
          <a:xfrm>
            <a:off x="3771788" y="2535051"/>
            <a:ext cx="1600422" cy="471118"/>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79400" algn="l" rtl="0">
              <a:lnSpc>
                <a:spcPct val="115000"/>
              </a:lnSpc>
              <a:spcBef>
                <a:spcPts val="0"/>
              </a:spcBef>
              <a:spcAft>
                <a:spcPts val="0"/>
              </a:spcAft>
              <a:buClr>
                <a:schemeClr val="dk1"/>
              </a:buClr>
              <a:buSzPts val="800"/>
              <a:buFont typeface="Hanken Grotesk"/>
              <a:buChar char="●"/>
              <a:defRPr sz="1400" b="0" i="0" u="none" strike="noStrike" cap="none">
                <a:solidFill>
                  <a:schemeClr val="dk1"/>
                </a:solidFill>
                <a:latin typeface="Hanken Grotesk"/>
                <a:ea typeface="Hanken Grotesk"/>
                <a:cs typeface="Hanken Grotesk"/>
                <a:sym typeface="Hanken Grotesk"/>
              </a:defRPr>
            </a:lvl1pPr>
            <a:lvl2pPr marL="914400" marR="0" lvl="1"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2pPr>
            <a:lvl3pPr marL="1371600" marR="0" lvl="2"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3pPr>
            <a:lvl4pPr marL="1828800" marR="0" lvl="3"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4pPr>
            <a:lvl5pPr marL="2286000" marR="0" lvl="4"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5pPr>
            <a:lvl6pPr marL="2743200" marR="0" lvl="5"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6pPr>
            <a:lvl7pPr marL="3200400" marR="0" lvl="6"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7pPr>
            <a:lvl8pPr marL="3657600" marR="0" lvl="7"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8pPr>
            <a:lvl9pPr marL="4114800" marR="0" lvl="8"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9pPr>
          </a:lstStyle>
          <a:p>
            <a:pPr marL="177800" indent="0" algn="ctr">
              <a:buFont typeface="Hanken Grotesk"/>
              <a:buNone/>
            </a:pPr>
            <a:r>
              <a:rPr lang="en-US" dirty="0"/>
              <a:t>Our sense </a:t>
            </a:r>
            <a:br>
              <a:rPr lang="en-US" dirty="0"/>
            </a:br>
            <a:r>
              <a:rPr lang="en-US" dirty="0"/>
              <a:t>of smell</a:t>
            </a:r>
          </a:p>
        </p:txBody>
      </p:sp>
      <p:sp>
        <p:nvSpPr>
          <p:cNvPr id="8" name="Text Placeholder 2">
            <a:extLst>
              <a:ext uri="{FF2B5EF4-FFF2-40B4-BE49-F238E27FC236}">
                <a16:creationId xmlns:a16="http://schemas.microsoft.com/office/drawing/2014/main" id="{C519412E-3B58-2541-6197-ACAFC94C3E00}"/>
              </a:ext>
            </a:extLst>
          </p:cNvPr>
          <p:cNvSpPr txBox="1">
            <a:spLocks/>
          </p:cNvSpPr>
          <p:nvPr/>
        </p:nvSpPr>
        <p:spPr>
          <a:xfrm>
            <a:off x="5372210" y="2535051"/>
            <a:ext cx="1988917" cy="471118"/>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79400" algn="l" rtl="0">
              <a:lnSpc>
                <a:spcPct val="115000"/>
              </a:lnSpc>
              <a:spcBef>
                <a:spcPts val="0"/>
              </a:spcBef>
              <a:spcAft>
                <a:spcPts val="0"/>
              </a:spcAft>
              <a:buClr>
                <a:schemeClr val="dk1"/>
              </a:buClr>
              <a:buSzPts val="800"/>
              <a:buFont typeface="Hanken Grotesk"/>
              <a:buChar char="●"/>
              <a:defRPr sz="1400" b="0" i="0" u="none" strike="noStrike" cap="none">
                <a:solidFill>
                  <a:schemeClr val="dk1"/>
                </a:solidFill>
                <a:latin typeface="Hanken Grotesk"/>
                <a:ea typeface="Hanken Grotesk"/>
                <a:cs typeface="Hanken Grotesk"/>
                <a:sym typeface="Hanken Grotesk"/>
              </a:defRPr>
            </a:lvl1pPr>
            <a:lvl2pPr marL="914400" marR="0" lvl="1"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2pPr>
            <a:lvl3pPr marL="1371600" marR="0" lvl="2"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3pPr>
            <a:lvl4pPr marL="1828800" marR="0" lvl="3"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4pPr>
            <a:lvl5pPr marL="2286000" marR="0" lvl="4"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5pPr>
            <a:lvl6pPr marL="2743200" marR="0" lvl="5"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6pPr>
            <a:lvl7pPr marL="3200400" marR="0" lvl="6"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7pPr>
            <a:lvl8pPr marL="3657600" marR="0" lvl="7"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8pPr>
            <a:lvl9pPr marL="4114800" marR="0" lvl="8"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9pPr>
          </a:lstStyle>
          <a:p>
            <a:pPr marL="177800" indent="0" algn="ctr">
              <a:buFont typeface="Hanken Grotesk"/>
              <a:buNone/>
            </a:pPr>
            <a:r>
              <a:rPr lang="en-US" dirty="0"/>
              <a:t>How muscles respond to exercise</a:t>
            </a:r>
          </a:p>
        </p:txBody>
      </p:sp>
      <p:sp>
        <p:nvSpPr>
          <p:cNvPr id="9" name="TextBox 8">
            <a:extLst>
              <a:ext uri="{FF2B5EF4-FFF2-40B4-BE49-F238E27FC236}">
                <a16:creationId xmlns:a16="http://schemas.microsoft.com/office/drawing/2014/main" id="{8549D239-3C86-F62F-F0BA-54471789B58B}"/>
              </a:ext>
            </a:extLst>
          </p:cNvPr>
          <p:cNvSpPr txBox="1"/>
          <p:nvPr/>
        </p:nvSpPr>
        <p:spPr>
          <a:xfrm>
            <a:off x="1090819" y="3366127"/>
            <a:ext cx="5062250" cy="307777"/>
          </a:xfrm>
          <a:prstGeom prst="rect">
            <a:avLst/>
          </a:prstGeom>
          <a:noFill/>
        </p:spPr>
        <p:txBody>
          <a:bodyPr wrap="square">
            <a:spAutoFit/>
          </a:bodyPr>
          <a:lstStyle/>
          <a:p>
            <a:endParaRPr lang="en-US" dirty="0"/>
          </a:p>
        </p:txBody>
      </p:sp>
      <p:pic>
        <p:nvPicPr>
          <p:cNvPr id="17" name="Graphic 16" descr="Germ with solid fill">
            <a:extLst>
              <a:ext uri="{FF2B5EF4-FFF2-40B4-BE49-F238E27FC236}">
                <a16:creationId xmlns:a16="http://schemas.microsoft.com/office/drawing/2014/main" id="{F631707B-78E5-ADE9-82AF-FFEE91F3808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492716" y="3366127"/>
            <a:ext cx="914400" cy="914400"/>
          </a:xfrm>
          <a:prstGeom prst="rect">
            <a:avLst/>
          </a:prstGeom>
        </p:spPr>
      </p:pic>
      <p:pic>
        <p:nvPicPr>
          <p:cNvPr id="19" name="Graphic 18" descr="Nose with solid fill">
            <a:extLst>
              <a:ext uri="{FF2B5EF4-FFF2-40B4-BE49-F238E27FC236}">
                <a16:creationId xmlns:a16="http://schemas.microsoft.com/office/drawing/2014/main" id="{AE2E5616-7B97-77BF-B114-7684A3C0CFC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205839" y="3366127"/>
            <a:ext cx="914400" cy="914400"/>
          </a:xfrm>
          <a:prstGeom prst="rect">
            <a:avLst/>
          </a:prstGeom>
        </p:spPr>
      </p:pic>
      <p:pic>
        <p:nvPicPr>
          <p:cNvPr id="21" name="Graphic 20" descr="Muscular arm with solid fill">
            <a:extLst>
              <a:ext uri="{FF2B5EF4-FFF2-40B4-BE49-F238E27FC236}">
                <a16:creationId xmlns:a16="http://schemas.microsoft.com/office/drawing/2014/main" id="{D6A6B849-41D2-F6CA-87A4-BDD564491EE0}"/>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918962" y="3366127"/>
            <a:ext cx="914400" cy="914400"/>
          </a:xfrm>
          <a:prstGeom prst="rect">
            <a:avLst/>
          </a:prstGeom>
        </p:spPr>
      </p:pic>
      <p:sp>
        <p:nvSpPr>
          <p:cNvPr id="3" name="Text Placeholder 2">
            <a:extLst>
              <a:ext uri="{FF2B5EF4-FFF2-40B4-BE49-F238E27FC236}">
                <a16:creationId xmlns:a16="http://schemas.microsoft.com/office/drawing/2014/main" id="{CA800222-C79E-2551-80E0-25D83264528B}"/>
              </a:ext>
            </a:extLst>
          </p:cNvPr>
          <p:cNvSpPr txBox="1">
            <a:spLocks/>
          </p:cNvSpPr>
          <p:nvPr/>
        </p:nvSpPr>
        <p:spPr>
          <a:xfrm>
            <a:off x="3678448" y="2211092"/>
            <a:ext cx="1787103" cy="471118"/>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79400" algn="l" rtl="0">
              <a:lnSpc>
                <a:spcPct val="115000"/>
              </a:lnSpc>
              <a:spcBef>
                <a:spcPts val="0"/>
              </a:spcBef>
              <a:spcAft>
                <a:spcPts val="0"/>
              </a:spcAft>
              <a:buClr>
                <a:schemeClr val="dk1"/>
              </a:buClr>
              <a:buSzPts val="800"/>
              <a:buFont typeface="Hanken Grotesk"/>
              <a:buChar char="●"/>
              <a:defRPr sz="1400" b="0" i="0" u="none" strike="noStrike" cap="none">
                <a:solidFill>
                  <a:schemeClr val="dk1"/>
                </a:solidFill>
                <a:latin typeface="Hanken Grotesk"/>
                <a:ea typeface="Hanken Grotesk"/>
                <a:cs typeface="Hanken Grotesk"/>
                <a:sym typeface="Hanken Grotesk"/>
              </a:defRPr>
            </a:lvl1pPr>
            <a:lvl2pPr marL="914400" marR="0" lvl="1"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2pPr>
            <a:lvl3pPr marL="1371600" marR="0" lvl="2"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3pPr>
            <a:lvl4pPr marL="1828800" marR="0" lvl="3"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4pPr>
            <a:lvl5pPr marL="2286000" marR="0" lvl="4"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5pPr>
            <a:lvl6pPr marL="2743200" marR="0" lvl="5"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6pPr>
            <a:lvl7pPr marL="3200400" marR="0" lvl="6"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7pPr>
            <a:lvl8pPr marL="3657600" marR="0" lvl="7"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8pPr>
            <a:lvl9pPr marL="4114800" marR="0" lvl="8"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9pPr>
          </a:lstStyle>
          <a:p>
            <a:pPr marL="177800" indent="0" algn="ctr">
              <a:buFont typeface="Hanken Grotesk"/>
              <a:buNone/>
            </a:pPr>
            <a:r>
              <a:rPr lang="en-US" b="1" dirty="0"/>
              <a:t>…is precise.</a:t>
            </a:r>
          </a:p>
        </p:txBody>
      </p:sp>
      <p:sp>
        <p:nvSpPr>
          <p:cNvPr id="5" name="Text Placeholder 2">
            <a:extLst>
              <a:ext uri="{FF2B5EF4-FFF2-40B4-BE49-F238E27FC236}">
                <a16:creationId xmlns:a16="http://schemas.microsoft.com/office/drawing/2014/main" id="{29DA974D-3E64-5141-6748-6238804C48C5}"/>
              </a:ext>
            </a:extLst>
          </p:cNvPr>
          <p:cNvSpPr txBox="1">
            <a:spLocks/>
          </p:cNvSpPr>
          <p:nvPr/>
        </p:nvSpPr>
        <p:spPr>
          <a:xfrm>
            <a:off x="5460949" y="2211092"/>
            <a:ext cx="1787103" cy="471118"/>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79400" algn="l" rtl="0">
              <a:lnSpc>
                <a:spcPct val="115000"/>
              </a:lnSpc>
              <a:spcBef>
                <a:spcPts val="0"/>
              </a:spcBef>
              <a:spcAft>
                <a:spcPts val="0"/>
              </a:spcAft>
              <a:buClr>
                <a:schemeClr val="dk1"/>
              </a:buClr>
              <a:buSzPts val="800"/>
              <a:buFont typeface="Hanken Grotesk"/>
              <a:buChar char="●"/>
              <a:defRPr sz="1400" b="0" i="0" u="none" strike="noStrike" cap="none">
                <a:solidFill>
                  <a:schemeClr val="dk1"/>
                </a:solidFill>
                <a:latin typeface="Hanken Grotesk"/>
                <a:ea typeface="Hanken Grotesk"/>
                <a:cs typeface="Hanken Grotesk"/>
                <a:sym typeface="Hanken Grotesk"/>
              </a:defRPr>
            </a:lvl1pPr>
            <a:lvl2pPr marL="914400" marR="0" lvl="1"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2pPr>
            <a:lvl3pPr marL="1371600" marR="0" lvl="2"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3pPr>
            <a:lvl4pPr marL="1828800" marR="0" lvl="3"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4pPr>
            <a:lvl5pPr marL="2286000" marR="0" lvl="4"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5pPr>
            <a:lvl6pPr marL="2743200" marR="0" lvl="5"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6pPr>
            <a:lvl7pPr marL="3200400" marR="0" lvl="6"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7pPr>
            <a:lvl8pPr marL="3657600" marR="0" lvl="7"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8pPr>
            <a:lvl9pPr marL="4114800" marR="0" lvl="8"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9pPr>
          </a:lstStyle>
          <a:p>
            <a:pPr marL="177800" indent="0" algn="ctr">
              <a:buFont typeface="Hanken Grotesk"/>
              <a:buNone/>
            </a:pPr>
            <a:r>
              <a:rPr lang="en-US" b="1" dirty="0"/>
              <a:t>…is responsive.</a:t>
            </a:r>
          </a:p>
        </p:txBody>
      </p:sp>
      <p:sp>
        <p:nvSpPr>
          <p:cNvPr id="10" name="Text Placeholder 2">
            <a:extLst>
              <a:ext uri="{FF2B5EF4-FFF2-40B4-BE49-F238E27FC236}">
                <a16:creationId xmlns:a16="http://schemas.microsoft.com/office/drawing/2014/main" id="{60D74FF4-3472-0D9C-0E96-72F6BAA0472B}"/>
              </a:ext>
            </a:extLst>
          </p:cNvPr>
          <p:cNvSpPr txBox="1">
            <a:spLocks/>
          </p:cNvSpPr>
          <p:nvPr/>
        </p:nvSpPr>
        <p:spPr>
          <a:xfrm>
            <a:off x="1703184" y="2211092"/>
            <a:ext cx="2172624" cy="471118"/>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79400" algn="l" rtl="0">
              <a:lnSpc>
                <a:spcPct val="115000"/>
              </a:lnSpc>
              <a:spcBef>
                <a:spcPts val="0"/>
              </a:spcBef>
              <a:spcAft>
                <a:spcPts val="0"/>
              </a:spcAft>
              <a:buClr>
                <a:schemeClr val="dk1"/>
              </a:buClr>
              <a:buSzPts val="800"/>
              <a:buFont typeface="Hanken Grotesk"/>
              <a:buChar char="●"/>
              <a:defRPr sz="1400" b="0" i="0" u="none" strike="noStrike" cap="none">
                <a:solidFill>
                  <a:schemeClr val="dk1"/>
                </a:solidFill>
                <a:latin typeface="Hanken Grotesk"/>
                <a:ea typeface="Hanken Grotesk"/>
                <a:cs typeface="Hanken Grotesk"/>
                <a:sym typeface="Hanken Grotesk"/>
              </a:defRPr>
            </a:lvl1pPr>
            <a:lvl2pPr marL="914400" marR="0" lvl="1"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2pPr>
            <a:lvl3pPr marL="1371600" marR="0" lvl="2"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3pPr>
            <a:lvl4pPr marL="1828800" marR="0" lvl="3"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4pPr>
            <a:lvl5pPr marL="2286000" marR="0" lvl="4"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5pPr>
            <a:lvl6pPr marL="2743200" marR="0" lvl="5"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6pPr>
            <a:lvl7pPr marL="3200400" marR="0" lvl="6"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7pPr>
            <a:lvl8pPr marL="3657600" marR="0" lvl="7"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8pPr>
            <a:lvl9pPr marL="4114800" marR="0" lvl="8"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9pPr>
          </a:lstStyle>
          <a:p>
            <a:pPr marL="177800" indent="0" algn="ctr">
              <a:buFont typeface="Hanken Grotesk"/>
              <a:buNone/>
            </a:pPr>
            <a:r>
              <a:rPr lang="en-US" b="1" dirty="0"/>
              <a:t>…differentiates cells.</a:t>
            </a:r>
          </a:p>
        </p:txBody>
      </p:sp>
    </p:spTree>
    <p:extLst>
      <p:ext uri="{BB962C8B-B14F-4D97-AF65-F5344CB8AC3E}">
        <p14:creationId xmlns:p14="http://schemas.microsoft.com/office/powerpoint/2010/main" val="7237519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67DA2D-840B-03DC-38BD-4B1F4E1BA00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19FF4A7-056C-1B3F-2C31-20FDB09F73FA}"/>
              </a:ext>
            </a:extLst>
          </p:cNvPr>
          <p:cNvSpPr>
            <a:spLocks noGrp="1"/>
          </p:cNvSpPr>
          <p:nvPr>
            <p:ph type="title"/>
          </p:nvPr>
        </p:nvSpPr>
        <p:spPr/>
        <p:txBody>
          <a:bodyPr/>
          <a:lstStyle/>
          <a:p>
            <a:r>
              <a:rPr lang="en-US" sz="2400" dirty="0"/>
              <a:t>Self-supervised language models learn statistical understanding of language without labels</a:t>
            </a:r>
          </a:p>
        </p:txBody>
      </p:sp>
      <p:pic>
        <p:nvPicPr>
          <p:cNvPr id="4" name="Picture 3">
            <a:extLst>
              <a:ext uri="{FF2B5EF4-FFF2-40B4-BE49-F238E27FC236}">
                <a16:creationId xmlns:a16="http://schemas.microsoft.com/office/drawing/2014/main" id="{1875F635-1B88-BA9B-D8E5-1AC88634743F}"/>
              </a:ext>
            </a:extLst>
          </p:cNvPr>
          <p:cNvPicPr>
            <a:picLocks noChangeAspect="1"/>
          </p:cNvPicPr>
          <p:nvPr/>
        </p:nvPicPr>
        <p:blipFill>
          <a:blip r:embed="rId3"/>
          <a:srcRect b="46743"/>
          <a:stretch>
            <a:fillRect/>
          </a:stretch>
        </p:blipFill>
        <p:spPr>
          <a:xfrm>
            <a:off x="720000" y="1855150"/>
            <a:ext cx="7491470" cy="2001551"/>
          </a:xfrm>
          <a:prstGeom prst="rect">
            <a:avLst/>
          </a:prstGeom>
        </p:spPr>
      </p:pic>
      <p:sp>
        <p:nvSpPr>
          <p:cNvPr id="5" name="TextBox 4">
            <a:extLst>
              <a:ext uri="{FF2B5EF4-FFF2-40B4-BE49-F238E27FC236}">
                <a16:creationId xmlns:a16="http://schemas.microsoft.com/office/drawing/2014/main" id="{50B1DA08-0CC4-21A6-0D5E-83B234D88592}"/>
              </a:ext>
            </a:extLst>
          </p:cNvPr>
          <p:cNvSpPr txBox="1"/>
          <p:nvPr/>
        </p:nvSpPr>
        <p:spPr>
          <a:xfrm>
            <a:off x="270207" y="4478682"/>
            <a:ext cx="1988249" cy="430887"/>
          </a:xfrm>
          <a:prstGeom prst="rect">
            <a:avLst/>
          </a:prstGeom>
          <a:noFill/>
        </p:spPr>
        <p:txBody>
          <a:bodyPr wrap="square">
            <a:spAutoFit/>
          </a:bodyPr>
          <a:lstStyle/>
          <a:p>
            <a:r>
              <a:rPr lang="en-US" sz="1100" dirty="0"/>
              <a:t>Figure credit: </a:t>
            </a:r>
            <a:br>
              <a:rPr lang="en-US" sz="1100" dirty="0"/>
            </a:br>
            <a:r>
              <a:rPr lang="en-US" sz="1100" dirty="0"/>
              <a:t>Blog post from </a:t>
            </a:r>
            <a:r>
              <a:rPr lang="en-US" sz="1100" dirty="0" err="1"/>
              <a:t>Xiaochen</a:t>
            </a:r>
            <a:r>
              <a:rPr lang="en-US" sz="1100" dirty="0"/>
              <a:t> Zhu </a:t>
            </a:r>
          </a:p>
        </p:txBody>
      </p:sp>
    </p:spTree>
    <p:extLst>
      <p:ext uri="{BB962C8B-B14F-4D97-AF65-F5344CB8AC3E}">
        <p14:creationId xmlns:p14="http://schemas.microsoft.com/office/powerpoint/2010/main" val="9373619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27C65B-9C80-B905-5131-CAE80E2F5105}"/>
              </a:ext>
            </a:extLst>
          </p:cNvPr>
          <p:cNvSpPr>
            <a:spLocks noGrp="1"/>
          </p:cNvSpPr>
          <p:nvPr>
            <p:ph type="title"/>
          </p:nvPr>
        </p:nvSpPr>
        <p:spPr/>
        <p:txBody>
          <a:bodyPr/>
          <a:lstStyle/>
          <a:p>
            <a:r>
              <a:rPr lang="en-US" sz="2400" dirty="0"/>
              <a:t>Can we learn the “grammar” of the regulatory code by treating genomes like language?</a:t>
            </a:r>
          </a:p>
        </p:txBody>
      </p:sp>
      <p:pic>
        <p:nvPicPr>
          <p:cNvPr id="4" name="Picture 3">
            <a:extLst>
              <a:ext uri="{FF2B5EF4-FFF2-40B4-BE49-F238E27FC236}">
                <a16:creationId xmlns:a16="http://schemas.microsoft.com/office/drawing/2014/main" id="{EC86E826-0664-EAA6-4D31-0DCEBF37AB2D}"/>
              </a:ext>
            </a:extLst>
          </p:cNvPr>
          <p:cNvPicPr>
            <a:picLocks noChangeAspect="1"/>
          </p:cNvPicPr>
          <p:nvPr/>
        </p:nvPicPr>
        <p:blipFill>
          <a:blip r:embed="rId3"/>
          <a:srcRect b="46743"/>
          <a:stretch>
            <a:fillRect/>
          </a:stretch>
        </p:blipFill>
        <p:spPr>
          <a:xfrm>
            <a:off x="720000" y="1855150"/>
            <a:ext cx="7491470" cy="2001551"/>
          </a:xfrm>
          <a:prstGeom prst="rect">
            <a:avLst/>
          </a:prstGeom>
        </p:spPr>
      </p:pic>
      <p:sp>
        <p:nvSpPr>
          <p:cNvPr id="5" name="Rectangle 4">
            <a:extLst>
              <a:ext uri="{FF2B5EF4-FFF2-40B4-BE49-F238E27FC236}">
                <a16:creationId xmlns:a16="http://schemas.microsoft.com/office/drawing/2014/main" id="{A1C3D1E2-9528-1C55-8EF7-620178B6C2F4}"/>
              </a:ext>
            </a:extLst>
          </p:cNvPr>
          <p:cNvSpPr/>
          <p:nvPr/>
        </p:nvSpPr>
        <p:spPr>
          <a:xfrm>
            <a:off x="837282" y="2170323"/>
            <a:ext cx="286438" cy="99152"/>
          </a:xfrm>
          <a:prstGeom prst="rect">
            <a:avLst/>
          </a:prstGeom>
          <a:solidFill>
            <a:srgbClr val="F2AA8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EF479E96-79B2-4776-EB05-6E30795AFD69}"/>
              </a:ext>
            </a:extLst>
          </p:cNvPr>
          <p:cNvSpPr/>
          <p:nvPr/>
        </p:nvSpPr>
        <p:spPr>
          <a:xfrm>
            <a:off x="2256622" y="2185012"/>
            <a:ext cx="286438" cy="99152"/>
          </a:xfrm>
          <a:prstGeom prst="rect">
            <a:avLst/>
          </a:prstGeom>
          <a:solidFill>
            <a:srgbClr val="F2AA8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8710B55C-9A7A-F339-E6AF-953E98FFE4CF}"/>
              </a:ext>
            </a:extLst>
          </p:cNvPr>
          <p:cNvSpPr/>
          <p:nvPr/>
        </p:nvSpPr>
        <p:spPr>
          <a:xfrm>
            <a:off x="2256622" y="3363817"/>
            <a:ext cx="286438" cy="99152"/>
          </a:xfrm>
          <a:prstGeom prst="rect">
            <a:avLst/>
          </a:prstGeom>
          <a:solidFill>
            <a:srgbClr val="F2AA8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192AE829-BACE-28AF-E501-3D3EC60B9D8A}"/>
              </a:ext>
            </a:extLst>
          </p:cNvPr>
          <p:cNvSpPr/>
          <p:nvPr/>
        </p:nvSpPr>
        <p:spPr>
          <a:xfrm>
            <a:off x="3699831" y="3363816"/>
            <a:ext cx="286438" cy="139547"/>
          </a:xfrm>
          <a:prstGeom prst="rect">
            <a:avLst/>
          </a:prstGeom>
          <a:solidFill>
            <a:srgbClr val="F2AA8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35A5D599-DD45-CBA6-3045-D3A69417000A}"/>
              </a:ext>
            </a:extLst>
          </p:cNvPr>
          <p:cNvSpPr/>
          <p:nvPr/>
        </p:nvSpPr>
        <p:spPr>
          <a:xfrm>
            <a:off x="4127653" y="3363815"/>
            <a:ext cx="286438" cy="139547"/>
          </a:xfrm>
          <a:prstGeom prst="rect">
            <a:avLst/>
          </a:prstGeom>
          <a:solidFill>
            <a:srgbClr val="F2AA8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0894E86D-605A-36EC-C4C9-778DE4879AE6}"/>
              </a:ext>
            </a:extLst>
          </p:cNvPr>
          <p:cNvSpPr/>
          <p:nvPr/>
        </p:nvSpPr>
        <p:spPr>
          <a:xfrm>
            <a:off x="3699831" y="2164814"/>
            <a:ext cx="286438" cy="139547"/>
          </a:xfrm>
          <a:prstGeom prst="rect">
            <a:avLst/>
          </a:prstGeom>
          <a:solidFill>
            <a:srgbClr val="F2AA8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652B36E7-45E5-5623-E69E-703A7F9B7AEF}"/>
              </a:ext>
            </a:extLst>
          </p:cNvPr>
          <p:cNvSpPr/>
          <p:nvPr/>
        </p:nvSpPr>
        <p:spPr>
          <a:xfrm>
            <a:off x="5111826" y="2144617"/>
            <a:ext cx="286438" cy="139547"/>
          </a:xfrm>
          <a:prstGeom prst="rect">
            <a:avLst/>
          </a:prstGeom>
          <a:solidFill>
            <a:srgbClr val="F2AA8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2C462848-9E60-7005-C207-9A88D8DA7045}"/>
              </a:ext>
            </a:extLst>
          </p:cNvPr>
          <p:cNvSpPr/>
          <p:nvPr/>
        </p:nvSpPr>
        <p:spPr>
          <a:xfrm>
            <a:off x="5058578" y="3343619"/>
            <a:ext cx="339686" cy="139547"/>
          </a:xfrm>
          <a:prstGeom prst="rect">
            <a:avLst/>
          </a:prstGeom>
          <a:solidFill>
            <a:srgbClr val="F2AA8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5B90950C-3A7C-285E-B93C-3026F3F37670}"/>
              </a:ext>
            </a:extLst>
          </p:cNvPr>
          <p:cNvSpPr/>
          <p:nvPr/>
        </p:nvSpPr>
        <p:spPr>
          <a:xfrm>
            <a:off x="5510037" y="3363815"/>
            <a:ext cx="286438" cy="139547"/>
          </a:xfrm>
          <a:prstGeom prst="rect">
            <a:avLst/>
          </a:prstGeom>
          <a:solidFill>
            <a:srgbClr val="F2AA8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60CB44C3-6700-924B-7643-349247112202}"/>
              </a:ext>
            </a:extLst>
          </p:cNvPr>
          <p:cNvSpPr/>
          <p:nvPr/>
        </p:nvSpPr>
        <p:spPr>
          <a:xfrm>
            <a:off x="5950713" y="3343619"/>
            <a:ext cx="286438" cy="139547"/>
          </a:xfrm>
          <a:prstGeom prst="rect">
            <a:avLst/>
          </a:prstGeom>
          <a:solidFill>
            <a:srgbClr val="F2AA8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99014615-B031-ED55-7B90-45B850FD8758}"/>
              </a:ext>
            </a:extLst>
          </p:cNvPr>
          <p:cNvSpPr/>
          <p:nvPr/>
        </p:nvSpPr>
        <p:spPr>
          <a:xfrm>
            <a:off x="6510967" y="2144617"/>
            <a:ext cx="286438" cy="139547"/>
          </a:xfrm>
          <a:prstGeom prst="rect">
            <a:avLst/>
          </a:prstGeom>
          <a:solidFill>
            <a:srgbClr val="F2AA8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975DAEC0-5B0B-8C55-B3DE-F666DD96C3FF}"/>
              </a:ext>
            </a:extLst>
          </p:cNvPr>
          <p:cNvSpPr/>
          <p:nvPr/>
        </p:nvSpPr>
        <p:spPr>
          <a:xfrm>
            <a:off x="6533001" y="3363814"/>
            <a:ext cx="286438" cy="139547"/>
          </a:xfrm>
          <a:prstGeom prst="rect">
            <a:avLst/>
          </a:prstGeom>
          <a:solidFill>
            <a:srgbClr val="F2AA8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317D86D5-8F64-2BC3-8A7C-F36564D29A03}"/>
              </a:ext>
            </a:extLst>
          </p:cNvPr>
          <p:cNvSpPr/>
          <p:nvPr/>
        </p:nvSpPr>
        <p:spPr>
          <a:xfrm>
            <a:off x="6929609" y="3343618"/>
            <a:ext cx="286438" cy="139547"/>
          </a:xfrm>
          <a:prstGeom prst="rect">
            <a:avLst/>
          </a:prstGeom>
          <a:solidFill>
            <a:srgbClr val="F2AA8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D7CD796A-9FDC-7C97-D464-271CA5C7E06F}"/>
              </a:ext>
            </a:extLst>
          </p:cNvPr>
          <p:cNvSpPr/>
          <p:nvPr/>
        </p:nvSpPr>
        <p:spPr>
          <a:xfrm>
            <a:off x="7368678" y="3363813"/>
            <a:ext cx="286438" cy="139547"/>
          </a:xfrm>
          <a:prstGeom prst="rect">
            <a:avLst/>
          </a:prstGeom>
          <a:solidFill>
            <a:srgbClr val="F2AA8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D57BB542-074D-D448-BBCE-DB2A4474A8BE}"/>
              </a:ext>
            </a:extLst>
          </p:cNvPr>
          <p:cNvSpPr/>
          <p:nvPr/>
        </p:nvSpPr>
        <p:spPr>
          <a:xfrm>
            <a:off x="7771712" y="3363812"/>
            <a:ext cx="286438" cy="139547"/>
          </a:xfrm>
          <a:prstGeom prst="rect">
            <a:avLst/>
          </a:prstGeom>
          <a:solidFill>
            <a:srgbClr val="F2AA8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p14="http://schemas.microsoft.com/office/powerpoint/2010/main">
        <mc:Choice Requires="p14">
          <p:contentPart p14:bwMode="auto" r:id="rId4">
            <p14:nvContentPartPr>
              <p14:cNvPr id="20" name="Ink 19">
                <a:extLst>
                  <a:ext uri="{FF2B5EF4-FFF2-40B4-BE49-F238E27FC236}">
                    <a16:creationId xmlns:a16="http://schemas.microsoft.com/office/drawing/2014/main" id="{4588C7AA-574A-19C0-598C-07F0284AC6ED}"/>
                  </a:ext>
                </a:extLst>
              </p14:cNvPr>
              <p14:cNvContentPartPr/>
              <p14:nvPr/>
            </p14:nvContentPartPr>
            <p14:xfrm>
              <a:off x="1795681" y="1993671"/>
              <a:ext cx="102600" cy="55800"/>
            </p14:xfrm>
          </p:contentPart>
        </mc:Choice>
        <mc:Fallback xmlns="">
          <p:pic>
            <p:nvPicPr>
              <p:cNvPr id="20" name="Ink 19">
                <a:extLst>
                  <a:ext uri="{FF2B5EF4-FFF2-40B4-BE49-F238E27FC236}">
                    <a16:creationId xmlns:a16="http://schemas.microsoft.com/office/drawing/2014/main" id="{4588C7AA-574A-19C0-598C-07F0284AC6ED}"/>
                  </a:ext>
                </a:extLst>
              </p:cNvPr>
              <p:cNvPicPr/>
              <p:nvPr/>
            </p:nvPicPr>
            <p:blipFill>
              <a:blip r:embed="rId5"/>
              <a:stretch>
                <a:fillRect/>
              </a:stretch>
            </p:blipFill>
            <p:spPr>
              <a:xfrm>
                <a:off x="1789561" y="1987551"/>
                <a:ext cx="114840" cy="68040"/>
              </a:xfrm>
              <a:prstGeom prst="rect">
                <a:avLst/>
              </a:prstGeom>
            </p:spPr>
          </p:pic>
        </mc:Fallback>
      </mc:AlternateContent>
      <p:sp>
        <p:nvSpPr>
          <p:cNvPr id="21" name="TextBox 20">
            <a:extLst>
              <a:ext uri="{FF2B5EF4-FFF2-40B4-BE49-F238E27FC236}">
                <a16:creationId xmlns:a16="http://schemas.microsoft.com/office/drawing/2014/main" id="{D7247081-80FB-2C66-9EBA-C15FD3A1FF84}"/>
              </a:ext>
            </a:extLst>
          </p:cNvPr>
          <p:cNvSpPr txBox="1"/>
          <p:nvPr/>
        </p:nvSpPr>
        <p:spPr>
          <a:xfrm rot="21241760">
            <a:off x="1330969" y="1523104"/>
            <a:ext cx="942887" cy="338554"/>
          </a:xfrm>
          <a:prstGeom prst="rect">
            <a:avLst/>
          </a:prstGeom>
          <a:noFill/>
        </p:spPr>
        <p:txBody>
          <a:bodyPr wrap="none" rtlCol="0">
            <a:spAutoFit/>
          </a:bodyPr>
          <a:lstStyle/>
          <a:p>
            <a:r>
              <a:rPr lang="en-US" sz="1600" b="1" dirty="0">
                <a:solidFill>
                  <a:srgbClr val="C00000"/>
                </a:solidFill>
                <a:latin typeface="Bradley Hand ITC" panose="03070402050302030203" pitchFamily="66" charset="0"/>
              </a:rPr>
              <a:t>Genomic</a:t>
            </a:r>
          </a:p>
        </p:txBody>
      </p:sp>
      <p:sp>
        <p:nvSpPr>
          <p:cNvPr id="22" name="TextBox 21">
            <a:extLst>
              <a:ext uri="{FF2B5EF4-FFF2-40B4-BE49-F238E27FC236}">
                <a16:creationId xmlns:a16="http://schemas.microsoft.com/office/drawing/2014/main" id="{531E2AE6-D395-EEFB-46D1-8E9F2AAEC281}"/>
              </a:ext>
            </a:extLst>
          </p:cNvPr>
          <p:cNvSpPr txBox="1"/>
          <p:nvPr/>
        </p:nvSpPr>
        <p:spPr>
          <a:xfrm>
            <a:off x="849696" y="2083585"/>
            <a:ext cx="261610" cy="261610"/>
          </a:xfrm>
          <a:prstGeom prst="rect">
            <a:avLst/>
          </a:prstGeom>
          <a:noFill/>
        </p:spPr>
        <p:txBody>
          <a:bodyPr wrap="none" rtlCol="0">
            <a:spAutoFit/>
          </a:bodyPr>
          <a:lstStyle/>
          <a:p>
            <a:r>
              <a:rPr lang="en-US" sz="1100" dirty="0">
                <a:latin typeface="Consolas" panose="020B0609020204030204" pitchFamily="49" charset="0"/>
              </a:rPr>
              <a:t>A</a:t>
            </a:r>
          </a:p>
        </p:txBody>
      </p:sp>
      <p:sp>
        <p:nvSpPr>
          <p:cNvPr id="23" name="TextBox 22">
            <a:extLst>
              <a:ext uri="{FF2B5EF4-FFF2-40B4-BE49-F238E27FC236}">
                <a16:creationId xmlns:a16="http://schemas.microsoft.com/office/drawing/2014/main" id="{CAAF64A9-020C-6998-833A-4ABC61D06F96}"/>
              </a:ext>
            </a:extLst>
          </p:cNvPr>
          <p:cNvSpPr txBox="1"/>
          <p:nvPr/>
        </p:nvSpPr>
        <p:spPr>
          <a:xfrm>
            <a:off x="2285766" y="3282586"/>
            <a:ext cx="261610" cy="261610"/>
          </a:xfrm>
          <a:prstGeom prst="rect">
            <a:avLst/>
          </a:prstGeom>
          <a:noFill/>
        </p:spPr>
        <p:txBody>
          <a:bodyPr wrap="none" rtlCol="0">
            <a:spAutoFit/>
          </a:bodyPr>
          <a:lstStyle/>
          <a:p>
            <a:r>
              <a:rPr lang="en-US" sz="1100" dirty="0">
                <a:latin typeface="Consolas" panose="020B0609020204030204" pitchFamily="49" charset="0"/>
              </a:rPr>
              <a:t>A</a:t>
            </a:r>
          </a:p>
        </p:txBody>
      </p:sp>
      <p:sp>
        <p:nvSpPr>
          <p:cNvPr id="24" name="TextBox 23">
            <a:extLst>
              <a:ext uri="{FF2B5EF4-FFF2-40B4-BE49-F238E27FC236}">
                <a16:creationId xmlns:a16="http://schemas.microsoft.com/office/drawing/2014/main" id="{3E6C1A9C-01F4-0D53-C4FD-C75A0DE2E690}"/>
              </a:ext>
            </a:extLst>
          </p:cNvPr>
          <p:cNvSpPr txBox="1"/>
          <p:nvPr/>
        </p:nvSpPr>
        <p:spPr>
          <a:xfrm>
            <a:off x="2285766" y="2083585"/>
            <a:ext cx="261610" cy="261610"/>
          </a:xfrm>
          <a:prstGeom prst="rect">
            <a:avLst/>
          </a:prstGeom>
          <a:noFill/>
        </p:spPr>
        <p:txBody>
          <a:bodyPr wrap="none" rtlCol="0">
            <a:spAutoFit/>
          </a:bodyPr>
          <a:lstStyle/>
          <a:p>
            <a:r>
              <a:rPr lang="en-US" sz="1100" dirty="0">
                <a:latin typeface="Consolas" panose="020B0609020204030204" pitchFamily="49" charset="0"/>
              </a:rPr>
              <a:t>T</a:t>
            </a:r>
          </a:p>
        </p:txBody>
      </p:sp>
      <p:sp>
        <p:nvSpPr>
          <p:cNvPr id="25" name="TextBox 24">
            <a:extLst>
              <a:ext uri="{FF2B5EF4-FFF2-40B4-BE49-F238E27FC236}">
                <a16:creationId xmlns:a16="http://schemas.microsoft.com/office/drawing/2014/main" id="{04273108-6E53-3C9E-3E7F-5423E8BB22D7}"/>
              </a:ext>
            </a:extLst>
          </p:cNvPr>
          <p:cNvSpPr txBox="1"/>
          <p:nvPr/>
        </p:nvSpPr>
        <p:spPr>
          <a:xfrm>
            <a:off x="3712245" y="3298671"/>
            <a:ext cx="261610" cy="261610"/>
          </a:xfrm>
          <a:prstGeom prst="rect">
            <a:avLst/>
          </a:prstGeom>
          <a:noFill/>
        </p:spPr>
        <p:txBody>
          <a:bodyPr wrap="none" rtlCol="0">
            <a:spAutoFit/>
          </a:bodyPr>
          <a:lstStyle/>
          <a:p>
            <a:r>
              <a:rPr lang="en-US" sz="1100" dirty="0">
                <a:latin typeface="Consolas" panose="020B0609020204030204" pitchFamily="49" charset="0"/>
              </a:rPr>
              <a:t>A</a:t>
            </a:r>
          </a:p>
        </p:txBody>
      </p:sp>
      <p:sp>
        <p:nvSpPr>
          <p:cNvPr id="26" name="TextBox 25">
            <a:extLst>
              <a:ext uri="{FF2B5EF4-FFF2-40B4-BE49-F238E27FC236}">
                <a16:creationId xmlns:a16="http://schemas.microsoft.com/office/drawing/2014/main" id="{7C2E7770-7E0C-FE10-F22D-F03896CD3B1C}"/>
              </a:ext>
            </a:extLst>
          </p:cNvPr>
          <p:cNvSpPr txBox="1"/>
          <p:nvPr/>
        </p:nvSpPr>
        <p:spPr>
          <a:xfrm>
            <a:off x="4124440" y="3302780"/>
            <a:ext cx="261610" cy="261610"/>
          </a:xfrm>
          <a:prstGeom prst="rect">
            <a:avLst/>
          </a:prstGeom>
          <a:noFill/>
        </p:spPr>
        <p:txBody>
          <a:bodyPr wrap="none" rtlCol="0">
            <a:spAutoFit/>
          </a:bodyPr>
          <a:lstStyle/>
          <a:p>
            <a:r>
              <a:rPr lang="en-US" sz="1100" dirty="0">
                <a:latin typeface="Consolas" panose="020B0609020204030204" pitchFamily="49" charset="0"/>
              </a:rPr>
              <a:t>T</a:t>
            </a:r>
          </a:p>
        </p:txBody>
      </p:sp>
      <p:sp>
        <p:nvSpPr>
          <p:cNvPr id="27" name="TextBox 26">
            <a:extLst>
              <a:ext uri="{FF2B5EF4-FFF2-40B4-BE49-F238E27FC236}">
                <a16:creationId xmlns:a16="http://schemas.microsoft.com/office/drawing/2014/main" id="{912825FC-AFB6-A451-84FA-4DC5B2133B50}"/>
              </a:ext>
            </a:extLst>
          </p:cNvPr>
          <p:cNvSpPr txBox="1"/>
          <p:nvPr/>
        </p:nvSpPr>
        <p:spPr>
          <a:xfrm>
            <a:off x="3712245" y="2081749"/>
            <a:ext cx="261610" cy="261610"/>
          </a:xfrm>
          <a:prstGeom prst="rect">
            <a:avLst/>
          </a:prstGeom>
          <a:noFill/>
        </p:spPr>
        <p:txBody>
          <a:bodyPr wrap="none" rtlCol="0">
            <a:spAutoFit/>
          </a:bodyPr>
          <a:lstStyle/>
          <a:p>
            <a:r>
              <a:rPr lang="en-US" sz="1100" dirty="0">
                <a:latin typeface="Consolas" panose="020B0609020204030204" pitchFamily="49" charset="0"/>
              </a:rPr>
              <a:t>C</a:t>
            </a:r>
          </a:p>
        </p:txBody>
      </p:sp>
      <p:sp>
        <p:nvSpPr>
          <p:cNvPr id="28" name="TextBox 27">
            <a:extLst>
              <a:ext uri="{FF2B5EF4-FFF2-40B4-BE49-F238E27FC236}">
                <a16:creationId xmlns:a16="http://schemas.microsoft.com/office/drawing/2014/main" id="{27D1B7DE-B5A8-5AF0-173E-F8FBB79F4456}"/>
              </a:ext>
            </a:extLst>
          </p:cNvPr>
          <p:cNvSpPr txBox="1"/>
          <p:nvPr/>
        </p:nvSpPr>
        <p:spPr>
          <a:xfrm>
            <a:off x="5118741" y="3278477"/>
            <a:ext cx="261610" cy="261610"/>
          </a:xfrm>
          <a:prstGeom prst="rect">
            <a:avLst/>
          </a:prstGeom>
          <a:noFill/>
        </p:spPr>
        <p:txBody>
          <a:bodyPr wrap="none" rtlCol="0">
            <a:spAutoFit/>
          </a:bodyPr>
          <a:lstStyle/>
          <a:p>
            <a:r>
              <a:rPr lang="en-US" sz="1100" dirty="0">
                <a:latin typeface="Consolas" panose="020B0609020204030204" pitchFamily="49" charset="0"/>
              </a:rPr>
              <a:t>A</a:t>
            </a:r>
          </a:p>
        </p:txBody>
      </p:sp>
      <p:sp>
        <p:nvSpPr>
          <p:cNvPr id="29" name="TextBox 28">
            <a:extLst>
              <a:ext uri="{FF2B5EF4-FFF2-40B4-BE49-F238E27FC236}">
                <a16:creationId xmlns:a16="http://schemas.microsoft.com/office/drawing/2014/main" id="{1F848D81-D31D-56C9-85BC-9BFA84346FAB}"/>
              </a:ext>
            </a:extLst>
          </p:cNvPr>
          <p:cNvSpPr txBox="1"/>
          <p:nvPr/>
        </p:nvSpPr>
        <p:spPr>
          <a:xfrm>
            <a:off x="5530936" y="3282586"/>
            <a:ext cx="261610" cy="261610"/>
          </a:xfrm>
          <a:prstGeom prst="rect">
            <a:avLst/>
          </a:prstGeom>
          <a:noFill/>
        </p:spPr>
        <p:txBody>
          <a:bodyPr wrap="none" rtlCol="0">
            <a:spAutoFit/>
          </a:bodyPr>
          <a:lstStyle/>
          <a:p>
            <a:r>
              <a:rPr lang="en-US" sz="1100" dirty="0">
                <a:latin typeface="Consolas" panose="020B0609020204030204" pitchFamily="49" charset="0"/>
              </a:rPr>
              <a:t>T</a:t>
            </a:r>
          </a:p>
        </p:txBody>
      </p:sp>
      <p:sp>
        <p:nvSpPr>
          <p:cNvPr id="30" name="TextBox 29">
            <a:extLst>
              <a:ext uri="{FF2B5EF4-FFF2-40B4-BE49-F238E27FC236}">
                <a16:creationId xmlns:a16="http://schemas.microsoft.com/office/drawing/2014/main" id="{FB645273-C3AA-5D43-7E43-131B064ACD61}"/>
              </a:ext>
            </a:extLst>
          </p:cNvPr>
          <p:cNvSpPr txBox="1"/>
          <p:nvPr/>
        </p:nvSpPr>
        <p:spPr>
          <a:xfrm>
            <a:off x="5956511" y="3283985"/>
            <a:ext cx="261610" cy="261610"/>
          </a:xfrm>
          <a:prstGeom prst="rect">
            <a:avLst/>
          </a:prstGeom>
          <a:noFill/>
        </p:spPr>
        <p:txBody>
          <a:bodyPr wrap="none" rtlCol="0">
            <a:spAutoFit/>
          </a:bodyPr>
          <a:lstStyle/>
          <a:p>
            <a:r>
              <a:rPr lang="en-US" sz="1100" dirty="0">
                <a:latin typeface="Consolas" panose="020B0609020204030204" pitchFamily="49" charset="0"/>
              </a:rPr>
              <a:t>C</a:t>
            </a:r>
          </a:p>
        </p:txBody>
      </p:sp>
      <p:sp>
        <p:nvSpPr>
          <p:cNvPr id="31" name="TextBox 30">
            <a:extLst>
              <a:ext uri="{FF2B5EF4-FFF2-40B4-BE49-F238E27FC236}">
                <a16:creationId xmlns:a16="http://schemas.microsoft.com/office/drawing/2014/main" id="{05CB871B-EA74-1E76-E871-77C485C7F6B8}"/>
              </a:ext>
            </a:extLst>
          </p:cNvPr>
          <p:cNvSpPr txBox="1"/>
          <p:nvPr/>
        </p:nvSpPr>
        <p:spPr>
          <a:xfrm>
            <a:off x="6531600" y="3278477"/>
            <a:ext cx="261610" cy="261610"/>
          </a:xfrm>
          <a:prstGeom prst="rect">
            <a:avLst/>
          </a:prstGeom>
          <a:noFill/>
        </p:spPr>
        <p:txBody>
          <a:bodyPr wrap="none" rtlCol="0">
            <a:spAutoFit/>
          </a:bodyPr>
          <a:lstStyle/>
          <a:p>
            <a:r>
              <a:rPr lang="en-US" sz="1100" dirty="0">
                <a:latin typeface="Consolas" panose="020B0609020204030204" pitchFamily="49" charset="0"/>
              </a:rPr>
              <a:t>A</a:t>
            </a:r>
          </a:p>
        </p:txBody>
      </p:sp>
      <p:sp>
        <p:nvSpPr>
          <p:cNvPr id="32" name="TextBox 31">
            <a:extLst>
              <a:ext uri="{FF2B5EF4-FFF2-40B4-BE49-F238E27FC236}">
                <a16:creationId xmlns:a16="http://schemas.microsoft.com/office/drawing/2014/main" id="{82A6AA28-37AB-3E3B-3811-328C7D48F407}"/>
              </a:ext>
            </a:extLst>
          </p:cNvPr>
          <p:cNvSpPr txBox="1"/>
          <p:nvPr/>
        </p:nvSpPr>
        <p:spPr>
          <a:xfrm>
            <a:off x="6943795" y="3282586"/>
            <a:ext cx="261610" cy="261610"/>
          </a:xfrm>
          <a:prstGeom prst="rect">
            <a:avLst/>
          </a:prstGeom>
          <a:noFill/>
        </p:spPr>
        <p:txBody>
          <a:bodyPr wrap="none" rtlCol="0">
            <a:spAutoFit/>
          </a:bodyPr>
          <a:lstStyle/>
          <a:p>
            <a:r>
              <a:rPr lang="en-US" sz="1100" dirty="0">
                <a:latin typeface="Consolas" panose="020B0609020204030204" pitchFamily="49" charset="0"/>
              </a:rPr>
              <a:t>T</a:t>
            </a:r>
          </a:p>
        </p:txBody>
      </p:sp>
      <p:sp>
        <p:nvSpPr>
          <p:cNvPr id="33" name="TextBox 32">
            <a:extLst>
              <a:ext uri="{FF2B5EF4-FFF2-40B4-BE49-F238E27FC236}">
                <a16:creationId xmlns:a16="http://schemas.microsoft.com/office/drawing/2014/main" id="{BB6CAEF2-7097-EF1E-2BBF-00139E0481E4}"/>
              </a:ext>
            </a:extLst>
          </p:cNvPr>
          <p:cNvSpPr txBox="1"/>
          <p:nvPr/>
        </p:nvSpPr>
        <p:spPr>
          <a:xfrm>
            <a:off x="7374878" y="3283985"/>
            <a:ext cx="261610" cy="261610"/>
          </a:xfrm>
          <a:prstGeom prst="rect">
            <a:avLst/>
          </a:prstGeom>
          <a:noFill/>
        </p:spPr>
        <p:txBody>
          <a:bodyPr wrap="none" rtlCol="0">
            <a:spAutoFit/>
          </a:bodyPr>
          <a:lstStyle/>
          <a:p>
            <a:r>
              <a:rPr lang="en-US" sz="1100" dirty="0">
                <a:latin typeface="Consolas" panose="020B0609020204030204" pitchFamily="49" charset="0"/>
              </a:rPr>
              <a:t>C</a:t>
            </a:r>
          </a:p>
        </p:txBody>
      </p:sp>
      <p:sp>
        <p:nvSpPr>
          <p:cNvPr id="34" name="TextBox 33">
            <a:extLst>
              <a:ext uri="{FF2B5EF4-FFF2-40B4-BE49-F238E27FC236}">
                <a16:creationId xmlns:a16="http://schemas.microsoft.com/office/drawing/2014/main" id="{16C77961-7B4F-1967-D0DB-E08B400B075F}"/>
              </a:ext>
            </a:extLst>
          </p:cNvPr>
          <p:cNvSpPr txBox="1"/>
          <p:nvPr/>
        </p:nvSpPr>
        <p:spPr>
          <a:xfrm>
            <a:off x="7790490" y="3283985"/>
            <a:ext cx="261610" cy="261610"/>
          </a:xfrm>
          <a:prstGeom prst="rect">
            <a:avLst/>
          </a:prstGeom>
          <a:noFill/>
        </p:spPr>
        <p:txBody>
          <a:bodyPr wrap="none" rtlCol="0">
            <a:spAutoFit/>
          </a:bodyPr>
          <a:lstStyle/>
          <a:p>
            <a:r>
              <a:rPr lang="en-US" sz="1100" dirty="0">
                <a:latin typeface="Consolas" panose="020B0609020204030204" pitchFamily="49" charset="0"/>
              </a:rPr>
              <a:t>G</a:t>
            </a:r>
          </a:p>
        </p:txBody>
      </p:sp>
      <p:sp>
        <p:nvSpPr>
          <p:cNvPr id="35" name="TextBox 34">
            <a:extLst>
              <a:ext uri="{FF2B5EF4-FFF2-40B4-BE49-F238E27FC236}">
                <a16:creationId xmlns:a16="http://schemas.microsoft.com/office/drawing/2014/main" id="{0D597814-713B-CB83-8EE7-724CD0E168F6}"/>
              </a:ext>
            </a:extLst>
          </p:cNvPr>
          <p:cNvSpPr txBox="1"/>
          <p:nvPr/>
        </p:nvSpPr>
        <p:spPr>
          <a:xfrm>
            <a:off x="5111606" y="2089094"/>
            <a:ext cx="261610" cy="261610"/>
          </a:xfrm>
          <a:prstGeom prst="rect">
            <a:avLst/>
          </a:prstGeom>
          <a:noFill/>
        </p:spPr>
        <p:txBody>
          <a:bodyPr wrap="none" rtlCol="0">
            <a:spAutoFit/>
          </a:bodyPr>
          <a:lstStyle/>
          <a:p>
            <a:r>
              <a:rPr lang="en-US" sz="1100" dirty="0">
                <a:latin typeface="Consolas" panose="020B0609020204030204" pitchFamily="49" charset="0"/>
              </a:rPr>
              <a:t>G</a:t>
            </a:r>
          </a:p>
        </p:txBody>
      </p:sp>
      <p:sp>
        <p:nvSpPr>
          <p:cNvPr id="36" name="TextBox 35">
            <a:extLst>
              <a:ext uri="{FF2B5EF4-FFF2-40B4-BE49-F238E27FC236}">
                <a16:creationId xmlns:a16="http://schemas.microsoft.com/office/drawing/2014/main" id="{E3EADE44-DDE2-946B-7979-422029546E7F}"/>
              </a:ext>
            </a:extLst>
          </p:cNvPr>
          <p:cNvSpPr txBox="1"/>
          <p:nvPr/>
        </p:nvSpPr>
        <p:spPr>
          <a:xfrm>
            <a:off x="6538085" y="2089094"/>
            <a:ext cx="261610" cy="261610"/>
          </a:xfrm>
          <a:prstGeom prst="rect">
            <a:avLst/>
          </a:prstGeom>
          <a:noFill/>
        </p:spPr>
        <p:txBody>
          <a:bodyPr wrap="square" rtlCol="0">
            <a:spAutoFit/>
          </a:bodyPr>
          <a:lstStyle/>
          <a:p>
            <a:r>
              <a:rPr lang="en-US" sz="1100" dirty="0">
                <a:latin typeface="Consolas" panose="020B0609020204030204" pitchFamily="49" charset="0"/>
              </a:rPr>
              <a:t>C</a:t>
            </a:r>
          </a:p>
        </p:txBody>
      </p:sp>
    </p:spTree>
    <p:extLst>
      <p:ext uri="{BB962C8B-B14F-4D97-AF65-F5344CB8AC3E}">
        <p14:creationId xmlns:p14="http://schemas.microsoft.com/office/powerpoint/2010/main" val="281958036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9E7FB7-5864-0A4B-126D-006168D548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4A421E-B999-06E0-5F1F-80D79F469B79}"/>
              </a:ext>
            </a:extLst>
          </p:cNvPr>
          <p:cNvSpPr>
            <a:spLocks noGrp="1"/>
          </p:cNvSpPr>
          <p:nvPr>
            <p:ph type="title"/>
          </p:nvPr>
        </p:nvSpPr>
        <p:spPr/>
        <p:txBody>
          <a:bodyPr/>
          <a:lstStyle/>
          <a:p>
            <a:pPr algn="ctr"/>
            <a:r>
              <a:rPr lang="en-US" sz="2400" dirty="0"/>
              <a:t>Prediction, interpretation, and generation can further understanding of regulatory grammar</a:t>
            </a:r>
          </a:p>
        </p:txBody>
      </p:sp>
      <p:sp>
        <p:nvSpPr>
          <p:cNvPr id="39" name="TextBox 38">
            <a:extLst>
              <a:ext uri="{FF2B5EF4-FFF2-40B4-BE49-F238E27FC236}">
                <a16:creationId xmlns:a16="http://schemas.microsoft.com/office/drawing/2014/main" id="{1A6258B0-0DEF-FCA7-5EA0-3664278353EC}"/>
              </a:ext>
            </a:extLst>
          </p:cNvPr>
          <p:cNvSpPr txBox="1"/>
          <p:nvPr/>
        </p:nvSpPr>
        <p:spPr>
          <a:xfrm>
            <a:off x="1030149" y="1765470"/>
            <a:ext cx="1988249" cy="307777"/>
          </a:xfrm>
          <a:prstGeom prst="rect">
            <a:avLst/>
          </a:prstGeom>
          <a:noFill/>
        </p:spPr>
        <p:txBody>
          <a:bodyPr wrap="square">
            <a:spAutoFit/>
          </a:bodyPr>
          <a:lstStyle/>
          <a:p>
            <a:pPr algn="ctr"/>
            <a:r>
              <a:rPr lang="en-US" dirty="0">
                <a:latin typeface="Figtree Black" panose="020B0604020202020204" charset="0"/>
              </a:rPr>
              <a:t>Prediction</a:t>
            </a:r>
          </a:p>
        </p:txBody>
      </p:sp>
      <p:pic>
        <p:nvPicPr>
          <p:cNvPr id="18" name="Picture 17">
            <a:extLst>
              <a:ext uri="{FF2B5EF4-FFF2-40B4-BE49-F238E27FC236}">
                <a16:creationId xmlns:a16="http://schemas.microsoft.com/office/drawing/2014/main" id="{7FE3412D-65AF-EEFD-DCE3-D23F299603E5}"/>
              </a:ext>
            </a:extLst>
          </p:cNvPr>
          <p:cNvPicPr>
            <a:picLocks noChangeAspect="1"/>
          </p:cNvPicPr>
          <p:nvPr/>
        </p:nvPicPr>
        <p:blipFill>
          <a:blip r:embed="rId3"/>
          <a:srcRect t="19067" r="88090" b="67855"/>
          <a:stretch>
            <a:fillRect/>
          </a:stretch>
        </p:blipFill>
        <p:spPr>
          <a:xfrm>
            <a:off x="1559498" y="2952257"/>
            <a:ext cx="892302" cy="491491"/>
          </a:xfrm>
          <a:prstGeom prst="rect">
            <a:avLst/>
          </a:prstGeom>
        </p:spPr>
      </p:pic>
      <p:sp>
        <p:nvSpPr>
          <p:cNvPr id="19" name="Rectangle 18">
            <a:extLst>
              <a:ext uri="{FF2B5EF4-FFF2-40B4-BE49-F238E27FC236}">
                <a16:creationId xmlns:a16="http://schemas.microsoft.com/office/drawing/2014/main" id="{485E66D0-0B17-A7FA-70E5-EB6AAAC860E8}"/>
              </a:ext>
            </a:extLst>
          </p:cNvPr>
          <p:cNvSpPr/>
          <p:nvPr/>
        </p:nvSpPr>
        <p:spPr>
          <a:xfrm>
            <a:off x="1462990" y="3792723"/>
            <a:ext cx="1107489" cy="176981"/>
          </a:xfrm>
          <a:prstGeom prst="rect">
            <a:avLst/>
          </a:prstGeom>
          <a:solidFill>
            <a:srgbClr val="F2AA84"/>
          </a:solidFill>
          <a:ln w="12700">
            <a:solidFill>
              <a:schemeClr val="bg1">
                <a:lumMod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0" name="Straight Arrow Connector 19">
            <a:extLst>
              <a:ext uri="{FF2B5EF4-FFF2-40B4-BE49-F238E27FC236}">
                <a16:creationId xmlns:a16="http://schemas.microsoft.com/office/drawing/2014/main" id="{42DB8E8E-0977-0190-F1FF-4C38A68F8482}"/>
              </a:ext>
            </a:extLst>
          </p:cNvPr>
          <p:cNvCxnSpPr>
            <a:cxnSpLocks/>
          </p:cNvCxnSpPr>
          <p:nvPr/>
        </p:nvCxnSpPr>
        <p:spPr>
          <a:xfrm flipV="1">
            <a:off x="2013024" y="3473244"/>
            <a:ext cx="0" cy="22115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06BBB682-5904-9AE9-E290-109623E3DF90}"/>
              </a:ext>
            </a:extLst>
          </p:cNvPr>
          <p:cNvCxnSpPr>
            <a:cxnSpLocks/>
          </p:cNvCxnSpPr>
          <p:nvPr/>
        </p:nvCxnSpPr>
        <p:spPr>
          <a:xfrm flipV="1">
            <a:off x="2027642" y="2642488"/>
            <a:ext cx="0" cy="22115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403DF814-9966-A9C5-EDEC-5A5E2EAC4F91}"/>
              </a:ext>
            </a:extLst>
          </p:cNvPr>
          <p:cNvSpPr txBox="1"/>
          <p:nvPr/>
        </p:nvSpPr>
        <p:spPr>
          <a:xfrm>
            <a:off x="1030148" y="2102743"/>
            <a:ext cx="1988249" cy="461665"/>
          </a:xfrm>
          <a:prstGeom prst="rect">
            <a:avLst/>
          </a:prstGeom>
          <a:noFill/>
        </p:spPr>
        <p:txBody>
          <a:bodyPr wrap="square">
            <a:spAutoFit/>
          </a:bodyPr>
          <a:lstStyle/>
          <a:p>
            <a:pPr algn="ctr"/>
            <a:r>
              <a:rPr lang="en-US" sz="1200" dirty="0">
                <a:latin typeface="Arial" panose="020B0604020202020204" pitchFamily="34" charset="0"/>
                <a:cs typeface="Arial" panose="020B0604020202020204" pitchFamily="34" charset="0"/>
              </a:rPr>
              <a:t>Gene Expression </a:t>
            </a:r>
            <a:br>
              <a:rPr lang="en-US" sz="1200" dirty="0">
                <a:latin typeface="Arial" panose="020B0604020202020204" pitchFamily="34" charset="0"/>
                <a:cs typeface="Arial" panose="020B0604020202020204" pitchFamily="34" charset="0"/>
              </a:rPr>
            </a:br>
            <a:r>
              <a:rPr lang="en-US" sz="1200" dirty="0">
                <a:latin typeface="Arial" panose="020B0604020202020204" pitchFamily="34" charset="0"/>
                <a:cs typeface="Arial" panose="020B0604020202020204" pitchFamily="34" charset="0"/>
              </a:rPr>
              <a:t>in Cell State A</a:t>
            </a:r>
          </a:p>
        </p:txBody>
      </p:sp>
    </p:spTree>
    <p:extLst>
      <p:ext uri="{BB962C8B-B14F-4D97-AF65-F5344CB8AC3E}">
        <p14:creationId xmlns:p14="http://schemas.microsoft.com/office/powerpoint/2010/main" val="32204351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CF0B8F-A1D6-82BA-9B1B-E43B86E68B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19C5FBA-C257-4F2B-2EB0-33339B2C1270}"/>
              </a:ext>
            </a:extLst>
          </p:cNvPr>
          <p:cNvSpPr>
            <a:spLocks noGrp="1"/>
          </p:cNvSpPr>
          <p:nvPr>
            <p:ph type="title"/>
          </p:nvPr>
        </p:nvSpPr>
        <p:spPr/>
        <p:txBody>
          <a:bodyPr/>
          <a:lstStyle/>
          <a:p>
            <a:pPr algn="ctr"/>
            <a:r>
              <a:rPr lang="en-US" sz="2400" dirty="0"/>
              <a:t>Prediction, interpretation, and generation can further understanding of regulatory grammar</a:t>
            </a:r>
          </a:p>
        </p:txBody>
      </p:sp>
      <p:pic>
        <p:nvPicPr>
          <p:cNvPr id="3" name="Picture 2">
            <a:extLst>
              <a:ext uri="{FF2B5EF4-FFF2-40B4-BE49-F238E27FC236}">
                <a16:creationId xmlns:a16="http://schemas.microsoft.com/office/drawing/2014/main" id="{58B434AB-6E0C-98F9-7322-33188A8755FF}"/>
              </a:ext>
            </a:extLst>
          </p:cNvPr>
          <p:cNvPicPr>
            <a:picLocks noChangeAspect="1"/>
          </p:cNvPicPr>
          <p:nvPr/>
        </p:nvPicPr>
        <p:blipFill>
          <a:blip r:embed="rId3"/>
          <a:srcRect t="19067" r="88090" b="67855"/>
          <a:stretch>
            <a:fillRect/>
          </a:stretch>
        </p:blipFill>
        <p:spPr>
          <a:xfrm>
            <a:off x="4022692" y="2455797"/>
            <a:ext cx="892302" cy="491491"/>
          </a:xfrm>
          <a:prstGeom prst="rect">
            <a:avLst/>
          </a:prstGeom>
        </p:spPr>
      </p:pic>
      <p:sp>
        <p:nvSpPr>
          <p:cNvPr id="38" name="TextBox 37">
            <a:extLst>
              <a:ext uri="{FF2B5EF4-FFF2-40B4-BE49-F238E27FC236}">
                <a16:creationId xmlns:a16="http://schemas.microsoft.com/office/drawing/2014/main" id="{1DC89079-6436-3434-5580-126B3CA5AF5C}"/>
              </a:ext>
            </a:extLst>
          </p:cNvPr>
          <p:cNvSpPr txBox="1"/>
          <p:nvPr/>
        </p:nvSpPr>
        <p:spPr>
          <a:xfrm>
            <a:off x="3482093" y="1765470"/>
            <a:ext cx="1988249" cy="307777"/>
          </a:xfrm>
          <a:prstGeom prst="rect">
            <a:avLst/>
          </a:prstGeom>
          <a:noFill/>
        </p:spPr>
        <p:txBody>
          <a:bodyPr wrap="square">
            <a:spAutoFit/>
          </a:bodyPr>
          <a:lstStyle/>
          <a:p>
            <a:pPr algn="ctr"/>
            <a:r>
              <a:rPr lang="en-US" dirty="0">
                <a:latin typeface="Figtree Black" panose="020B0604020202020204" charset="0"/>
              </a:rPr>
              <a:t>Interpretation</a:t>
            </a:r>
          </a:p>
        </p:txBody>
      </p:sp>
      <p:sp>
        <p:nvSpPr>
          <p:cNvPr id="39" name="TextBox 38">
            <a:extLst>
              <a:ext uri="{FF2B5EF4-FFF2-40B4-BE49-F238E27FC236}">
                <a16:creationId xmlns:a16="http://schemas.microsoft.com/office/drawing/2014/main" id="{5962ECF1-171F-29D1-6E25-FB6AF43E75BB}"/>
              </a:ext>
            </a:extLst>
          </p:cNvPr>
          <p:cNvSpPr txBox="1"/>
          <p:nvPr/>
        </p:nvSpPr>
        <p:spPr>
          <a:xfrm>
            <a:off x="1030149" y="1765470"/>
            <a:ext cx="1988249" cy="307777"/>
          </a:xfrm>
          <a:prstGeom prst="rect">
            <a:avLst/>
          </a:prstGeom>
          <a:noFill/>
        </p:spPr>
        <p:txBody>
          <a:bodyPr wrap="square">
            <a:spAutoFit/>
          </a:bodyPr>
          <a:lstStyle/>
          <a:p>
            <a:pPr algn="ctr"/>
            <a:r>
              <a:rPr lang="en-US" dirty="0">
                <a:latin typeface="Figtree Black" panose="020B0604020202020204" charset="0"/>
              </a:rPr>
              <a:t>Prediction</a:t>
            </a:r>
          </a:p>
        </p:txBody>
      </p:sp>
      <p:sp>
        <p:nvSpPr>
          <p:cNvPr id="8" name="Rectangle 7">
            <a:extLst>
              <a:ext uri="{FF2B5EF4-FFF2-40B4-BE49-F238E27FC236}">
                <a16:creationId xmlns:a16="http://schemas.microsoft.com/office/drawing/2014/main" id="{EDE9F427-4C9F-D274-E480-02F9479315FA}"/>
              </a:ext>
            </a:extLst>
          </p:cNvPr>
          <p:cNvSpPr/>
          <p:nvPr/>
        </p:nvSpPr>
        <p:spPr>
          <a:xfrm>
            <a:off x="3926184" y="3296263"/>
            <a:ext cx="1107489" cy="176981"/>
          </a:xfrm>
          <a:prstGeom prst="rect">
            <a:avLst/>
          </a:prstGeom>
          <a:solidFill>
            <a:srgbClr val="F2AA84"/>
          </a:solidFill>
          <a:ln w="12700">
            <a:solidFill>
              <a:schemeClr val="bg1">
                <a:lumMod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Arrow Connector 11">
            <a:extLst>
              <a:ext uri="{FF2B5EF4-FFF2-40B4-BE49-F238E27FC236}">
                <a16:creationId xmlns:a16="http://schemas.microsoft.com/office/drawing/2014/main" id="{5598506F-030A-3530-3A90-E2659D4320B9}"/>
              </a:ext>
            </a:extLst>
          </p:cNvPr>
          <p:cNvCxnSpPr>
            <a:cxnSpLocks/>
          </p:cNvCxnSpPr>
          <p:nvPr/>
        </p:nvCxnSpPr>
        <p:spPr>
          <a:xfrm flipV="1">
            <a:off x="4476218" y="2976784"/>
            <a:ext cx="0" cy="22115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17" name="Graphic 16" descr="Magnifying glass with solid fill">
            <a:extLst>
              <a:ext uri="{FF2B5EF4-FFF2-40B4-BE49-F238E27FC236}">
                <a16:creationId xmlns:a16="http://schemas.microsoft.com/office/drawing/2014/main" id="{79BB749C-FC54-0231-2D3B-50DBAE2B218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rot="5400000">
            <a:off x="3519150" y="2456668"/>
            <a:ext cx="814067" cy="814067"/>
          </a:xfrm>
          <a:prstGeom prst="rect">
            <a:avLst/>
          </a:prstGeom>
        </p:spPr>
      </p:pic>
      <p:pic>
        <p:nvPicPr>
          <p:cNvPr id="18" name="Picture 17">
            <a:extLst>
              <a:ext uri="{FF2B5EF4-FFF2-40B4-BE49-F238E27FC236}">
                <a16:creationId xmlns:a16="http://schemas.microsoft.com/office/drawing/2014/main" id="{5CC8BE53-A6A7-2269-8025-795BF67395E4}"/>
              </a:ext>
            </a:extLst>
          </p:cNvPr>
          <p:cNvPicPr>
            <a:picLocks noChangeAspect="1"/>
          </p:cNvPicPr>
          <p:nvPr/>
        </p:nvPicPr>
        <p:blipFill>
          <a:blip r:embed="rId3"/>
          <a:srcRect t="19067" r="88090" b="67855"/>
          <a:stretch>
            <a:fillRect/>
          </a:stretch>
        </p:blipFill>
        <p:spPr>
          <a:xfrm>
            <a:off x="1559498" y="2952257"/>
            <a:ext cx="892302" cy="491491"/>
          </a:xfrm>
          <a:prstGeom prst="rect">
            <a:avLst/>
          </a:prstGeom>
        </p:spPr>
      </p:pic>
      <p:sp>
        <p:nvSpPr>
          <p:cNvPr id="19" name="Rectangle 18">
            <a:extLst>
              <a:ext uri="{FF2B5EF4-FFF2-40B4-BE49-F238E27FC236}">
                <a16:creationId xmlns:a16="http://schemas.microsoft.com/office/drawing/2014/main" id="{049AF1AA-9130-F3B3-28CD-317C0955A9DF}"/>
              </a:ext>
            </a:extLst>
          </p:cNvPr>
          <p:cNvSpPr/>
          <p:nvPr/>
        </p:nvSpPr>
        <p:spPr>
          <a:xfrm>
            <a:off x="1462990" y="3792723"/>
            <a:ext cx="1107489" cy="176981"/>
          </a:xfrm>
          <a:prstGeom prst="rect">
            <a:avLst/>
          </a:prstGeom>
          <a:solidFill>
            <a:srgbClr val="F2AA84"/>
          </a:solidFill>
          <a:ln w="12700">
            <a:solidFill>
              <a:schemeClr val="bg1">
                <a:lumMod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0" name="Straight Arrow Connector 19">
            <a:extLst>
              <a:ext uri="{FF2B5EF4-FFF2-40B4-BE49-F238E27FC236}">
                <a16:creationId xmlns:a16="http://schemas.microsoft.com/office/drawing/2014/main" id="{CD36DF22-ECEA-8E8C-22F6-3778B187AAB5}"/>
              </a:ext>
            </a:extLst>
          </p:cNvPr>
          <p:cNvCxnSpPr>
            <a:cxnSpLocks/>
          </p:cNvCxnSpPr>
          <p:nvPr/>
        </p:nvCxnSpPr>
        <p:spPr>
          <a:xfrm flipV="1">
            <a:off x="2013024" y="3473244"/>
            <a:ext cx="0" cy="22115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94B81976-3D60-63B3-F6D2-71B0F26C1773}"/>
              </a:ext>
            </a:extLst>
          </p:cNvPr>
          <p:cNvCxnSpPr>
            <a:cxnSpLocks/>
          </p:cNvCxnSpPr>
          <p:nvPr/>
        </p:nvCxnSpPr>
        <p:spPr>
          <a:xfrm flipV="1">
            <a:off x="2027642" y="2642488"/>
            <a:ext cx="0" cy="22115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EC3DD0A7-2894-6582-C68A-891767595F55}"/>
              </a:ext>
            </a:extLst>
          </p:cNvPr>
          <p:cNvSpPr txBox="1"/>
          <p:nvPr/>
        </p:nvSpPr>
        <p:spPr>
          <a:xfrm>
            <a:off x="1030148" y="2102743"/>
            <a:ext cx="1988249" cy="461665"/>
          </a:xfrm>
          <a:prstGeom prst="rect">
            <a:avLst/>
          </a:prstGeom>
          <a:noFill/>
        </p:spPr>
        <p:txBody>
          <a:bodyPr wrap="square">
            <a:spAutoFit/>
          </a:bodyPr>
          <a:lstStyle/>
          <a:p>
            <a:pPr algn="ctr"/>
            <a:r>
              <a:rPr lang="en-US" sz="1200" dirty="0">
                <a:latin typeface="Arial" panose="020B0604020202020204" pitchFamily="34" charset="0"/>
                <a:cs typeface="Arial" panose="020B0604020202020204" pitchFamily="34" charset="0"/>
              </a:rPr>
              <a:t>Gene Expression </a:t>
            </a:r>
            <a:br>
              <a:rPr lang="en-US" sz="1200" dirty="0">
                <a:latin typeface="Arial" panose="020B0604020202020204" pitchFamily="34" charset="0"/>
                <a:cs typeface="Arial" panose="020B0604020202020204" pitchFamily="34" charset="0"/>
              </a:rPr>
            </a:br>
            <a:r>
              <a:rPr lang="en-US" sz="1200" dirty="0">
                <a:latin typeface="Arial" panose="020B0604020202020204" pitchFamily="34" charset="0"/>
                <a:cs typeface="Arial" panose="020B0604020202020204" pitchFamily="34" charset="0"/>
              </a:rPr>
              <a:t>in Cell State A</a:t>
            </a:r>
          </a:p>
        </p:txBody>
      </p:sp>
    </p:spTree>
    <p:extLst>
      <p:ext uri="{BB962C8B-B14F-4D97-AF65-F5344CB8AC3E}">
        <p14:creationId xmlns:p14="http://schemas.microsoft.com/office/powerpoint/2010/main" val="427913688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831681-DF63-1662-8245-14B8736902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F27AA4-4685-EE31-408A-E5B1DEDB3CB5}"/>
              </a:ext>
            </a:extLst>
          </p:cNvPr>
          <p:cNvSpPr>
            <a:spLocks noGrp="1"/>
          </p:cNvSpPr>
          <p:nvPr>
            <p:ph type="title"/>
          </p:nvPr>
        </p:nvSpPr>
        <p:spPr/>
        <p:txBody>
          <a:bodyPr/>
          <a:lstStyle/>
          <a:p>
            <a:pPr algn="ctr"/>
            <a:r>
              <a:rPr lang="en-US" sz="2400" dirty="0"/>
              <a:t>Prediction, interpretation, and generation can further understanding of regulatory grammar</a:t>
            </a:r>
          </a:p>
        </p:txBody>
      </p:sp>
      <p:pic>
        <p:nvPicPr>
          <p:cNvPr id="3" name="Picture 2">
            <a:extLst>
              <a:ext uri="{FF2B5EF4-FFF2-40B4-BE49-F238E27FC236}">
                <a16:creationId xmlns:a16="http://schemas.microsoft.com/office/drawing/2014/main" id="{CDB8D85E-1026-6CC3-0748-2F0F17F7FA68}"/>
              </a:ext>
            </a:extLst>
          </p:cNvPr>
          <p:cNvPicPr>
            <a:picLocks noChangeAspect="1"/>
          </p:cNvPicPr>
          <p:nvPr/>
        </p:nvPicPr>
        <p:blipFill>
          <a:blip r:embed="rId3"/>
          <a:srcRect t="19067" r="88090" b="67855"/>
          <a:stretch>
            <a:fillRect/>
          </a:stretch>
        </p:blipFill>
        <p:spPr>
          <a:xfrm>
            <a:off x="4022692" y="2455797"/>
            <a:ext cx="892302" cy="491491"/>
          </a:xfrm>
          <a:prstGeom prst="rect">
            <a:avLst/>
          </a:prstGeom>
        </p:spPr>
      </p:pic>
      <p:sp>
        <p:nvSpPr>
          <p:cNvPr id="38" name="TextBox 37">
            <a:extLst>
              <a:ext uri="{FF2B5EF4-FFF2-40B4-BE49-F238E27FC236}">
                <a16:creationId xmlns:a16="http://schemas.microsoft.com/office/drawing/2014/main" id="{65844C7D-70F9-8BBC-F6DE-EAFE1B1B38CF}"/>
              </a:ext>
            </a:extLst>
          </p:cNvPr>
          <p:cNvSpPr txBox="1"/>
          <p:nvPr/>
        </p:nvSpPr>
        <p:spPr>
          <a:xfrm>
            <a:off x="3482093" y="1765470"/>
            <a:ext cx="1988249" cy="307777"/>
          </a:xfrm>
          <a:prstGeom prst="rect">
            <a:avLst/>
          </a:prstGeom>
          <a:noFill/>
        </p:spPr>
        <p:txBody>
          <a:bodyPr wrap="square">
            <a:spAutoFit/>
          </a:bodyPr>
          <a:lstStyle/>
          <a:p>
            <a:pPr algn="ctr"/>
            <a:r>
              <a:rPr lang="en-US" dirty="0">
                <a:latin typeface="Figtree Black" panose="020B0604020202020204" charset="0"/>
              </a:rPr>
              <a:t>Interpretation</a:t>
            </a:r>
          </a:p>
        </p:txBody>
      </p:sp>
      <p:sp>
        <p:nvSpPr>
          <p:cNvPr id="39" name="TextBox 38">
            <a:extLst>
              <a:ext uri="{FF2B5EF4-FFF2-40B4-BE49-F238E27FC236}">
                <a16:creationId xmlns:a16="http://schemas.microsoft.com/office/drawing/2014/main" id="{C00A439E-8118-C2C6-C87A-0EEFB574990A}"/>
              </a:ext>
            </a:extLst>
          </p:cNvPr>
          <p:cNvSpPr txBox="1"/>
          <p:nvPr/>
        </p:nvSpPr>
        <p:spPr>
          <a:xfrm>
            <a:off x="1030149" y="1765470"/>
            <a:ext cx="1988249" cy="307777"/>
          </a:xfrm>
          <a:prstGeom prst="rect">
            <a:avLst/>
          </a:prstGeom>
          <a:noFill/>
        </p:spPr>
        <p:txBody>
          <a:bodyPr wrap="square">
            <a:spAutoFit/>
          </a:bodyPr>
          <a:lstStyle/>
          <a:p>
            <a:pPr algn="ctr"/>
            <a:r>
              <a:rPr lang="en-US" dirty="0">
                <a:latin typeface="Figtree Black" panose="020B0604020202020204" charset="0"/>
              </a:rPr>
              <a:t>Prediction</a:t>
            </a:r>
          </a:p>
        </p:txBody>
      </p:sp>
      <p:sp>
        <p:nvSpPr>
          <p:cNvPr id="40" name="TextBox 39">
            <a:extLst>
              <a:ext uri="{FF2B5EF4-FFF2-40B4-BE49-F238E27FC236}">
                <a16:creationId xmlns:a16="http://schemas.microsoft.com/office/drawing/2014/main" id="{42B7CF79-94A7-71FB-B7F8-10D5902E6FD1}"/>
              </a:ext>
            </a:extLst>
          </p:cNvPr>
          <p:cNvSpPr txBox="1"/>
          <p:nvPr/>
        </p:nvSpPr>
        <p:spPr>
          <a:xfrm>
            <a:off x="6031269" y="1765470"/>
            <a:ext cx="1988249" cy="307777"/>
          </a:xfrm>
          <a:prstGeom prst="rect">
            <a:avLst/>
          </a:prstGeom>
          <a:noFill/>
        </p:spPr>
        <p:txBody>
          <a:bodyPr wrap="square">
            <a:spAutoFit/>
          </a:bodyPr>
          <a:lstStyle/>
          <a:p>
            <a:pPr algn="ctr"/>
            <a:r>
              <a:rPr lang="en-US" dirty="0">
                <a:latin typeface="Figtree Black" panose="020B0604020202020204" charset="0"/>
              </a:rPr>
              <a:t>Generation</a:t>
            </a:r>
          </a:p>
        </p:txBody>
      </p:sp>
      <p:sp>
        <p:nvSpPr>
          <p:cNvPr id="8" name="Rectangle 7">
            <a:extLst>
              <a:ext uri="{FF2B5EF4-FFF2-40B4-BE49-F238E27FC236}">
                <a16:creationId xmlns:a16="http://schemas.microsoft.com/office/drawing/2014/main" id="{86BB5BF9-7B63-E4EB-C4CA-E93C888741CE}"/>
              </a:ext>
            </a:extLst>
          </p:cNvPr>
          <p:cNvSpPr/>
          <p:nvPr/>
        </p:nvSpPr>
        <p:spPr>
          <a:xfrm>
            <a:off x="3926184" y="3296263"/>
            <a:ext cx="1107489" cy="176981"/>
          </a:xfrm>
          <a:prstGeom prst="rect">
            <a:avLst/>
          </a:prstGeom>
          <a:solidFill>
            <a:srgbClr val="F2AA84"/>
          </a:solidFill>
          <a:ln w="12700">
            <a:solidFill>
              <a:schemeClr val="bg1">
                <a:lumMod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Arrow Connector 11">
            <a:extLst>
              <a:ext uri="{FF2B5EF4-FFF2-40B4-BE49-F238E27FC236}">
                <a16:creationId xmlns:a16="http://schemas.microsoft.com/office/drawing/2014/main" id="{87D95624-1041-5A18-8990-09DD87ABBA8B}"/>
              </a:ext>
            </a:extLst>
          </p:cNvPr>
          <p:cNvCxnSpPr>
            <a:cxnSpLocks/>
          </p:cNvCxnSpPr>
          <p:nvPr/>
        </p:nvCxnSpPr>
        <p:spPr>
          <a:xfrm flipV="1">
            <a:off x="4476218" y="2976784"/>
            <a:ext cx="0" cy="22115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17" name="Graphic 16" descr="Magnifying glass with solid fill">
            <a:extLst>
              <a:ext uri="{FF2B5EF4-FFF2-40B4-BE49-F238E27FC236}">
                <a16:creationId xmlns:a16="http://schemas.microsoft.com/office/drawing/2014/main" id="{CBEB6704-E6E3-F76E-6AFD-95EB8B85FE1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rot="5400000">
            <a:off x="3519150" y="2456668"/>
            <a:ext cx="814067" cy="814067"/>
          </a:xfrm>
          <a:prstGeom prst="rect">
            <a:avLst/>
          </a:prstGeom>
        </p:spPr>
      </p:pic>
      <p:pic>
        <p:nvPicPr>
          <p:cNvPr id="18" name="Picture 17">
            <a:extLst>
              <a:ext uri="{FF2B5EF4-FFF2-40B4-BE49-F238E27FC236}">
                <a16:creationId xmlns:a16="http://schemas.microsoft.com/office/drawing/2014/main" id="{D9F3F836-379D-0A07-06B5-E5EBAA7BC76B}"/>
              </a:ext>
            </a:extLst>
          </p:cNvPr>
          <p:cNvPicPr>
            <a:picLocks noChangeAspect="1"/>
          </p:cNvPicPr>
          <p:nvPr/>
        </p:nvPicPr>
        <p:blipFill>
          <a:blip r:embed="rId3"/>
          <a:srcRect t="19067" r="88090" b="67855"/>
          <a:stretch>
            <a:fillRect/>
          </a:stretch>
        </p:blipFill>
        <p:spPr>
          <a:xfrm>
            <a:off x="1559498" y="2952257"/>
            <a:ext cx="892302" cy="491491"/>
          </a:xfrm>
          <a:prstGeom prst="rect">
            <a:avLst/>
          </a:prstGeom>
        </p:spPr>
      </p:pic>
      <p:sp>
        <p:nvSpPr>
          <p:cNvPr id="19" name="Rectangle 18">
            <a:extLst>
              <a:ext uri="{FF2B5EF4-FFF2-40B4-BE49-F238E27FC236}">
                <a16:creationId xmlns:a16="http://schemas.microsoft.com/office/drawing/2014/main" id="{77241792-18E3-E0BD-EC2B-B4F651AF291E}"/>
              </a:ext>
            </a:extLst>
          </p:cNvPr>
          <p:cNvSpPr/>
          <p:nvPr/>
        </p:nvSpPr>
        <p:spPr>
          <a:xfrm>
            <a:off x="1462990" y="3792723"/>
            <a:ext cx="1107489" cy="176981"/>
          </a:xfrm>
          <a:prstGeom prst="rect">
            <a:avLst/>
          </a:prstGeom>
          <a:solidFill>
            <a:srgbClr val="F2AA84"/>
          </a:solidFill>
          <a:ln w="12700">
            <a:solidFill>
              <a:schemeClr val="bg1">
                <a:lumMod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0" name="Straight Arrow Connector 19">
            <a:extLst>
              <a:ext uri="{FF2B5EF4-FFF2-40B4-BE49-F238E27FC236}">
                <a16:creationId xmlns:a16="http://schemas.microsoft.com/office/drawing/2014/main" id="{D13F3EC2-A906-01D2-912F-9AA8D9536163}"/>
              </a:ext>
            </a:extLst>
          </p:cNvPr>
          <p:cNvCxnSpPr>
            <a:cxnSpLocks/>
          </p:cNvCxnSpPr>
          <p:nvPr/>
        </p:nvCxnSpPr>
        <p:spPr>
          <a:xfrm flipV="1">
            <a:off x="2013024" y="3473244"/>
            <a:ext cx="0" cy="22115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2C6D1725-F06D-9924-1494-513F0E61C136}"/>
              </a:ext>
            </a:extLst>
          </p:cNvPr>
          <p:cNvCxnSpPr>
            <a:cxnSpLocks/>
          </p:cNvCxnSpPr>
          <p:nvPr/>
        </p:nvCxnSpPr>
        <p:spPr>
          <a:xfrm flipV="1">
            <a:off x="2027642" y="2642488"/>
            <a:ext cx="0" cy="22115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11B04204-778E-F2FF-EF55-02325E656965}"/>
              </a:ext>
            </a:extLst>
          </p:cNvPr>
          <p:cNvSpPr txBox="1"/>
          <p:nvPr/>
        </p:nvSpPr>
        <p:spPr>
          <a:xfrm>
            <a:off x="1030148" y="2102743"/>
            <a:ext cx="1988249" cy="461665"/>
          </a:xfrm>
          <a:prstGeom prst="rect">
            <a:avLst/>
          </a:prstGeom>
          <a:noFill/>
        </p:spPr>
        <p:txBody>
          <a:bodyPr wrap="square">
            <a:spAutoFit/>
          </a:bodyPr>
          <a:lstStyle/>
          <a:p>
            <a:pPr algn="ctr"/>
            <a:r>
              <a:rPr lang="en-US" sz="1200" dirty="0">
                <a:latin typeface="Arial" panose="020B0604020202020204" pitchFamily="34" charset="0"/>
                <a:cs typeface="Arial" panose="020B0604020202020204" pitchFamily="34" charset="0"/>
              </a:rPr>
              <a:t>Gene Expression </a:t>
            </a:r>
            <a:br>
              <a:rPr lang="en-US" sz="1200" dirty="0">
                <a:latin typeface="Arial" panose="020B0604020202020204" pitchFamily="34" charset="0"/>
                <a:cs typeface="Arial" panose="020B0604020202020204" pitchFamily="34" charset="0"/>
              </a:rPr>
            </a:br>
            <a:r>
              <a:rPr lang="en-US" sz="1200" dirty="0">
                <a:latin typeface="Arial" panose="020B0604020202020204" pitchFamily="34" charset="0"/>
                <a:cs typeface="Arial" panose="020B0604020202020204" pitchFamily="34" charset="0"/>
              </a:rPr>
              <a:t>in Cell State A</a:t>
            </a:r>
          </a:p>
        </p:txBody>
      </p:sp>
      <p:pic>
        <p:nvPicPr>
          <p:cNvPr id="24" name="Picture 23">
            <a:extLst>
              <a:ext uri="{FF2B5EF4-FFF2-40B4-BE49-F238E27FC236}">
                <a16:creationId xmlns:a16="http://schemas.microsoft.com/office/drawing/2014/main" id="{883037E1-7AC7-1747-F8F0-D4DBF939326E}"/>
              </a:ext>
            </a:extLst>
          </p:cNvPr>
          <p:cNvPicPr>
            <a:picLocks noChangeAspect="1"/>
          </p:cNvPicPr>
          <p:nvPr/>
        </p:nvPicPr>
        <p:blipFill>
          <a:blip r:embed="rId3"/>
          <a:srcRect t="19067" r="88090" b="67855"/>
          <a:stretch>
            <a:fillRect/>
          </a:stretch>
        </p:blipFill>
        <p:spPr>
          <a:xfrm>
            <a:off x="6571491" y="3546977"/>
            <a:ext cx="892302" cy="491491"/>
          </a:xfrm>
          <a:prstGeom prst="rect">
            <a:avLst/>
          </a:prstGeom>
        </p:spPr>
      </p:pic>
      <p:cxnSp>
        <p:nvCxnSpPr>
          <p:cNvPr id="25" name="Straight Arrow Connector 24">
            <a:extLst>
              <a:ext uri="{FF2B5EF4-FFF2-40B4-BE49-F238E27FC236}">
                <a16:creationId xmlns:a16="http://schemas.microsoft.com/office/drawing/2014/main" id="{3DFFA231-6570-A8C6-7492-E2181A3842C1}"/>
              </a:ext>
            </a:extLst>
          </p:cNvPr>
          <p:cNvCxnSpPr>
            <a:cxnSpLocks/>
          </p:cNvCxnSpPr>
          <p:nvPr/>
        </p:nvCxnSpPr>
        <p:spPr>
          <a:xfrm flipV="1">
            <a:off x="7039635" y="3237208"/>
            <a:ext cx="0" cy="22115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6" name="Rectangle 25">
            <a:extLst>
              <a:ext uri="{FF2B5EF4-FFF2-40B4-BE49-F238E27FC236}">
                <a16:creationId xmlns:a16="http://schemas.microsoft.com/office/drawing/2014/main" id="{3892349A-966E-53C5-BE55-C575880DE791}"/>
              </a:ext>
            </a:extLst>
          </p:cNvPr>
          <p:cNvSpPr/>
          <p:nvPr/>
        </p:nvSpPr>
        <p:spPr>
          <a:xfrm>
            <a:off x="6485889" y="2180886"/>
            <a:ext cx="1107489" cy="176981"/>
          </a:xfrm>
          <a:prstGeom prst="rect">
            <a:avLst/>
          </a:prstGeom>
          <a:solidFill>
            <a:srgbClr val="F6C4A8"/>
          </a:solidFill>
          <a:ln w="12700">
            <a:solidFill>
              <a:schemeClr val="bg1">
                <a:lumMod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9D058C67-3489-450C-67AF-AE0B18CDD5BE}"/>
              </a:ext>
            </a:extLst>
          </p:cNvPr>
          <p:cNvSpPr/>
          <p:nvPr/>
        </p:nvSpPr>
        <p:spPr>
          <a:xfrm>
            <a:off x="6485890" y="2465507"/>
            <a:ext cx="1107489" cy="176981"/>
          </a:xfrm>
          <a:prstGeom prst="rect">
            <a:avLst/>
          </a:prstGeom>
          <a:solidFill>
            <a:srgbClr val="F6C4A8"/>
          </a:solidFill>
          <a:ln w="12700">
            <a:solidFill>
              <a:schemeClr val="bg1">
                <a:lumMod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7B162826-2128-B4DC-9D97-61E9C00D211D}"/>
              </a:ext>
            </a:extLst>
          </p:cNvPr>
          <p:cNvSpPr/>
          <p:nvPr/>
        </p:nvSpPr>
        <p:spPr>
          <a:xfrm>
            <a:off x="6485889" y="2731100"/>
            <a:ext cx="1107489" cy="176981"/>
          </a:xfrm>
          <a:prstGeom prst="rect">
            <a:avLst/>
          </a:prstGeom>
          <a:solidFill>
            <a:srgbClr val="F6C4A8"/>
          </a:solidFill>
          <a:ln w="12700">
            <a:solidFill>
              <a:schemeClr val="bg1">
                <a:lumMod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0A87E72F-5C85-8F61-08EF-E8BA8A92596E}"/>
              </a:ext>
            </a:extLst>
          </p:cNvPr>
          <p:cNvSpPr/>
          <p:nvPr/>
        </p:nvSpPr>
        <p:spPr>
          <a:xfrm>
            <a:off x="6485889" y="2994304"/>
            <a:ext cx="1107489" cy="176981"/>
          </a:xfrm>
          <a:prstGeom prst="rect">
            <a:avLst/>
          </a:prstGeom>
          <a:solidFill>
            <a:srgbClr val="F6C4A8"/>
          </a:solidFill>
          <a:ln w="12700">
            <a:solidFill>
              <a:schemeClr val="bg1">
                <a:lumMod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2379479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820D19-6B5F-1AAB-5667-255D84AC58DD}"/>
            </a:ext>
          </a:extLst>
        </p:cNvPr>
        <p:cNvGrpSpPr/>
        <p:nvPr/>
      </p:nvGrpSpPr>
      <p:grpSpPr>
        <a:xfrm>
          <a:off x="0" y="0"/>
          <a:ext cx="0" cy="0"/>
          <a:chOff x="0" y="0"/>
          <a:chExt cx="0" cy="0"/>
        </a:xfrm>
      </p:grpSpPr>
      <p:sp>
        <p:nvSpPr>
          <p:cNvPr id="12" name="Oval 11">
            <a:extLst>
              <a:ext uri="{FF2B5EF4-FFF2-40B4-BE49-F238E27FC236}">
                <a16:creationId xmlns:a16="http://schemas.microsoft.com/office/drawing/2014/main" id="{F1781F07-6656-C816-4EA2-C750FD63FB17}"/>
              </a:ext>
            </a:extLst>
          </p:cNvPr>
          <p:cNvSpPr/>
          <p:nvPr/>
        </p:nvSpPr>
        <p:spPr>
          <a:xfrm>
            <a:off x="3855552" y="-4433351"/>
            <a:ext cx="7772400" cy="7772400"/>
          </a:xfrm>
          <a:prstGeom prst="ellipse">
            <a:avLst/>
          </a:prstGeom>
          <a:solidFill>
            <a:srgbClr val="0070C0">
              <a:alpha val="20000"/>
            </a:srgbClr>
          </a:solidFill>
          <a:ln w="57150">
            <a:solidFill>
              <a:srgbClr val="0070C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A359B9D8-D9D6-D0A4-F904-7A5279287BFA}"/>
              </a:ext>
            </a:extLst>
          </p:cNvPr>
          <p:cNvSpPr>
            <a:spLocks noGrp="1"/>
          </p:cNvSpPr>
          <p:nvPr>
            <p:ph type="title"/>
          </p:nvPr>
        </p:nvSpPr>
        <p:spPr>
          <a:xfrm>
            <a:off x="460739" y="522142"/>
            <a:ext cx="3285085" cy="1047210"/>
          </a:xfrm>
        </p:spPr>
        <p:txBody>
          <a:bodyPr/>
          <a:lstStyle/>
          <a:p>
            <a:pPr algn="ctr"/>
            <a:r>
              <a:rPr lang="en-US" sz="2400" dirty="0"/>
              <a:t>Genome language modeling efforts have exploded</a:t>
            </a:r>
            <a:br>
              <a:rPr lang="en-US" sz="2400" dirty="0"/>
            </a:br>
            <a:endParaRPr lang="en-US" sz="2400" dirty="0"/>
          </a:p>
        </p:txBody>
      </p:sp>
      <p:sp>
        <p:nvSpPr>
          <p:cNvPr id="4" name="Oval 3">
            <a:extLst>
              <a:ext uri="{FF2B5EF4-FFF2-40B4-BE49-F238E27FC236}">
                <a16:creationId xmlns:a16="http://schemas.microsoft.com/office/drawing/2014/main" id="{DD2CD02F-617F-C0C9-D6A6-B63624A22EB4}"/>
              </a:ext>
            </a:extLst>
          </p:cNvPr>
          <p:cNvSpPr/>
          <p:nvPr/>
        </p:nvSpPr>
        <p:spPr>
          <a:xfrm>
            <a:off x="966144" y="3258916"/>
            <a:ext cx="18288" cy="18288"/>
          </a:xfrm>
          <a:prstGeom prst="ellipse">
            <a:avLst/>
          </a:prstGeom>
          <a:solidFill>
            <a:srgbClr val="0070C0">
              <a:alpha val="8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2021 0.</a:t>
            </a:r>
          </a:p>
        </p:txBody>
      </p:sp>
      <p:sp>
        <p:nvSpPr>
          <p:cNvPr id="6" name="Text Placeholder 2">
            <a:extLst>
              <a:ext uri="{FF2B5EF4-FFF2-40B4-BE49-F238E27FC236}">
                <a16:creationId xmlns:a16="http://schemas.microsoft.com/office/drawing/2014/main" id="{00EA33F0-A9B9-5328-B301-243B001ADCFD}"/>
              </a:ext>
            </a:extLst>
          </p:cNvPr>
          <p:cNvSpPr txBox="1">
            <a:spLocks/>
          </p:cNvSpPr>
          <p:nvPr/>
        </p:nvSpPr>
        <p:spPr>
          <a:xfrm>
            <a:off x="0" y="3555418"/>
            <a:ext cx="1809974" cy="905734"/>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79400" algn="l" rtl="0">
              <a:lnSpc>
                <a:spcPct val="115000"/>
              </a:lnSpc>
              <a:spcBef>
                <a:spcPts val="0"/>
              </a:spcBef>
              <a:spcAft>
                <a:spcPts val="0"/>
              </a:spcAft>
              <a:buClr>
                <a:schemeClr val="dk1"/>
              </a:buClr>
              <a:buSzPts val="800"/>
              <a:buFont typeface="Hanken Grotesk"/>
              <a:buChar char="●"/>
              <a:defRPr sz="1400" b="0" i="0" u="none" strike="noStrike" cap="none">
                <a:solidFill>
                  <a:schemeClr val="dk1"/>
                </a:solidFill>
                <a:latin typeface="Hanken Grotesk"/>
                <a:ea typeface="Hanken Grotesk"/>
                <a:cs typeface="Hanken Grotesk"/>
                <a:sym typeface="Hanken Grotesk"/>
              </a:defRPr>
            </a:lvl1pPr>
            <a:lvl2pPr marL="914400" marR="0" lvl="1"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2pPr>
            <a:lvl3pPr marL="1371600" marR="0" lvl="2"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3pPr>
            <a:lvl4pPr marL="1828800" marR="0" lvl="3"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4pPr>
            <a:lvl5pPr marL="2286000" marR="0" lvl="4"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5pPr>
            <a:lvl6pPr marL="2743200" marR="0" lvl="5"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6pPr>
            <a:lvl7pPr marL="3200400" marR="0" lvl="6"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7pPr>
            <a:lvl8pPr marL="3657600" marR="0" lvl="7"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8pPr>
            <a:lvl9pPr marL="4114800" marR="0" lvl="8"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9pPr>
          </a:lstStyle>
          <a:p>
            <a:pPr marL="177800" indent="0" algn="ctr">
              <a:buNone/>
            </a:pPr>
            <a:r>
              <a:rPr lang="en-US" b="1" dirty="0" err="1"/>
              <a:t>DNABert</a:t>
            </a:r>
            <a:br>
              <a:rPr lang="en-US" b="1" dirty="0"/>
            </a:br>
            <a:r>
              <a:rPr lang="en-US" dirty="0"/>
              <a:t>2021</a:t>
            </a:r>
            <a:br>
              <a:rPr lang="en-US" dirty="0"/>
            </a:br>
            <a:r>
              <a:rPr lang="en-US" dirty="0"/>
              <a:t>110M params</a:t>
            </a:r>
            <a:br>
              <a:rPr lang="en-US" dirty="0"/>
            </a:br>
            <a:endParaRPr lang="en-US" dirty="0"/>
          </a:p>
        </p:txBody>
      </p:sp>
      <p:sp>
        <p:nvSpPr>
          <p:cNvPr id="7" name="Oval 6">
            <a:extLst>
              <a:ext uri="{FF2B5EF4-FFF2-40B4-BE49-F238E27FC236}">
                <a16:creationId xmlns:a16="http://schemas.microsoft.com/office/drawing/2014/main" id="{A92F23C7-F7EC-407A-9A94-55926D82798F}"/>
              </a:ext>
            </a:extLst>
          </p:cNvPr>
          <p:cNvSpPr/>
          <p:nvPr/>
        </p:nvSpPr>
        <p:spPr>
          <a:xfrm>
            <a:off x="2084759" y="2810860"/>
            <a:ext cx="457200" cy="457200"/>
          </a:xfrm>
          <a:prstGeom prst="ellipse">
            <a:avLst/>
          </a:prstGeom>
          <a:solidFill>
            <a:srgbClr val="0070C0">
              <a:alpha val="20000"/>
            </a:srgbClr>
          </a:solidFill>
          <a:ln>
            <a:solidFill>
              <a:srgbClr val="0070C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ext Placeholder 2">
            <a:extLst>
              <a:ext uri="{FF2B5EF4-FFF2-40B4-BE49-F238E27FC236}">
                <a16:creationId xmlns:a16="http://schemas.microsoft.com/office/drawing/2014/main" id="{0C707CA6-A288-7C84-1946-09C036654F3B}"/>
              </a:ext>
            </a:extLst>
          </p:cNvPr>
          <p:cNvSpPr txBox="1">
            <a:spLocks/>
          </p:cNvSpPr>
          <p:nvPr/>
        </p:nvSpPr>
        <p:spPr>
          <a:xfrm>
            <a:off x="1299075" y="3574148"/>
            <a:ext cx="1809974" cy="905734"/>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79400" algn="l" rtl="0">
              <a:lnSpc>
                <a:spcPct val="115000"/>
              </a:lnSpc>
              <a:spcBef>
                <a:spcPts val="0"/>
              </a:spcBef>
              <a:spcAft>
                <a:spcPts val="0"/>
              </a:spcAft>
              <a:buClr>
                <a:schemeClr val="dk1"/>
              </a:buClr>
              <a:buSzPts val="800"/>
              <a:buFont typeface="Hanken Grotesk"/>
              <a:buChar char="●"/>
              <a:defRPr sz="1400" b="0" i="0" u="none" strike="noStrike" cap="none">
                <a:solidFill>
                  <a:schemeClr val="dk1"/>
                </a:solidFill>
                <a:latin typeface="Hanken Grotesk"/>
                <a:ea typeface="Hanken Grotesk"/>
                <a:cs typeface="Hanken Grotesk"/>
                <a:sym typeface="Hanken Grotesk"/>
              </a:defRPr>
            </a:lvl1pPr>
            <a:lvl2pPr marL="914400" marR="0" lvl="1"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2pPr>
            <a:lvl3pPr marL="1371600" marR="0" lvl="2"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3pPr>
            <a:lvl4pPr marL="1828800" marR="0" lvl="3"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4pPr>
            <a:lvl5pPr marL="2286000" marR="0" lvl="4"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5pPr>
            <a:lvl6pPr marL="2743200" marR="0" lvl="5"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6pPr>
            <a:lvl7pPr marL="3200400" marR="0" lvl="6"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7pPr>
            <a:lvl8pPr marL="3657600" marR="0" lvl="7"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8pPr>
            <a:lvl9pPr marL="4114800" marR="0" lvl="8"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9pPr>
          </a:lstStyle>
          <a:p>
            <a:pPr marL="177800" indent="0" algn="ctr">
              <a:buNone/>
            </a:pPr>
            <a:r>
              <a:rPr lang="en-US" b="1" dirty="0"/>
              <a:t>Nucleotide Transformer</a:t>
            </a:r>
            <a:br>
              <a:rPr lang="en-US" b="1" dirty="0"/>
            </a:br>
            <a:r>
              <a:rPr lang="en-US" dirty="0"/>
              <a:t>2023</a:t>
            </a:r>
            <a:br>
              <a:rPr lang="en-US" dirty="0"/>
            </a:br>
            <a:r>
              <a:rPr lang="en-US" dirty="0"/>
              <a:t>2.5B params</a:t>
            </a:r>
            <a:br>
              <a:rPr lang="en-US" dirty="0"/>
            </a:br>
            <a:endParaRPr lang="en-US" dirty="0"/>
          </a:p>
        </p:txBody>
      </p:sp>
      <p:sp>
        <p:nvSpPr>
          <p:cNvPr id="9" name="Oval 8">
            <a:extLst>
              <a:ext uri="{FF2B5EF4-FFF2-40B4-BE49-F238E27FC236}">
                <a16:creationId xmlns:a16="http://schemas.microsoft.com/office/drawing/2014/main" id="{1CC81D2A-0907-187D-DA26-A781BDA69E7E}"/>
              </a:ext>
            </a:extLst>
          </p:cNvPr>
          <p:cNvSpPr/>
          <p:nvPr/>
        </p:nvSpPr>
        <p:spPr>
          <a:xfrm>
            <a:off x="3169752" y="1967449"/>
            <a:ext cx="1371600" cy="1371600"/>
          </a:xfrm>
          <a:prstGeom prst="ellipse">
            <a:avLst/>
          </a:prstGeom>
          <a:solidFill>
            <a:srgbClr val="0070C0">
              <a:alpha val="20000"/>
            </a:srgbClr>
          </a:solidFill>
          <a:ln>
            <a:solidFill>
              <a:srgbClr val="0070C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Text Placeholder 2">
            <a:extLst>
              <a:ext uri="{FF2B5EF4-FFF2-40B4-BE49-F238E27FC236}">
                <a16:creationId xmlns:a16="http://schemas.microsoft.com/office/drawing/2014/main" id="{BB127EB7-A3B9-4AA1-3483-015CA43DB662}"/>
              </a:ext>
            </a:extLst>
          </p:cNvPr>
          <p:cNvSpPr txBox="1">
            <a:spLocks/>
          </p:cNvSpPr>
          <p:nvPr/>
        </p:nvSpPr>
        <p:spPr>
          <a:xfrm>
            <a:off x="2872815" y="3555418"/>
            <a:ext cx="1809974" cy="905734"/>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79400" algn="l" rtl="0">
              <a:lnSpc>
                <a:spcPct val="115000"/>
              </a:lnSpc>
              <a:spcBef>
                <a:spcPts val="0"/>
              </a:spcBef>
              <a:spcAft>
                <a:spcPts val="0"/>
              </a:spcAft>
              <a:buClr>
                <a:schemeClr val="dk1"/>
              </a:buClr>
              <a:buSzPts val="800"/>
              <a:buFont typeface="Hanken Grotesk"/>
              <a:buChar char="●"/>
              <a:defRPr sz="1400" b="0" i="0" u="none" strike="noStrike" cap="none">
                <a:solidFill>
                  <a:schemeClr val="dk1"/>
                </a:solidFill>
                <a:latin typeface="Hanken Grotesk"/>
                <a:ea typeface="Hanken Grotesk"/>
                <a:cs typeface="Hanken Grotesk"/>
                <a:sym typeface="Hanken Grotesk"/>
              </a:defRPr>
            </a:lvl1pPr>
            <a:lvl2pPr marL="914400" marR="0" lvl="1"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2pPr>
            <a:lvl3pPr marL="1371600" marR="0" lvl="2"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3pPr>
            <a:lvl4pPr marL="1828800" marR="0" lvl="3"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4pPr>
            <a:lvl5pPr marL="2286000" marR="0" lvl="4"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5pPr>
            <a:lvl6pPr marL="2743200" marR="0" lvl="5"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6pPr>
            <a:lvl7pPr marL="3200400" marR="0" lvl="6"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7pPr>
            <a:lvl8pPr marL="3657600" marR="0" lvl="7"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8pPr>
            <a:lvl9pPr marL="4114800" marR="0" lvl="8"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9pPr>
          </a:lstStyle>
          <a:p>
            <a:pPr marL="177800" indent="0" algn="ctr">
              <a:buNone/>
            </a:pPr>
            <a:r>
              <a:rPr lang="en-US" b="1" dirty="0"/>
              <a:t>Evo</a:t>
            </a:r>
            <a:br>
              <a:rPr lang="en-US" b="1" dirty="0"/>
            </a:br>
            <a:r>
              <a:rPr lang="en-US" dirty="0"/>
              <a:t>2024</a:t>
            </a:r>
            <a:br>
              <a:rPr lang="en-US" dirty="0"/>
            </a:br>
            <a:r>
              <a:rPr lang="en-US" dirty="0"/>
              <a:t>7B params</a:t>
            </a:r>
            <a:br>
              <a:rPr lang="en-US" dirty="0"/>
            </a:br>
            <a:endParaRPr lang="en-US" dirty="0"/>
          </a:p>
        </p:txBody>
      </p:sp>
      <p:sp>
        <p:nvSpPr>
          <p:cNvPr id="11" name="Text Placeholder 2">
            <a:extLst>
              <a:ext uri="{FF2B5EF4-FFF2-40B4-BE49-F238E27FC236}">
                <a16:creationId xmlns:a16="http://schemas.microsoft.com/office/drawing/2014/main" id="{88AD4795-295C-BAA0-1209-903230700175}"/>
              </a:ext>
            </a:extLst>
          </p:cNvPr>
          <p:cNvSpPr txBox="1">
            <a:spLocks/>
          </p:cNvSpPr>
          <p:nvPr/>
        </p:nvSpPr>
        <p:spPr>
          <a:xfrm>
            <a:off x="6034952" y="3555418"/>
            <a:ext cx="1809974" cy="905734"/>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79400" algn="l" rtl="0">
              <a:lnSpc>
                <a:spcPct val="115000"/>
              </a:lnSpc>
              <a:spcBef>
                <a:spcPts val="0"/>
              </a:spcBef>
              <a:spcAft>
                <a:spcPts val="0"/>
              </a:spcAft>
              <a:buClr>
                <a:schemeClr val="dk1"/>
              </a:buClr>
              <a:buSzPts val="800"/>
              <a:buFont typeface="Hanken Grotesk"/>
              <a:buChar char="●"/>
              <a:defRPr sz="1400" b="0" i="0" u="none" strike="noStrike" cap="none">
                <a:solidFill>
                  <a:schemeClr val="dk1"/>
                </a:solidFill>
                <a:latin typeface="Hanken Grotesk"/>
                <a:ea typeface="Hanken Grotesk"/>
                <a:cs typeface="Hanken Grotesk"/>
                <a:sym typeface="Hanken Grotesk"/>
              </a:defRPr>
            </a:lvl1pPr>
            <a:lvl2pPr marL="914400" marR="0" lvl="1"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2pPr>
            <a:lvl3pPr marL="1371600" marR="0" lvl="2"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3pPr>
            <a:lvl4pPr marL="1828800" marR="0" lvl="3"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4pPr>
            <a:lvl5pPr marL="2286000" marR="0" lvl="4"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5pPr>
            <a:lvl6pPr marL="2743200" marR="0" lvl="5"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6pPr>
            <a:lvl7pPr marL="3200400" marR="0" lvl="6"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7pPr>
            <a:lvl8pPr marL="3657600" marR="0" lvl="7"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8pPr>
            <a:lvl9pPr marL="4114800" marR="0" lvl="8"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9pPr>
          </a:lstStyle>
          <a:p>
            <a:pPr marL="177800" indent="0" algn="ctr">
              <a:buNone/>
            </a:pPr>
            <a:r>
              <a:rPr lang="en-US" b="1" dirty="0"/>
              <a:t>Evo2</a:t>
            </a:r>
            <a:br>
              <a:rPr lang="en-US" b="1" dirty="0"/>
            </a:br>
            <a:r>
              <a:rPr lang="en-US" dirty="0"/>
              <a:t>2026</a:t>
            </a:r>
            <a:br>
              <a:rPr lang="en-US" dirty="0"/>
            </a:br>
            <a:r>
              <a:rPr lang="en-US" dirty="0"/>
              <a:t>40B params</a:t>
            </a:r>
            <a:br>
              <a:rPr lang="en-US" dirty="0"/>
            </a:br>
            <a:endParaRPr lang="en-US" dirty="0"/>
          </a:p>
        </p:txBody>
      </p:sp>
    </p:spTree>
    <p:extLst>
      <p:ext uri="{BB962C8B-B14F-4D97-AF65-F5344CB8AC3E}">
        <p14:creationId xmlns:p14="http://schemas.microsoft.com/office/powerpoint/2010/main" val="263143517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302071-3D0B-B107-A9DB-02A1B0BD3FD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F5D0A05-D3A7-2FAF-E3A1-96DD663523B0}"/>
              </a:ext>
            </a:extLst>
          </p:cNvPr>
          <p:cNvSpPr>
            <a:spLocks noGrp="1"/>
          </p:cNvSpPr>
          <p:nvPr>
            <p:ph type="title"/>
          </p:nvPr>
        </p:nvSpPr>
        <p:spPr/>
        <p:txBody>
          <a:bodyPr/>
          <a:lstStyle/>
          <a:p>
            <a:pPr algn="ctr"/>
            <a:r>
              <a:rPr lang="en-US" sz="2400" dirty="0"/>
              <a:t>“Genomic foundationless models” learn no </a:t>
            </a:r>
            <a:br>
              <a:rPr lang="en-US" sz="2400" dirty="0"/>
            </a:br>
            <a:r>
              <a:rPr lang="en-US" sz="2400" dirty="0"/>
              <a:t>better an understanding than random weights</a:t>
            </a:r>
          </a:p>
        </p:txBody>
      </p:sp>
      <p:pic>
        <p:nvPicPr>
          <p:cNvPr id="5" name="Picture 4" descr="The diagram displays a comparison of various genomic prediction models and their performance metrics across different tasks, such as promoter detection, core promoter detection, and splice prediction, with 'Caduceus' and 'Mistral' being the top performers.&#10;&#10;AI-generated content may be incorrect.">
            <a:extLst>
              <a:ext uri="{FF2B5EF4-FFF2-40B4-BE49-F238E27FC236}">
                <a16:creationId xmlns:a16="http://schemas.microsoft.com/office/drawing/2014/main" id="{E20A21D1-C95C-8AD6-030C-34CB63F130F8}"/>
              </a:ext>
            </a:extLst>
          </p:cNvPr>
          <p:cNvPicPr>
            <a:picLocks noChangeAspect="1"/>
          </p:cNvPicPr>
          <p:nvPr/>
        </p:nvPicPr>
        <p:blipFill>
          <a:blip r:embed="rId3"/>
          <a:srcRect r="843"/>
          <a:stretch>
            <a:fillRect/>
          </a:stretch>
        </p:blipFill>
        <p:spPr>
          <a:xfrm>
            <a:off x="302164" y="1719210"/>
            <a:ext cx="8510176" cy="2078500"/>
          </a:xfrm>
          <a:prstGeom prst="rect">
            <a:avLst/>
          </a:prstGeom>
        </p:spPr>
      </p:pic>
      <p:sp>
        <p:nvSpPr>
          <p:cNvPr id="7" name="TextBox 6">
            <a:extLst>
              <a:ext uri="{FF2B5EF4-FFF2-40B4-BE49-F238E27FC236}">
                <a16:creationId xmlns:a16="http://schemas.microsoft.com/office/drawing/2014/main" id="{EA4B0AB7-80D5-9B4B-B9BC-12106CBBC4F0}"/>
              </a:ext>
            </a:extLst>
          </p:cNvPr>
          <p:cNvSpPr txBox="1"/>
          <p:nvPr/>
        </p:nvSpPr>
        <p:spPr>
          <a:xfrm>
            <a:off x="316912" y="4499195"/>
            <a:ext cx="5066070" cy="307777"/>
          </a:xfrm>
          <a:prstGeom prst="rect">
            <a:avLst/>
          </a:prstGeom>
          <a:noFill/>
        </p:spPr>
        <p:txBody>
          <a:bodyPr wrap="square">
            <a:spAutoFit/>
          </a:bodyPr>
          <a:lstStyle/>
          <a:p>
            <a:r>
              <a:rPr lang="en-US" sz="1400" b="0" i="0" u="none" strike="noStrike" cap="none" dirty="0" err="1">
                <a:solidFill>
                  <a:srgbClr val="000000"/>
                </a:solidFill>
                <a:effectLst/>
                <a:latin typeface="Arial"/>
                <a:ea typeface="Arial"/>
                <a:cs typeface="Arial"/>
                <a:sym typeface="Arial"/>
              </a:rPr>
              <a:t>Vishniakov</a:t>
            </a:r>
            <a:r>
              <a:rPr lang="en-US" sz="1400" b="0" i="0" u="none" strike="noStrike" cap="none" dirty="0">
                <a:solidFill>
                  <a:srgbClr val="000000"/>
                </a:solidFill>
                <a:effectLst/>
                <a:latin typeface="Arial"/>
                <a:ea typeface="Arial"/>
                <a:cs typeface="Arial"/>
                <a:sym typeface="Arial"/>
              </a:rPr>
              <a:t> </a:t>
            </a:r>
            <a:r>
              <a:rPr lang="en-US" sz="1400" b="0" i="1" u="none" strike="noStrike" cap="none" dirty="0">
                <a:solidFill>
                  <a:srgbClr val="000000"/>
                </a:solidFill>
                <a:effectLst/>
                <a:latin typeface="Arial"/>
                <a:ea typeface="Arial"/>
                <a:cs typeface="Arial"/>
                <a:sym typeface="Arial"/>
              </a:rPr>
              <a:t>et al</a:t>
            </a:r>
            <a:r>
              <a:rPr lang="en-US" sz="1400" b="0" i="0" u="none" strike="noStrike" cap="none" dirty="0">
                <a:solidFill>
                  <a:srgbClr val="000000"/>
                </a:solidFill>
                <a:effectLst/>
                <a:latin typeface="Arial"/>
                <a:ea typeface="Arial"/>
                <a:cs typeface="Arial"/>
                <a:sym typeface="Arial"/>
              </a:rPr>
              <a:t>. 2025 </a:t>
            </a:r>
            <a:endParaRPr lang="en-US" dirty="0"/>
          </a:p>
        </p:txBody>
      </p:sp>
    </p:spTree>
    <p:extLst>
      <p:ext uri="{BB962C8B-B14F-4D97-AF65-F5344CB8AC3E}">
        <p14:creationId xmlns:p14="http://schemas.microsoft.com/office/powerpoint/2010/main" val="127331135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8FE316-7A79-AF61-4EF4-5833E6F5A30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686BBF-9CD7-06BF-7B84-A77D49B475CB}"/>
              </a:ext>
            </a:extLst>
          </p:cNvPr>
          <p:cNvSpPr>
            <a:spLocks noGrp="1"/>
          </p:cNvSpPr>
          <p:nvPr>
            <p:ph type="title"/>
          </p:nvPr>
        </p:nvSpPr>
        <p:spPr/>
        <p:txBody>
          <a:bodyPr/>
          <a:lstStyle/>
          <a:p>
            <a:pPr algn="ctr"/>
            <a:r>
              <a:rPr lang="en-US" dirty="0"/>
              <a:t>Genomes do not behave like language!</a:t>
            </a:r>
          </a:p>
        </p:txBody>
      </p:sp>
      <p:sp>
        <p:nvSpPr>
          <p:cNvPr id="4" name="Rectangle 3">
            <a:extLst>
              <a:ext uri="{FF2B5EF4-FFF2-40B4-BE49-F238E27FC236}">
                <a16:creationId xmlns:a16="http://schemas.microsoft.com/office/drawing/2014/main" id="{E00868E3-13E8-9402-7C54-58C2FE73F268}"/>
              </a:ext>
            </a:extLst>
          </p:cNvPr>
          <p:cNvSpPr/>
          <p:nvPr/>
        </p:nvSpPr>
        <p:spPr>
          <a:xfrm>
            <a:off x="892367" y="3641073"/>
            <a:ext cx="7359267" cy="121186"/>
          </a:xfrm>
          <a:prstGeom prst="rect">
            <a:avLst/>
          </a:prstGeom>
          <a:solidFill>
            <a:srgbClr val="71DAFF"/>
          </a:solidFill>
          <a:ln>
            <a:solidFill>
              <a:srgbClr val="71DA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48ABFE4F-7659-85B4-4616-85EF66A369F3}"/>
              </a:ext>
            </a:extLst>
          </p:cNvPr>
          <p:cNvSpPr/>
          <p:nvPr/>
        </p:nvSpPr>
        <p:spPr>
          <a:xfrm>
            <a:off x="1816865" y="3641073"/>
            <a:ext cx="262658" cy="121186"/>
          </a:xfrm>
          <a:prstGeom prst="rect">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A53A8C02-B1E0-737B-3D38-131316E8C370}"/>
              </a:ext>
            </a:extLst>
          </p:cNvPr>
          <p:cNvSpPr/>
          <p:nvPr/>
        </p:nvSpPr>
        <p:spPr>
          <a:xfrm>
            <a:off x="3842310" y="3641073"/>
            <a:ext cx="262658" cy="121186"/>
          </a:xfrm>
          <a:prstGeom prst="rect">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276832EA-2BD9-BC50-7567-32B205B88CDF}"/>
              </a:ext>
            </a:extLst>
          </p:cNvPr>
          <p:cNvSpPr/>
          <p:nvPr/>
        </p:nvSpPr>
        <p:spPr>
          <a:xfrm>
            <a:off x="5322065" y="3641073"/>
            <a:ext cx="262658" cy="121186"/>
          </a:xfrm>
          <a:prstGeom prst="rect">
            <a:avLst/>
          </a:prstGeom>
          <a:solidFill>
            <a:srgbClr val="FFFF00"/>
          </a:solid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A80FDEFA-C1D9-1FD3-1B89-39B8C493FF8A}"/>
              </a:ext>
            </a:extLst>
          </p:cNvPr>
          <p:cNvSpPr/>
          <p:nvPr/>
        </p:nvSpPr>
        <p:spPr>
          <a:xfrm>
            <a:off x="5605096" y="3641073"/>
            <a:ext cx="1196723" cy="121186"/>
          </a:xfrm>
          <a:prstGeom prst="rect">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 Placeholder 2">
            <a:extLst>
              <a:ext uri="{FF2B5EF4-FFF2-40B4-BE49-F238E27FC236}">
                <a16:creationId xmlns:a16="http://schemas.microsoft.com/office/drawing/2014/main" id="{30525BA5-B2A5-AC54-7362-B8F8EC77437A}"/>
              </a:ext>
            </a:extLst>
          </p:cNvPr>
          <p:cNvSpPr txBox="1">
            <a:spLocks/>
          </p:cNvSpPr>
          <p:nvPr/>
        </p:nvSpPr>
        <p:spPr>
          <a:xfrm>
            <a:off x="1206143" y="3828627"/>
            <a:ext cx="1380863" cy="40457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79400" algn="l" rtl="0">
              <a:lnSpc>
                <a:spcPct val="115000"/>
              </a:lnSpc>
              <a:spcBef>
                <a:spcPts val="0"/>
              </a:spcBef>
              <a:spcAft>
                <a:spcPts val="0"/>
              </a:spcAft>
              <a:buClr>
                <a:schemeClr val="dk1"/>
              </a:buClr>
              <a:buSzPts val="800"/>
              <a:buFont typeface="Hanken Grotesk"/>
              <a:buChar char="●"/>
              <a:defRPr sz="1400" b="0" i="0" u="none" strike="noStrike" cap="none">
                <a:solidFill>
                  <a:schemeClr val="dk1"/>
                </a:solidFill>
                <a:latin typeface="Hanken Grotesk"/>
                <a:ea typeface="Hanken Grotesk"/>
                <a:cs typeface="Hanken Grotesk"/>
                <a:sym typeface="Hanken Grotesk"/>
              </a:defRPr>
            </a:lvl1pPr>
            <a:lvl2pPr marL="914400" marR="0" lvl="1"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2pPr>
            <a:lvl3pPr marL="1371600" marR="0" lvl="2"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3pPr>
            <a:lvl4pPr marL="1828800" marR="0" lvl="3"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4pPr>
            <a:lvl5pPr marL="2286000" marR="0" lvl="4"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5pPr>
            <a:lvl6pPr marL="2743200" marR="0" lvl="5"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6pPr>
            <a:lvl7pPr marL="3200400" marR="0" lvl="6"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7pPr>
            <a:lvl8pPr marL="3657600" marR="0" lvl="7"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8pPr>
            <a:lvl9pPr marL="4114800" marR="0" lvl="8"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9pPr>
          </a:lstStyle>
          <a:p>
            <a:pPr marL="177800" indent="0" algn="ctr">
              <a:buFont typeface="Hanken Grotesk"/>
              <a:buNone/>
            </a:pPr>
            <a:r>
              <a:rPr lang="en-US" dirty="0"/>
              <a:t>Enhancer</a:t>
            </a:r>
          </a:p>
        </p:txBody>
      </p:sp>
      <p:sp>
        <p:nvSpPr>
          <p:cNvPr id="10" name="Text Placeholder 2">
            <a:extLst>
              <a:ext uri="{FF2B5EF4-FFF2-40B4-BE49-F238E27FC236}">
                <a16:creationId xmlns:a16="http://schemas.microsoft.com/office/drawing/2014/main" id="{3AAC9966-886C-581F-3D2A-22208904778F}"/>
              </a:ext>
            </a:extLst>
          </p:cNvPr>
          <p:cNvSpPr txBox="1">
            <a:spLocks/>
          </p:cNvSpPr>
          <p:nvPr/>
        </p:nvSpPr>
        <p:spPr>
          <a:xfrm>
            <a:off x="3191137" y="3828627"/>
            <a:ext cx="1380863" cy="40457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79400" algn="l" rtl="0">
              <a:lnSpc>
                <a:spcPct val="115000"/>
              </a:lnSpc>
              <a:spcBef>
                <a:spcPts val="0"/>
              </a:spcBef>
              <a:spcAft>
                <a:spcPts val="0"/>
              </a:spcAft>
              <a:buClr>
                <a:schemeClr val="dk1"/>
              </a:buClr>
              <a:buSzPts val="800"/>
              <a:buFont typeface="Hanken Grotesk"/>
              <a:buChar char="●"/>
              <a:defRPr sz="1400" b="0" i="0" u="none" strike="noStrike" cap="none">
                <a:solidFill>
                  <a:schemeClr val="dk1"/>
                </a:solidFill>
                <a:latin typeface="Hanken Grotesk"/>
                <a:ea typeface="Hanken Grotesk"/>
                <a:cs typeface="Hanken Grotesk"/>
                <a:sym typeface="Hanken Grotesk"/>
              </a:defRPr>
            </a:lvl1pPr>
            <a:lvl2pPr marL="914400" marR="0" lvl="1"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2pPr>
            <a:lvl3pPr marL="1371600" marR="0" lvl="2"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3pPr>
            <a:lvl4pPr marL="1828800" marR="0" lvl="3"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4pPr>
            <a:lvl5pPr marL="2286000" marR="0" lvl="4"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5pPr>
            <a:lvl6pPr marL="2743200" marR="0" lvl="5"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6pPr>
            <a:lvl7pPr marL="3200400" marR="0" lvl="6"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7pPr>
            <a:lvl8pPr marL="3657600" marR="0" lvl="7"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8pPr>
            <a:lvl9pPr marL="4114800" marR="0" lvl="8"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9pPr>
          </a:lstStyle>
          <a:p>
            <a:pPr marL="177800" indent="0" algn="ctr">
              <a:buFont typeface="Hanken Grotesk"/>
              <a:buNone/>
            </a:pPr>
            <a:r>
              <a:rPr lang="en-US" dirty="0"/>
              <a:t>Enhancer</a:t>
            </a:r>
          </a:p>
        </p:txBody>
      </p:sp>
      <p:sp>
        <p:nvSpPr>
          <p:cNvPr id="11" name="Text Placeholder 2">
            <a:extLst>
              <a:ext uri="{FF2B5EF4-FFF2-40B4-BE49-F238E27FC236}">
                <a16:creationId xmlns:a16="http://schemas.microsoft.com/office/drawing/2014/main" id="{C62AF7DE-E5F8-8F10-5E57-E8A11385B4FF}"/>
              </a:ext>
            </a:extLst>
          </p:cNvPr>
          <p:cNvSpPr txBox="1">
            <a:spLocks/>
          </p:cNvSpPr>
          <p:nvPr/>
        </p:nvSpPr>
        <p:spPr>
          <a:xfrm>
            <a:off x="4762962" y="3828626"/>
            <a:ext cx="1380863" cy="40457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79400" algn="l" rtl="0">
              <a:lnSpc>
                <a:spcPct val="115000"/>
              </a:lnSpc>
              <a:spcBef>
                <a:spcPts val="0"/>
              </a:spcBef>
              <a:spcAft>
                <a:spcPts val="0"/>
              </a:spcAft>
              <a:buClr>
                <a:schemeClr val="dk1"/>
              </a:buClr>
              <a:buSzPts val="800"/>
              <a:buFont typeface="Hanken Grotesk"/>
              <a:buChar char="●"/>
              <a:defRPr sz="1400" b="0" i="0" u="none" strike="noStrike" cap="none">
                <a:solidFill>
                  <a:schemeClr val="dk1"/>
                </a:solidFill>
                <a:latin typeface="Hanken Grotesk"/>
                <a:ea typeface="Hanken Grotesk"/>
                <a:cs typeface="Hanken Grotesk"/>
                <a:sym typeface="Hanken Grotesk"/>
              </a:defRPr>
            </a:lvl1pPr>
            <a:lvl2pPr marL="914400" marR="0" lvl="1"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2pPr>
            <a:lvl3pPr marL="1371600" marR="0" lvl="2"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3pPr>
            <a:lvl4pPr marL="1828800" marR="0" lvl="3"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4pPr>
            <a:lvl5pPr marL="2286000" marR="0" lvl="4"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5pPr>
            <a:lvl6pPr marL="2743200" marR="0" lvl="5"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6pPr>
            <a:lvl7pPr marL="3200400" marR="0" lvl="6"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7pPr>
            <a:lvl8pPr marL="3657600" marR="0" lvl="7"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8pPr>
            <a:lvl9pPr marL="4114800" marR="0" lvl="8"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9pPr>
          </a:lstStyle>
          <a:p>
            <a:pPr marL="177800" indent="0" algn="ctr">
              <a:buFont typeface="Hanken Grotesk"/>
              <a:buNone/>
            </a:pPr>
            <a:r>
              <a:rPr lang="en-US" dirty="0"/>
              <a:t>Promoter</a:t>
            </a:r>
          </a:p>
        </p:txBody>
      </p:sp>
      <p:sp>
        <p:nvSpPr>
          <p:cNvPr id="12" name="Text Placeholder 2">
            <a:extLst>
              <a:ext uri="{FF2B5EF4-FFF2-40B4-BE49-F238E27FC236}">
                <a16:creationId xmlns:a16="http://schemas.microsoft.com/office/drawing/2014/main" id="{F2C48FB3-F819-311B-C203-0587A5E04FF5}"/>
              </a:ext>
            </a:extLst>
          </p:cNvPr>
          <p:cNvSpPr txBox="1">
            <a:spLocks/>
          </p:cNvSpPr>
          <p:nvPr/>
        </p:nvSpPr>
        <p:spPr>
          <a:xfrm>
            <a:off x="5513025" y="3828626"/>
            <a:ext cx="1380863" cy="40457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79400" algn="l" rtl="0">
              <a:lnSpc>
                <a:spcPct val="115000"/>
              </a:lnSpc>
              <a:spcBef>
                <a:spcPts val="0"/>
              </a:spcBef>
              <a:spcAft>
                <a:spcPts val="0"/>
              </a:spcAft>
              <a:buClr>
                <a:schemeClr val="dk1"/>
              </a:buClr>
              <a:buSzPts val="800"/>
              <a:buFont typeface="Hanken Grotesk"/>
              <a:buChar char="●"/>
              <a:defRPr sz="1400" b="0" i="0" u="none" strike="noStrike" cap="none">
                <a:solidFill>
                  <a:schemeClr val="dk1"/>
                </a:solidFill>
                <a:latin typeface="Hanken Grotesk"/>
                <a:ea typeface="Hanken Grotesk"/>
                <a:cs typeface="Hanken Grotesk"/>
                <a:sym typeface="Hanken Grotesk"/>
              </a:defRPr>
            </a:lvl1pPr>
            <a:lvl2pPr marL="914400" marR="0" lvl="1"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2pPr>
            <a:lvl3pPr marL="1371600" marR="0" lvl="2"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3pPr>
            <a:lvl4pPr marL="1828800" marR="0" lvl="3"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4pPr>
            <a:lvl5pPr marL="2286000" marR="0" lvl="4"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5pPr>
            <a:lvl6pPr marL="2743200" marR="0" lvl="5"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6pPr>
            <a:lvl7pPr marL="3200400" marR="0" lvl="6"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7pPr>
            <a:lvl8pPr marL="3657600" marR="0" lvl="7"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8pPr>
            <a:lvl9pPr marL="4114800" marR="0" lvl="8"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9pPr>
          </a:lstStyle>
          <a:p>
            <a:pPr marL="177800" indent="0" algn="ctr">
              <a:buFont typeface="Hanken Grotesk"/>
              <a:buNone/>
            </a:pPr>
            <a:r>
              <a:rPr lang="en-US" dirty="0"/>
              <a:t>Gene</a:t>
            </a:r>
          </a:p>
        </p:txBody>
      </p:sp>
    </p:spTree>
    <p:extLst>
      <p:ext uri="{BB962C8B-B14F-4D97-AF65-F5344CB8AC3E}">
        <p14:creationId xmlns:p14="http://schemas.microsoft.com/office/powerpoint/2010/main" val="424800125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E2A01E-F2D2-0168-9276-E2C55C6F98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72F8C0A-7953-724E-822C-196055C5F570}"/>
              </a:ext>
            </a:extLst>
          </p:cNvPr>
          <p:cNvSpPr>
            <a:spLocks noGrp="1"/>
          </p:cNvSpPr>
          <p:nvPr>
            <p:ph type="title"/>
          </p:nvPr>
        </p:nvSpPr>
        <p:spPr/>
        <p:txBody>
          <a:bodyPr/>
          <a:lstStyle/>
          <a:p>
            <a:pPr algn="ctr"/>
            <a:r>
              <a:rPr lang="en-US" dirty="0"/>
              <a:t>Genomes do not behave like language!</a:t>
            </a:r>
          </a:p>
        </p:txBody>
      </p:sp>
      <p:sp>
        <p:nvSpPr>
          <p:cNvPr id="4" name="Rectangle 3">
            <a:extLst>
              <a:ext uri="{FF2B5EF4-FFF2-40B4-BE49-F238E27FC236}">
                <a16:creationId xmlns:a16="http://schemas.microsoft.com/office/drawing/2014/main" id="{A8F78EEB-A6AA-A242-3C33-089902E19763}"/>
              </a:ext>
            </a:extLst>
          </p:cNvPr>
          <p:cNvSpPr/>
          <p:nvPr/>
        </p:nvSpPr>
        <p:spPr>
          <a:xfrm>
            <a:off x="892367" y="3641073"/>
            <a:ext cx="7359267" cy="121186"/>
          </a:xfrm>
          <a:prstGeom prst="rect">
            <a:avLst/>
          </a:prstGeom>
          <a:solidFill>
            <a:srgbClr val="71DAFF"/>
          </a:solidFill>
          <a:ln>
            <a:solidFill>
              <a:srgbClr val="71DA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7108616C-D27D-0AAB-0359-9B1F7D4BCD26}"/>
              </a:ext>
            </a:extLst>
          </p:cNvPr>
          <p:cNvSpPr/>
          <p:nvPr/>
        </p:nvSpPr>
        <p:spPr>
          <a:xfrm>
            <a:off x="1816865" y="3641073"/>
            <a:ext cx="262658" cy="121186"/>
          </a:xfrm>
          <a:prstGeom prst="rect">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96418FA8-988F-9E29-22E5-4C8C8C7370B2}"/>
              </a:ext>
            </a:extLst>
          </p:cNvPr>
          <p:cNvSpPr/>
          <p:nvPr/>
        </p:nvSpPr>
        <p:spPr>
          <a:xfrm>
            <a:off x="3842310" y="3641073"/>
            <a:ext cx="262658" cy="121186"/>
          </a:xfrm>
          <a:prstGeom prst="rect">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6311DAA9-B6F1-E304-9ADC-8536A12069BD}"/>
              </a:ext>
            </a:extLst>
          </p:cNvPr>
          <p:cNvSpPr/>
          <p:nvPr/>
        </p:nvSpPr>
        <p:spPr>
          <a:xfrm>
            <a:off x="5322065" y="3641073"/>
            <a:ext cx="262658" cy="121186"/>
          </a:xfrm>
          <a:prstGeom prst="rect">
            <a:avLst/>
          </a:prstGeom>
          <a:solidFill>
            <a:srgbClr val="FFFF00"/>
          </a:solid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48461A4A-A5CD-1C45-F6A2-92114B835D43}"/>
              </a:ext>
            </a:extLst>
          </p:cNvPr>
          <p:cNvSpPr/>
          <p:nvPr/>
        </p:nvSpPr>
        <p:spPr>
          <a:xfrm>
            <a:off x="5605096" y="3641073"/>
            <a:ext cx="1196723" cy="121186"/>
          </a:xfrm>
          <a:prstGeom prst="rect">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 Placeholder 2">
            <a:extLst>
              <a:ext uri="{FF2B5EF4-FFF2-40B4-BE49-F238E27FC236}">
                <a16:creationId xmlns:a16="http://schemas.microsoft.com/office/drawing/2014/main" id="{4251863A-B1E9-911E-C454-4BC26F7898E9}"/>
              </a:ext>
            </a:extLst>
          </p:cNvPr>
          <p:cNvSpPr txBox="1">
            <a:spLocks/>
          </p:cNvSpPr>
          <p:nvPr/>
        </p:nvSpPr>
        <p:spPr>
          <a:xfrm>
            <a:off x="1206143" y="3828627"/>
            <a:ext cx="1380863" cy="40457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79400" algn="l" rtl="0">
              <a:lnSpc>
                <a:spcPct val="115000"/>
              </a:lnSpc>
              <a:spcBef>
                <a:spcPts val="0"/>
              </a:spcBef>
              <a:spcAft>
                <a:spcPts val="0"/>
              </a:spcAft>
              <a:buClr>
                <a:schemeClr val="dk1"/>
              </a:buClr>
              <a:buSzPts val="800"/>
              <a:buFont typeface="Hanken Grotesk"/>
              <a:buChar char="●"/>
              <a:defRPr sz="1400" b="0" i="0" u="none" strike="noStrike" cap="none">
                <a:solidFill>
                  <a:schemeClr val="dk1"/>
                </a:solidFill>
                <a:latin typeface="Hanken Grotesk"/>
                <a:ea typeface="Hanken Grotesk"/>
                <a:cs typeface="Hanken Grotesk"/>
                <a:sym typeface="Hanken Grotesk"/>
              </a:defRPr>
            </a:lvl1pPr>
            <a:lvl2pPr marL="914400" marR="0" lvl="1"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2pPr>
            <a:lvl3pPr marL="1371600" marR="0" lvl="2"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3pPr>
            <a:lvl4pPr marL="1828800" marR="0" lvl="3"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4pPr>
            <a:lvl5pPr marL="2286000" marR="0" lvl="4"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5pPr>
            <a:lvl6pPr marL="2743200" marR="0" lvl="5"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6pPr>
            <a:lvl7pPr marL="3200400" marR="0" lvl="6"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7pPr>
            <a:lvl8pPr marL="3657600" marR="0" lvl="7"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8pPr>
            <a:lvl9pPr marL="4114800" marR="0" lvl="8"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9pPr>
          </a:lstStyle>
          <a:p>
            <a:pPr marL="177800" indent="0" algn="ctr">
              <a:buFont typeface="Hanken Grotesk"/>
              <a:buNone/>
            </a:pPr>
            <a:r>
              <a:rPr lang="en-US" dirty="0"/>
              <a:t>Enhancer</a:t>
            </a:r>
          </a:p>
        </p:txBody>
      </p:sp>
      <p:sp>
        <p:nvSpPr>
          <p:cNvPr id="10" name="Text Placeholder 2">
            <a:extLst>
              <a:ext uri="{FF2B5EF4-FFF2-40B4-BE49-F238E27FC236}">
                <a16:creationId xmlns:a16="http://schemas.microsoft.com/office/drawing/2014/main" id="{D5B60D61-13F2-2209-8739-E0EB6E11872B}"/>
              </a:ext>
            </a:extLst>
          </p:cNvPr>
          <p:cNvSpPr txBox="1">
            <a:spLocks/>
          </p:cNvSpPr>
          <p:nvPr/>
        </p:nvSpPr>
        <p:spPr>
          <a:xfrm>
            <a:off x="3191137" y="3828627"/>
            <a:ext cx="1380863" cy="40457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79400" algn="l" rtl="0">
              <a:lnSpc>
                <a:spcPct val="115000"/>
              </a:lnSpc>
              <a:spcBef>
                <a:spcPts val="0"/>
              </a:spcBef>
              <a:spcAft>
                <a:spcPts val="0"/>
              </a:spcAft>
              <a:buClr>
                <a:schemeClr val="dk1"/>
              </a:buClr>
              <a:buSzPts val="800"/>
              <a:buFont typeface="Hanken Grotesk"/>
              <a:buChar char="●"/>
              <a:defRPr sz="1400" b="0" i="0" u="none" strike="noStrike" cap="none">
                <a:solidFill>
                  <a:schemeClr val="dk1"/>
                </a:solidFill>
                <a:latin typeface="Hanken Grotesk"/>
                <a:ea typeface="Hanken Grotesk"/>
                <a:cs typeface="Hanken Grotesk"/>
                <a:sym typeface="Hanken Grotesk"/>
              </a:defRPr>
            </a:lvl1pPr>
            <a:lvl2pPr marL="914400" marR="0" lvl="1"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2pPr>
            <a:lvl3pPr marL="1371600" marR="0" lvl="2"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3pPr>
            <a:lvl4pPr marL="1828800" marR="0" lvl="3"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4pPr>
            <a:lvl5pPr marL="2286000" marR="0" lvl="4"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5pPr>
            <a:lvl6pPr marL="2743200" marR="0" lvl="5"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6pPr>
            <a:lvl7pPr marL="3200400" marR="0" lvl="6"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7pPr>
            <a:lvl8pPr marL="3657600" marR="0" lvl="7"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8pPr>
            <a:lvl9pPr marL="4114800" marR="0" lvl="8"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9pPr>
          </a:lstStyle>
          <a:p>
            <a:pPr marL="177800" indent="0" algn="ctr">
              <a:buFont typeface="Hanken Grotesk"/>
              <a:buNone/>
            </a:pPr>
            <a:r>
              <a:rPr lang="en-US" dirty="0"/>
              <a:t>Enhancer</a:t>
            </a:r>
          </a:p>
        </p:txBody>
      </p:sp>
      <p:sp>
        <p:nvSpPr>
          <p:cNvPr id="11" name="Text Placeholder 2">
            <a:extLst>
              <a:ext uri="{FF2B5EF4-FFF2-40B4-BE49-F238E27FC236}">
                <a16:creationId xmlns:a16="http://schemas.microsoft.com/office/drawing/2014/main" id="{D5485A84-1D03-1B3D-4DB1-B89C0216B033}"/>
              </a:ext>
            </a:extLst>
          </p:cNvPr>
          <p:cNvSpPr txBox="1">
            <a:spLocks/>
          </p:cNvSpPr>
          <p:nvPr/>
        </p:nvSpPr>
        <p:spPr>
          <a:xfrm>
            <a:off x="4762962" y="3828626"/>
            <a:ext cx="1380863" cy="40457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79400" algn="l" rtl="0">
              <a:lnSpc>
                <a:spcPct val="115000"/>
              </a:lnSpc>
              <a:spcBef>
                <a:spcPts val="0"/>
              </a:spcBef>
              <a:spcAft>
                <a:spcPts val="0"/>
              </a:spcAft>
              <a:buClr>
                <a:schemeClr val="dk1"/>
              </a:buClr>
              <a:buSzPts val="800"/>
              <a:buFont typeface="Hanken Grotesk"/>
              <a:buChar char="●"/>
              <a:defRPr sz="1400" b="0" i="0" u="none" strike="noStrike" cap="none">
                <a:solidFill>
                  <a:schemeClr val="dk1"/>
                </a:solidFill>
                <a:latin typeface="Hanken Grotesk"/>
                <a:ea typeface="Hanken Grotesk"/>
                <a:cs typeface="Hanken Grotesk"/>
                <a:sym typeface="Hanken Grotesk"/>
              </a:defRPr>
            </a:lvl1pPr>
            <a:lvl2pPr marL="914400" marR="0" lvl="1"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2pPr>
            <a:lvl3pPr marL="1371600" marR="0" lvl="2"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3pPr>
            <a:lvl4pPr marL="1828800" marR="0" lvl="3"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4pPr>
            <a:lvl5pPr marL="2286000" marR="0" lvl="4"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5pPr>
            <a:lvl6pPr marL="2743200" marR="0" lvl="5"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6pPr>
            <a:lvl7pPr marL="3200400" marR="0" lvl="6"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7pPr>
            <a:lvl8pPr marL="3657600" marR="0" lvl="7"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8pPr>
            <a:lvl9pPr marL="4114800" marR="0" lvl="8"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9pPr>
          </a:lstStyle>
          <a:p>
            <a:pPr marL="177800" indent="0" algn="ctr">
              <a:buFont typeface="Hanken Grotesk"/>
              <a:buNone/>
            </a:pPr>
            <a:r>
              <a:rPr lang="en-US" dirty="0"/>
              <a:t>Promoter</a:t>
            </a:r>
          </a:p>
        </p:txBody>
      </p:sp>
      <p:sp>
        <p:nvSpPr>
          <p:cNvPr id="12" name="Text Placeholder 2">
            <a:extLst>
              <a:ext uri="{FF2B5EF4-FFF2-40B4-BE49-F238E27FC236}">
                <a16:creationId xmlns:a16="http://schemas.microsoft.com/office/drawing/2014/main" id="{3B30CD4F-761D-8018-E69B-CF3D9C8D0663}"/>
              </a:ext>
            </a:extLst>
          </p:cNvPr>
          <p:cNvSpPr txBox="1">
            <a:spLocks/>
          </p:cNvSpPr>
          <p:nvPr/>
        </p:nvSpPr>
        <p:spPr>
          <a:xfrm>
            <a:off x="5513025" y="3828626"/>
            <a:ext cx="1380863" cy="40457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79400" algn="l" rtl="0">
              <a:lnSpc>
                <a:spcPct val="115000"/>
              </a:lnSpc>
              <a:spcBef>
                <a:spcPts val="0"/>
              </a:spcBef>
              <a:spcAft>
                <a:spcPts val="0"/>
              </a:spcAft>
              <a:buClr>
                <a:schemeClr val="dk1"/>
              </a:buClr>
              <a:buSzPts val="800"/>
              <a:buFont typeface="Hanken Grotesk"/>
              <a:buChar char="●"/>
              <a:defRPr sz="1400" b="0" i="0" u="none" strike="noStrike" cap="none">
                <a:solidFill>
                  <a:schemeClr val="dk1"/>
                </a:solidFill>
                <a:latin typeface="Hanken Grotesk"/>
                <a:ea typeface="Hanken Grotesk"/>
                <a:cs typeface="Hanken Grotesk"/>
                <a:sym typeface="Hanken Grotesk"/>
              </a:defRPr>
            </a:lvl1pPr>
            <a:lvl2pPr marL="914400" marR="0" lvl="1"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2pPr>
            <a:lvl3pPr marL="1371600" marR="0" lvl="2"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3pPr>
            <a:lvl4pPr marL="1828800" marR="0" lvl="3"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4pPr>
            <a:lvl5pPr marL="2286000" marR="0" lvl="4"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5pPr>
            <a:lvl6pPr marL="2743200" marR="0" lvl="5"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6pPr>
            <a:lvl7pPr marL="3200400" marR="0" lvl="6"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7pPr>
            <a:lvl8pPr marL="3657600" marR="0" lvl="7"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8pPr>
            <a:lvl9pPr marL="4114800" marR="0" lvl="8"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9pPr>
          </a:lstStyle>
          <a:p>
            <a:pPr marL="177800" indent="0" algn="ctr">
              <a:buFont typeface="Hanken Grotesk"/>
              <a:buNone/>
            </a:pPr>
            <a:r>
              <a:rPr lang="en-US" dirty="0"/>
              <a:t>Gene</a:t>
            </a:r>
          </a:p>
        </p:txBody>
      </p:sp>
      <p:sp>
        <p:nvSpPr>
          <p:cNvPr id="3" name="Rectangle 2">
            <a:extLst>
              <a:ext uri="{FF2B5EF4-FFF2-40B4-BE49-F238E27FC236}">
                <a16:creationId xmlns:a16="http://schemas.microsoft.com/office/drawing/2014/main" id="{7257D568-36CA-3985-75E1-0F1768BF6951}"/>
              </a:ext>
            </a:extLst>
          </p:cNvPr>
          <p:cNvSpPr/>
          <p:nvPr/>
        </p:nvSpPr>
        <p:spPr>
          <a:xfrm>
            <a:off x="1045771" y="3641073"/>
            <a:ext cx="577290" cy="121186"/>
          </a:xfrm>
          <a:prstGeom prst="rect">
            <a:avLst/>
          </a:prstGeom>
          <a:solidFill>
            <a:srgbClr val="002060"/>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D3B493CE-4B6C-8B5C-07F2-054A545D1CD1}"/>
              </a:ext>
            </a:extLst>
          </p:cNvPr>
          <p:cNvSpPr/>
          <p:nvPr/>
        </p:nvSpPr>
        <p:spPr>
          <a:xfrm>
            <a:off x="7038490" y="3639052"/>
            <a:ext cx="262658" cy="121186"/>
          </a:xfrm>
          <a:prstGeom prst="rect">
            <a:avLst/>
          </a:prstGeom>
          <a:solidFill>
            <a:srgbClr val="002060"/>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080BC31D-9AFA-A6BE-7D5A-41694380D3F0}"/>
              </a:ext>
            </a:extLst>
          </p:cNvPr>
          <p:cNvSpPr/>
          <p:nvPr/>
        </p:nvSpPr>
        <p:spPr>
          <a:xfrm>
            <a:off x="7395396" y="3639052"/>
            <a:ext cx="613223" cy="121186"/>
          </a:xfrm>
          <a:prstGeom prst="rect">
            <a:avLst/>
          </a:prstGeom>
          <a:solidFill>
            <a:srgbClr val="002060"/>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A2DD849E-CB49-46C9-5258-7D9466B6191A}"/>
              </a:ext>
            </a:extLst>
          </p:cNvPr>
          <p:cNvSpPr/>
          <p:nvPr/>
        </p:nvSpPr>
        <p:spPr>
          <a:xfrm>
            <a:off x="2273327" y="3639052"/>
            <a:ext cx="194511" cy="121186"/>
          </a:xfrm>
          <a:prstGeom prst="rect">
            <a:avLst/>
          </a:prstGeom>
          <a:solidFill>
            <a:srgbClr val="002060"/>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30D5D193-9968-E2FB-185B-153EA13D9EB3}"/>
              </a:ext>
            </a:extLst>
          </p:cNvPr>
          <p:cNvSpPr/>
          <p:nvPr/>
        </p:nvSpPr>
        <p:spPr>
          <a:xfrm>
            <a:off x="2559172" y="3639052"/>
            <a:ext cx="422382" cy="121186"/>
          </a:xfrm>
          <a:prstGeom prst="rect">
            <a:avLst/>
          </a:prstGeom>
          <a:solidFill>
            <a:srgbClr val="002060"/>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B38BF125-0D6D-CC38-2EC5-A6AC2B6E092B}"/>
              </a:ext>
            </a:extLst>
          </p:cNvPr>
          <p:cNvSpPr/>
          <p:nvPr/>
        </p:nvSpPr>
        <p:spPr>
          <a:xfrm>
            <a:off x="3141297" y="3639052"/>
            <a:ext cx="262658" cy="121186"/>
          </a:xfrm>
          <a:prstGeom prst="rect">
            <a:avLst/>
          </a:prstGeom>
          <a:solidFill>
            <a:srgbClr val="002060"/>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3C9A5A92-BD6F-3A29-2D76-149094D55C2A}"/>
              </a:ext>
            </a:extLst>
          </p:cNvPr>
          <p:cNvSpPr/>
          <p:nvPr/>
        </p:nvSpPr>
        <p:spPr>
          <a:xfrm>
            <a:off x="4789431" y="3639052"/>
            <a:ext cx="262658" cy="121186"/>
          </a:xfrm>
          <a:prstGeom prst="rect">
            <a:avLst/>
          </a:prstGeom>
          <a:solidFill>
            <a:srgbClr val="002060"/>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9" name="Straight Arrow Connector 18">
            <a:extLst>
              <a:ext uri="{FF2B5EF4-FFF2-40B4-BE49-F238E27FC236}">
                <a16:creationId xmlns:a16="http://schemas.microsoft.com/office/drawing/2014/main" id="{E4FFDEDC-C8A8-04B2-140C-22AE9012065B}"/>
              </a:ext>
            </a:extLst>
          </p:cNvPr>
          <p:cNvCxnSpPr>
            <a:cxnSpLocks/>
          </p:cNvCxnSpPr>
          <p:nvPr/>
        </p:nvCxnSpPr>
        <p:spPr>
          <a:xfrm>
            <a:off x="1330103" y="3272835"/>
            <a:ext cx="0" cy="30847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C456F0AA-5D9F-14BA-2812-A14E9163ACF2}"/>
              </a:ext>
            </a:extLst>
          </p:cNvPr>
          <p:cNvCxnSpPr>
            <a:cxnSpLocks/>
          </p:cNvCxnSpPr>
          <p:nvPr/>
        </p:nvCxnSpPr>
        <p:spPr>
          <a:xfrm>
            <a:off x="2359565" y="3272834"/>
            <a:ext cx="0" cy="30847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E006CEAB-5DE0-8392-FFAA-FD3862B40146}"/>
              </a:ext>
            </a:extLst>
          </p:cNvPr>
          <p:cNvCxnSpPr>
            <a:cxnSpLocks/>
          </p:cNvCxnSpPr>
          <p:nvPr/>
        </p:nvCxnSpPr>
        <p:spPr>
          <a:xfrm>
            <a:off x="2770363" y="3272833"/>
            <a:ext cx="0" cy="30847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33A83F3D-D916-C18F-487E-A47AA43776B0}"/>
              </a:ext>
            </a:extLst>
          </p:cNvPr>
          <p:cNvCxnSpPr>
            <a:cxnSpLocks/>
          </p:cNvCxnSpPr>
          <p:nvPr/>
        </p:nvCxnSpPr>
        <p:spPr>
          <a:xfrm>
            <a:off x="3272626" y="3272832"/>
            <a:ext cx="0" cy="30847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952126A2-5776-CA4A-5E1F-D7A4E4EF7F63}"/>
              </a:ext>
            </a:extLst>
          </p:cNvPr>
          <p:cNvCxnSpPr>
            <a:cxnSpLocks/>
          </p:cNvCxnSpPr>
          <p:nvPr/>
        </p:nvCxnSpPr>
        <p:spPr>
          <a:xfrm>
            <a:off x="4916786" y="3272832"/>
            <a:ext cx="0" cy="30847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1F674A91-D6C8-4951-CA0D-41E95963ED7B}"/>
              </a:ext>
            </a:extLst>
          </p:cNvPr>
          <p:cNvCxnSpPr>
            <a:cxnSpLocks/>
          </p:cNvCxnSpPr>
          <p:nvPr/>
        </p:nvCxnSpPr>
        <p:spPr>
          <a:xfrm>
            <a:off x="7179325" y="3272832"/>
            <a:ext cx="0" cy="30847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160E40C5-1738-7EB5-FFB0-BF5098744469}"/>
              </a:ext>
            </a:extLst>
          </p:cNvPr>
          <p:cNvCxnSpPr>
            <a:cxnSpLocks/>
          </p:cNvCxnSpPr>
          <p:nvPr/>
        </p:nvCxnSpPr>
        <p:spPr>
          <a:xfrm>
            <a:off x="7703292" y="3272832"/>
            <a:ext cx="0" cy="30847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6" name="Text Placeholder 2">
            <a:extLst>
              <a:ext uri="{FF2B5EF4-FFF2-40B4-BE49-F238E27FC236}">
                <a16:creationId xmlns:a16="http://schemas.microsoft.com/office/drawing/2014/main" id="{D8288A7C-353B-8CDD-89A7-6491A6CBA6A4}"/>
              </a:ext>
            </a:extLst>
          </p:cNvPr>
          <p:cNvSpPr txBox="1">
            <a:spLocks/>
          </p:cNvSpPr>
          <p:nvPr/>
        </p:nvSpPr>
        <p:spPr>
          <a:xfrm>
            <a:off x="1869826" y="1140407"/>
            <a:ext cx="5021043"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79400" algn="l" rtl="0">
              <a:lnSpc>
                <a:spcPct val="115000"/>
              </a:lnSpc>
              <a:spcBef>
                <a:spcPts val="0"/>
              </a:spcBef>
              <a:spcAft>
                <a:spcPts val="0"/>
              </a:spcAft>
              <a:buClr>
                <a:schemeClr val="dk1"/>
              </a:buClr>
              <a:buSzPts val="800"/>
              <a:buFont typeface="Hanken Grotesk"/>
              <a:buChar char="●"/>
              <a:defRPr sz="1400" b="0" i="0" u="none" strike="noStrike" cap="none">
                <a:solidFill>
                  <a:schemeClr val="dk1"/>
                </a:solidFill>
                <a:latin typeface="Hanken Grotesk"/>
                <a:ea typeface="Hanken Grotesk"/>
                <a:cs typeface="Hanken Grotesk"/>
                <a:sym typeface="Hanken Grotesk"/>
              </a:defRPr>
            </a:lvl1pPr>
            <a:lvl2pPr marL="914400" marR="0" lvl="1"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2pPr>
            <a:lvl3pPr marL="1371600" marR="0" lvl="2"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3pPr>
            <a:lvl4pPr marL="1828800" marR="0" lvl="3"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4pPr>
            <a:lvl5pPr marL="2286000" marR="0" lvl="4"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5pPr>
            <a:lvl6pPr marL="2743200" marR="0" lvl="5"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6pPr>
            <a:lvl7pPr marL="3200400" marR="0" lvl="6"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7pPr>
            <a:lvl8pPr marL="3657600" marR="0" lvl="7"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8pPr>
            <a:lvl9pPr marL="4114800" marR="0" lvl="8"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9pPr>
          </a:lstStyle>
          <a:p>
            <a:pPr marL="177800" indent="0" algn="ctr">
              <a:buFont typeface="Hanken Grotesk"/>
              <a:buNone/>
            </a:pPr>
            <a:r>
              <a:rPr lang="en-US" sz="1800" dirty="0"/>
              <a:t>Genomic sequences are low signal-to-noise</a:t>
            </a:r>
          </a:p>
        </p:txBody>
      </p:sp>
      <p:sp>
        <p:nvSpPr>
          <p:cNvPr id="27" name="Text Placeholder 2">
            <a:extLst>
              <a:ext uri="{FF2B5EF4-FFF2-40B4-BE49-F238E27FC236}">
                <a16:creationId xmlns:a16="http://schemas.microsoft.com/office/drawing/2014/main" id="{546D9EFD-0F69-FAC0-6636-D66FDD0D8CD3}"/>
              </a:ext>
            </a:extLst>
          </p:cNvPr>
          <p:cNvSpPr>
            <a:spLocks noGrp="1"/>
          </p:cNvSpPr>
          <p:nvPr>
            <p:ph type="body" idx="1"/>
          </p:nvPr>
        </p:nvSpPr>
        <p:spPr>
          <a:xfrm>
            <a:off x="720000" y="2421728"/>
            <a:ext cx="7704000" cy="849083"/>
          </a:xfrm>
        </p:spPr>
        <p:txBody>
          <a:bodyPr/>
          <a:lstStyle/>
          <a:p>
            <a:pPr marL="177800" indent="0" algn="ctr">
              <a:buNone/>
            </a:pPr>
            <a:r>
              <a:rPr lang="en-US" dirty="0"/>
              <a:t>Highly repetitive, putatively low function regions</a:t>
            </a:r>
            <a:br>
              <a:rPr lang="en-US" dirty="0"/>
            </a:br>
            <a:r>
              <a:rPr lang="en-US" dirty="0"/>
              <a:t>(e.g. ATATATATATAT…)</a:t>
            </a:r>
          </a:p>
        </p:txBody>
      </p:sp>
    </p:spTree>
    <p:extLst>
      <p:ext uri="{BB962C8B-B14F-4D97-AF65-F5344CB8AC3E}">
        <p14:creationId xmlns:p14="http://schemas.microsoft.com/office/powerpoint/2010/main" val="236549596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9E315E-4125-3321-2429-CAEDEA6CD8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B584FCE-1BED-9A20-4F94-AC5CD933163E}"/>
              </a:ext>
            </a:extLst>
          </p:cNvPr>
          <p:cNvSpPr>
            <a:spLocks noGrp="1"/>
          </p:cNvSpPr>
          <p:nvPr>
            <p:ph type="title"/>
          </p:nvPr>
        </p:nvSpPr>
        <p:spPr/>
        <p:txBody>
          <a:bodyPr/>
          <a:lstStyle/>
          <a:p>
            <a:pPr algn="ctr"/>
            <a:r>
              <a:rPr lang="en-US" dirty="0"/>
              <a:t>Genomes do not behave like language!</a:t>
            </a:r>
          </a:p>
        </p:txBody>
      </p:sp>
      <p:sp>
        <p:nvSpPr>
          <p:cNvPr id="4" name="Rectangle 3">
            <a:extLst>
              <a:ext uri="{FF2B5EF4-FFF2-40B4-BE49-F238E27FC236}">
                <a16:creationId xmlns:a16="http://schemas.microsoft.com/office/drawing/2014/main" id="{0229F0D4-9A44-18ED-B6A6-0E9B93492C24}"/>
              </a:ext>
            </a:extLst>
          </p:cNvPr>
          <p:cNvSpPr/>
          <p:nvPr/>
        </p:nvSpPr>
        <p:spPr>
          <a:xfrm>
            <a:off x="892367" y="3641073"/>
            <a:ext cx="7359267" cy="121186"/>
          </a:xfrm>
          <a:prstGeom prst="rect">
            <a:avLst/>
          </a:prstGeom>
          <a:solidFill>
            <a:srgbClr val="71DAFF"/>
          </a:solidFill>
          <a:ln>
            <a:solidFill>
              <a:srgbClr val="71DA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7FD87A9B-63A2-A883-51DF-50FCB1F2F4FB}"/>
              </a:ext>
            </a:extLst>
          </p:cNvPr>
          <p:cNvSpPr/>
          <p:nvPr/>
        </p:nvSpPr>
        <p:spPr>
          <a:xfrm>
            <a:off x="1816865" y="3641073"/>
            <a:ext cx="262658" cy="121186"/>
          </a:xfrm>
          <a:prstGeom prst="rect">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4DA0A61F-F7DC-B72A-1215-30239A628E6C}"/>
              </a:ext>
            </a:extLst>
          </p:cNvPr>
          <p:cNvSpPr/>
          <p:nvPr/>
        </p:nvSpPr>
        <p:spPr>
          <a:xfrm>
            <a:off x="3842310" y="3641073"/>
            <a:ext cx="262658" cy="121186"/>
          </a:xfrm>
          <a:prstGeom prst="rect">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844D2F90-6132-926D-4E41-F497C1D11349}"/>
              </a:ext>
            </a:extLst>
          </p:cNvPr>
          <p:cNvSpPr/>
          <p:nvPr/>
        </p:nvSpPr>
        <p:spPr>
          <a:xfrm>
            <a:off x="5322065" y="3641073"/>
            <a:ext cx="262658" cy="121186"/>
          </a:xfrm>
          <a:prstGeom prst="rect">
            <a:avLst/>
          </a:prstGeom>
          <a:solidFill>
            <a:srgbClr val="FFFF00"/>
          </a:solid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4A3EBC00-6D1F-716E-E3C5-3951D49E0E17}"/>
              </a:ext>
            </a:extLst>
          </p:cNvPr>
          <p:cNvSpPr/>
          <p:nvPr/>
        </p:nvSpPr>
        <p:spPr>
          <a:xfrm>
            <a:off x="5605096" y="3641073"/>
            <a:ext cx="1196723" cy="121186"/>
          </a:xfrm>
          <a:prstGeom prst="rect">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 Placeholder 2">
            <a:extLst>
              <a:ext uri="{FF2B5EF4-FFF2-40B4-BE49-F238E27FC236}">
                <a16:creationId xmlns:a16="http://schemas.microsoft.com/office/drawing/2014/main" id="{A029FBB6-2CD3-4069-E658-7937FAC62832}"/>
              </a:ext>
            </a:extLst>
          </p:cNvPr>
          <p:cNvSpPr txBox="1">
            <a:spLocks/>
          </p:cNvSpPr>
          <p:nvPr/>
        </p:nvSpPr>
        <p:spPr>
          <a:xfrm>
            <a:off x="1206143" y="3828627"/>
            <a:ext cx="1380863" cy="40457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79400" algn="l" rtl="0">
              <a:lnSpc>
                <a:spcPct val="115000"/>
              </a:lnSpc>
              <a:spcBef>
                <a:spcPts val="0"/>
              </a:spcBef>
              <a:spcAft>
                <a:spcPts val="0"/>
              </a:spcAft>
              <a:buClr>
                <a:schemeClr val="dk1"/>
              </a:buClr>
              <a:buSzPts val="800"/>
              <a:buFont typeface="Hanken Grotesk"/>
              <a:buChar char="●"/>
              <a:defRPr sz="1400" b="0" i="0" u="none" strike="noStrike" cap="none">
                <a:solidFill>
                  <a:schemeClr val="dk1"/>
                </a:solidFill>
                <a:latin typeface="Hanken Grotesk"/>
                <a:ea typeface="Hanken Grotesk"/>
                <a:cs typeface="Hanken Grotesk"/>
                <a:sym typeface="Hanken Grotesk"/>
              </a:defRPr>
            </a:lvl1pPr>
            <a:lvl2pPr marL="914400" marR="0" lvl="1"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2pPr>
            <a:lvl3pPr marL="1371600" marR="0" lvl="2"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3pPr>
            <a:lvl4pPr marL="1828800" marR="0" lvl="3"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4pPr>
            <a:lvl5pPr marL="2286000" marR="0" lvl="4"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5pPr>
            <a:lvl6pPr marL="2743200" marR="0" lvl="5"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6pPr>
            <a:lvl7pPr marL="3200400" marR="0" lvl="6"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7pPr>
            <a:lvl8pPr marL="3657600" marR="0" lvl="7"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8pPr>
            <a:lvl9pPr marL="4114800" marR="0" lvl="8"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9pPr>
          </a:lstStyle>
          <a:p>
            <a:pPr marL="177800" indent="0" algn="ctr">
              <a:buFont typeface="Hanken Grotesk"/>
              <a:buNone/>
            </a:pPr>
            <a:r>
              <a:rPr lang="en-US" dirty="0"/>
              <a:t>Enhancer</a:t>
            </a:r>
          </a:p>
        </p:txBody>
      </p:sp>
      <p:sp>
        <p:nvSpPr>
          <p:cNvPr id="10" name="Text Placeholder 2">
            <a:extLst>
              <a:ext uri="{FF2B5EF4-FFF2-40B4-BE49-F238E27FC236}">
                <a16:creationId xmlns:a16="http://schemas.microsoft.com/office/drawing/2014/main" id="{6D945D7D-D87E-4829-EB55-35293771BA08}"/>
              </a:ext>
            </a:extLst>
          </p:cNvPr>
          <p:cNvSpPr txBox="1">
            <a:spLocks/>
          </p:cNvSpPr>
          <p:nvPr/>
        </p:nvSpPr>
        <p:spPr>
          <a:xfrm>
            <a:off x="3191137" y="3828627"/>
            <a:ext cx="1380863" cy="40457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79400" algn="l" rtl="0">
              <a:lnSpc>
                <a:spcPct val="115000"/>
              </a:lnSpc>
              <a:spcBef>
                <a:spcPts val="0"/>
              </a:spcBef>
              <a:spcAft>
                <a:spcPts val="0"/>
              </a:spcAft>
              <a:buClr>
                <a:schemeClr val="dk1"/>
              </a:buClr>
              <a:buSzPts val="800"/>
              <a:buFont typeface="Hanken Grotesk"/>
              <a:buChar char="●"/>
              <a:defRPr sz="1400" b="0" i="0" u="none" strike="noStrike" cap="none">
                <a:solidFill>
                  <a:schemeClr val="dk1"/>
                </a:solidFill>
                <a:latin typeface="Hanken Grotesk"/>
                <a:ea typeface="Hanken Grotesk"/>
                <a:cs typeface="Hanken Grotesk"/>
                <a:sym typeface="Hanken Grotesk"/>
              </a:defRPr>
            </a:lvl1pPr>
            <a:lvl2pPr marL="914400" marR="0" lvl="1"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2pPr>
            <a:lvl3pPr marL="1371600" marR="0" lvl="2"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3pPr>
            <a:lvl4pPr marL="1828800" marR="0" lvl="3"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4pPr>
            <a:lvl5pPr marL="2286000" marR="0" lvl="4"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5pPr>
            <a:lvl6pPr marL="2743200" marR="0" lvl="5"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6pPr>
            <a:lvl7pPr marL="3200400" marR="0" lvl="6"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7pPr>
            <a:lvl8pPr marL="3657600" marR="0" lvl="7"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8pPr>
            <a:lvl9pPr marL="4114800" marR="0" lvl="8"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9pPr>
          </a:lstStyle>
          <a:p>
            <a:pPr marL="177800" indent="0" algn="ctr">
              <a:buFont typeface="Hanken Grotesk"/>
              <a:buNone/>
            </a:pPr>
            <a:r>
              <a:rPr lang="en-US" dirty="0"/>
              <a:t>Enhancer</a:t>
            </a:r>
          </a:p>
        </p:txBody>
      </p:sp>
      <p:sp>
        <p:nvSpPr>
          <p:cNvPr id="11" name="Text Placeholder 2">
            <a:extLst>
              <a:ext uri="{FF2B5EF4-FFF2-40B4-BE49-F238E27FC236}">
                <a16:creationId xmlns:a16="http://schemas.microsoft.com/office/drawing/2014/main" id="{0B0DFD1D-0E83-6520-FC37-D2027CF04EA1}"/>
              </a:ext>
            </a:extLst>
          </p:cNvPr>
          <p:cNvSpPr txBox="1">
            <a:spLocks/>
          </p:cNvSpPr>
          <p:nvPr/>
        </p:nvSpPr>
        <p:spPr>
          <a:xfrm>
            <a:off x="4762962" y="3828626"/>
            <a:ext cx="1380863" cy="40457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79400" algn="l" rtl="0">
              <a:lnSpc>
                <a:spcPct val="115000"/>
              </a:lnSpc>
              <a:spcBef>
                <a:spcPts val="0"/>
              </a:spcBef>
              <a:spcAft>
                <a:spcPts val="0"/>
              </a:spcAft>
              <a:buClr>
                <a:schemeClr val="dk1"/>
              </a:buClr>
              <a:buSzPts val="800"/>
              <a:buFont typeface="Hanken Grotesk"/>
              <a:buChar char="●"/>
              <a:defRPr sz="1400" b="0" i="0" u="none" strike="noStrike" cap="none">
                <a:solidFill>
                  <a:schemeClr val="dk1"/>
                </a:solidFill>
                <a:latin typeface="Hanken Grotesk"/>
                <a:ea typeface="Hanken Grotesk"/>
                <a:cs typeface="Hanken Grotesk"/>
                <a:sym typeface="Hanken Grotesk"/>
              </a:defRPr>
            </a:lvl1pPr>
            <a:lvl2pPr marL="914400" marR="0" lvl="1"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2pPr>
            <a:lvl3pPr marL="1371600" marR="0" lvl="2"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3pPr>
            <a:lvl4pPr marL="1828800" marR="0" lvl="3"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4pPr>
            <a:lvl5pPr marL="2286000" marR="0" lvl="4"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5pPr>
            <a:lvl6pPr marL="2743200" marR="0" lvl="5"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6pPr>
            <a:lvl7pPr marL="3200400" marR="0" lvl="6"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7pPr>
            <a:lvl8pPr marL="3657600" marR="0" lvl="7"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8pPr>
            <a:lvl9pPr marL="4114800" marR="0" lvl="8"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9pPr>
          </a:lstStyle>
          <a:p>
            <a:pPr marL="177800" indent="0" algn="ctr">
              <a:buFont typeface="Hanken Grotesk"/>
              <a:buNone/>
            </a:pPr>
            <a:r>
              <a:rPr lang="en-US" dirty="0"/>
              <a:t>Promoter</a:t>
            </a:r>
          </a:p>
        </p:txBody>
      </p:sp>
      <p:sp>
        <p:nvSpPr>
          <p:cNvPr id="12" name="Text Placeholder 2">
            <a:extLst>
              <a:ext uri="{FF2B5EF4-FFF2-40B4-BE49-F238E27FC236}">
                <a16:creationId xmlns:a16="http://schemas.microsoft.com/office/drawing/2014/main" id="{9E2485D2-B390-0F62-34F4-5C6CC72A76E8}"/>
              </a:ext>
            </a:extLst>
          </p:cNvPr>
          <p:cNvSpPr txBox="1">
            <a:spLocks/>
          </p:cNvSpPr>
          <p:nvPr/>
        </p:nvSpPr>
        <p:spPr>
          <a:xfrm>
            <a:off x="5513025" y="3828626"/>
            <a:ext cx="1380863" cy="40457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79400" algn="l" rtl="0">
              <a:lnSpc>
                <a:spcPct val="115000"/>
              </a:lnSpc>
              <a:spcBef>
                <a:spcPts val="0"/>
              </a:spcBef>
              <a:spcAft>
                <a:spcPts val="0"/>
              </a:spcAft>
              <a:buClr>
                <a:schemeClr val="dk1"/>
              </a:buClr>
              <a:buSzPts val="800"/>
              <a:buFont typeface="Hanken Grotesk"/>
              <a:buChar char="●"/>
              <a:defRPr sz="1400" b="0" i="0" u="none" strike="noStrike" cap="none">
                <a:solidFill>
                  <a:schemeClr val="dk1"/>
                </a:solidFill>
                <a:latin typeface="Hanken Grotesk"/>
                <a:ea typeface="Hanken Grotesk"/>
                <a:cs typeface="Hanken Grotesk"/>
                <a:sym typeface="Hanken Grotesk"/>
              </a:defRPr>
            </a:lvl1pPr>
            <a:lvl2pPr marL="914400" marR="0" lvl="1"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2pPr>
            <a:lvl3pPr marL="1371600" marR="0" lvl="2"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3pPr>
            <a:lvl4pPr marL="1828800" marR="0" lvl="3"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4pPr>
            <a:lvl5pPr marL="2286000" marR="0" lvl="4"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5pPr>
            <a:lvl6pPr marL="2743200" marR="0" lvl="5"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6pPr>
            <a:lvl7pPr marL="3200400" marR="0" lvl="6"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7pPr>
            <a:lvl8pPr marL="3657600" marR="0" lvl="7"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8pPr>
            <a:lvl9pPr marL="4114800" marR="0" lvl="8"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9pPr>
          </a:lstStyle>
          <a:p>
            <a:pPr marL="177800" indent="0" algn="ctr">
              <a:buFont typeface="Hanken Grotesk"/>
              <a:buNone/>
            </a:pPr>
            <a:r>
              <a:rPr lang="en-US" dirty="0"/>
              <a:t>Gene</a:t>
            </a:r>
          </a:p>
        </p:txBody>
      </p:sp>
      <p:sp>
        <p:nvSpPr>
          <p:cNvPr id="3" name="Rectangle 2">
            <a:extLst>
              <a:ext uri="{FF2B5EF4-FFF2-40B4-BE49-F238E27FC236}">
                <a16:creationId xmlns:a16="http://schemas.microsoft.com/office/drawing/2014/main" id="{31DC34B1-58A7-88FC-8A78-40552CC377C0}"/>
              </a:ext>
            </a:extLst>
          </p:cNvPr>
          <p:cNvSpPr/>
          <p:nvPr/>
        </p:nvSpPr>
        <p:spPr>
          <a:xfrm>
            <a:off x="1045771" y="3641073"/>
            <a:ext cx="577290" cy="121186"/>
          </a:xfrm>
          <a:prstGeom prst="rect">
            <a:avLst/>
          </a:prstGeom>
          <a:solidFill>
            <a:srgbClr val="002060"/>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BD197439-005D-D613-8873-9345076A367F}"/>
              </a:ext>
            </a:extLst>
          </p:cNvPr>
          <p:cNvSpPr/>
          <p:nvPr/>
        </p:nvSpPr>
        <p:spPr>
          <a:xfrm>
            <a:off x="7038490" y="3639052"/>
            <a:ext cx="262658" cy="121186"/>
          </a:xfrm>
          <a:prstGeom prst="rect">
            <a:avLst/>
          </a:prstGeom>
          <a:solidFill>
            <a:srgbClr val="002060"/>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14B13BB5-C248-D477-90A8-4F6831739291}"/>
              </a:ext>
            </a:extLst>
          </p:cNvPr>
          <p:cNvSpPr/>
          <p:nvPr/>
        </p:nvSpPr>
        <p:spPr>
          <a:xfrm>
            <a:off x="7395396" y="3639052"/>
            <a:ext cx="613223" cy="121186"/>
          </a:xfrm>
          <a:prstGeom prst="rect">
            <a:avLst/>
          </a:prstGeom>
          <a:solidFill>
            <a:srgbClr val="002060"/>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CEBA7AAB-6470-7509-AB0F-0A2FEAA3AA15}"/>
              </a:ext>
            </a:extLst>
          </p:cNvPr>
          <p:cNvSpPr/>
          <p:nvPr/>
        </p:nvSpPr>
        <p:spPr>
          <a:xfrm>
            <a:off x="2273327" y="3639052"/>
            <a:ext cx="194511" cy="121186"/>
          </a:xfrm>
          <a:prstGeom prst="rect">
            <a:avLst/>
          </a:prstGeom>
          <a:solidFill>
            <a:srgbClr val="002060"/>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D0A1A79-9DDD-6BDC-09B8-BF44865A5ACC}"/>
              </a:ext>
            </a:extLst>
          </p:cNvPr>
          <p:cNvSpPr/>
          <p:nvPr/>
        </p:nvSpPr>
        <p:spPr>
          <a:xfrm>
            <a:off x="2559172" y="3639052"/>
            <a:ext cx="422382" cy="121186"/>
          </a:xfrm>
          <a:prstGeom prst="rect">
            <a:avLst/>
          </a:prstGeom>
          <a:solidFill>
            <a:srgbClr val="002060"/>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1D2ECEB4-E510-73C2-85BE-A74F45FE01F3}"/>
              </a:ext>
            </a:extLst>
          </p:cNvPr>
          <p:cNvSpPr/>
          <p:nvPr/>
        </p:nvSpPr>
        <p:spPr>
          <a:xfrm>
            <a:off x="3141297" y="3639052"/>
            <a:ext cx="262658" cy="121186"/>
          </a:xfrm>
          <a:prstGeom prst="rect">
            <a:avLst/>
          </a:prstGeom>
          <a:solidFill>
            <a:srgbClr val="002060"/>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D549EE45-A6F2-0C7F-CD6A-9C7B2DA9DD15}"/>
              </a:ext>
            </a:extLst>
          </p:cNvPr>
          <p:cNvSpPr/>
          <p:nvPr/>
        </p:nvSpPr>
        <p:spPr>
          <a:xfrm>
            <a:off x="4789431" y="3639052"/>
            <a:ext cx="262658" cy="121186"/>
          </a:xfrm>
          <a:prstGeom prst="rect">
            <a:avLst/>
          </a:prstGeom>
          <a:solidFill>
            <a:srgbClr val="002060"/>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 Placeholder 2">
            <a:extLst>
              <a:ext uri="{FF2B5EF4-FFF2-40B4-BE49-F238E27FC236}">
                <a16:creationId xmlns:a16="http://schemas.microsoft.com/office/drawing/2014/main" id="{818EAEBD-1A12-A8CC-A059-18B3D25866AB}"/>
              </a:ext>
            </a:extLst>
          </p:cNvPr>
          <p:cNvSpPr txBox="1">
            <a:spLocks/>
          </p:cNvSpPr>
          <p:nvPr/>
        </p:nvSpPr>
        <p:spPr>
          <a:xfrm>
            <a:off x="1123065" y="1140407"/>
            <a:ext cx="6885554"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79400" algn="l" rtl="0">
              <a:lnSpc>
                <a:spcPct val="115000"/>
              </a:lnSpc>
              <a:spcBef>
                <a:spcPts val="0"/>
              </a:spcBef>
              <a:spcAft>
                <a:spcPts val="0"/>
              </a:spcAft>
              <a:buClr>
                <a:schemeClr val="dk1"/>
              </a:buClr>
              <a:buSzPts val="800"/>
              <a:buFont typeface="Hanken Grotesk"/>
              <a:buChar char="●"/>
              <a:defRPr sz="1400" b="0" i="0" u="none" strike="noStrike" cap="none">
                <a:solidFill>
                  <a:schemeClr val="dk1"/>
                </a:solidFill>
                <a:latin typeface="Hanken Grotesk"/>
                <a:ea typeface="Hanken Grotesk"/>
                <a:cs typeface="Hanken Grotesk"/>
                <a:sym typeface="Hanken Grotesk"/>
              </a:defRPr>
            </a:lvl1pPr>
            <a:lvl2pPr marL="914400" marR="0" lvl="1"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2pPr>
            <a:lvl3pPr marL="1371600" marR="0" lvl="2"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3pPr>
            <a:lvl4pPr marL="1828800" marR="0" lvl="3"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4pPr>
            <a:lvl5pPr marL="2286000" marR="0" lvl="4"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5pPr>
            <a:lvl6pPr marL="2743200" marR="0" lvl="5"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6pPr>
            <a:lvl7pPr marL="3200400" marR="0" lvl="6"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7pPr>
            <a:lvl8pPr marL="3657600" marR="0" lvl="7"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8pPr>
            <a:lvl9pPr marL="4114800" marR="0" lvl="8"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9pPr>
          </a:lstStyle>
          <a:p>
            <a:pPr marL="177800" indent="0" algn="ctr">
              <a:buFont typeface="Hanken Grotesk"/>
              <a:buNone/>
            </a:pPr>
            <a:r>
              <a:rPr lang="en-US" sz="1800" dirty="0"/>
              <a:t>Different elements have different sequence-to-function logics</a:t>
            </a:r>
          </a:p>
        </p:txBody>
      </p:sp>
      <p:cxnSp>
        <p:nvCxnSpPr>
          <p:cNvPr id="30" name="Straight Arrow Connector 29">
            <a:extLst>
              <a:ext uri="{FF2B5EF4-FFF2-40B4-BE49-F238E27FC236}">
                <a16:creationId xmlns:a16="http://schemas.microsoft.com/office/drawing/2014/main" id="{42806AB2-D04D-09C6-5734-40EC5153A1D0}"/>
              </a:ext>
            </a:extLst>
          </p:cNvPr>
          <p:cNvCxnSpPr>
            <a:cxnSpLocks/>
          </p:cNvCxnSpPr>
          <p:nvPr/>
        </p:nvCxnSpPr>
        <p:spPr>
          <a:xfrm>
            <a:off x="1961986" y="3265212"/>
            <a:ext cx="0" cy="30847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1" name="Text Placeholder 2">
            <a:extLst>
              <a:ext uri="{FF2B5EF4-FFF2-40B4-BE49-F238E27FC236}">
                <a16:creationId xmlns:a16="http://schemas.microsoft.com/office/drawing/2014/main" id="{4365CB82-6B97-7B1B-6660-A7147BCE9211}"/>
              </a:ext>
            </a:extLst>
          </p:cNvPr>
          <p:cNvSpPr>
            <a:spLocks noGrp="1"/>
          </p:cNvSpPr>
          <p:nvPr>
            <p:ph type="body" idx="1"/>
          </p:nvPr>
        </p:nvSpPr>
        <p:spPr>
          <a:xfrm>
            <a:off x="-908525" y="2911155"/>
            <a:ext cx="7704000" cy="849083"/>
          </a:xfrm>
        </p:spPr>
        <p:txBody>
          <a:bodyPr/>
          <a:lstStyle/>
          <a:p>
            <a:pPr marL="177800" indent="0" algn="ctr">
              <a:buNone/>
            </a:pPr>
            <a:r>
              <a:rPr lang="en-US" dirty="0"/>
              <a:t>Transcription factor binding sites mediate function</a:t>
            </a:r>
          </a:p>
        </p:txBody>
      </p:sp>
      <p:cxnSp>
        <p:nvCxnSpPr>
          <p:cNvPr id="32" name="Straight Arrow Connector 31">
            <a:extLst>
              <a:ext uri="{FF2B5EF4-FFF2-40B4-BE49-F238E27FC236}">
                <a16:creationId xmlns:a16="http://schemas.microsoft.com/office/drawing/2014/main" id="{844B728E-78CC-8518-FFBF-4657BC921BC5}"/>
              </a:ext>
            </a:extLst>
          </p:cNvPr>
          <p:cNvCxnSpPr>
            <a:cxnSpLocks/>
          </p:cNvCxnSpPr>
          <p:nvPr/>
        </p:nvCxnSpPr>
        <p:spPr>
          <a:xfrm>
            <a:off x="3973639" y="3265212"/>
            <a:ext cx="0" cy="30847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8FF253C9-0E68-6B01-F752-53BD6399E894}"/>
              </a:ext>
            </a:extLst>
          </p:cNvPr>
          <p:cNvCxnSpPr>
            <a:cxnSpLocks/>
          </p:cNvCxnSpPr>
          <p:nvPr/>
        </p:nvCxnSpPr>
        <p:spPr>
          <a:xfrm>
            <a:off x="6229935" y="2827020"/>
            <a:ext cx="0" cy="7466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6" name="Text Placeholder 2">
            <a:extLst>
              <a:ext uri="{FF2B5EF4-FFF2-40B4-BE49-F238E27FC236}">
                <a16:creationId xmlns:a16="http://schemas.microsoft.com/office/drawing/2014/main" id="{E762E83A-A97F-684E-5BF5-995EF1153111}"/>
              </a:ext>
            </a:extLst>
          </p:cNvPr>
          <p:cNvSpPr txBox="1">
            <a:spLocks/>
          </p:cNvSpPr>
          <p:nvPr/>
        </p:nvSpPr>
        <p:spPr>
          <a:xfrm>
            <a:off x="2291825" y="2401468"/>
            <a:ext cx="7704000" cy="849083"/>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79400" algn="l" rtl="0">
              <a:lnSpc>
                <a:spcPct val="115000"/>
              </a:lnSpc>
              <a:spcBef>
                <a:spcPts val="0"/>
              </a:spcBef>
              <a:spcAft>
                <a:spcPts val="0"/>
              </a:spcAft>
              <a:buClr>
                <a:schemeClr val="dk1"/>
              </a:buClr>
              <a:buSzPts val="800"/>
              <a:buFont typeface="Hanken Grotesk"/>
              <a:buChar char="●"/>
              <a:defRPr sz="1400" b="0" i="0" u="none" strike="noStrike" cap="none">
                <a:solidFill>
                  <a:schemeClr val="dk1"/>
                </a:solidFill>
                <a:latin typeface="Hanken Grotesk"/>
                <a:ea typeface="Hanken Grotesk"/>
                <a:cs typeface="Hanken Grotesk"/>
                <a:sym typeface="Hanken Grotesk"/>
              </a:defRPr>
            </a:lvl1pPr>
            <a:lvl2pPr marL="914400" marR="0" lvl="1"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2pPr>
            <a:lvl3pPr marL="1371600" marR="0" lvl="2"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3pPr>
            <a:lvl4pPr marL="1828800" marR="0" lvl="3"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4pPr>
            <a:lvl5pPr marL="2286000" marR="0" lvl="4"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5pPr>
            <a:lvl6pPr marL="2743200" marR="0" lvl="5"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6pPr>
            <a:lvl7pPr marL="3200400" marR="0" lvl="6"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7pPr>
            <a:lvl8pPr marL="3657600" marR="0" lvl="7"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8pPr>
            <a:lvl9pPr marL="4114800" marR="0" lvl="8"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9pPr>
          </a:lstStyle>
          <a:p>
            <a:pPr marL="177800" indent="0" algn="ctr">
              <a:buFont typeface="Hanken Grotesk"/>
              <a:buNone/>
            </a:pPr>
            <a:r>
              <a:rPr lang="en-US" dirty="0"/>
              <a:t>Codons code for amino acids</a:t>
            </a:r>
          </a:p>
        </p:txBody>
      </p:sp>
    </p:spTree>
    <p:extLst>
      <p:ext uri="{BB962C8B-B14F-4D97-AF65-F5344CB8AC3E}">
        <p14:creationId xmlns:p14="http://schemas.microsoft.com/office/powerpoint/2010/main" val="235874042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FA5764-B279-6C23-4599-8D7331D319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D8BC7D-FCA7-AA1A-7F43-5454534AAF34}"/>
              </a:ext>
            </a:extLst>
          </p:cNvPr>
          <p:cNvSpPr>
            <a:spLocks noGrp="1"/>
          </p:cNvSpPr>
          <p:nvPr>
            <p:ph type="title"/>
          </p:nvPr>
        </p:nvSpPr>
        <p:spPr/>
        <p:txBody>
          <a:bodyPr/>
          <a:lstStyle/>
          <a:p>
            <a:r>
              <a:rPr lang="en-US" sz="2400" dirty="0"/>
              <a:t>Bioinformatics methods often rely on evolutionary conservation for robust identification of signal</a:t>
            </a:r>
          </a:p>
        </p:txBody>
      </p:sp>
      <p:sp>
        <p:nvSpPr>
          <p:cNvPr id="4" name="Rectangle 3">
            <a:extLst>
              <a:ext uri="{FF2B5EF4-FFF2-40B4-BE49-F238E27FC236}">
                <a16:creationId xmlns:a16="http://schemas.microsoft.com/office/drawing/2014/main" id="{8981CDE5-D377-BB41-B9B3-37C08BC48D8D}"/>
              </a:ext>
            </a:extLst>
          </p:cNvPr>
          <p:cNvSpPr/>
          <p:nvPr/>
        </p:nvSpPr>
        <p:spPr>
          <a:xfrm>
            <a:off x="892367" y="3641073"/>
            <a:ext cx="6822117" cy="119165"/>
          </a:xfrm>
          <a:prstGeom prst="rect">
            <a:avLst/>
          </a:prstGeom>
          <a:solidFill>
            <a:srgbClr val="71DAFF"/>
          </a:solidFill>
          <a:ln>
            <a:solidFill>
              <a:srgbClr val="71DA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99FBCAC8-9A54-8ACD-CB64-96154863A9D4}"/>
              </a:ext>
            </a:extLst>
          </p:cNvPr>
          <p:cNvSpPr/>
          <p:nvPr/>
        </p:nvSpPr>
        <p:spPr>
          <a:xfrm>
            <a:off x="1816865" y="3641073"/>
            <a:ext cx="262658" cy="121186"/>
          </a:xfrm>
          <a:prstGeom prst="rect">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82849BC4-1C20-AB7D-6E0A-A7B15967194F}"/>
              </a:ext>
            </a:extLst>
          </p:cNvPr>
          <p:cNvSpPr/>
          <p:nvPr/>
        </p:nvSpPr>
        <p:spPr>
          <a:xfrm>
            <a:off x="3842310" y="3641073"/>
            <a:ext cx="262658" cy="121186"/>
          </a:xfrm>
          <a:prstGeom prst="rect">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43453D54-07BD-73B4-1D2F-8810EB4B3307}"/>
              </a:ext>
            </a:extLst>
          </p:cNvPr>
          <p:cNvSpPr/>
          <p:nvPr/>
        </p:nvSpPr>
        <p:spPr>
          <a:xfrm>
            <a:off x="5322065" y="3641073"/>
            <a:ext cx="262658" cy="121186"/>
          </a:xfrm>
          <a:prstGeom prst="rect">
            <a:avLst/>
          </a:prstGeom>
          <a:solidFill>
            <a:srgbClr val="FFFF00"/>
          </a:solid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3992BAE9-839D-CF69-19DE-5EBF6E5747B8}"/>
              </a:ext>
            </a:extLst>
          </p:cNvPr>
          <p:cNvSpPr/>
          <p:nvPr/>
        </p:nvSpPr>
        <p:spPr>
          <a:xfrm>
            <a:off x="5605096" y="3641073"/>
            <a:ext cx="1196723" cy="121186"/>
          </a:xfrm>
          <a:prstGeom prst="rect">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 Placeholder 2">
            <a:extLst>
              <a:ext uri="{FF2B5EF4-FFF2-40B4-BE49-F238E27FC236}">
                <a16:creationId xmlns:a16="http://schemas.microsoft.com/office/drawing/2014/main" id="{D0419A80-F34F-10D5-632D-ACF8948C6B5D}"/>
              </a:ext>
            </a:extLst>
          </p:cNvPr>
          <p:cNvSpPr txBox="1">
            <a:spLocks/>
          </p:cNvSpPr>
          <p:nvPr/>
        </p:nvSpPr>
        <p:spPr>
          <a:xfrm>
            <a:off x="1206143" y="3828627"/>
            <a:ext cx="1380863" cy="40457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79400" algn="l" rtl="0">
              <a:lnSpc>
                <a:spcPct val="115000"/>
              </a:lnSpc>
              <a:spcBef>
                <a:spcPts val="0"/>
              </a:spcBef>
              <a:spcAft>
                <a:spcPts val="0"/>
              </a:spcAft>
              <a:buClr>
                <a:schemeClr val="dk1"/>
              </a:buClr>
              <a:buSzPts val="800"/>
              <a:buFont typeface="Hanken Grotesk"/>
              <a:buChar char="●"/>
              <a:defRPr sz="1400" b="0" i="0" u="none" strike="noStrike" cap="none">
                <a:solidFill>
                  <a:schemeClr val="dk1"/>
                </a:solidFill>
                <a:latin typeface="Hanken Grotesk"/>
                <a:ea typeface="Hanken Grotesk"/>
                <a:cs typeface="Hanken Grotesk"/>
                <a:sym typeface="Hanken Grotesk"/>
              </a:defRPr>
            </a:lvl1pPr>
            <a:lvl2pPr marL="914400" marR="0" lvl="1"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2pPr>
            <a:lvl3pPr marL="1371600" marR="0" lvl="2"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3pPr>
            <a:lvl4pPr marL="1828800" marR="0" lvl="3"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4pPr>
            <a:lvl5pPr marL="2286000" marR="0" lvl="4"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5pPr>
            <a:lvl6pPr marL="2743200" marR="0" lvl="5"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6pPr>
            <a:lvl7pPr marL="3200400" marR="0" lvl="6"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7pPr>
            <a:lvl8pPr marL="3657600" marR="0" lvl="7"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8pPr>
            <a:lvl9pPr marL="4114800" marR="0" lvl="8"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9pPr>
          </a:lstStyle>
          <a:p>
            <a:pPr marL="177800" indent="0" algn="ctr">
              <a:buFont typeface="Hanken Grotesk"/>
              <a:buNone/>
            </a:pPr>
            <a:r>
              <a:rPr lang="en-US" dirty="0"/>
              <a:t>Enhancer</a:t>
            </a:r>
          </a:p>
        </p:txBody>
      </p:sp>
      <p:sp>
        <p:nvSpPr>
          <p:cNvPr id="10" name="Text Placeholder 2">
            <a:extLst>
              <a:ext uri="{FF2B5EF4-FFF2-40B4-BE49-F238E27FC236}">
                <a16:creationId xmlns:a16="http://schemas.microsoft.com/office/drawing/2014/main" id="{DD776DCB-FC0C-1B96-7BDE-A274CE275B0D}"/>
              </a:ext>
            </a:extLst>
          </p:cNvPr>
          <p:cNvSpPr txBox="1">
            <a:spLocks/>
          </p:cNvSpPr>
          <p:nvPr/>
        </p:nvSpPr>
        <p:spPr>
          <a:xfrm>
            <a:off x="3191137" y="3828627"/>
            <a:ext cx="1380863" cy="40457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79400" algn="l" rtl="0">
              <a:lnSpc>
                <a:spcPct val="115000"/>
              </a:lnSpc>
              <a:spcBef>
                <a:spcPts val="0"/>
              </a:spcBef>
              <a:spcAft>
                <a:spcPts val="0"/>
              </a:spcAft>
              <a:buClr>
                <a:schemeClr val="dk1"/>
              </a:buClr>
              <a:buSzPts val="800"/>
              <a:buFont typeface="Hanken Grotesk"/>
              <a:buChar char="●"/>
              <a:defRPr sz="1400" b="0" i="0" u="none" strike="noStrike" cap="none">
                <a:solidFill>
                  <a:schemeClr val="dk1"/>
                </a:solidFill>
                <a:latin typeface="Hanken Grotesk"/>
                <a:ea typeface="Hanken Grotesk"/>
                <a:cs typeface="Hanken Grotesk"/>
                <a:sym typeface="Hanken Grotesk"/>
              </a:defRPr>
            </a:lvl1pPr>
            <a:lvl2pPr marL="914400" marR="0" lvl="1"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2pPr>
            <a:lvl3pPr marL="1371600" marR="0" lvl="2"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3pPr>
            <a:lvl4pPr marL="1828800" marR="0" lvl="3"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4pPr>
            <a:lvl5pPr marL="2286000" marR="0" lvl="4"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5pPr>
            <a:lvl6pPr marL="2743200" marR="0" lvl="5"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6pPr>
            <a:lvl7pPr marL="3200400" marR="0" lvl="6"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7pPr>
            <a:lvl8pPr marL="3657600" marR="0" lvl="7"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8pPr>
            <a:lvl9pPr marL="4114800" marR="0" lvl="8"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9pPr>
          </a:lstStyle>
          <a:p>
            <a:pPr marL="177800" indent="0" algn="ctr">
              <a:buFont typeface="Hanken Grotesk"/>
              <a:buNone/>
            </a:pPr>
            <a:r>
              <a:rPr lang="en-US" dirty="0"/>
              <a:t>Enhancer</a:t>
            </a:r>
          </a:p>
        </p:txBody>
      </p:sp>
      <p:sp>
        <p:nvSpPr>
          <p:cNvPr id="11" name="Text Placeholder 2">
            <a:extLst>
              <a:ext uri="{FF2B5EF4-FFF2-40B4-BE49-F238E27FC236}">
                <a16:creationId xmlns:a16="http://schemas.microsoft.com/office/drawing/2014/main" id="{7671B2D8-2989-952E-0A0B-B0AFF1B2E879}"/>
              </a:ext>
            </a:extLst>
          </p:cNvPr>
          <p:cNvSpPr txBox="1">
            <a:spLocks/>
          </p:cNvSpPr>
          <p:nvPr/>
        </p:nvSpPr>
        <p:spPr>
          <a:xfrm>
            <a:off x="4762962" y="3828626"/>
            <a:ext cx="1380863" cy="40457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79400" algn="l" rtl="0">
              <a:lnSpc>
                <a:spcPct val="115000"/>
              </a:lnSpc>
              <a:spcBef>
                <a:spcPts val="0"/>
              </a:spcBef>
              <a:spcAft>
                <a:spcPts val="0"/>
              </a:spcAft>
              <a:buClr>
                <a:schemeClr val="dk1"/>
              </a:buClr>
              <a:buSzPts val="800"/>
              <a:buFont typeface="Hanken Grotesk"/>
              <a:buChar char="●"/>
              <a:defRPr sz="1400" b="0" i="0" u="none" strike="noStrike" cap="none">
                <a:solidFill>
                  <a:schemeClr val="dk1"/>
                </a:solidFill>
                <a:latin typeface="Hanken Grotesk"/>
                <a:ea typeface="Hanken Grotesk"/>
                <a:cs typeface="Hanken Grotesk"/>
                <a:sym typeface="Hanken Grotesk"/>
              </a:defRPr>
            </a:lvl1pPr>
            <a:lvl2pPr marL="914400" marR="0" lvl="1"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2pPr>
            <a:lvl3pPr marL="1371600" marR="0" lvl="2"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3pPr>
            <a:lvl4pPr marL="1828800" marR="0" lvl="3"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4pPr>
            <a:lvl5pPr marL="2286000" marR="0" lvl="4"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5pPr>
            <a:lvl6pPr marL="2743200" marR="0" lvl="5"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6pPr>
            <a:lvl7pPr marL="3200400" marR="0" lvl="6"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7pPr>
            <a:lvl8pPr marL="3657600" marR="0" lvl="7"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8pPr>
            <a:lvl9pPr marL="4114800" marR="0" lvl="8"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9pPr>
          </a:lstStyle>
          <a:p>
            <a:pPr marL="177800" indent="0" algn="ctr">
              <a:buFont typeface="Hanken Grotesk"/>
              <a:buNone/>
            </a:pPr>
            <a:r>
              <a:rPr lang="en-US" dirty="0"/>
              <a:t>Promoter</a:t>
            </a:r>
          </a:p>
        </p:txBody>
      </p:sp>
      <p:sp>
        <p:nvSpPr>
          <p:cNvPr id="12" name="Text Placeholder 2">
            <a:extLst>
              <a:ext uri="{FF2B5EF4-FFF2-40B4-BE49-F238E27FC236}">
                <a16:creationId xmlns:a16="http://schemas.microsoft.com/office/drawing/2014/main" id="{2BBA315C-5170-E3B8-F5B6-BE058A4A8B66}"/>
              </a:ext>
            </a:extLst>
          </p:cNvPr>
          <p:cNvSpPr txBox="1">
            <a:spLocks/>
          </p:cNvSpPr>
          <p:nvPr/>
        </p:nvSpPr>
        <p:spPr>
          <a:xfrm>
            <a:off x="5513025" y="3828626"/>
            <a:ext cx="1380863" cy="40457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79400" algn="l" rtl="0">
              <a:lnSpc>
                <a:spcPct val="115000"/>
              </a:lnSpc>
              <a:spcBef>
                <a:spcPts val="0"/>
              </a:spcBef>
              <a:spcAft>
                <a:spcPts val="0"/>
              </a:spcAft>
              <a:buClr>
                <a:schemeClr val="dk1"/>
              </a:buClr>
              <a:buSzPts val="800"/>
              <a:buFont typeface="Hanken Grotesk"/>
              <a:buChar char="●"/>
              <a:defRPr sz="1400" b="0" i="0" u="none" strike="noStrike" cap="none">
                <a:solidFill>
                  <a:schemeClr val="dk1"/>
                </a:solidFill>
                <a:latin typeface="Hanken Grotesk"/>
                <a:ea typeface="Hanken Grotesk"/>
                <a:cs typeface="Hanken Grotesk"/>
                <a:sym typeface="Hanken Grotesk"/>
              </a:defRPr>
            </a:lvl1pPr>
            <a:lvl2pPr marL="914400" marR="0" lvl="1"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2pPr>
            <a:lvl3pPr marL="1371600" marR="0" lvl="2"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3pPr>
            <a:lvl4pPr marL="1828800" marR="0" lvl="3"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4pPr>
            <a:lvl5pPr marL="2286000" marR="0" lvl="4"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5pPr>
            <a:lvl6pPr marL="2743200" marR="0" lvl="5"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6pPr>
            <a:lvl7pPr marL="3200400" marR="0" lvl="6"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7pPr>
            <a:lvl8pPr marL="3657600" marR="0" lvl="7"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8pPr>
            <a:lvl9pPr marL="4114800" marR="0" lvl="8"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9pPr>
          </a:lstStyle>
          <a:p>
            <a:pPr marL="177800" indent="0" algn="ctr">
              <a:buFont typeface="Hanken Grotesk"/>
              <a:buNone/>
            </a:pPr>
            <a:r>
              <a:rPr lang="en-US" dirty="0"/>
              <a:t>Gene</a:t>
            </a:r>
          </a:p>
        </p:txBody>
      </p:sp>
      <p:sp>
        <p:nvSpPr>
          <p:cNvPr id="13" name="Rectangle 12">
            <a:extLst>
              <a:ext uri="{FF2B5EF4-FFF2-40B4-BE49-F238E27FC236}">
                <a16:creationId xmlns:a16="http://schemas.microsoft.com/office/drawing/2014/main" id="{D7BF74D0-9FF8-5B8D-78F2-034336D44802}"/>
              </a:ext>
            </a:extLst>
          </p:cNvPr>
          <p:cNvSpPr/>
          <p:nvPr/>
        </p:nvSpPr>
        <p:spPr>
          <a:xfrm>
            <a:off x="1045771" y="3641073"/>
            <a:ext cx="577290" cy="121186"/>
          </a:xfrm>
          <a:prstGeom prst="rect">
            <a:avLst/>
          </a:prstGeom>
          <a:solidFill>
            <a:srgbClr val="002060"/>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5B1BA910-D205-4EE1-0054-AE52C34A7246}"/>
              </a:ext>
            </a:extLst>
          </p:cNvPr>
          <p:cNvSpPr/>
          <p:nvPr/>
        </p:nvSpPr>
        <p:spPr>
          <a:xfrm>
            <a:off x="7038490" y="3639052"/>
            <a:ext cx="262658" cy="121186"/>
          </a:xfrm>
          <a:prstGeom prst="rect">
            <a:avLst/>
          </a:prstGeom>
          <a:solidFill>
            <a:srgbClr val="002060"/>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95A71462-EF33-A463-AEA0-D2A17F57814B}"/>
              </a:ext>
            </a:extLst>
          </p:cNvPr>
          <p:cNvSpPr/>
          <p:nvPr/>
        </p:nvSpPr>
        <p:spPr>
          <a:xfrm>
            <a:off x="7395397" y="3639052"/>
            <a:ext cx="319088" cy="119165"/>
          </a:xfrm>
          <a:prstGeom prst="rect">
            <a:avLst/>
          </a:prstGeom>
          <a:solidFill>
            <a:srgbClr val="002060"/>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F91B7E34-9699-FFA0-89AA-8360BB08D430}"/>
              </a:ext>
            </a:extLst>
          </p:cNvPr>
          <p:cNvSpPr/>
          <p:nvPr/>
        </p:nvSpPr>
        <p:spPr>
          <a:xfrm>
            <a:off x="2273327" y="3639052"/>
            <a:ext cx="194511" cy="121186"/>
          </a:xfrm>
          <a:prstGeom prst="rect">
            <a:avLst/>
          </a:prstGeom>
          <a:solidFill>
            <a:srgbClr val="002060"/>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CF8E878C-2F44-D55E-CF76-71018408D219}"/>
              </a:ext>
            </a:extLst>
          </p:cNvPr>
          <p:cNvSpPr/>
          <p:nvPr/>
        </p:nvSpPr>
        <p:spPr>
          <a:xfrm>
            <a:off x="2559172" y="3639052"/>
            <a:ext cx="422382" cy="121186"/>
          </a:xfrm>
          <a:prstGeom prst="rect">
            <a:avLst/>
          </a:prstGeom>
          <a:solidFill>
            <a:srgbClr val="002060"/>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A97E5243-0BE4-C271-FA5C-85B68CA7D58D}"/>
              </a:ext>
            </a:extLst>
          </p:cNvPr>
          <p:cNvSpPr/>
          <p:nvPr/>
        </p:nvSpPr>
        <p:spPr>
          <a:xfrm>
            <a:off x="3141297" y="3639052"/>
            <a:ext cx="262658" cy="121186"/>
          </a:xfrm>
          <a:prstGeom prst="rect">
            <a:avLst/>
          </a:prstGeom>
          <a:solidFill>
            <a:srgbClr val="002060"/>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3886B55D-8A49-A7FA-E0E4-8EBAE5DEEB57}"/>
              </a:ext>
            </a:extLst>
          </p:cNvPr>
          <p:cNvSpPr/>
          <p:nvPr/>
        </p:nvSpPr>
        <p:spPr>
          <a:xfrm>
            <a:off x="4789431" y="3639052"/>
            <a:ext cx="262658" cy="121186"/>
          </a:xfrm>
          <a:prstGeom prst="rect">
            <a:avLst/>
          </a:prstGeom>
          <a:solidFill>
            <a:srgbClr val="002060"/>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765E18EC-CA43-F1BE-5AF3-0A4517164E3A}"/>
              </a:ext>
            </a:extLst>
          </p:cNvPr>
          <p:cNvSpPr/>
          <p:nvPr/>
        </p:nvSpPr>
        <p:spPr>
          <a:xfrm>
            <a:off x="892367" y="3077193"/>
            <a:ext cx="6822117" cy="119165"/>
          </a:xfrm>
          <a:prstGeom prst="rect">
            <a:avLst/>
          </a:prstGeom>
          <a:solidFill>
            <a:srgbClr val="71DAFF"/>
          </a:solidFill>
          <a:ln>
            <a:solidFill>
              <a:srgbClr val="71DA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F3948700-10DD-2844-8AC9-2BF6C55313F0}"/>
              </a:ext>
            </a:extLst>
          </p:cNvPr>
          <p:cNvSpPr/>
          <p:nvPr/>
        </p:nvSpPr>
        <p:spPr>
          <a:xfrm>
            <a:off x="1451518" y="3075172"/>
            <a:ext cx="262658" cy="121186"/>
          </a:xfrm>
          <a:prstGeom prst="rect">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46A86EFF-24B2-63AE-8E8B-7A4A54F7C1E8}"/>
              </a:ext>
            </a:extLst>
          </p:cNvPr>
          <p:cNvSpPr/>
          <p:nvPr/>
        </p:nvSpPr>
        <p:spPr>
          <a:xfrm>
            <a:off x="4563757" y="3075172"/>
            <a:ext cx="262658" cy="121186"/>
          </a:xfrm>
          <a:prstGeom prst="rect">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1A6CA381-5ED2-59CC-4292-4A117447AE53}"/>
              </a:ext>
            </a:extLst>
          </p:cNvPr>
          <p:cNvSpPr/>
          <p:nvPr/>
        </p:nvSpPr>
        <p:spPr>
          <a:xfrm>
            <a:off x="5683723" y="3075172"/>
            <a:ext cx="262658" cy="121186"/>
          </a:xfrm>
          <a:prstGeom prst="rect">
            <a:avLst/>
          </a:prstGeom>
          <a:solidFill>
            <a:srgbClr val="FFFF00"/>
          </a:solid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5CE0D0D7-BFD8-A784-0FEB-88D7EFAFF323}"/>
              </a:ext>
            </a:extLst>
          </p:cNvPr>
          <p:cNvSpPr/>
          <p:nvPr/>
        </p:nvSpPr>
        <p:spPr>
          <a:xfrm>
            <a:off x="5973096" y="3075172"/>
            <a:ext cx="1196723" cy="121186"/>
          </a:xfrm>
          <a:prstGeom prst="rect">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62708934-79D4-A46B-2904-50FB5F6E6C09}"/>
              </a:ext>
            </a:extLst>
          </p:cNvPr>
          <p:cNvSpPr/>
          <p:nvPr/>
        </p:nvSpPr>
        <p:spPr>
          <a:xfrm>
            <a:off x="1086170" y="3077193"/>
            <a:ext cx="224494" cy="119165"/>
          </a:xfrm>
          <a:prstGeom prst="rect">
            <a:avLst/>
          </a:prstGeom>
          <a:solidFill>
            <a:srgbClr val="002060"/>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65BFFF31-BA1F-0BAD-A742-974546CD9548}"/>
              </a:ext>
            </a:extLst>
          </p:cNvPr>
          <p:cNvSpPr/>
          <p:nvPr/>
        </p:nvSpPr>
        <p:spPr>
          <a:xfrm>
            <a:off x="7327135" y="3075172"/>
            <a:ext cx="387349" cy="119165"/>
          </a:xfrm>
          <a:prstGeom prst="rect">
            <a:avLst/>
          </a:prstGeom>
          <a:solidFill>
            <a:srgbClr val="002060"/>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0CC4042F-7591-2EE8-4B46-935E6C5BE3EA}"/>
              </a:ext>
            </a:extLst>
          </p:cNvPr>
          <p:cNvSpPr/>
          <p:nvPr/>
        </p:nvSpPr>
        <p:spPr>
          <a:xfrm>
            <a:off x="2273327" y="3075172"/>
            <a:ext cx="650006" cy="121186"/>
          </a:xfrm>
          <a:prstGeom prst="rect">
            <a:avLst/>
          </a:prstGeom>
          <a:solidFill>
            <a:srgbClr val="002060"/>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58326C39-BCA0-6492-DB06-C7A696647E33}"/>
              </a:ext>
            </a:extLst>
          </p:cNvPr>
          <p:cNvSpPr/>
          <p:nvPr/>
        </p:nvSpPr>
        <p:spPr>
          <a:xfrm>
            <a:off x="3141297" y="3075172"/>
            <a:ext cx="262658" cy="121186"/>
          </a:xfrm>
          <a:prstGeom prst="rect">
            <a:avLst/>
          </a:prstGeom>
          <a:solidFill>
            <a:srgbClr val="002060"/>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344E32BD-DB53-76DE-D6C5-5B2B1B41C667}"/>
              </a:ext>
            </a:extLst>
          </p:cNvPr>
          <p:cNvSpPr/>
          <p:nvPr/>
        </p:nvSpPr>
        <p:spPr>
          <a:xfrm>
            <a:off x="3621919" y="3075172"/>
            <a:ext cx="703440" cy="121186"/>
          </a:xfrm>
          <a:prstGeom prst="rect">
            <a:avLst/>
          </a:prstGeom>
          <a:solidFill>
            <a:srgbClr val="002060"/>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C7B3203B-4C65-C756-BF40-1ED654B3CE1B}"/>
              </a:ext>
            </a:extLst>
          </p:cNvPr>
          <p:cNvSpPr/>
          <p:nvPr/>
        </p:nvSpPr>
        <p:spPr>
          <a:xfrm>
            <a:off x="5064813" y="3075172"/>
            <a:ext cx="200612" cy="121186"/>
          </a:xfrm>
          <a:prstGeom prst="rect">
            <a:avLst/>
          </a:prstGeom>
          <a:solidFill>
            <a:srgbClr val="002060"/>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F59631EC-F88A-1B54-E1E4-0F114E088379}"/>
              </a:ext>
            </a:extLst>
          </p:cNvPr>
          <p:cNvSpPr/>
          <p:nvPr/>
        </p:nvSpPr>
        <p:spPr>
          <a:xfrm>
            <a:off x="892368" y="2537730"/>
            <a:ext cx="6822116" cy="119165"/>
          </a:xfrm>
          <a:prstGeom prst="rect">
            <a:avLst/>
          </a:prstGeom>
          <a:solidFill>
            <a:srgbClr val="71DAFF"/>
          </a:solidFill>
          <a:ln>
            <a:solidFill>
              <a:srgbClr val="71DA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2DFBAE80-A32D-0352-808B-E0E133CCDA8B}"/>
              </a:ext>
            </a:extLst>
          </p:cNvPr>
          <p:cNvSpPr/>
          <p:nvPr/>
        </p:nvSpPr>
        <p:spPr>
          <a:xfrm>
            <a:off x="2474623" y="2535709"/>
            <a:ext cx="262658" cy="121186"/>
          </a:xfrm>
          <a:prstGeom prst="rect">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9649B1D3-7E73-61C3-6E90-6333A3FDED7C}"/>
              </a:ext>
            </a:extLst>
          </p:cNvPr>
          <p:cNvSpPr/>
          <p:nvPr/>
        </p:nvSpPr>
        <p:spPr>
          <a:xfrm>
            <a:off x="3813916" y="2535709"/>
            <a:ext cx="262658" cy="121186"/>
          </a:xfrm>
          <a:prstGeom prst="rect">
            <a:avLst/>
          </a:prstGeom>
          <a:solidFill>
            <a:srgbClr val="FFFF00"/>
          </a:solid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D7F66199-174B-BFB1-16C2-AFE9B93602F5}"/>
              </a:ext>
            </a:extLst>
          </p:cNvPr>
          <p:cNvSpPr/>
          <p:nvPr/>
        </p:nvSpPr>
        <p:spPr>
          <a:xfrm>
            <a:off x="4076575" y="2535709"/>
            <a:ext cx="823086" cy="121186"/>
          </a:xfrm>
          <a:prstGeom prst="rect">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B749BBBA-7DA0-E6BE-EE57-6A1D7616A921}"/>
              </a:ext>
            </a:extLst>
          </p:cNvPr>
          <p:cNvSpPr/>
          <p:nvPr/>
        </p:nvSpPr>
        <p:spPr>
          <a:xfrm>
            <a:off x="1086170" y="2537730"/>
            <a:ext cx="224494" cy="119165"/>
          </a:xfrm>
          <a:prstGeom prst="rect">
            <a:avLst/>
          </a:prstGeom>
          <a:solidFill>
            <a:srgbClr val="002060"/>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5109CBE3-CE15-B0D8-8053-42DC2DD882D9}"/>
              </a:ext>
            </a:extLst>
          </p:cNvPr>
          <p:cNvSpPr/>
          <p:nvPr/>
        </p:nvSpPr>
        <p:spPr>
          <a:xfrm>
            <a:off x="5946382" y="2535709"/>
            <a:ext cx="1768102" cy="121186"/>
          </a:xfrm>
          <a:prstGeom prst="rect">
            <a:avLst/>
          </a:prstGeom>
          <a:solidFill>
            <a:srgbClr val="002060"/>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a:extLst>
              <a:ext uri="{FF2B5EF4-FFF2-40B4-BE49-F238E27FC236}">
                <a16:creationId xmlns:a16="http://schemas.microsoft.com/office/drawing/2014/main" id="{5D160F92-7849-D3DA-671B-D3F896F1D423}"/>
              </a:ext>
            </a:extLst>
          </p:cNvPr>
          <p:cNvSpPr/>
          <p:nvPr/>
        </p:nvSpPr>
        <p:spPr>
          <a:xfrm>
            <a:off x="1429517" y="2535709"/>
            <a:ext cx="650006" cy="121186"/>
          </a:xfrm>
          <a:prstGeom prst="rect">
            <a:avLst/>
          </a:prstGeom>
          <a:solidFill>
            <a:srgbClr val="002060"/>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Rectangle 56">
            <a:extLst>
              <a:ext uri="{FF2B5EF4-FFF2-40B4-BE49-F238E27FC236}">
                <a16:creationId xmlns:a16="http://schemas.microsoft.com/office/drawing/2014/main" id="{87832AF2-2C7C-EB13-A9DA-FADF00417B3D}"/>
              </a:ext>
            </a:extLst>
          </p:cNvPr>
          <p:cNvSpPr/>
          <p:nvPr/>
        </p:nvSpPr>
        <p:spPr>
          <a:xfrm>
            <a:off x="5381696" y="2535709"/>
            <a:ext cx="223400" cy="121186"/>
          </a:xfrm>
          <a:prstGeom prst="rect">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Rectangle 68">
            <a:extLst>
              <a:ext uri="{FF2B5EF4-FFF2-40B4-BE49-F238E27FC236}">
                <a16:creationId xmlns:a16="http://schemas.microsoft.com/office/drawing/2014/main" id="{5DE69B3D-0C3A-D393-0208-AD38C67BABAD}"/>
              </a:ext>
            </a:extLst>
          </p:cNvPr>
          <p:cNvSpPr/>
          <p:nvPr/>
        </p:nvSpPr>
        <p:spPr>
          <a:xfrm>
            <a:off x="892367" y="2005714"/>
            <a:ext cx="6822117" cy="119165"/>
          </a:xfrm>
          <a:prstGeom prst="rect">
            <a:avLst/>
          </a:prstGeom>
          <a:solidFill>
            <a:srgbClr val="71DAFF"/>
          </a:solidFill>
          <a:ln>
            <a:solidFill>
              <a:srgbClr val="71DA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Rectangle 69">
            <a:extLst>
              <a:ext uri="{FF2B5EF4-FFF2-40B4-BE49-F238E27FC236}">
                <a16:creationId xmlns:a16="http://schemas.microsoft.com/office/drawing/2014/main" id="{F34C3664-0976-6662-105F-3F4323204799}"/>
              </a:ext>
            </a:extLst>
          </p:cNvPr>
          <p:cNvSpPr/>
          <p:nvPr/>
        </p:nvSpPr>
        <p:spPr>
          <a:xfrm>
            <a:off x="3215603" y="2003693"/>
            <a:ext cx="262658" cy="121186"/>
          </a:xfrm>
          <a:prstGeom prst="rect">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Rectangle 70">
            <a:extLst>
              <a:ext uri="{FF2B5EF4-FFF2-40B4-BE49-F238E27FC236}">
                <a16:creationId xmlns:a16="http://schemas.microsoft.com/office/drawing/2014/main" id="{762FE34D-C4E1-DBEB-2E82-EDA3F9164600}"/>
              </a:ext>
            </a:extLst>
          </p:cNvPr>
          <p:cNvSpPr/>
          <p:nvPr/>
        </p:nvSpPr>
        <p:spPr>
          <a:xfrm>
            <a:off x="4751341" y="2005714"/>
            <a:ext cx="262658" cy="121186"/>
          </a:xfrm>
          <a:prstGeom prst="rect">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Rectangle 71">
            <a:extLst>
              <a:ext uri="{FF2B5EF4-FFF2-40B4-BE49-F238E27FC236}">
                <a16:creationId xmlns:a16="http://schemas.microsoft.com/office/drawing/2014/main" id="{9375F578-7691-9734-0163-7F94A195145A}"/>
              </a:ext>
            </a:extLst>
          </p:cNvPr>
          <p:cNvSpPr/>
          <p:nvPr/>
        </p:nvSpPr>
        <p:spPr>
          <a:xfrm>
            <a:off x="5322065" y="2005714"/>
            <a:ext cx="262658" cy="121186"/>
          </a:xfrm>
          <a:prstGeom prst="rect">
            <a:avLst/>
          </a:prstGeom>
          <a:solidFill>
            <a:srgbClr val="FFFF00"/>
          </a:solid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Rectangle 72">
            <a:extLst>
              <a:ext uri="{FF2B5EF4-FFF2-40B4-BE49-F238E27FC236}">
                <a16:creationId xmlns:a16="http://schemas.microsoft.com/office/drawing/2014/main" id="{2D036008-0FE9-37A6-07A1-4878EBC7D2B6}"/>
              </a:ext>
            </a:extLst>
          </p:cNvPr>
          <p:cNvSpPr/>
          <p:nvPr/>
        </p:nvSpPr>
        <p:spPr>
          <a:xfrm>
            <a:off x="5605096" y="2005714"/>
            <a:ext cx="1196723" cy="121186"/>
          </a:xfrm>
          <a:prstGeom prst="rect">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Rectangle 73">
            <a:extLst>
              <a:ext uri="{FF2B5EF4-FFF2-40B4-BE49-F238E27FC236}">
                <a16:creationId xmlns:a16="http://schemas.microsoft.com/office/drawing/2014/main" id="{2728E150-ACC1-C7AF-AD56-20B0D526434C}"/>
              </a:ext>
            </a:extLst>
          </p:cNvPr>
          <p:cNvSpPr/>
          <p:nvPr/>
        </p:nvSpPr>
        <p:spPr>
          <a:xfrm>
            <a:off x="2339482" y="2005714"/>
            <a:ext cx="577290" cy="121186"/>
          </a:xfrm>
          <a:prstGeom prst="rect">
            <a:avLst/>
          </a:prstGeom>
          <a:solidFill>
            <a:srgbClr val="002060"/>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Rectangle 76">
            <a:extLst>
              <a:ext uri="{FF2B5EF4-FFF2-40B4-BE49-F238E27FC236}">
                <a16:creationId xmlns:a16="http://schemas.microsoft.com/office/drawing/2014/main" id="{26D85BFA-1C04-7795-2DD1-FBE102691676}"/>
              </a:ext>
            </a:extLst>
          </p:cNvPr>
          <p:cNvSpPr/>
          <p:nvPr/>
        </p:nvSpPr>
        <p:spPr>
          <a:xfrm>
            <a:off x="1845267" y="2005714"/>
            <a:ext cx="194511" cy="121186"/>
          </a:xfrm>
          <a:prstGeom prst="rect">
            <a:avLst/>
          </a:prstGeom>
          <a:solidFill>
            <a:srgbClr val="002060"/>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Rectangle 79">
            <a:extLst>
              <a:ext uri="{FF2B5EF4-FFF2-40B4-BE49-F238E27FC236}">
                <a16:creationId xmlns:a16="http://schemas.microsoft.com/office/drawing/2014/main" id="{4DF479C8-7EC0-AF43-B9F5-7C197CE02E86}"/>
              </a:ext>
            </a:extLst>
          </p:cNvPr>
          <p:cNvSpPr/>
          <p:nvPr/>
        </p:nvSpPr>
        <p:spPr>
          <a:xfrm>
            <a:off x="3728957" y="2003693"/>
            <a:ext cx="963473" cy="119165"/>
          </a:xfrm>
          <a:prstGeom prst="rect">
            <a:avLst/>
          </a:prstGeom>
          <a:solidFill>
            <a:srgbClr val="002060"/>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2" name="Graphic 81" descr="Horse with solid fill">
            <a:extLst>
              <a:ext uri="{FF2B5EF4-FFF2-40B4-BE49-F238E27FC236}">
                <a16:creationId xmlns:a16="http://schemas.microsoft.com/office/drawing/2014/main" id="{72235744-303A-4249-5141-56F6AB4FF20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966800" y="1786924"/>
            <a:ext cx="457200" cy="457200"/>
          </a:xfrm>
          <a:prstGeom prst="rect">
            <a:avLst/>
          </a:prstGeom>
        </p:spPr>
      </p:pic>
      <p:pic>
        <p:nvPicPr>
          <p:cNvPr id="84" name="Graphic 83" descr="Beaver with solid fill">
            <a:extLst>
              <a:ext uri="{FF2B5EF4-FFF2-40B4-BE49-F238E27FC236}">
                <a16:creationId xmlns:a16="http://schemas.microsoft.com/office/drawing/2014/main" id="{90B6FB01-9E32-BC77-A93E-1E6174A680F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907550" y="2346539"/>
            <a:ext cx="457200" cy="457200"/>
          </a:xfrm>
          <a:prstGeom prst="rect">
            <a:avLst/>
          </a:prstGeom>
        </p:spPr>
      </p:pic>
      <p:pic>
        <p:nvPicPr>
          <p:cNvPr id="86" name="Graphic 85" descr="Bear with solid fill">
            <a:extLst>
              <a:ext uri="{FF2B5EF4-FFF2-40B4-BE49-F238E27FC236}">
                <a16:creationId xmlns:a16="http://schemas.microsoft.com/office/drawing/2014/main" id="{B529CCDB-918F-D1D0-55E6-75CCE2639CCF}"/>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952882" y="2906154"/>
            <a:ext cx="457200" cy="457200"/>
          </a:xfrm>
          <a:prstGeom prst="rect">
            <a:avLst/>
          </a:prstGeom>
        </p:spPr>
      </p:pic>
      <p:pic>
        <p:nvPicPr>
          <p:cNvPr id="88" name="Graphic 87" descr="Man with solid fill">
            <a:extLst>
              <a:ext uri="{FF2B5EF4-FFF2-40B4-BE49-F238E27FC236}">
                <a16:creationId xmlns:a16="http://schemas.microsoft.com/office/drawing/2014/main" id="{3FF930F9-7F4F-E334-190A-DEE4F8C9034D}"/>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907550" y="3470034"/>
            <a:ext cx="457200" cy="457200"/>
          </a:xfrm>
          <a:prstGeom prst="rect">
            <a:avLst/>
          </a:prstGeom>
        </p:spPr>
      </p:pic>
      <p:sp>
        <p:nvSpPr>
          <p:cNvPr id="3" name="Rectangle 2">
            <a:extLst>
              <a:ext uri="{FF2B5EF4-FFF2-40B4-BE49-F238E27FC236}">
                <a16:creationId xmlns:a16="http://schemas.microsoft.com/office/drawing/2014/main" id="{DCC3CD22-A632-92B9-86CB-0FE5B12DF8D8}"/>
              </a:ext>
            </a:extLst>
          </p:cNvPr>
          <p:cNvSpPr/>
          <p:nvPr/>
        </p:nvSpPr>
        <p:spPr>
          <a:xfrm>
            <a:off x="3378966" y="2535709"/>
            <a:ext cx="223400" cy="121186"/>
          </a:xfrm>
          <a:prstGeom prst="rect">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5457624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535CF7-4CD8-200F-16F7-229934094A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4E91187-A2D3-F118-ADE7-1A76C08FD03C}"/>
              </a:ext>
            </a:extLst>
          </p:cNvPr>
          <p:cNvSpPr>
            <a:spLocks noGrp="1"/>
          </p:cNvSpPr>
          <p:nvPr>
            <p:ph type="title"/>
          </p:nvPr>
        </p:nvSpPr>
        <p:spPr/>
        <p:txBody>
          <a:bodyPr/>
          <a:lstStyle/>
          <a:p>
            <a:r>
              <a:rPr lang="en-US" sz="2400" dirty="0"/>
              <a:t>Bioinformatics methods often rely on evolutionary conservation for robust identification of signal</a:t>
            </a:r>
          </a:p>
        </p:txBody>
      </p:sp>
      <p:sp>
        <p:nvSpPr>
          <p:cNvPr id="4" name="Rectangle 3">
            <a:extLst>
              <a:ext uri="{FF2B5EF4-FFF2-40B4-BE49-F238E27FC236}">
                <a16:creationId xmlns:a16="http://schemas.microsoft.com/office/drawing/2014/main" id="{03C3F287-3E5A-96AF-E15C-700B145ADA24}"/>
              </a:ext>
            </a:extLst>
          </p:cNvPr>
          <p:cNvSpPr/>
          <p:nvPr/>
        </p:nvSpPr>
        <p:spPr>
          <a:xfrm>
            <a:off x="892367" y="3641073"/>
            <a:ext cx="6822117" cy="119165"/>
          </a:xfrm>
          <a:prstGeom prst="rect">
            <a:avLst/>
          </a:prstGeom>
          <a:solidFill>
            <a:srgbClr val="71DAFF"/>
          </a:solidFill>
          <a:ln>
            <a:solidFill>
              <a:srgbClr val="71DA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804EA258-324E-0F05-1312-57DC7AC4B0A6}"/>
              </a:ext>
            </a:extLst>
          </p:cNvPr>
          <p:cNvSpPr/>
          <p:nvPr/>
        </p:nvSpPr>
        <p:spPr>
          <a:xfrm>
            <a:off x="1816865" y="3641073"/>
            <a:ext cx="262658" cy="121186"/>
          </a:xfrm>
          <a:prstGeom prst="rect">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10386A4D-08BF-5A46-2FE7-2FA23AB4F67E}"/>
              </a:ext>
            </a:extLst>
          </p:cNvPr>
          <p:cNvSpPr/>
          <p:nvPr/>
        </p:nvSpPr>
        <p:spPr>
          <a:xfrm>
            <a:off x="3842310" y="3641073"/>
            <a:ext cx="262658" cy="121186"/>
          </a:xfrm>
          <a:prstGeom prst="rect">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3AD6E62F-A557-63BA-9932-9EDFAA19CE35}"/>
              </a:ext>
            </a:extLst>
          </p:cNvPr>
          <p:cNvSpPr/>
          <p:nvPr/>
        </p:nvSpPr>
        <p:spPr>
          <a:xfrm>
            <a:off x="5322065" y="3641073"/>
            <a:ext cx="262658" cy="121186"/>
          </a:xfrm>
          <a:prstGeom prst="rect">
            <a:avLst/>
          </a:prstGeom>
          <a:solidFill>
            <a:srgbClr val="FFFF00"/>
          </a:solid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7F71D558-375C-B021-9B7D-FB1E7242B80A}"/>
              </a:ext>
            </a:extLst>
          </p:cNvPr>
          <p:cNvSpPr/>
          <p:nvPr/>
        </p:nvSpPr>
        <p:spPr>
          <a:xfrm>
            <a:off x="5605096" y="3641073"/>
            <a:ext cx="1196723" cy="121186"/>
          </a:xfrm>
          <a:prstGeom prst="rect">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 Placeholder 2">
            <a:extLst>
              <a:ext uri="{FF2B5EF4-FFF2-40B4-BE49-F238E27FC236}">
                <a16:creationId xmlns:a16="http://schemas.microsoft.com/office/drawing/2014/main" id="{D6158795-D04F-A7A3-E19C-5981FB82238E}"/>
              </a:ext>
            </a:extLst>
          </p:cNvPr>
          <p:cNvSpPr txBox="1">
            <a:spLocks/>
          </p:cNvSpPr>
          <p:nvPr/>
        </p:nvSpPr>
        <p:spPr>
          <a:xfrm>
            <a:off x="1206143" y="3828627"/>
            <a:ext cx="1380863" cy="40457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79400" algn="l" rtl="0">
              <a:lnSpc>
                <a:spcPct val="115000"/>
              </a:lnSpc>
              <a:spcBef>
                <a:spcPts val="0"/>
              </a:spcBef>
              <a:spcAft>
                <a:spcPts val="0"/>
              </a:spcAft>
              <a:buClr>
                <a:schemeClr val="dk1"/>
              </a:buClr>
              <a:buSzPts val="800"/>
              <a:buFont typeface="Hanken Grotesk"/>
              <a:buChar char="●"/>
              <a:defRPr sz="1400" b="0" i="0" u="none" strike="noStrike" cap="none">
                <a:solidFill>
                  <a:schemeClr val="dk1"/>
                </a:solidFill>
                <a:latin typeface="Hanken Grotesk"/>
                <a:ea typeface="Hanken Grotesk"/>
                <a:cs typeface="Hanken Grotesk"/>
                <a:sym typeface="Hanken Grotesk"/>
              </a:defRPr>
            </a:lvl1pPr>
            <a:lvl2pPr marL="914400" marR="0" lvl="1"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2pPr>
            <a:lvl3pPr marL="1371600" marR="0" lvl="2"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3pPr>
            <a:lvl4pPr marL="1828800" marR="0" lvl="3"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4pPr>
            <a:lvl5pPr marL="2286000" marR="0" lvl="4"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5pPr>
            <a:lvl6pPr marL="2743200" marR="0" lvl="5"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6pPr>
            <a:lvl7pPr marL="3200400" marR="0" lvl="6"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7pPr>
            <a:lvl8pPr marL="3657600" marR="0" lvl="7"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8pPr>
            <a:lvl9pPr marL="4114800" marR="0" lvl="8"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9pPr>
          </a:lstStyle>
          <a:p>
            <a:pPr marL="177800" indent="0" algn="ctr">
              <a:buFont typeface="Hanken Grotesk"/>
              <a:buNone/>
            </a:pPr>
            <a:r>
              <a:rPr lang="en-US" dirty="0"/>
              <a:t>Enhancer</a:t>
            </a:r>
          </a:p>
        </p:txBody>
      </p:sp>
      <p:sp>
        <p:nvSpPr>
          <p:cNvPr id="10" name="Text Placeholder 2">
            <a:extLst>
              <a:ext uri="{FF2B5EF4-FFF2-40B4-BE49-F238E27FC236}">
                <a16:creationId xmlns:a16="http://schemas.microsoft.com/office/drawing/2014/main" id="{3EB21C65-2D8C-310C-02B0-20D62AB3BF2F}"/>
              </a:ext>
            </a:extLst>
          </p:cNvPr>
          <p:cNvSpPr txBox="1">
            <a:spLocks/>
          </p:cNvSpPr>
          <p:nvPr/>
        </p:nvSpPr>
        <p:spPr>
          <a:xfrm>
            <a:off x="3191137" y="3828627"/>
            <a:ext cx="1380863" cy="40457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79400" algn="l" rtl="0">
              <a:lnSpc>
                <a:spcPct val="115000"/>
              </a:lnSpc>
              <a:spcBef>
                <a:spcPts val="0"/>
              </a:spcBef>
              <a:spcAft>
                <a:spcPts val="0"/>
              </a:spcAft>
              <a:buClr>
                <a:schemeClr val="dk1"/>
              </a:buClr>
              <a:buSzPts val="800"/>
              <a:buFont typeface="Hanken Grotesk"/>
              <a:buChar char="●"/>
              <a:defRPr sz="1400" b="0" i="0" u="none" strike="noStrike" cap="none">
                <a:solidFill>
                  <a:schemeClr val="dk1"/>
                </a:solidFill>
                <a:latin typeface="Hanken Grotesk"/>
                <a:ea typeface="Hanken Grotesk"/>
                <a:cs typeface="Hanken Grotesk"/>
                <a:sym typeface="Hanken Grotesk"/>
              </a:defRPr>
            </a:lvl1pPr>
            <a:lvl2pPr marL="914400" marR="0" lvl="1"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2pPr>
            <a:lvl3pPr marL="1371600" marR="0" lvl="2"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3pPr>
            <a:lvl4pPr marL="1828800" marR="0" lvl="3"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4pPr>
            <a:lvl5pPr marL="2286000" marR="0" lvl="4"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5pPr>
            <a:lvl6pPr marL="2743200" marR="0" lvl="5"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6pPr>
            <a:lvl7pPr marL="3200400" marR="0" lvl="6"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7pPr>
            <a:lvl8pPr marL="3657600" marR="0" lvl="7"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8pPr>
            <a:lvl9pPr marL="4114800" marR="0" lvl="8"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9pPr>
          </a:lstStyle>
          <a:p>
            <a:pPr marL="177800" indent="0" algn="ctr">
              <a:buFont typeface="Hanken Grotesk"/>
              <a:buNone/>
            </a:pPr>
            <a:r>
              <a:rPr lang="en-US" dirty="0"/>
              <a:t>Enhancer</a:t>
            </a:r>
          </a:p>
        </p:txBody>
      </p:sp>
      <p:sp>
        <p:nvSpPr>
          <p:cNvPr id="11" name="Text Placeholder 2">
            <a:extLst>
              <a:ext uri="{FF2B5EF4-FFF2-40B4-BE49-F238E27FC236}">
                <a16:creationId xmlns:a16="http://schemas.microsoft.com/office/drawing/2014/main" id="{FEEA694B-5AD3-5327-4897-704030D72ACF}"/>
              </a:ext>
            </a:extLst>
          </p:cNvPr>
          <p:cNvSpPr txBox="1">
            <a:spLocks/>
          </p:cNvSpPr>
          <p:nvPr/>
        </p:nvSpPr>
        <p:spPr>
          <a:xfrm>
            <a:off x="4762962" y="3828626"/>
            <a:ext cx="1380863" cy="40457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79400" algn="l" rtl="0">
              <a:lnSpc>
                <a:spcPct val="115000"/>
              </a:lnSpc>
              <a:spcBef>
                <a:spcPts val="0"/>
              </a:spcBef>
              <a:spcAft>
                <a:spcPts val="0"/>
              </a:spcAft>
              <a:buClr>
                <a:schemeClr val="dk1"/>
              </a:buClr>
              <a:buSzPts val="800"/>
              <a:buFont typeface="Hanken Grotesk"/>
              <a:buChar char="●"/>
              <a:defRPr sz="1400" b="0" i="0" u="none" strike="noStrike" cap="none">
                <a:solidFill>
                  <a:schemeClr val="dk1"/>
                </a:solidFill>
                <a:latin typeface="Hanken Grotesk"/>
                <a:ea typeface="Hanken Grotesk"/>
                <a:cs typeface="Hanken Grotesk"/>
                <a:sym typeface="Hanken Grotesk"/>
              </a:defRPr>
            </a:lvl1pPr>
            <a:lvl2pPr marL="914400" marR="0" lvl="1"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2pPr>
            <a:lvl3pPr marL="1371600" marR="0" lvl="2"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3pPr>
            <a:lvl4pPr marL="1828800" marR="0" lvl="3"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4pPr>
            <a:lvl5pPr marL="2286000" marR="0" lvl="4"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5pPr>
            <a:lvl6pPr marL="2743200" marR="0" lvl="5"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6pPr>
            <a:lvl7pPr marL="3200400" marR="0" lvl="6"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7pPr>
            <a:lvl8pPr marL="3657600" marR="0" lvl="7"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8pPr>
            <a:lvl9pPr marL="4114800" marR="0" lvl="8"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9pPr>
          </a:lstStyle>
          <a:p>
            <a:pPr marL="177800" indent="0" algn="ctr">
              <a:buFont typeface="Hanken Grotesk"/>
              <a:buNone/>
            </a:pPr>
            <a:r>
              <a:rPr lang="en-US" dirty="0"/>
              <a:t>Promoter</a:t>
            </a:r>
          </a:p>
        </p:txBody>
      </p:sp>
      <p:sp>
        <p:nvSpPr>
          <p:cNvPr id="12" name="Text Placeholder 2">
            <a:extLst>
              <a:ext uri="{FF2B5EF4-FFF2-40B4-BE49-F238E27FC236}">
                <a16:creationId xmlns:a16="http://schemas.microsoft.com/office/drawing/2014/main" id="{D0EA1A9E-04F3-EE3D-98E3-7AC18D0630DA}"/>
              </a:ext>
            </a:extLst>
          </p:cNvPr>
          <p:cNvSpPr txBox="1">
            <a:spLocks/>
          </p:cNvSpPr>
          <p:nvPr/>
        </p:nvSpPr>
        <p:spPr>
          <a:xfrm>
            <a:off x="5513025" y="3828626"/>
            <a:ext cx="1380863" cy="40457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79400" algn="l" rtl="0">
              <a:lnSpc>
                <a:spcPct val="115000"/>
              </a:lnSpc>
              <a:spcBef>
                <a:spcPts val="0"/>
              </a:spcBef>
              <a:spcAft>
                <a:spcPts val="0"/>
              </a:spcAft>
              <a:buClr>
                <a:schemeClr val="dk1"/>
              </a:buClr>
              <a:buSzPts val="800"/>
              <a:buFont typeface="Hanken Grotesk"/>
              <a:buChar char="●"/>
              <a:defRPr sz="1400" b="0" i="0" u="none" strike="noStrike" cap="none">
                <a:solidFill>
                  <a:schemeClr val="dk1"/>
                </a:solidFill>
                <a:latin typeface="Hanken Grotesk"/>
                <a:ea typeface="Hanken Grotesk"/>
                <a:cs typeface="Hanken Grotesk"/>
                <a:sym typeface="Hanken Grotesk"/>
              </a:defRPr>
            </a:lvl1pPr>
            <a:lvl2pPr marL="914400" marR="0" lvl="1"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2pPr>
            <a:lvl3pPr marL="1371600" marR="0" lvl="2"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3pPr>
            <a:lvl4pPr marL="1828800" marR="0" lvl="3"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4pPr>
            <a:lvl5pPr marL="2286000" marR="0" lvl="4"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5pPr>
            <a:lvl6pPr marL="2743200" marR="0" lvl="5"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6pPr>
            <a:lvl7pPr marL="3200400" marR="0" lvl="6"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7pPr>
            <a:lvl8pPr marL="3657600" marR="0" lvl="7"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8pPr>
            <a:lvl9pPr marL="4114800" marR="0" lvl="8"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9pPr>
          </a:lstStyle>
          <a:p>
            <a:pPr marL="177800" indent="0" algn="ctr">
              <a:buFont typeface="Hanken Grotesk"/>
              <a:buNone/>
            </a:pPr>
            <a:r>
              <a:rPr lang="en-US" dirty="0"/>
              <a:t>Gene</a:t>
            </a:r>
          </a:p>
        </p:txBody>
      </p:sp>
      <p:sp>
        <p:nvSpPr>
          <p:cNvPr id="13" name="Rectangle 12">
            <a:extLst>
              <a:ext uri="{FF2B5EF4-FFF2-40B4-BE49-F238E27FC236}">
                <a16:creationId xmlns:a16="http://schemas.microsoft.com/office/drawing/2014/main" id="{409FBA69-CEAB-F578-EC4B-A56739838E1D}"/>
              </a:ext>
            </a:extLst>
          </p:cNvPr>
          <p:cNvSpPr/>
          <p:nvPr/>
        </p:nvSpPr>
        <p:spPr>
          <a:xfrm>
            <a:off x="1045771" y="3641073"/>
            <a:ext cx="577290" cy="121186"/>
          </a:xfrm>
          <a:prstGeom prst="rect">
            <a:avLst/>
          </a:prstGeom>
          <a:solidFill>
            <a:srgbClr val="002060"/>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9644B344-F2BB-DDE4-9457-13BD66870105}"/>
              </a:ext>
            </a:extLst>
          </p:cNvPr>
          <p:cNvSpPr/>
          <p:nvPr/>
        </p:nvSpPr>
        <p:spPr>
          <a:xfrm>
            <a:off x="7038490" y="3639052"/>
            <a:ext cx="262658" cy="121186"/>
          </a:xfrm>
          <a:prstGeom prst="rect">
            <a:avLst/>
          </a:prstGeom>
          <a:solidFill>
            <a:srgbClr val="002060"/>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BD14299B-308D-4C68-B8F4-7EA70308F888}"/>
              </a:ext>
            </a:extLst>
          </p:cNvPr>
          <p:cNvSpPr/>
          <p:nvPr/>
        </p:nvSpPr>
        <p:spPr>
          <a:xfrm>
            <a:off x="7395397" y="3639052"/>
            <a:ext cx="319088" cy="119165"/>
          </a:xfrm>
          <a:prstGeom prst="rect">
            <a:avLst/>
          </a:prstGeom>
          <a:solidFill>
            <a:srgbClr val="002060"/>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9845E756-2634-2544-B26B-8A052A6C10EA}"/>
              </a:ext>
            </a:extLst>
          </p:cNvPr>
          <p:cNvSpPr/>
          <p:nvPr/>
        </p:nvSpPr>
        <p:spPr>
          <a:xfrm>
            <a:off x="2273327" y="3639052"/>
            <a:ext cx="194511" cy="121186"/>
          </a:xfrm>
          <a:prstGeom prst="rect">
            <a:avLst/>
          </a:prstGeom>
          <a:solidFill>
            <a:srgbClr val="002060"/>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2F08EB2F-7975-24CD-90C6-F8BD7BA7179D}"/>
              </a:ext>
            </a:extLst>
          </p:cNvPr>
          <p:cNvSpPr/>
          <p:nvPr/>
        </p:nvSpPr>
        <p:spPr>
          <a:xfrm>
            <a:off x="2559172" y="3639052"/>
            <a:ext cx="422382" cy="121186"/>
          </a:xfrm>
          <a:prstGeom prst="rect">
            <a:avLst/>
          </a:prstGeom>
          <a:solidFill>
            <a:srgbClr val="002060"/>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A76C050C-94D8-8C4F-EDEA-750170C19725}"/>
              </a:ext>
            </a:extLst>
          </p:cNvPr>
          <p:cNvSpPr/>
          <p:nvPr/>
        </p:nvSpPr>
        <p:spPr>
          <a:xfrm>
            <a:off x="3141297" y="3639052"/>
            <a:ext cx="262658" cy="121186"/>
          </a:xfrm>
          <a:prstGeom prst="rect">
            <a:avLst/>
          </a:prstGeom>
          <a:solidFill>
            <a:srgbClr val="002060"/>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93F2690E-BB55-81CB-3ACE-6F7959D32837}"/>
              </a:ext>
            </a:extLst>
          </p:cNvPr>
          <p:cNvSpPr/>
          <p:nvPr/>
        </p:nvSpPr>
        <p:spPr>
          <a:xfrm>
            <a:off x="4789431" y="3639052"/>
            <a:ext cx="262658" cy="121186"/>
          </a:xfrm>
          <a:prstGeom prst="rect">
            <a:avLst/>
          </a:prstGeom>
          <a:solidFill>
            <a:srgbClr val="002060"/>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8988C096-A1E4-268E-A134-84530A3144F4}"/>
              </a:ext>
            </a:extLst>
          </p:cNvPr>
          <p:cNvSpPr/>
          <p:nvPr/>
        </p:nvSpPr>
        <p:spPr>
          <a:xfrm>
            <a:off x="892367" y="3077193"/>
            <a:ext cx="6822117" cy="119165"/>
          </a:xfrm>
          <a:prstGeom prst="rect">
            <a:avLst/>
          </a:prstGeom>
          <a:solidFill>
            <a:srgbClr val="71DAFF"/>
          </a:solidFill>
          <a:ln>
            <a:solidFill>
              <a:srgbClr val="71DA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07CCB4D2-C68B-F5D4-138F-C0E21A9EC5B8}"/>
              </a:ext>
            </a:extLst>
          </p:cNvPr>
          <p:cNvSpPr/>
          <p:nvPr/>
        </p:nvSpPr>
        <p:spPr>
          <a:xfrm>
            <a:off x="1451518" y="3075172"/>
            <a:ext cx="262658" cy="121186"/>
          </a:xfrm>
          <a:prstGeom prst="rect">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FF116C01-ADA6-A56B-A36A-2DE753D1394B}"/>
              </a:ext>
            </a:extLst>
          </p:cNvPr>
          <p:cNvSpPr/>
          <p:nvPr/>
        </p:nvSpPr>
        <p:spPr>
          <a:xfrm>
            <a:off x="4563757" y="3075172"/>
            <a:ext cx="262658" cy="121186"/>
          </a:xfrm>
          <a:prstGeom prst="rect">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DC6F3538-24EC-0E17-EC2A-96AD0B34046C}"/>
              </a:ext>
            </a:extLst>
          </p:cNvPr>
          <p:cNvSpPr/>
          <p:nvPr/>
        </p:nvSpPr>
        <p:spPr>
          <a:xfrm>
            <a:off x="5683723" y="3075172"/>
            <a:ext cx="262658" cy="121186"/>
          </a:xfrm>
          <a:prstGeom prst="rect">
            <a:avLst/>
          </a:prstGeom>
          <a:solidFill>
            <a:srgbClr val="FFFF00"/>
          </a:solid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838A4424-E055-85E5-962C-51D685400251}"/>
              </a:ext>
            </a:extLst>
          </p:cNvPr>
          <p:cNvSpPr/>
          <p:nvPr/>
        </p:nvSpPr>
        <p:spPr>
          <a:xfrm>
            <a:off x="5973096" y="3075172"/>
            <a:ext cx="1196723" cy="121186"/>
          </a:xfrm>
          <a:prstGeom prst="rect">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B0D2C664-58FB-64C9-16FB-DB2BCFF0A2E3}"/>
              </a:ext>
            </a:extLst>
          </p:cNvPr>
          <p:cNvSpPr/>
          <p:nvPr/>
        </p:nvSpPr>
        <p:spPr>
          <a:xfrm>
            <a:off x="1086170" y="3077193"/>
            <a:ext cx="224494" cy="119165"/>
          </a:xfrm>
          <a:prstGeom prst="rect">
            <a:avLst/>
          </a:prstGeom>
          <a:solidFill>
            <a:srgbClr val="002060"/>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9488B51C-E06A-023D-C050-678402D58BC5}"/>
              </a:ext>
            </a:extLst>
          </p:cNvPr>
          <p:cNvSpPr/>
          <p:nvPr/>
        </p:nvSpPr>
        <p:spPr>
          <a:xfrm>
            <a:off x="7327135" y="3075172"/>
            <a:ext cx="387349" cy="119165"/>
          </a:xfrm>
          <a:prstGeom prst="rect">
            <a:avLst/>
          </a:prstGeom>
          <a:solidFill>
            <a:srgbClr val="002060"/>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DC8D3E50-9850-D73B-5E91-96CD33F7D665}"/>
              </a:ext>
            </a:extLst>
          </p:cNvPr>
          <p:cNvSpPr/>
          <p:nvPr/>
        </p:nvSpPr>
        <p:spPr>
          <a:xfrm>
            <a:off x="2273327" y="3075172"/>
            <a:ext cx="650006" cy="121186"/>
          </a:xfrm>
          <a:prstGeom prst="rect">
            <a:avLst/>
          </a:prstGeom>
          <a:solidFill>
            <a:srgbClr val="002060"/>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3FCEF74B-338D-C747-8D7D-318FCCCB280D}"/>
              </a:ext>
            </a:extLst>
          </p:cNvPr>
          <p:cNvSpPr/>
          <p:nvPr/>
        </p:nvSpPr>
        <p:spPr>
          <a:xfrm>
            <a:off x="3141297" y="3075172"/>
            <a:ext cx="262658" cy="121186"/>
          </a:xfrm>
          <a:prstGeom prst="rect">
            <a:avLst/>
          </a:prstGeom>
          <a:solidFill>
            <a:srgbClr val="002060"/>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C4CB5A8B-A8BF-3BC1-0D34-8A8C2D23CC16}"/>
              </a:ext>
            </a:extLst>
          </p:cNvPr>
          <p:cNvSpPr/>
          <p:nvPr/>
        </p:nvSpPr>
        <p:spPr>
          <a:xfrm>
            <a:off x="3621919" y="3075172"/>
            <a:ext cx="703440" cy="121186"/>
          </a:xfrm>
          <a:prstGeom prst="rect">
            <a:avLst/>
          </a:prstGeom>
          <a:solidFill>
            <a:srgbClr val="002060"/>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BAAD7B41-5388-2BC2-883C-F436BB2B2913}"/>
              </a:ext>
            </a:extLst>
          </p:cNvPr>
          <p:cNvSpPr/>
          <p:nvPr/>
        </p:nvSpPr>
        <p:spPr>
          <a:xfrm>
            <a:off x="5064813" y="3075172"/>
            <a:ext cx="200612" cy="121186"/>
          </a:xfrm>
          <a:prstGeom prst="rect">
            <a:avLst/>
          </a:prstGeom>
          <a:solidFill>
            <a:srgbClr val="002060"/>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A989F0AC-DD8C-A7F3-2B50-EC4DB4CEC5FC}"/>
              </a:ext>
            </a:extLst>
          </p:cNvPr>
          <p:cNvSpPr/>
          <p:nvPr/>
        </p:nvSpPr>
        <p:spPr>
          <a:xfrm>
            <a:off x="892368" y="2537730"/>
            <a:ext cx="6822116" cy="119165"/>
          </a:xfrm>
          <a:prstGeom prst="rect">
            <a:avLst/>
          </a:prstGeom>
          <a:solidFill>
            <a:srgbClr val="71DAFF"/>
          </a:solidFill>
          <a:ln>
            <a:solidFill>
              <a:srgbClr val="71DA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5E00CB8A-8457-C2BF-4E1E-F50699DCBE44}"/>
              </a:ext>
            </a:extLst>
          </p:cNvPr>
          <p:cNvSpPr/>
          <p:nvPr/>
        </p:nvSpPr>
        <p:spPr>
          <a:xfrm>
            <a:off x="2474623" y="2535709"/>
            <a:ext cx="262658" cy="121186"/>
          </a:xfrm>
          <a:prstGeom prst="rect">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B518B7B9-151C-D962-11F6-5AC9494D718F}"/>
              </a:ext>
            </a:extLst>
          </p:cNvPr>
          <p:cNvSpPr/>
          <p:nvPr/>
        </p:nvSpPr>
        <p:spPr>
          <a:xfrm>
            <a:off x="3813916" y="2535709"/>
            <a:ext cx="262658" cy="121186"/>
          </a:xfrm>
          <a:prstGeom prst="rect">
            <a:avLst/>
          </a:prstGeom>
          <a:solidFill>
            <a:srgbClr val="FFFF00"/>
          </a:solid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275B3E32-8E07-0455-E0C5-857BEF67883B}"/>
              </a:ext>
            </a:extLst>
          </p:cNvPr>
          <p:cNvSpPr/>
          <p:nvPr/>
        </p:nvSpPr>
        <p:spPr>
          <a:xfrm>
            <a:off x="4076575" y="2535709"/>
            <a:ext cx="823086" cy="121186"/>
          </a:xfrm>
          <a:prstGeom prst="rect">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126721F8-C6FF-FF81-4C2E-3347070BF6F1}"/>
              </a:ext>
            </a:extLst>
          </p:cNvPr>
          <p:cNvSpPr/>
          <p:nvPr/>
        </p:nvSpPr>
        <p:spPr>
          <a:xfrm>
            <a:off x="1086170" y="2537730"/>
            <a:ext cx="224494" cy="119165"/>
          </a:xfrm>
          <a:prstGeom prst="rect">
            <a:avLst/>
          </a:prstGeom>
          <a:solidFill>
            <a:srgbClr val="002060"/>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2A9935BA-0504-51C2-306E-FF320C3A9B5B}"/>
              </a:ext>
            </a:extLst>
          </p:cNvPr>
          <p:cNvSpPr/>
          <p:nvPr/>
        </p:nvSpPr>
        <p:spPr>
          <a:xfrm>
            <a:off x="5946382" y="2535709"/>
            <a:ext cx="1768102" cy="121186"/>
          </a:xfrm>
          <a:prstGeom prst="rect">
            <a:avLst/>
          </a:prstGeom>
          <a:solidFill>
            <a:srgbClr val="002060"/>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a:extLst>
              <a:ext uri="{FF2B5EF4-FFF2-40B4-BE49-F238E27FC236}">
                <a16:creationId xmlns:a16="http://schemas.microsoft.com/office/drawing/2014/main" id="{35A23D23-22F2-EDCB-7409-46819F8C71A4}"/>
              </a:ext>
            </a:extLst>
          </p:cNvPr>
          <p:cNvSpPr/>
          <p:nvPr/>
        </p:nvSpPr>
        <p:spPr>
          <a:xfrm>
            <a:off x="1429517" y="2535709"/>
            <a:ext cx="650006" cy="121186"/>
          </a:xfrm>
          <a:prstGeom prst="rect">
            <a:avLst/>
          </a:prstGeom>
          <a:solidFill>
            <a:srgbClr val="002060"/>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Rectangle 56">
            <a:extLst>
              <a:ext uri="{FF2B5EF4-FFF2-40B4-BE49-F238E27FC236}">
                <a16:creationId xmlns:a16="http://schemas.microsoft.com/office/drawing/2014/main" id="{9D60A783-A128-A574-3861-0DEFF3DFF867}"/>
              </a:ext>
            </a:extLst>
          </p:cNvPr>
          <p:cNvSpPr/>
          <p:nvPr/>
        </p:nvSpPr>
        <p:spPr>
          <a:xfrm>
            <a:off x="3378966" y="2535709"/>
            <a:ext cx="223400" cy="121186"/>
          </a:xfrm>
          <a:prstGeom prst="rect">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Rectangle 68">
            <a:extLst>
              <a:ext uri="{FF2B5EF4-FFF2-40B4-BE49-F238E27FC236}">
                <a16:creationId xmlns:a16="http://schemas.microsoft.com/office/drawing/2014/main" id="{8625FA1E-81C9-312C-6B51-7E0148A0B616}"/>
              </a:ext>
            </a:extLst>
          </p:cNvPr>
          <p:cNvSpPr/>
          <p:nvPr/>
        </p:nvSpPr>
        <p:spPr>
          <a:xfrm>
            <a:off x="892367" y="2005714"/>
            <a:ext cx="6822117" cy="119165"/>
          </a:xfrm>
          <a:prstGeom prst="rect">
            <a:avLst/>
          </a:prstGeom>
          <a:solidFill>
            <a:srgbClr val="71DAFF"/>
          </a:solidFill>
          <a:ln>
            <a:solidFill>
              <a:srgbClr val="71DA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Rectangle 69">
            <a:extLst>
              <a:ext uri="{FF2B5EF4-FFF2-40B4-BE49-F238E27FC236}">
                <a16:creationId xmlns:a16="http://schemas.microsoft.com/office/drawing/2014/main" id="{BA31E488-4A8A-785D-08AA-A8F159A5CB50}"/>
              </a:ext>
            </a:extLst>
          </p:cNvPr>
          <p:cNvSpPr/>
          <p:nvPr/>
        </p:nvSpPr>
        <p:spPr>
          <a:xfrm>
            <a:off x="3215603" y="2003693"/>
            <a:ext cx="262658" cy="121186"/>
          </a:xfrm>
          <a:prstGeom prst="rect">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Rectangle 70">
            <a:extLst>
              <a:ext uri="{FF2B5EF4-FFF2-40B4-BE49-F238E27FC236}">
                <a16:creationId xmlns:a16="http://schemas.microsoft.com/office/drawing/2014/main" id="{8931FFF2-4A36-F0C9-D9B1-FA65BDDB6755}"/>
              </a:ext>
            </a:extLst>
          </p:cNvPr>
          <p:cNvSpPr/>
          <p:nvPr/>
        </p:nvSpPr>
        <p:spPr>
          <a:xfrm>
            <a:off x="4751341" y="2005714"/>
            <a:ext cx="262658" cy="121186"/>
          </a:xfrm>
          <a:prstGeom prst="rect">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Rectangle 71">
            <a:extLst>
              <a:ext uri="{FF2B5EF4-FFF2-40B4-BE49-F238E27FC236}">
                <a16:creationId xmlns:a16="http://schemas.microsoft.com/office/drawing/2014/main" id="{69390585-D285-A73E-8D48-514477084413}"/>
              </a:ext>
            </a:extLst>
          </p:cNvPr>
          <p:cNvSpPr/>
          <p:nvPr/>
        </p:nvSpPr>
        <p:spPr>
          <a:xfrm>
            <a:off x="5322065" y="2005714"/>
            <a:ext cx="262658" cy="121186"/>
          </a:xfrm>
          <a:prstGeom prst="rect">
            <a:avLst/>
          </a:prstGeom>
          <a:solidFill>
            <a:srgbClr val="FFFF00"/>
          </a:solid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Rectangle 72">
            <a:extLst>
              <a:ext uri="{FF2B5EF4-FFF2-40B4-BE49-F238E27FC236}">
                <a16:creationId xmlns:a16="http://schemas.microsoft.com/office/drawing/2014/main" id="{7EB4B196-4C56-A1EA-336A-CF72D76EF7B1}"/>
              </a:ext>
            </a:extLst>
          </p:cNvPr>
          <p:cNvSpPr/>
          <p:nvPr/>
        </p:nvSpPr>
        <p:spPr>
          <a:xfrm>
            <a:off x="5605096" y="2005714"/>
            <a:ext cx="1196723" cy="121186"/>
          </a:xfrm>
          <a:prstGeom prst="rect">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Rectangle 73">
            <a:extLst>
              <a:ext uri="{FF2B5EF4-FFF2-40B4-BE49-F238E27FC236}">
                <a16:creationId xmlns:a16="http://schemas.microsoft.com/office/drawing/2014/main" id="{04711F4A-FD11-0769-6BDA-92A0792AB05A}"/>
              </a:ext>
            </a:extLst>
          </p:cNvPr>
          <p:cNvSpPr/>
          <p:nvPr/>
        </p:nvSpPr>
        <p:spPr>
          <a:xfrm>
            <a:off x="2339482" y="2005714"/>
            <a:ext cx="577290" cy="121186"/>
          </a:xfrm>
          <a:prstGeom prst="rect">
            <a:avLst/>
          </a:prstGeom>
          <a:solidFill>
            <a:srgbClr val="002060"/>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Rectangle 76">
            <a:extLst>
              <a:ext uri="{FF2B5EF4-FFF2-40B4-BE49-F238E27FC236}">
                <a16:creationId xmlns:a16="http://schemas.microsoft.com/office/drawing/2014/main" id="{C8BBF57F-296F-E1A3-108B-8FC79BA1403B}"/>
              </a:ext>
            </a:extLst>
          </p:cNvPr>
          <p:cNvSpPr/>
          <p:nvPr/>
        </p:nvSpPr>
        <p:spPr>
          <a:xfrm>
            <a:off x="1845267" y="2005714"/>
            <a:ext cx="194511" cy="121186"/>
          </a:xfrm>
          <a:prstGeom prst="rect">
            <a:avLst/>
          </a:prstGeom>
          <a:solidFill>
            <a:srgbClr val="002060"/>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0" name="Rectangle 79">
            <a:extLst>
              <a:ext uri="{FF2B5EF4-FFF2-40B4-BE49-F238E27FC236}">
                <a16:creationId xmlns:a16="http://schemas.microsoft.com/office/drawing/2014/main" id="{651B4587-696D-3F47-4971-3DA90A672026}"/>
              </a:ext>
            </a:extLst>
          </p:cNvPr>
          <p:cNvSpPr/>
          <p:nvPr/>
        </p:nvSpPr>
        <p:spPr>
          <a:xfrm>
            <a:off x="3728957" y="2003693"/>
            <a:ext cx="963473" cy="119165"/>
          </a:xfrm>
          <a:prstGeom prst="rect">
            <a:avLst/>
          </a:prstGeom>
          <a:solidFill>
            <a:srgbClr val="002060"/>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2" name="Graphic 81" descr="Horse with solid fill">
            <a:extLst>
              <a:ext uri="{FF2B5EF4-FFF2-40B4-BE49-F238E27FC236}">
                <a16:creationId xmlns:a16="http://schemas.microsoft.com/office/drawing/2014/main" id="{B740B4F4-84D9-6768-8345-92763187D37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966800" y="1786924"/>
            <a:ext cx="457200" cy="457200"/>
          </a:xfrm>
          <a:prstGeom prst="rect">
            <a:avLst/>
          </a:prstGeom>
        </p:spPr>
      </p:pic>
      <p:pic>
        <p:nvPicPr>
          <p:cNvPr id="84" name="Graphic 83" descr="Beaver with solid fill">
            <a:extLst>
              <a:ext uri="{FF2B5EF4-FFF2-40B4-BE49-F238E27FC236}">
                <a16:creationId xmlns:a16="http://schemas.microsoft.com/office/drawing/2014/main" id="{E4E33181-8EFA-A01D-9579-81BE7FD1F83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907550" y="2346539"/>
            <a:ext cx="457200" cy="457200"/>
          </a:xfrm>
          <a:prstGeom prst="rect">
            <a:avLst/>
          </a:prstGeom>
        </p:spPr>
      </p:pic>
      <p:pic>
        <p:nvPicPr>
          <p:cNvPr id="86" name="Graphic 85" descr="Bear with solid fill">
            <a:extLst>
              <a:ext uri="{FF2B5EF4-FFF2-40B4-BE49-F238E27FC236}">
                <a16:creationId xmlns:a16="http://schemas.microsoft.com/office/drawing/2014/main" id="{AA541F35-7642-9F4F-B3BC-C480AC99BFD6}"/>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952882" y="2906154"/>
            <a:ext cx="457200" cy="457200"/>
          </a:xfrm>
          <a:prstGeom prst="rect">
            <a:avLst/>
          </a:prstGeom>
        </p:spPr>
      </p:pic>
      <p:pic>
        <p:nvPicPr>
          <p:cNvPr id="88" name="Graphic 87" descr="Man with solid fill">
            <a:extLst>
              <a:ext uri="{FF2B5EF4-FFF2-40B4-BE49-F238E27FC236}">
                <a16:creationId xmlns:a16="http://schemas.microsoft.com/office/drawing/2014/main" id="{2FE74A74-4B09-1B0E-6FF8-91D06FD309E2}"/>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907550" y="3470034"/>
            <a:ext cx="457200" cy="457200"/>
          </a:xfrm>
          <a:prstGeom prst="rect">
            <a:avLst/>
          </a:prstGeom>
        </p:spPr>
      </p:pic>
      <p:cxnSp>
        <p:nvCxnSpPr>
          <p:cNvPr id="90" name="Straight Connector 89">
            <a:extLst>
              <a:ext uri="{FF2B5EF4-FFF2-40B4-BE49-F238E27FC236}">
                <a16:creationId xmlns:a16="http://schemas.microsoft.com/office/drawing/2014/main" id="{DE4F18E7-6F86-381C-40BA-08457F60BB3F}"/>
              </a:ext>
            </a:extLst>
          </p:cNvPr>
          <p:cNvCxnSpPr>
            <a:cxnSpLocks/>
            <a:stCxn id="70" idx="1"/>
            <a:endCxn id="36" idx="1"/>
          </p:cNvCxnSpPr>
          <p:nvPr/>
        </p:nvCxnSpPr>
        <p:spPr>
          <a:xfrm flipH="1">
            <a:off x="2474623" y="2064286"/>
            <a:ext cx="740980" cy="532016"/>
          </a:xfrm>
          <a:prstGeom prst="line">
            <a:avLst/>
          </a:prstGeom>
          <a:ln w="28575">
            <a:solidFill>
              <a:schemeClr val="bg1">
                <a:lumMod val="10000"/>
                <a:alpha val="7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C88FFF1F-845E-8851-41A9-3D754B73A4CE}"/>
              </a:ext>
            </a:extLst>
          </p:cNvPr>
          <p:cNvCxnSpPr>
            <a:cxnSpLocks/>
            <a:endCxn id="36" idx="3"/>
          </p:cNvCxnSpPr>
          <p:nvPr/>
        </p:nvCxnSpPr>
        <p:spPr>
          <a:xfrm flipH="1">
            <a:off x="2737281" y="2078911"/>
            <a:ext cx="753342" cy="517391"/>
          </a:xfrm>
          <a:prstGeom prst="line">
            <a:avLst/>
          </a:prstGeom>
          <a:ln w="28575">
            <a:solidFill>
              <a:schemeClr val="bg1">
                <a:lumMod val="10000"/>
                <a:alpha val="7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C4BA81CF-32E9-C9F5-F35E-7BA8837A2B52}"/>
              </a:ext>
            </a:extLst>
          </p:cNvPr>
          <p:cNvCxnSpPr>
            <a:cxnSpLocks/>
            <a:stCxn id="36" idx="1"/>
            <a:endCxn id="21" idx="1"/>
          </p:cNvCxnSpPr>
          <p:nvPr/>
        </p:nvCxnSpPr>
        <p:spPr>
          <a:xfrm flipH="1">
            <a:off x="1451518" y="2596302"/>
            <a:ext cx="1023105" cy="539463"/>
          </a:xfrm>
          <a:prstGeom prst="line">
            <a:avLst/>
          </a:prstGeom>
          <a:ln w="28575">
            <a:solidFill>
              <a:schemeClr val="bg1">
                <a:lumMod val="10000"/>
                <a:alpha val="7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96" name="Straight Connector 95">
            <a:extLst>
              <a:ext uri="{FF2B5EF4-FFF2-40B4-BE49-F238E27FC236}">
                <a16:creationId xmlns:a16="http://schemas.microsoft.com/office/drawing/2014/main" id="{85E15461-796C-E459-70CE-4BB5C1059DAD}"/>
              </a:ext>
            </a:extLst>
          </p:cNvPr>
          <p:cNvCxnSpPr>
            <a:cxnSpLocks/>
            <a:stCxn id="36" idx="3"/>
            <a:endCxn id="21" idx="3"/>
          </p:cNvCxnSpPr>
          <p:nvPr/>
        </p:nvCxnSpPr>
        <p:spPr>
          <a:xfrm flipH="1">
            <a:off x="1714176" y="2596302"/>
            <a:ext cx="1023105" cy="539463"/>
          </a:xfrm>
          <a:prstGeom prst="line">
            <a:avLst/>
          </a:prstGeom>
          <a:ln w="28575">
            <a:solidFill>
              <a:schemeClr val="bg1">
                <a:lumMod val="10000"/>
                <a:alpha val="7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100" name="Straight Connector 99">
            <a:extLst>
              <a:ext uri="{FF2B5EF4-FFF2-40B4-BE49-F238E27FC236}">
                <a16:creationId xmlns:a16="http://schemas.microsoft.com/office/drawing/2014/main" id="{208DAAE8-B2C1-0E5A-E8BC-F5831C232453}"/>
              </a:ext>
            </a:extLst>
          </p:cNvPr>
          <p:cNvCxnSpPr>
            <a:cxnSpLocks/>
            <a:stCxn id="21" idx="1"/>
            <a:endCxn id="5" idx="1"/>
          </p:cNvCxnSpPr>
          <p:nvPr/>
        </p:nvCxnSpPr>
        <p:spPr>
          <a:xfrm>
            <a:off x="1451518" y="3135765"/>
            <a:ext cx="365347" cy="565901"/>
          </a:xfrm>
          <a:prstGeom prst="line">
            <a:avLst/>
          </a:prstGeom>
          <a:ln w="28575">
            <a:solidFill>
              <a:schemeClr val="bg1">
                <a:lumMod val="10000"/>
                <a:alpha val="7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104" name="Straight Connector 103">
            <a:extLst>
              <a:ext uri="{FF2B5EF4-FFF2-40B4-BE49-F238E27FC236}">
                <a16:creationId xmlns:a16="http://schemas.microsoft.com/office/drawing/2014/main" id="{CB4DBD1A-F28D-39B2-49D4-445BF1705094}"/>
              </a:ext>
            </a:extLst>
          </p:cNvPr>
          <p:cNvCxnSpPr>
            <a:cxnSpLocks/>
            <a:endCxn id="5" idx="3"/>
          </p:cNvCxnSpPr>
          <p:nvPr/>
        </p:nvCxnSpPr>
        <p:spPr>
          <a:xfrm>
            <a:off x="1716970" y="3135764"/>
            <a:ext cx="362553" cy="565902"/>
          </a:xfrm>
          <a:prstGeom prst="line">
            <a:avLst/>
          </a:prstGeom>
          <a:ln w="28575">
            <a:solidFill>
              <a:schemeClr val="bg1">
                <a:lumMod val="10000"/>
                <a:alpha val="7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106" name="Straight Connector 105">
            <a:extLst>
              <a:ext uri="{FF2B5EF4-FFF2-40B4-BE49-F238E27FC236}">
                <a16:creationId xmlns:a16="http://schemas.microsoft.com/office/drawing/2014/main" id="{34AD633A-3ED7-9F28-7972-C644F6C91BD5}"/>
              </a:ext>
            </a:extLst>
          </p:cNvPr>
          <p:cNvCxnSpPr>
            <a:cxnSpLocks/>
            <a:stCxn id="72" idx="1"/>
            <a:endCxn id="38" idx="1"/>
          </p:cNvCxnSpPr>
          <p:nvPr/>
        </p:nvCxnSpPr>
        <p:spPr>
          <a:xfrm flipH="1">
            <a:off x="3813916" y="2066307"/>
            <a:ext cx="1508149" cy="529995"/>
          </a:xfrm>
          <a:prstGeom prst="line">
            <a:avLst/>
          </a:prstGeom>
          <a:ln w="28575">
            <a:solidFill>
              <a:schemeClr val="bg1">
                <a:lumMod val="10000"/>
                <a:alpha val="7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109" name="Straight Connector 108">
            <a:extLst>
              <a:ext uri="{FF2B5EF4-FFF2-40B4-BE49-F238E27FC236}">
                <a16:creationId xmlns:a16="http://schemas.microsoft.com/office/drawing/2014/main" id="{E1ACA685-3BC7-33FE-F2F5-CF2FB32C4989}"/>
              </a:ext>
            </a:extLst>
          </p:cNvPr>
          <p:cNvCxnSpPr>
            <a:cxnSpLocks/>
            <a:stCxn id="72" idx="3"/>
            <a:endCxn id="39" idx="1"/>
          </p:cNvCxnSpPr>
          <p:nvPr/>
        </p:nvCxnSpPr>
        <p:spPr>
          <a:xfrm flipH="1">
            <a:off x="4076575" y="2066307"/>
            <a:ext cx="1508148" cy="529995"/>
          </a:xfrm>
          <a:prstGeom prst="line">
            <a:avLst/>
          </a:prstGeom>
          <a:ln w="28575">
            <a:solidFill>
              <a:schemeClr val="bg1">
                <a:lumMod val="10000"/>
                <a:alpha val="7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112" name="Straight Connector 111">
            <a:extLst>
              <a:ext uri="{FF2B5EF4-FFF2-40B4-BE49-F238E27FC236}">
                <a16:creationId xmlns:a16="http://schemas.microsoft.com/office/drawing/2014/main" id="{F439D5EC-17EE-8032-672C-E9E5F09B1EF9}"/>
              </a:ext>
            </a:extLst>
          </p:cNvPr>
          <p:cNvCxnSpPr>
            <a:cxnSpLocks/>
            <a:stCxn id="73" idx="3"/>
            <a:endCxn id="39" idx="3"/>
          </p:cNvCxnSpPr>
          <p:nvPr/>
        </p:nvCxnSpPr>
        <p:spPr>
          <a:xfrm flipH="1">
            <a:off x="4899661" y="2066307"/>
            <a:ext cx="1902158" cy="529995"/>
          </a:xfrm>
          <a:prstGeom prst="line">
            <a:avLst/>
          </a:prstGeom>
          <a:ln w="28575">
            <a:solidFill>
              <a:schemeClr val="bg1">
                <a:lumMod val="10000"/>
                <a:alpha val="7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115" name="Straight Connector 114">
            <a:extLst>
              <a:ext uri="{FF2B5EF4-FFF2-40B4-BE49-F238E27FC236}">
                <a16:creationId xmlns:a16="http://schemas.microsoft.com/office/drawing/2014/main" id="{ED90D2DB-2500-1149-A06F-87C80169A89E}"/>
              </a:ext>
            </a:extLst>
          </p:cNvPr>
          <p:cNvCxnSpPr>
            <a:cxnSpLocks/>
            <a:stCxn id="38" idx="1"/>
          </p:cNvCxnSpPr>
          <p:nvPr/>
        </p:nvCxnSpPr>
        <p:spPr>
          <a:xfrm>
            <a:off x="3813916" y="2596302"/>
            <a:ext cx="1843092" cy="538452"/>
          </a:xfrm>
          <a:prstGeom prst="line">
            <a:avLst/>
          </a:prstGeom>
          <a:ln w="28575">
            <a:solidFill>
              <a:schemeClr val="bg1">
                <a:lumMod val="10000"/>
                <a:alpha val="7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118" name="Straight Connector 117">
            <a:extLst>
              <a:ext uri="{FF2B5EF4-FFF2-40B4-BE49-F238E27FC236}">
                <a16:creationId xmlns:a16="http://schemas.microsoft.com/office/drawing/2014/main" id="{CC13C80C-A3A5-934F-6F3A-274453E4DF22}"/>
              </a:ext>
            </a:extLst>
          </p:cNvPr>
          <p:cNvCxnSpPr>
            <a:cxnSpLocks/>
            <a:endCxn id="24" idx="1"/>
          </p:cNvCxnSpPr>
          <p:nvPr/>
        </p:nvCxnSpPr>
        <p:spPr>
          <a:xfrm>
            <a:off x="4084149" y="2596302"/>
            <a:ext cx="1888947" cy="539463"/>
          </a:xfrm>
          <a:prstGeom prst="line">
            <a:avLst/>
          </a:prstGeom>
          <a:ln w="28575">
            <a:solidFill>
              <a:schemeClr val="bg1">
                <a:lumMod val="10000"/>
                <a:alpha val="7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120" name="Straight Connector 119">
            <a:extLst>
              <a:ext uri="{FF2B5EF4-FFF2-40B4-BE49-F238E27FC236}">
                <a16:creationId xmlns:a16="http://schemas.microsoft.com/office/drawing/2014/main" id="{EC014865-0523-8ABE-0045-09CAA77B24E9}"/>
              </a:ext>
            </a:extLst>
          </p:cNvPr>
          <p:cNvCxnSpPr>
            <a:cxnSpLocks/>
            <a:endCxn id="24" idx="3"/>
          </p:cNvCxnSpPr>
          <p:nvPr/>
        </p:nvCxnSpPr>
        <p:spPr>
          <a:xfrm>
            <a:off x="4914032" y="2595796"/>
            <a:ext cx="2255787" cy="539969"/>
          </a:xfrm>
          <a:prstGeom prst="line">
            <a:avLst/>
          </a:prstGeom>
          <a:ln w="28575">
            <a:solidFill>
              <a:schemeClr val="bg1">
                <a:lumMod val="10000"/>
                <a:alpha val="7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122" name="Straight Connector 121">
            <a:extLst>
              <a:ext uri="{FF2B5EF4-FFF2-40B4-BE49-F238E27FC236}">
                <a16:creationId xmlns:a16="http://schemas.microsoft.com/office/drawing/2014/main" id="{2877F857-05EA-F511-CC39-5C0311DC63C0}"/>
              </a:ext>
            </a:extLst>
          </p:cNvPr>
          <p:cNvCxnSpPr>
            <a:cxnSpLocks/>
            <a:endCxn id="7" idx="1"/>
          </p:cNvCxnSpPr>
          <p:nvPr/>
        </p:nvCxnSpPr>
        <p:spPr>
          <a:xfrm flipH="1">
            <a:off x="5322065" y="3146458"/>
            <a:ext cx="345769" cy="555208"/>
          </a:xfrm>
          <a:prstGeom prst="line">
            <a:avLst/>
          </a:prstGeom>
          <a:ln w="28575">
            <a:solidFill>
              <a:schemeClr val="bg1">
                <a:lumMod val="10000"/>
                <a:alpha val="7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124" name="Straight Connector 123">
            <a:extLst>
              <a:ext uri="{FF2B5EF4-FFF2-40B4-BE49-F238E27FC236}">
                <a16:creationId xmlns:a16="http://schemas.microsoft.com/office/drawing/2014/main" id="{290D8291-0696-EE71-5B44-BD465C88773A}"/>
              </a:ext>
            </a:extLst>
          </p:cNvPr>
          <p:cNvCxnSpPr>
            <a:cxnSpLocks/>
            <a:endCxn id="7" idx="3"/>
          </p:cNvCxnSpPr>
          <p:nvPr/>
        </p:nvCxnSpPr>
        <p:spPr>
          <a:xfrm flipH="1">
            <a:off x="5584723" y="3151642"/>
            <a:ext cx="388372" cy="550024"/>
          </a:xfrm>
          <a:prstGeom prst="line">
            <a:avLst/>
          </a:prstGeom>
          <a:ln w="28575">
            <a:solidFill>
              <a:schemeClr val="bg1">
                <a:lumMod val="10000"/>
                <a:alpha val="7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126" name="Straight Connector 125">
            <a:extLst>
              <a:ext uri="{FF2B5EF4-FFF2-40B4-BE49-F238E27FC236}">
                <a16:creationId xmlns:a16="http://schemas.microsoft.com/office/drawing/2014/main" id="{6934761B-11F0-727C-A52B-3174A45BA1F3}"/>
              </a:ext>
            </a:extLst>
          </p:cNvPr>
          <p:cNvCxnSpPr>
            <a:cxnSpLocks/>
            <a:endCxn id="8" idx="3"/>
          </p:cNvCxnSpPr>
          <p:nvPr/>
        </p:nvCxnSpPr>
        <p:spPr>
          <a:xfrm flipH="1">
            <a:off x="6801819" y="3151642"/>
            <a:ext cx="359965" cy="550024"/>
          </a:xfrm>
          <a:prstGeom prst="line">
            <a:avLst/>
          </a:prstGeom>
          <a:ln w="28575">
            <a:solidFill>
              <a:schemeClr val="bg1">
                <a:lumMod val="10000"/>
                <a:alpha val="7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128" name="Straight Connector 127">
            <a:extLst>
              <a:ext uri="{FF2B5EF4-FFF2-40B4-BE49-F238E27FC236}">
                <a16:creationId xmlns:a16="http://schemas.microsoft.com/office/drawing/2014/main" id="{F569ED2F-0EEF-585C-DD19-96B9ECD6D9A3}"/>
              </a:ext>
            </a:extLst>
          </p:cNvPr>
          <p:cNvCxnSpPr>
            <a:cxnSpLocks/>
            <a:endCxn id="6" idx="1"/>
          </p:cNvCxnSpPr>
          <p:nvPr/>
        </p:nvCxnSpPr>
        <p:spPr>
          <a:xfrm flipH="1">
            <a:off x="3842310" y="3134754"/>
            <a:ext cx="736641" cy="566912"/>
          </a:xfrm>
          <a:prstGeom prst="line">
            <a:avLst/>
          </a:prstGeom>
          <a:ln w="28575">
            <a:solidFill>
              <a:schemeClr val="bg1">
                <a:lumMod val="10000"/>
                <a:alpha val="7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132" name="Straight Connector 131">
            <a:extLst>
              <a:ext uri="{FF2B5EF4-FFF2-40B4-BE49-F238E27FC236}">
                <a16:creationId xmlns:a16="http://schemas.microsoft.com/office/drawing/2014/main" id="{80ADA8D1-DFB6-362A-E5E8-34BB22E7D34B}"/>
              </a:ext>
            </a:extLst>
          </p:cNvPr>
          <p:cNvCxnSpPr>
            <a:cxnSpLocks/>
            <a:stCxn id="22" idx="3"/>
          </p:cNvCxnSpPr>
          <p:nvPr/>
        </p:nvCxnSpPr>
        <p:spPr>
          <a:xfrm flipH="1">
            <a:off x="4110201" y="3135765"/>
            <a:ext cx="716214" cy="577605"/>
          </a:xfrm>
          <a:prstGeom prst="line">
            <a:avLst/>
          </a:prstGeom>
          <a:ln w="28575">
            <a:solidFill>
              <a:schemeClr val="bg1">
                <a:lumMod val="10000"/>
                <a:alpha val="7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134" name="Straight Connector 133">
            <a:extLst>
              <a:ext uri="{FF2B5EF4-FFF2-40B4-BE49-F238E27FC236}">
                <a16:creationId xmlns:a16="http://schemas.microsoft.com/office/drawing/2014/main" id="{D485DB75-1187-E17E-EA64-FEF6013FF179}"/>
              </a:ext>
            </a:extLst>
          </p:cNvPr>
          <p:cNvCxnSpPr>
            <a:cxnSpLocks/>
            <a:endCxn id="22" idx="1"/>
          </p:cNvCxnSpPr>
          <p:nvPr/>
        </p:nvCxnSpPr>
        <p:spPr>
          <a:xfrm>
            <a:off x="3378965" y="2595796"/>
            <a:ext cx="1184792" cy="539969"/>
          </a:xfrm>
          <a:prstGeom prst="line">
            <a:avLst/>
          </a:prstGeom>
          <a:ln w="28575">
            <a:solidFill>
              <a:schemeClr val="bg1">
                <a:lumMod val="10000"/>
                <a:alpha val="7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136" name="Straight Connector 135">
            <a:extLst>
              <a:ext uri="{FF2B5EF4-FFF2-40B4-BE49-F238E27FC236}">
                <a16:creationId xmlns:a16="http://schemas.microsoft.com/office/drawing/2014/main" id="{98E22BBA-ACDA-AEFE-195E-2DFFD2AA880B}"/>
              </a:ext>
            </a:extLst>
          </p:cNvPr>
          <p:cNvCxnSpPr>
            <a:cxnSpLocks/>
            <a:endCxn id="22" idx="0"/>
          </p:cNvCxnSpPr>
          <p:nvPr/>
        </p:nvCxnSpPr>
        <p:spPr>
          <a:xfrm>
            <a:off x="3591581" y="2592764"/>
            <a:ext cx="1103505" cy="482408"/>
          </a:xfrm>
          <a:prstGeom prst="line">
            <a:avLst/>
          </a:prstGeom>
          <a:ln w="28575">
            <a:solidFill>
              <a:schemeClr val="bg1">
                <a:lumMod val="10000"/>
                <a:alpha val="7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138" name="Straight Connector 137">
            <a:extLst>
              <a:ext uri="{FF2B5EF4-FFF2-40B4-BE49-F238E27FC236}">
                <a16:creationId xmlns:a16="http://schemas.microsoft.com/office/drawing/2014/main" id="{99F6912A-19CC-E9C6-6A87-852A5D016E21}"/>
              </a:ext>
            </a:extLst>
          </p:cNvPr>
          <p:cNvCxnSpPr>
            <a:cxnSpLocks/>
            <a:endCxn id="57" idx="3"/>
          </p:cNvCxnSpPr>
          <p:nvPr/>
        </p:nvCxnSpPr>
        <p:spPr>
          <a:xfrm flipH="1">
            <a:off x="3602366" y="2052291"/>
            <a:ext cx="1405946" cy="544011"/>
          </a:xfrm>
          <a:prstGeom prst="line">
            <a:avLst/>
          </a:prstGeom>
          <a:ln w="28575">
            <a:solidFill>
              <a:schemeClr val="bg1">
                <a:lumMod val="10000"/>
                <a:alpha val="7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140" name="Straight Connector 139">
            <a:extLst>
              <a:ext uri="{FF2B5EF4-FFF2-40B4-BE49-F238E27FC236}">
                <a16:creationId xmlns:a16="http://schemas.microsoft.com/office/drawing/2014/main" id="{E4309429-6704-5ED2-F3E0-7CF6C4A5309C}"/>
              </a:ext>
            </a:extLst>
          </p:cNvPr>
          <p:cNvCxnSpPr>
            <a:cxnSpLocks/>
            <a:endCxn id="57" idx="1"/>
          </p:cNvCxnSpPr>
          <p:nvPr/>
        </p:nvCxnSpPr>
        <p:spPr>
          <a:xfrm flipH="1">
            <a:off x="3378966" y="2074710"/>
            <a:ext cx="1398721" cy="521592"/>
          </a:xfrm>
          <a:prstGeom prst="line">
            <a:avLst/>
          </a:prstGeom>
          <a:ln w="28575">
            <a:solidFill>
              <a:schemeClr val="bg1">
                <a:lumMod val="10000"/>
                <a:alpha val="70000"/>
              </a:schemeClr>
            </a:solidFill>
            <a:prstDash val="sys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982663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77"/>
                                        </p:tgtEl>
                                      </p:cBhvr>
                                    </p:animEffect>
                                    <p:set>
                                      <p:cBhvr>
                                        <p:cTn id="7" dur="1" fill="hold">
                                          <p:stCondLst>
                                            <p:cond delay="499"/>
                                          </p:stCondLst>
                                        </p:cTn>
                                        <p:tgtEl>
                                          <p:spTgt spid="77"/>
                                        </p:tgtEl>
                                        <p:attrNameLst>
                                          <p:attrName>style.visibility</p:attrName>
                                        </p:attrNameLst>
                                      </p:cBhvr>
                                      <p:to>
                                        <p:strVal val="hidden"/>
                                      </p:to>
                                    </p:set>
                                  </p:childTnLst>
                                </p:cTn>
                              </p:par>
                              <p:par>
                                <p:cTn id="8" presetID="10" presetClass="exit" presetSubtype="0" fill="hold" grpId="0" nodeType="withEffect">
                                  <p:stCondLst>
                                    <p:cond delay="0"/>
                                  </p:stCondLst>
                                  <p:childTnLst>
                                    <p:animEffect transition="out" filter="fade">
                                      <p:cBhvr>
                                        <p:cTn id="9" dur="500"/>
                                        <p:tgtEl>
                                          <p:spTgt spid="74"/>
                                        </p:tgtEl>
                                      </p:cBhvr>
                                    </p:animEffect>
                                    <p:set>
                                      <p:cBhvr>
                                        <p:cTn id="10" dur="1" fill="hold">
                                          <p:stCondLst>
                                            <p:cond delay="499"/>
                                          </p:stCondLst>
                                        </p:cTn>
                                        <p:tgtEl>
                                          <p:spTgt spid="74"/>
                                        </p:tgtEl>
                                        <p:attrNameLst>
                                          <p:attrName>style.visibility</p:attrName>
                                        </p:attrNameLst>
                                      </p:cBhvr>
                                      <p:to>
                                        <p:strVal val="hidden"/>
                                      </p:to>
                                    </p:set>
                                  </p:childTnLst>
                                </p:cTn>
                              </p:par>
                              <p:par>
                                <p:cTn id="11" presetID="10" presetClass="exit" presetSubtype="0" fill="hold" grpId="0" nodeType="withEffect">
                                  <p:stCondLst>
                                    <p:cond delay="0"/>
                                  </p:stCondLst>
                                  <p:childTnLst>
                                    <p:animEffect transition="out" filter="fade">
                                      <p:cBhvr>
                                        <p:cTn id="12" dur="500"/>
                                        <p:tgtEl>
                                          <p:spTgt spid="80"/>
                                        </p:tgtEl>
                                      </p:cBhvr>
                                    </p:animEffect>
                                    <p:set>
                                      <p:cBhvr>
                                        <p:cTn id="13" dur="1" fill="hold">
                                          <p:stCondLst>
                                            <p:cond delay="499"/>
                                          </p:stCondLst>
                                        </p:cTn>
                                        <p:tgtEl>
                                          <p:spTgt spid="80"/>
                                        </p:tgtEl>
                                        <p:attrNameLst>
                                          <p:attrName>style.visibility</p:attrName>
                                        </p:attrNameLst>
                                      </p:cBhvr>
                                      <p:to>
                                        <p:strVal val="hidden"/>
                                      </p:to>
                                    </p:set>
                                  </p:childTnLst>
                                </p:cTn>
                              </p:par>
                              <p:par>
                                <p:cTn id="14" presetID="10" presetClass="exit" presetSubtype="0" fill="hold" grpId="0" nodeType="withEffect">
                                  <p:stCondLst>
                                    <p:cond delay="0"/>
                                  </p:stCondLst>
                                  <p:childTnLst>
                                    <p:animEffect transition="out" filter="fade">
                                      <p:cBhvr>
                                        <p:cTn id="15" dur="500"/>
                                        <p:tgtEl>
                                          <p:spTgt spid="42"/>
                                        </p:tgtEl>
                                      </p:cBhvr>
                                    </p:animEffect>
                                    <p:set>
                                      <p:cBhvr>
                                        <p:cTn id="16" dur="1" fill="hold">
                                          <p:stCondLst>
                                            <p:cond delay="499"/>
                                          </p:stCondLst>
                                        </p:cTn>
                                        <p:tgtEl>
                                          <p:spTgt spid="42"/>
                                        </p:tgtEl>
                                        <p:attrNameLst>
                                          <p:attrName>style.visibility</p:attrName>
                                        </p:attrNameLst>
                                      </p:cBhvr>
                                      <p:to>
                                        <p:strVal val="hidden"/>
                                      </p:to>
                                    </p:set>
                                  </p:childTnLst>
                                </p:cTn>
                              </p:par>
                              <p:par>
                                <p:cTn id="17" presetID="10" presetClass="exit" presetSubtype="0" fill="hold" grpId="0" nodeType="withEffect">
                                  <p:stCondLst>
                                    <p:cond delay="0"/>
                                  </p:stCondLst>
                                  <p:childTnLst>
                                    <p:animEffect transition="out" filter="fade">
                                      <p:cBhvr>
                                        <p:cTn id="18" dur="500"/>
                                        <p:tgtEl>
                                          <p:spTgt spid="41"/>
                                        </p:tgtEl>
                                      </p:cBhvr>
                                    </p:animEffect>
                                    <p:set>
                                      <p:cBhvr>
                                        <p:cTn id="19" dur="1" fill="hold">
                                          <p:stCondLst>
                                            <p:cond delay="499"/>
                                          </p:stCondLst>
                                        </p:cTn>
                                        <p:tgtEl>
                                          <p:spTgt spid="41"/>
                                        </p:tgtEl>
                                        <p:attrNameLst>
                                          <p:attrName>style.visibility</p:attrName>
                                        </p:attrNameLst>
                                      </p:cBhvr>
                                      <p:to>
                                        <p:strVal val="hidden"/>
                                      </p:to>
                                    </p:set>
                                  </p:childTnLst>
                                </p:cTn>
                              </p:par>
                              <p:par>
                                <p:cTn id="20" presetID="10" presetClass="exit" presetSubtype="0" fill="hold" grpId="0" nodeType="withEffect">
                                  <p:stCondLst>
                                    <p:cond delay="0"/>
                                  </p:stCondLst>
                                  <p:childTnLst>
                                    <p:animEffect transition="out" filter="fade">
                                      <p:cBhvr>
                                        <p:cTn id="21" dur="500"/>
                                        <p:tgtEl>
                                          <p:spTgt spid="28"/>
                                        </p:tgtEl>
                                      </p:cBhvr>
                                    </p:animEffect>
                                    <p:set>
                                      <p:cBhvr>
                                        <p:cTn id="22" dur="1" fill="hold">
                                          <p:stCondLst>
                                            <p:cond delay="499"/>
                                          </p:stCondLst>
                                        </p:cTn>
                                        <p:tgtEl>
                                          <p:spTgt spid="28"/>
                                        </p:tgtEl>
                                        <p:attrNameLst>
                                          <p:attrName>style.visibility</p:attrName>
                                        </p:attrNameLst>
                                      </p:cBhvr>
                                      <p:to>
                                        <p:strVal val="hidden"/>
                                      </p:to>
                                    </p:set>
                                  </p:childTnLst>
                                </p:cTn>
                              </p:par>
                              <p:par>
                                <p:cTn id="23" presetID="10" presetClass="exit" presetSubtype="0" fill="hold" grpId="0" nodeType="withEffect">
                                  <p:stCondLst>
                                    <p:cond delay="0"/>
                                  </p:stCondLst>
                                  <p:childTnLst>
                                    <p:animEffect transition="out" filter="fade">
                                      <p:cBhvr>
                                        <p:cTn id="24" dur="500"/>
                                        <p:tgtEl>
                                          <p:spTgt spid="30"/>
                                        </p:tgtEl>
                                      </p:cBhvr>
                                    </p:animEffect>
                                    <p:set>
                                      <p:cBhvr>
                                        <p:cTn id="25" dur="1" fill="hold">
                                          <p:stCondLst>
                                            <p:cond delay="499"/>
                                          </p:stCondLst>
                                        </p:cTn>
                                        <p:tgtEl>
                                          <p:spTgt spid="30"/>
                                        </p:tgtEl>
                                        <p:attrNameLst>
                                          <p:attrName>style.visibility</p:attrName>
                                        </p:attrNameLst>
                                      </p:cBhvr>
                                      <p:to>
                                        <p:strVal val="hidden"/>
                                      </p:to>
                                    </p:set>
                                  </p:childTnLst>
                                </p:cTn>
                              </p:par>
                              <p:par>
                                <p:cTn id="26" presetID="10" presetClass="exit" presetSubtype="0" fill="hold" grpId="0" nodeType="withEffect">
                                  <p:stCondLst>
                                    <p:cond delay="0"/>
                                  </p:stCondLst>
                                  <p:childTnLst>
                                    <p:animEffect transition="out" filter="fade">
                                      <p:cBhvr>
                                        <p:cTn id="27" dur="500"/>
                                        <p:tgtEl>
                                          <p:spTgt spid="32"/>
                                        </p:tgtEl>
                                      </p:cBhvr>
                                    </p:animEffect>
                                    <p:set>
                                      <p:cBhvr>
                                        <p:cTn id="28" dur="1" fill="hold">
                                          <p:stCondLst>
                                            <p:cond delay="499"/>
                                          </p:stCondLst>
                                        </p:cTn>
                                        <p:tgtEl>
                                          <p:spTgt spid="32"/>
                                        </p:tgtEl>
                                        <p:attrNameLst>
                                          <p:attrName>style.visibility</p:attrName>
                                        </p:attrNameLst>
                                      </p:cBhvr>
                                      <p:to>
                                        <p:strVal val="hidden"/>
                                      </p:to>
                                    </p:set>
                                  </p:childTnLst>
                                </p:cTn>
                              </p:par>
                              <p:par>
                                <p:cTn id="29" presetID="10" presetClass="exit" presetSubtype="0" fill="hold" grpId="0" nodeType="withEffect">
                                  <p:stCondLst>
                                    <p:cond delay="0"/>
                                  </p:stCondLst>
                                  <p:childTnLst>
                                    <p:animEffect transition="out" filter="fade">
                                      <p:cBhvr>
                                        <p:cTn id="30" dur="500"/>
                                        <p:tgtEl>
                                          <p:spTgt spid="33"/>
                                        </p:tgtEl>
                                      </p:cBhvr>
                                    </p:animEffect>
                                    <p:set>
                                      <p:cBhvr>
                                        <p:cTn id="31" dur="1" fill="hold">
                                          <p:stCondLst>
                                            <p:cond delay="499"/>
                                          </p:stCondLst>
                                        </p:cTn>
                                        <p:tgtEl>
                                          <p:spTgt spid="33"/>
                                        </p:tgtEl>
                                        <p:attrNameLst>
                                          <p:attrName>style.visibility</p:attrName>
                                        </p:attrNameLst>
                                      </p:cBhvr>
                                      <p:to>
                                        <p:strVal val="hidden"/>
                                      </p:to>
                                    </p:set>
                                  </p:childTnLst>
                                </p:cTn>
                              </p:par>
                              <p:par>
                                <p:cTn id="32" presetID="10" presetClass="exit" presetSubtype="0" fill="hold" grpId="0" nodeType="withEffect">
                                  <p:stCondLst>
                                    <p:cond delay="0"/>
                                  </p:stCondLst>
                                  <p:childTnLst>
                                    <p:animEffect transition="out" filter="fade">
                                      <p:cBhvr>
                                        <p:cTn id="33" dur="500"/>
                                        <p:tgtEl>
                                          <p:spTgt spid="26"/>
                                        </p:tgtEl>
                                      </p:cBhvr>
                                    </p:animEffect>
                                    <p:set>
                                      <p:cBhvr>
                                        <p:cTn id="34" dur="1" fill="hold">
                                          <p:stCondLst>
                                            <p:cond delay="499"/>
                                          </p:stCondLst>
                                        </p:cTn>
                                        <p:tgtEl>
                                          <p:spTgt spid="26"/>
                                        </p:tgtEl>
                                        <p:attrNameLst>
                                          <p:attrName>style.visibility</p:attrName>
                                        </p:attrNameLst>
                                      </p:cBhvr>
                                      <p:to>
                                        <p:strVal val="hidden"/>
                                      </p:to>
                                    </p:set>
                                  </p:childTnLst>
                                </p:cTn>
                              </p:par>
                              <p:par>
                                <p:cTn id="35" presetID="10" presetClass="exit" presetSubtype="0" fill="hold" grpId="0" nodeType="withEffect">
                                  <p:stCondLst>
                                    <p:cond delay="0"/>
                                  </p:stCondLst>
                                  <p:childTnLst>
                                    <p:animEffect transition="out" filter="fade">
                                      <p:cBhvr>
                                        <p:cTn id="36" dur="500"/>
                                        <p:tgtEl>
                                          <p:spTgt spid="15"/>
                                        </p:tgtEl>
                                      </p:cBhvr>
                                    </p:animEffect>
                                    <p:set>
                                      <p:cBhvr>
                                        <p:cTn id="37" dur="1" fill="hold">
                                          <p:stCondLst>
                                            <p:cond delay="499"/>
                                          </p:stCondLst>
                                        </p:cTn>
                                        <p:tgtEl>
                                          <p:spTgt spid="15"/>
                                        </p:tgtEl>
                                        <p:attrNameLst>
                                          <p:attrName>style.visibility</p:attrName>
                                        </p:attrNameLst>
                                      </p:cBhvr>
                                      <p:to>
                                        <p:strVal val="hidden"/>
                                      </p:to>
                                    </p:set>
                                  </p:childTnLst>
                                </p:cTn>
                              </p:par>
                              <p:par>
                                <p:cTn id="38" presetID="10" presetClass="exit" presetSubtype="0" fill="hold" grpId="0" nodeType="withEffect">
                                  <p:stCondLst>
                                    <p:cond delay="0"/>
                                  </p:stCondLst>
                                  <p:childTnLst>
                                    <p:animEffect transition="out" filter="fade">
                                      <p:cBhvr>
                                        <p:cTn id="39" dur="500"/>
                                        <p:tgtEl>
                                          <p:spTgt spid="14"/>
                                        </p:tgtEl>
                                      </p:cBhvr>
                                    </p:animEffect>
                                    <p:set>
                                      <p:cBhvr>
                                        <p:cTn id="40" dur="1" fill="hold">
                                          <p:stCondLst>
                                            <p:cond delay="499"/>
                                          </p:stCondLst>
                                        </p:cTn>
                                        <p:tgtEl>
                                          <p:spTgt spid="14"/>
                                        </p:tgtEl>
                                        <p:attrNameLst>
                                          <p:attrName>style.visibility</p:attrName>
                                        </p:attrNameLst>
                                      </p:cBhvr>
                                      <p:to>
                                        <p:strVal val="hidden"/>
                                      </p:to>
                                    </p:set>
                                  </p:childTnLst>
                                </p:cTn>
                              </p:par>
                              <p:par>
                                <p:cTn id="41" presetID="10" presetClass="exit" presetSubtype="0" fill="hold" grpId="0" nodeType="withEffect">
                                  <p:stCondLst>
                                    <p:cond delay="0"/>
                                  </p:stCondLst>
                                  <p:childTnLst>
                                    <p:animEffect transition="out" filter="fade">
                                      <p:cBhvr>
                                        <p:cTn id="42" dur="500"/>
                                        <p:tgtEl>
                                          <p:spTgt spid="19"/>
                                        </p:tgtEl>
                                      </p:cBhvr>
                                    </p:animEffect>
                                    <p:set>
                                      <p:cBhvr>
                                        <p:cTn id="43" dur="1" fill="hold">
                                          <p:stCondLst>
                                            <p:cond delay="499"/>
                                          </p:stCondLst>
                                        </p:cTn>
                                        <p:tgtEl>
                                          <p:spTgt spid="19"/>
                                        </p:tgtEl>
                                        <p:attrNameLst>
                                          <p:attrName>style.visibility</p:attrName>
                                        </p:attrNameLst>
                                      </p:cBhvr>
                                      <p:to>
                                        <p:strVal val="hidden"/>
                                      </p:to>
                                    </p:set>
                                  </p:childTnLst>
                                </p:cTn>
                              </p:par>
                              <p:par>
                                <p:cTn id="44" presetID="10" presetClass="exit" presetSubtype="0" fill="hold" grpId="0" nodeType="withEffect">
                                  <p:stCondLst>
                                    <p:cond delay="0"/>
                                  </p:stCondLst>
                                  <p:childTnLst>
                                    <p:animEffect transition="out" filter="fade">
                                      <p:cBhvr>
                                        <p:cTn id="45" dur="500"/>
                                        <p:tgtEl>
                                          <p:spTgt spid="18"/>
                                        </p:tgtEl>
                                      </p:cBhvr>
                                    </p:animEffect>
                                    <p:set>
                                      <p:cBhvr>
                                        <p:cTn id="46" dur="1" fill="hold">
                                          <p:stCondLst>
                                            <p:cond delay="499"/>
                                          </p:stCondLst>
                                        </p:cTn>
                                        <p:tgtEl>
                                          <p:spTgt spid="18"/>
                                        </p:tgtEl>
                                        <p:attrNameLst>
                                          <p:attrName>style.visibility</p:attrName>
                                        </p:attrNameLst>
                                      </p:cBhvr>
                                      <p:to>
                                        <p:strVal val="hidden"/>
                                      </p:to>
                                    </p:set>
                                  </p:childTnLst>
                                </p:cTn>
                              </p:par>
                              <p:par>
                                <p:cTn id="47" presetID="10" presetClass="exit" presetSubtype="0" fill="hold" grpId="0" nodeType="withEffect">
                                  <p:stCondLst>
                                    <p:cond delay="0"/>
                                  </p:stCondLst>
                                  <p:childTnLst>
                                    <p:animEffect transition="out" filter="fade">
                                      <p:cBhvr>
                                        <p:cTn id="48" dur="500"/>
                                        <p:tgtEl>
                                          <p:spTgt spid="17"/>
                                        </p:tgtEl>
                                      </p:cBhvr>
                                    </p:animEffect>
                                    <p:set>
                                      <p:cBhvr>
                                        <p:cTn id="49" dur="1" fill="hold">
                                          <p:stCondLst>
                                            <p:cond delay="499"/>
                                          </p:stCondLst>
                                        </p:cTn>
                                        <p:tgtEl>
                                          <p:spTgt spid="17"/>
                                        </p:tgtEl>
                                        <p:attrNameLst>
                                          <p:attrName>style.visibility</p:attrName>
                                        </p:attrNameLst>
                                      </p:cBhvr>
                                      <p:to>
                                        <p:strVal val="hidden"/>
                                      </p:to>
                                    </p:set>
                                  </p:childTnLst>
                                </p:cTn>
                              </p:par>
                              <p:par>
                                <p:cTn id="50" presetID="10" presetClass="exit" presetSubtype="0" fill="hold" grpId="0" nodeType="withEffect">
                                  <p:stCondLst>
                                    <p:cond delay="0"/>
                                  </p:stCondLst>
                                  <p:childTnLst>
                                    <p:animEffect transition="out" filter="fade">
                                      <p:cBhvr>
                                        <p:cTn id="51" dur="500"/>
                                        <p:tgtEl>
                                          <p:spTgt spid="16"/>
                                        </p:tgtEl>
                                      </p:cBhvr>
                                    </p:animEffect>
                                    <p:set>
                                      <p:cBhvr>
                                        <p:cTn id="52" dur="1" fill="hold">
                                          <p:stCondLst>
                                            <p:cond delay="499"/>
                                          </p:stCondLst>
                                        </p:cTn>
                                        <p:tgtEl>
                                          <p:spTgt spid="16"/>
                                        </p:tgtEl>
                                        <p:attrNameLst>
                                          <p:attrName>style.visibility</p:attrName>
                                        </p:attrNameLst>
                                      </p:cBhvr>
                                      <p:to>
                                        <p:strVal val="hidden"/>
                                      </p:to>
                                    </p:set>
                                  </p:childTnLst>
                                </p:cTn>
                              </p:par>
                              <p:par>
                                <p:cTn id="53" presetID="10" presetClass="exit" presetSubtype="0" fill="hold" grpId="0" nodeType="withEffect">
                                  <p:stCondLst>
                                    <p:cond delay="0"/>
                                  </p:stCondLst>
                                  <p:childTnLst>
                                    <p:animEffect transition="out" filter="fade">
                                      <p:cBhvr>
                                        <p:cTn id="54" dur="500"/>
                                        <p:tgtEl>
                                          <p:spTgt spid="13"/>
                                        </p:tgtEl>
                                      </p:cBhvr>
                                    </p:animEffect>
                                    <p:set>
                                      <p:cBhvr>
                                        <p:cTn id="55" dur="1" fill="hold">
                                          <p:stCondLst>
                                            <p:cond delay="499"/>
                                          </p:stCondLst>
                                        </p:cTn>
                                        <p:tgtEl>
                                          <p:spTgt spid="13"/>
                                        </p:tgtEl>
                                        <p:attrNameLst>
                                          <p:attrName>style.visibility</p:attrName>
                                        </p:attrNameLst>
                                      </p:cBhvr>
                                      <p:to>
                                        <p:strVal val="hidden"/>
                                      </p:to>
                                    </p:set>
                                  </p:childTnLst>
                                </p:cTn>
                              </p:par>
                              <p:par>
                                <p:cTn id="56" presetID="10" presetClass="exit" presetSubtype="0" fill="hold" grpId="0" nodeType="withEffect">
                                  <p:stCondLst>
                                    <p:cond delay="0"/>
                                  </p:stCondLst>
                                  <p:childTnLst>
                                    <p:animEffect transition="out" filter="fade">
                                      <p:cBhvr>
                                        <p:cTn id="57" dur="500"/>
                                        <p:tgtEl>
                                          <p:spTgt spid="40"/>
                                        </p:tgtEl>
                                      </p:cBhvr>
                                    </p:animEffect>
                                    <p:set>
                                      <p:cBhvr>
                                        <p:cTn id="58" dur="1" fill="hold">
                                          <p:stCondLst>
                                            <p:cond delay="499"/>
                                          </p:stCondLst>
                                        </p:cTn>
                                        <p:tgtEl>
                                          <p:spTgt spid="40"/>
                                        </p:tgtEl>
                                        <p:attrNameLst>
                                          <p:attrName>style.visibility</p:attrName>
                                        </p:attrNameLst>
                                      </p:cBhvr>
                                      <p:to>
                                        <p:strVal val="hidden"/>
                                      </p:to>
                                    </p:set>
                                  </p:childTnLst>
                                </p:cTn>
                              </p:par>
                              <p:par>
                                <p:cTn id="59" presetID="10" presetClass="exit" presetSubtype="0" fill="hold" grpId="0" nodeType="withEffect">
                                  <p:stCondLst>
                                    <p:cond delay="0"/>
                                  </p:stCondLst>
                                  <p:childTnLst>
                                    <p:animEffect transition="out" filter="fade">
                                      <p:cBhvr>
                                        <p:cTn id="60" dur="500"/>
                                        <p:tgtEl>
                                          <p:spTgt spid="25"/>
                                        </p:tgtEl>
                                      </p:cBhvr>
                                    </p:animEffect>
                                    <p:set>
                                      <p:cBhvr>
                                        <p:cTn id="61" dur="1" fill="hold">
                                          <p:stCondLst>
                                            <p:cond delay="499"/>
                                          </p:stCondLst>
                                        </p:cTn>
                                        <p:tgtEl>
                                          <p:spTgt spid="2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P spid="16" grpId="0" animBg="1"/>
      <p:bldP spid="17" grpId="0" animBg="1"/>
      <p:bldP spid="18" grpId="0" animBg="1"/>
      <p:bldP spid="19" grpId="0" animBg="1"/>
      <p:bldP spid="25" grpId="0" animBg="1"/>
      <p:bldP spid="26" grpId="0" animBg="1"/>
      <p:bldP spid="28" grpId="0" animBg="1"/>
      <p:bldP spid="30" grpId="0" animBg="1"/>
      <p:bldP spid="32" grpId="0" animBg="1"/>
      <p:bldP spid="33" grpId="0" animBg="1"/>
      <p:bldP spid="40" grpId="0" animBg="1"/>
      <p:bldP spid="41" grpId="0" animBg="1"/>
      <p:bldP spid="42" grpId="0" animBg="1"/>
      <p:bldP spid="74" grpId="0" animBg="1"/>
      <p:bldP spid="77" grpId="0" animBg="1"/>
      <p:bldP spid="80"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0023A8-03C1-06B9-02C0-3F9F99ED9D28}"/>
              </a:ext>
            </a:extLst>
          </p:cNvPr>
          <p:cNvSpPr>
            <a:spLocks noGrp="1"/>
          </p:cNvSpPr>
          <p:nvPr>
            <p:ph type="title"/>
          </p:nvPr>
        </p:nvSpPr>
        <p:spPr>
          <a:xfrm>
            <a:off x="719999" y="362674"/>
            <a:ext cx="7704000" cy="572700"/>
          </a:xfrm>
        </p:spPr>
        <p:txBody>
          <a:bodyPr/>
          <a:lstStyle/>
          <a:p>
            <a:pPr algn="ctr"/>
            <a:r>
              <a:rPr lang="en-US" sz="2400" dirty="0"/>
              <a:t>Combining evolution-based strategies </a:t>
            </a:r>
            <a:br>
              <a:rPr lang="en-US" sz="2400" dirty="0"/>
            </a:br>
            <a:r>
              <a:rPr lang="en-US" sz="2400" dirty="0"/>
              <a:t>with genome language modeling </a:t>
            </a:r>
          </a:p>
        </p:txBody>
      </p:sp>
      <p:sp>
        <p:nvSpPr>
          <p:cNvPr id="3" name="Text Placeholder 2">
            <a:extLst>
              <a:ext uri="{FF2B5EF4-FFF2-40B4-BE49-F238E27FC236}">
                <a16:creationId xmlns:a16="http://schemas.microsoft.com/office/drawing/2014/main" id="{AE8C7595-809C-A198-D70A-46C15D329A1E}"/>
              </a:ext>
            </a:extLst>
          </p:cNvPr>
          <p:cNvSpPr>
            <a:spLocks noGrp="1"/>
          </p:cNvSpPr>
          <p:nvPr>
            <p:ph type="body" idx="1"/>
          </p:nvPr>
        </p:nvSpPr>
        <p:spPr>
          <a:xfrm>
            <a:off x="373137" y="1332778"/>
            <a:ext cx="4076528" cy="2915018"/>
          </a:xfrm>
        </p:spPr>
        <p:txBody>
          <a:bodyPr/>
          <a:lstStyle/>
          <a:p>
            <a:pPr marL="177800" indent="0" algn="ctr">
              <a:buNone/>
            </a:pPr>
            <a:r>
              <a:rPr lang="en-US" b="1" dirty="0" err="1"/>
              <a:t>Gamba</a:t>
            </a:r>
            <a:br>
              <a:rPr lang="en-US" dirty="0"/>
            </a:br>
            <a:r>
              <a:rPr lang="en-US" dirty="0"/>
              <a:t>Does pretraining on conservation </a:t>
            </a:r>
            <a:br>
              <a:rPr lang="en-US" dirty="0"/>
            </a:br>
            <a:r>
              <a:rPr lang="en-US" dirty="0"/>
              <a:t>better learn the regulatory code?</a:t>
            </a:r>
          </a:p>
        </p:txBody>
      </p:sp>
      <p:sp>
        <p:nvSpPr>
          <p:cNvPr id="4" name="Text Placeholder 2">
            <a:extLst>
              <a:ext uri="{FF2B5EF4-FFF2-40B4-BE49-F238E27FC236}">
                <a16:creationId xmlns:a16="http://schemas.microsoft.com/office/drawing/2014/main" id="{07FEBA94-DE3A-E11C-AFAC-975A0BDC94B3}"/>
              </a:ext>
            </a:extLst>
          </p:cNvPr>
          <p:cNvSpPr txBox="1">
            <a:spLocks/>
          </p:cNvSpPr>
          <p:nvPr/>
        </p:nvSpPr>
        <p:spPr>
          <a:xfrm>
            <a:off x="4571999" y="1379955"/>
            <a:ext cx="3364320" cy="2915018"/>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79400" algn="l" rtl="0">
              <a:lnSpc>
                <a:spcPct val="115000"/>
              </a:lnSpc>
              <a:spcBef>
                <a:spcPts val="0"/>
              </a:spcBef>
              <a:spcAft>
                <a:spcPts val="0"/>
              </a:spcAft>
              <a:buClr>
                <a:schemeClr val="dk1"/>
              </a:buClr>
              <a:buSzPts val="800"/>
              <a:buFont typeface="Hanken Grotesk"/>
              <a:buChar char="●"/>
              <a:defRPr sz="1400" b="0" i="0" u="none" strike="noStrike" cap="none">
                <a:solidFill>
                  <a:schemeClr val="dk1"/>
                </a:solidFill>
                <a:latin typeface="Hanken Grotesk"/>
                <a:ea typeface="Hanken Grotesk"/>
                <a:cs typeface="Hanken Grotesk"/>
                <a:sym typeface="Hanken Grotesk"/>
              </a:defRPr>
            </a:lvl1pPr>
            <a:lvl2pPr marL="914400" marR="0" lvl="1"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2pPr>
            <a:lvl3pPr marL="1371600" marR="0" lvl="2"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3pPr>
            <a:lvl4pPr marL="1828800" marR="0" lvl="3"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4pPr>
            <a:lvl5pPr marL="2286000" marR="0" lvl="4"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5pPr>
            <a:lvl6pPr marL="2743200" marR="0" lvl="5"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6pPr>
            <a:lvl7pPr marL="3200400" marR="0" lvl="6"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7pPr>
            <a:lvl8pPr marL="3657600" marR="0" lvl="7"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8pPr>
            <a:lvl9pPr marL="4114800" marR="0" lvl="8"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9pPr>
          </a:lstStyle>
          <a:p>
            <a:pPr marL="177800" indent="0" algn="ctr">
              <a:buFont typeface="Hanken Grotesk"/>
              <a:buNone/>
            </a:pPr>
            <a:r>
              <a:rPr lang="en-US" b="1" dirty="0" err="1"/>
              <a:t>EnhancAR</a:t>
            </a:r>
            <a:br>
              <a:rPr lang="en-US" dirty="0"/>
            </a:br>
            <a:r>
              <a:rPr lang="en-US" dirty="0"/>
              <a:t>Can we use evolution to steer generative models of enhancers?</a:t>
            </a:r>
          </a:p>
        </p:txBody>
      </p:sp>
      <p:pic>
        <p:nvPicPr>
          <p:cNvPr id="5" name="Picture 4">
            <a:extLst>
              <a:ext uri="{FF2B5EF4-FFF2-40B4-BE49-F238E27FC236}">
                <a16:creationId xmlns:a16="http://schemas.microsoft.com/office/drawing/2014/main" id="{C3C62F3C-C28A-61D8-F616-D527FCB9720A}"/>
              </a:ext>
            </a:extLst>
          </p:cNvPr>
          <p:cNvPicPr>
            <a:picLocks noChangeAspect="1"/>
          </p:cNvPicPr>
          <p:nvPr/>
        </p:nvPicPr>
        <p:blipFill>
          <a:blip r:embed="rId3"/>
          <a:srcRect r="69026" b="95835"/>
          <a:stretch>
            <a:fillRect/>
          </a:stretch>
        </p:blipFill>
        <p:spPr>
          <a:xfrm>
            <a:off x="1120050" y="2563107"/>
            <a:ext cx="2320380" cy="156529"/>
          </a:xfrm>
          <a:prstGeom prst="rect">
            <a:avLst/>
          </a:prstGeom>
        </p:spPr>
      </p:pic>
      <mc:AlternateContent xmlns:mc="http://schemas.openxmlformats.org/markup-compatibility/2006" xmlns:p14="http://schemas.microsoft.com/office/powerpoint/2010/main">
        <mc:Choice Requires="p14">
          <p:contentPart p14:bwMode="auto" r:id="rId4">
            <p14:nvContentPartPr>
              <p14:cNvPr id="6" name="Ink 5">
                <a:extLst>
                  <a:ext uri="{FF2B5EF4-FFF2-40B4-BE49-F238E27FC236}">
                    <a16:creationId xmlns:a16="http://schemas.microsoft.com/office/drawing/2014/main" id="{8AE0F79B-302A-5F9D-2379-7805E228FD4E}"/>
                  </a:ext>
                </a:extLst>
              </p14:cNvPr>
              <p14:cNvContentPartPr/>
              <p14:nvPr/>
            </p14:nvContentPartPr>
            <p14:xfrm>
              <a:off x="2197983" y="2719636"/>
              <a:ext cx="102600" cy="55800"/>
            </p14:xfrm>
          </p:contentPart>
        </mc:Choice>
        <mc:Fallback xmlns="">
          <p:pic>
            <p:nvPicPr>
              <p:cNvPr id="6" name="Ink 5">
                <a:extLst>
                  <a:ext uri="{FF2B5EF4-FFF2-40B4-BE49-F238E27FC236}">
                    <a16:creationId xmlns:a16="http://schemas.microsoft.com/office/drawing/2014/main" id="{8AE0F79B-302A-5F9D-2379-7805E228FD4E}"/>
                  </a:ext>
                </a:extLst>
              </p:cNvPr>
              <p:cNvPicPr/>
              <p:nvPr/>
            </p:nvPicPr>
            <p:blipFill>
              <a:blip r:embed="rId5"/>
              <a:stretch>
                <a:fillRect/>
              </a:stretch>
            </p:blipFill>
            <p:spPr>
              <a:xfrm>
                <a:off x="2191863" y="2713516"/>
                <a:ext cx="114840" cy="68040"/>
              </a:xfrm>
              <a:prstGeom prst="rect">
                <a:avLst/>
              </a:prstGeom>
            </p:spPr>
          </p:pic>
        </mc:Fallback>
      </mc:AlternateContent>
      <p:sp>
        <p:nvSpPr>
          <p:cNvPr id="7" name="TextBox 6">
            <a:extLst>
              <a:ext uri="{FF2B5EF4-FFF2-40B4-BE49-F238E27FC236}">
                <a16:creationId xmlns:a16="http://schemas.microsoft.com/office/drawing/2014/main" id="{680E4CEB-4DCD-3493-21BB-E68359390D4F}"/>
              </a:ext>
            </a:extLst>
          </p:cNvPr>
          <p:cNvSpPr txBox="1"/>
          <p:nvPr/>
        </p:nvSpPr>
        <p:spPr>
          <a:xfrm>
            <a:off x="1605879" y="2233885"/>
            <a:ext cx="1826141" cy="338554"/>
          </a:xfrm>
          <a:prstGeom prst="rect">
            <a:avLst/>
          </a:prstGeom>
          <a:noFill/>
        </p:spPr>
        <p:txBody>
          <a:bodyPr wrap="none" rtlCol="0">
            <a:spAutoFit/>
          </a:bodyPr>
          <a:lstStyle/>
          <a:p>
            <a:r>
              <a:rPr lang="en-US" sz="1600" b="1" dirty="0">
                <a:solidFill>
                  <a:srgbClr val="C00000"/>
                </a:solidFill>
                <a:latin typeface="Bradley Hand ITC" panose="03070402050302030203" pitchFamily="66" charset="0"/>
              </a:rPr>
              <a:t>Genomic </a:t>
            </a:r>
            <a:r>
              <a:rPr lang="en-US" sz="1600" b="1" u="sng" dirty="0">
                <a:solidFill>
                  <a:srgbClr val="C00000"/>
                </a:solidFill>
                <a:latin typeface="Bradley Hand ITC" panose="03070402050302030203" pitchFamily="66" charset="0"/>
              </a:rPr>
              <a:t>Evolution</a:t>
            </a:r>
          </a:p>
        </p:txBody>
      </p:sp>
      <p:pic>
        <p:nvPicPr>
          <p:cNvPr id="9" name="Picture 8" descr="The image depicts a genetic sequence diagram with labels for an ARM gene, including a nucleotide sequence with 'C' for cytosine, 'G' for guanine, and 'A' and 'T' for adenine and thymine respectively.&#10;&#10;AI-generated content may be incorrect.">
            <a:extLst>
              <a:ext uri="{FF2B5EF4-FFF2-40B4-BE49-F238E27FC236}">
                <a16:creationId xmlns:a16="http://schemas.microsoft.com/office/drawing/2014/main" id="{AF86620B-43B2-BE65-896A-DB3E8087C3D8}"/>
              </a:ext>
            </a:extLst>
          </p:cNvPr>
          <p:cNvPicPr>
            <a:picLocks noChangeAspect="1"/>
          </p:cNvPicPr>
          <p:nvPr/>
        </p:nvPicPr>
        <p:blipFill>
          <a:blip r:embed="rId6"/>
          <a:stretch>
            <a:fillRect/>
          </a:stretch>
        </p:blipFill>
        <p:spPr>
          <a:xfrm>
            <a:off x="1388762" y="2835036"/>
            <a:ext cx="1458476" cy="1228844"/>
          </a:xfrm>
          <a:prstGeom prst="rect">
            <a:avLst/>
          </a:prstGeom>
        </p:spPr>
      </p:pic>
      <p:sp>
        <p:nvSpPr>
          <p:cNvPr id="11" name="Rectangle 10">
            <a:extLst>
              <a:ext uri="{FF2B5EF4-FFF2-40B4-BE49-F238E27FC236}">
                <a16:creationId xmlns:a16="http://schemas.microsoft.com/office/drawing/2014/main" id="{7180B129-CC3D-02DB-159F-86EE8A3264A7}"/>
              </a:ext>
            </a:extLst>
          </p:cNvPr>
          <p:cNvSpPr/>
          <p:nvPr/>
        </p:nvSpPr>
        <p:spPr>
          <a:xfrm>
            <a:off x="2087164" y="2875596"/>
            <a:ext cx="324237" cy="137160"/>
          </a:xfrm>
          <a:prstGeom prst="rect">
            <a:avLst/>
          </a:prstGeom>
          <a:solidFill>
            <a:srgbClr val="E0CDEF"/>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dirty="0"/>
          </a:p>
        </p:txBody>
      </p:sp>
      <p:sp>
        <p:nvSpPr>
          <p:cNvPr id="12" name="TextBox 11">
            <a:extLst>
              <a:ext uri="{FF2B5EF4-FFF2-40B4-BE49-F238E27FC236}">
                <a16:creationId xmlns:a16="http://schemas.microsoft.com/office/drawing/2014/main" id="{8FB7888B-AB51-D214-84CD-879B8A73A0A3}"/>
              </a:ext>
            </a:extLst>
          </p:cNvPr>
          <p:cNvSpPr txBox="1"/>
          <p:nvPr/>
        </p:nvSpPr>
        <p:spPr>
          <a:xfrm>
            <a:off x="1770380" y="2790287"/>
            <a:ext cx="288862" cy="307777"/>
          </a:xfrm>
          <a:prstGeom prst="rect">
            <a:avLst/>
          </a:prstGeom>
          <a:noFill/>
        </p:spPr>
        <p:txBody>
          <a:bodyPr wrap="none" rtlCol="0">
            <a:spAutoFit/>
          </a:bodyPr>
          <a:lstStyle/>
          <a:p>
            <a:r>
              <a:rPr lang="en-US" dirty="0"/>
              <a:t>+</a:t>
            </a:r>
          </a:p>
        </p:txBody>
      </p:sp>
      <p:sp>
        <p:nvSpPr>
          <p:cNvPr id="14" name="TextBox 13">
            <a:extLst>
              <a:ext uri="{FF2B5EF4-FFF2-40B4-BE49-F238E27FC236}">
                <a16:creationId xmlns:a16="http://schemas.microsoft.com/office/drawing/2014/main" id="{92D573DC-7C10-4D08-A512-DDDAA9D01042}"/>
              </a:ext>
            </a:extLst>
          </p:cNvPr>
          <p:cNvSpPr txBox="1"/>
          <p:nvPr/>
        </p:nvSpPr>
        <p:spPr>
          <a:xfrm>
            <a:off x="2546922" y="2790287"/>
            <a:ext cx="1087157" cy="276999"/>
          </a:xfrm>
          <a:prstGeom prst="rect">
            <a:avLst/>
          </a:prstGeom>
          <a:noFill/>
        </p:spPr>
        <p:txBody>
          <a:bodyPr wrap="none" rtlCol="0">
            <a:spAutoFit/>
          </a:bodyPr>
          <a:lstStyle/>
          <a:p>
            <a:pPr algn="ctr"/>
            <a:r>
              <a:rPr lang="en-US" sz="1200" dirty="0"/>
              <a:t>Conservation</a:t>
            </a:r>
          </a:p>
        </p:txBody>
      </p:sp>
      <p:grpSp>
        <p:nvGrpSpPr>
          <p:cNvPr id="21" name="Group 20">
            <a:extLst>
              <a:ext uri="{FF2B5EF4-FFF2-40B4-BE49-F238E27FC236}">
                <a16:creationId xmlns:a16="http://schemas.microsoft.com/office/drawing/2014/main" id="{57B8F6FD-368F-A16E-CE08-0759758A52CF}"/>
              </a:ext>
            </a:extLst>
          </p:cNvPr>
          <p:cNvGrpSpPr/>
          <p:nvPr/>
        </p:nvGrpSpPr>
        <p:grpSpPr>
          <a:xfrm>
            <a:off x="2384670" y="3057145"/>
            <a:ext cx="432720" cy="134280"/>
            <a:chOff x="2384670" y="3691740"/>
            <a:chExt cx="432720" cy="134280"/>
          </a:xfrm>
        </p:grpSpPr>
        <mc:AlternateContent xmlns:mc="http://schemas.openxmlformats.org/markup-compatibility/2006" xmlns:p14="http://schemas.microsoft.com/office/powerpoint/2010/main">
          <mc:Choice Requires="p14">
            <p:contentPart p14:bwMode="auto" r:id="rId7">
              <p14:nvContentPartPr>
                <p14:cNvPr id="19" name="Ink 18">
                  <a:extLst>
                    <a:ext uri="{FF2B5EF4-FFF2-40B4-BE49-F238E27FC236}">
                      <a16:creationId xmlns:a16="http://schemas.microsoft.com/office/drawing/2014/main" id="{E1DD2BAA-37D6-7FC9-18FB-221EBECBBEC4}"/>
                    </a:ext>
                  </a:extLst>
                </p14:cNvPr>
                <p14:cNvContentPartPr/>
                <p14:nvPr/>
              </p14:nvContentPartPr>
              <p14:xfrm>
                <a:off x="2384670" y="3691740"/>
                <a:ext cx="110160" cy="50040"/>
              </p14:xfrm>
            </p:contentPart>
          </mc:Choice>
          <mc:Fallback xmlns="">
            <p:pic>
              <p:nvPicPr>
                <p:cNvPr id="19" name="Ink 18">
                  <a:extLst>
                    <a:ext uri="{FF2B5EF4-FFF2-40B4-BE49-F238E27FC236}">
                      <a16:creationId xmlns:a16="http://schemas.microsoft.com/office/drawing/2014/main" id="{E1DD2BAA-37D6-7FC9-18FB-221EBECBBEC4}"/>
                    </a:ext>
                  </a:extLst>
                </p:cNvPr>
                <p:cNvPicPr/>
                <p:nvPr/>
              </p:nvPicPr>
              <p:blipFill>
                <a:blip r:embed="rId8"/>
                <a:stretch>
                  <a:fillRect/>
                </a:stretch>
              </p:blipFill>
              <p:spPr>
                <a:xfrm>
                  <a:off x="2378550" y="3685620"/>
                  <a:ext cx="122400" cy="6228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20" name="Ink 19">
                  <a:extLst>
                    <a:ext uri="{FF2B5EF4-FFF2-40B4-BE49-F238E27FC236}">
                      <a16:creationId xmlns:a16="http://schemas.microsoft.com/office/drawing/2014/main" id="{46D3ADB4-F486-E923-612E-ACBF985E5350}"/>
                    </a:ext>
                  </a:extLst>
                </p14:cNvPr>
                <p14:cNvContentPartPr/>
                <p14:nvPr/>
              </p14:nvContentPartPr>
              <p14:xfrm>
                <a:off x="2415270" y="3699300"/>
                <a:ext cx="402120" cy="126720"/>
              </p14:xfrm>
            </p:contentPart>
          </mc:Choice>
          <mc:Fallback xmlns="">
            <p:pic>
              <p:nvPicPr>
                <p:cNvPr id="20" name="Ink 19">
                  <a:extLst>
                    <a:ext uri="{FF2B5EF4-FFF2-40B4-BE49-F238E27FC236}">
                      <a16:creationId xmlns:a16="http://schemas.microsoft.com/office/drawing/2014/main" id="{46D3ADB4-F486-E923-612E-ACBF985E5350}"/>
                    </a:ext>
                  </a:extLst>
                </p:cNvPr>
                <p:cNvPicPr/>
                <p:nvPr/>
              </p:nvPicPr>
              <p:blipFill>
                <a:blip r:embed="rId10"/>
                <a:stretch>
                  <a:fillRect/>
                </a:stretch>
              </p:blipFill>
              <p:spPr>
                <a:xfrm>
                  <a:off x="2409150" y="3693180"/>
                  <a:ext cx="414360" cy="138960"/>
                </a:xfrm>
                <a:prstGeom prst="rect">
                  <a:avLst/>
                </a:prstGeom>
              </p:spPr>
            </p:pic>
          </mc:Fallback>
        </mc:AlternateContent>
      </p:grpSp>
      <p:pic>
        <p:nvPicPr>
          <p:cNvPr id="23" name="Picture 22" descr="The image depicts a genetic sequence diagram with labels for an ARM gene, including a nucleotide sequence with 'C' for cytosine, 'G' for guanine, and 'A' and 'T' for adenine and thymine respectively.&#10;&#10;AI-generated content may be incorrect.">
            <a:extLst>
              <a:ext uri="{FF2B5EF4-FFF2-40B4-BE49-F238E27FC236}">
                <a16:creationId xmlns:a16="http://schemas.microsoft.com/office/drawing/2014/main" id="{BC721220-EF66-5275-6906-93429F672732}"/>
              </a:ext>
            </a:extLst>
          </p:cNvPr>
          <p:cNvPicPr>
            <a:picLocks noChangeAspect="1"/>
          </p:cNvPicPr>
          <p:nvPr/>
        </p:nvPicPr>
        <p:blipFill>
          <a:blip r:embed="rId6"/>
          <a:srcRect t="19437" r="49412" b="36751"/>
          <a:stretch>
            <a:fillRect/>
          </a:stretch>
        </p:blipFill>
        <p:spPr>
          <a:xfrm>
            <a:off x="5235441" y="3293899"/>
            <a:ext cx="737814" cy="538391"/>
          </a:xfrm>
          <a:prstGeom prst="rect">
            <a:avLst/>
          </a:prstGeom>
        </p:spPr>
      </p:pic>
      <p:sp>
        <p:nvSpPr>
          <p:cNvPr id="24" name="Rectangle 23">
            <a:extLst>
              <a:ext uri="{FF2B5EF4-FFF2-40B4-BE49-F238E27FC236}">
                <a16:creationId xmlns:a16="http://schemas.microsoft.com/office/drawing/2014/main" id="{0E90B242-0A64-AB4A-6A0C-A960DF7200EA}"/>
              </a:ext>
            </a:extLst>
          </p:cNvPr>
          <p:cNvSpPr/>
          <p:nvPr/>
        </p:nvSpPr>
        <p:spPr>
          <a:xfrm>
            <a:off x="5235441" y="3011662"/>
            <a:ext cx="2190694" cy="100707"/>
          </a:xfrm>
          <a:prstGeom prst="rect">
            <a:avLst/>
          </a:prstGeom>
          <a:solidFill>
            <a:srgbClr val="71DAFF"/>
          </a:solidFill>
          <a:ln>
            <a:solidFill>
              <a:srgbClr val="71DA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D7AC6485-DA31-591A-6F10-6DBCD3DE6F35}"/>
              </a:ext>
            </a:extLst>
          </p:cNvPr>
          <p:cNvSpPr/>
          <p:nvPr/>
        </p:nvSpPr>
        <p:spPr>
          <a:xfrm>
            <a:off x="5521097" y="3011662"/>
            <a:ext cx="1466125" cy="100707"/>
          </a:xfrm>
          <a:prstGeom prst="rect">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55F268E4-91A5-C898-813C-8380D8C316D5}"/>
              </a:ext>
            </a:extLst>
          </p:cNvPr>
          <p:cNvSpPr/>
          <p:nvPr/>
        </p:nvSpPr>
        <p:spPr>
          <a:xfrm>
            <a:off x="5235441" y="2748972"/>
            <a:ext cx="2190694" cy="100707"/>
          </a:xfrm>
          <a:prstGeom prst="rect">
            <a:avLst/>
          </a:prstGeom>
          <a:solidFill>
            <a:srgbClr val="71DAFF"/>
          </a:solidFill>
          <a:ln>
            <a:solidFill>
              <a:srgbClr val="71DA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9098E25A-86F6-7E15-1043-09887B634742}"/>
              </a:ext>
            </a:extLst>
          </p:cNvPr>
          <p:cNvSpPr/>
          <p:nvPr/>
        </p:nvSpPr>
        <p:spPr>
          <a:xfrm>
            <a:off x="5521097" y="2748972"/>
            <a:ext cx="1466125" cy="100707"/>
          </a:xfrm>
          <a:prstGeom prst="rect">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DD72B364-3423-0867-10C2-10F07802BC37}"/>
              </a:ext>
            </a:extLst>
          </p:cNvPr>
          <p:cNvSpPr/>
          <p:nvPr/>
        </p:nvSpPr>
        <p:spPr>
          <a:xfrm>
            <a:off x="5235441" y="2507147"/>
            <a:ext cx="2190694" cy="100707"/>
          </a:xfrm>
          <a:prstGeom prst="rect">
            <a:avLst/>
          </a:prstGeom>
          <a:solidFill>
            <a:srgbClr val="71DAFF"/>
          </a:solidFill>
          <a:ln>
            <a:solidFill>
              <a:srgbClr val="71DA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C0657230-2AE0-C5C6-4281-16F17F7C4B8B}"/>
              </a:ext>
            </a:extLst>
          </p:cNvPr>
          <p:cNvSpPr/>
          <p:nvPr/>
        </p:nvSpPr>
        <p:spPr>
          <a:xfrm>
            <a:off x="5521097" y="2507147"/>
            <a:ext cx="1466125" cy="100707"/>
          </a:xfrm>
          <a:prstGeom prst="rect">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a:extLst>
              <a:ext uri="{FF2B5EF4-FFF2-40B4-BE49-F238E27FC236}">
                <a16:creationId xmlns:a16="http://schemas.microsoft.com/office/drawing/2014/main" id="{BDC16F3A-E51C-7E5C-1748-737CEB7EA6C9}"/>
              </a:ext>
            </a:extLst>
          </p:cNvPr>
          <p:cNvSpPr txBox="1"/>
          <p:nvPr/>
        </p:nvSpPr>
        <p:spPr>
          <a:xfrm>
            <a:off x="6238748" y="3368574"/>
            <a:ext cx="1805301" cy="646331"/>
          </a:xfrm>
          <a:prstGeom prst="rect">
            <a:avLst/>
          </a:prstGeom>
          <a:noFill/>
        </p:spPr>
        <p:txBody>
          <a:bodyPr wrap="none" rtlCol="0">
            <a:spAutoFit/>
          </a:bodyPr>
          <a:lstStyle/>
          <a:p>
            <a:pPr algn="ctr"/>
            <a:r>
              <a:rPr lang="en-US" sz="1200" dirty="0"/>
              <a:t>Generate not just single</a:t>
            </a:r>
            <a:br>
              <a:rPr lang="en-US" sz="1200" dirty="0"/>
            </a:br>
            <a:r>
              <a:rPr lang="en-US" sz="1200" dirty="0"/>
              <a:t>sequences but entire</a:t>
            </a:r>
            <a:br>
              <a:rPr lang="en-US" sz="1200" dirty="0"/>
            </a:br>
            <a:r>
              <a:rPr lang="en-US" sz="1200" dirty="0"/>
              <a:t>homology family</a:t>
            </a:r>
          </a:p>
        </p:txBody>
      </p:sp>
      <mc:AlternateContent xmlns:mc="http://schemas.openxmlformats.org/markup-compatibility/2006" xmlns:p14="http://schemas.microsoft.com/office/powerpoint/2010/main">
        <mc:Choice Requires="p14">
          <p:contentPart p14:bwMode="auto" r:id="rId11">
            <p14:nvContentPartPr>
              <p14:cNvPr id="34" name="Ink 33">
                <a:extLst>
                  <a:ext uri="{FF2B5EF4-FFF2-40B4-BE49-F238E27FC236}">
                    <a16:creationId xmlns:a16="http://schemas.microsoft.com/office/drawing/2014/main" id="{3427440E-6CCF-4A7D-83F7-F2011EE820CD}"/>
                  </a:ext>
                </a:extLst>
              </p14:cNvPr>
              <p14:cNvContentPartPr/>
              <p14:nvPr/>
            </p14:nvContentPartPr>
            <p14:xfrm>
              <a:off x="6197360" y="3227162"/>
              <a:ext cx="134280" cy="77040"/>
            </p14:xfrm>
          </p:contentPart>
        </mc:Choice>
        <mc:Fallback xmlns="">
          <p:pic>
            <p:nvPicPr>
              <p:cNvPr id="34" name="Ink 33">
                <a:extLst>
                  <a:ext uri="{FF2B5EF4-FFF2-40B4-BE49-F238E27FC236}">
                    <a16:creationId xmlns:a16="http://schemas.microsoft.com/office/drawing/2014/main" id="{3427440E-6CCF-4A7D-83F7-F2011EE820CD}"/>
                  </a:ext>
                </a:extLst>
              </p:cNvPr>
              <p:cNvPicPr/>
              <p:nvPr/>
            </p:nvPicPr>
            <p:blipFill>
              <a:blip r:embed="rId12"/>
              <a:stretch>
                <a:fillRect/>
              </a:stretch>
            </p:blipFill>
            <p:spPr>
              <a:xfrm>
                <a:off x="6191240" y="3221042"/>
                <a:ext cx="146520" cy="8928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39" name="Ink 38">
                <a:extLst>
                  <a:ext uri="{FF2B5EF4-FFF2-40B4-BE49-F238E27FC236}">
                    <a16:creationId xmlns:a16="http://schemas.microsoft.com/office/drawing/2014/main" id="{65E344F6-F18A-158D-1D06-8D316AC1545B}"/>
                  </a:ext>
                </a:extLst>
              </p14:cNvPr>
              <p14:cNvContentPartPr/>
              <p14:nvPr/>
            </p14:nvContentPartPr>
            <p14:xfrm>
              <a:off x="6202928" y="3288832"/>
              <a:ext cx="71640" cy="347760"/>
            </p14:xfrm>
          </p:contentPart>
        </mc:Choice>
        <mc:Fallback xmlns="">
          <p:pic>
            <p:nvPicPr>
              <p:cNvPr id="39" name="Ink 38">
                <a:extLst>
                  <a:ext uri="{FF2B5EF4-FFF2-40B4-BE49-F238E27FC236}">
                    <a16:creationId xmlns:a16="http://schemas.microsoft.com/office/drawing/2014/main" id="{65E344F6-F18A-158D-1D06-8D316AC1545B}"/>
                  </a:ext>
                </a:extLst>
              </p:cNvPr>
              <p:cNvPicPr/>
              <p:nvPr/>
            </p:nvPicPr>
            <p:blipFill>
              <a:blip r:embed="rId14"/>
              <a:stretch>
                <a:fillRect/>
              </a:stretch>
            </p:blipFill>
            <p:spPr>
              <a:xfrm>
                <a:off x="6196808" y="3282352"/>
                <a:ext cx="83880" cy="360000"/>
              </a:xfrm>
              <a:prstGeom prst="rect">
                <a:avLst/>
              </a:prstGeom>
            </p:spPr>
          </p:pic>
        </mc:Fallback>
      </mc:AlternateContent>
      <p:pic>
        <p:nvPicPr>
          <p:cNvPr id="40" name="Picture 39" descr="Micaela Elisa Consens">
            <a:extLst>
              <a:ext uri="{FF2B5EF4-FFF2-40B4-BE49-F238E27FC236}">
                <a16:creationId xmlns:a16="http://schemas.microsoft.com/office/drawing/2014/main" id="{C97D8733-39B8-01D8-DE25-0573CD377AAB}"/>
              </a:ext>
            </a:extLst>
          </p:cNvPr>
          <p:cNvPicPr>
            <a:picLocks noChangeAspect="1"/>
          </p:cNvPicPr>
          <p:nvPr/>
        </p:nvPicPr>
        <p:blipFill>
          <a:blip r:embed="rId15"/>
          <a:stretch>
            <a:fillRect/>
          </a:stretch>
        </p:blipFill>
        <p:spPr>
          <a:xfrm>
            <a:off x="1584141" y="4192838"/>
            <a:ext cx="731520" cy="725805"/>
          </a:xfrm>
          <a:prstGeom prst="ellipse">
            <a:avLst/>
          </a:prstGeom>
        </p:spPr>
      </p:pic>
      <p:pic>
        <p:nvPicPr>
          <p:cNvPr id="41" name="Picture 40" descr="Logo">
            <a:extLst>
              <a:ext uri="{FF2B5EF4-FFF2-40B4-BE49-F238E27FC236}">
                <a16:creationId xmlns:a16="http://schemas.microsoft.com/office/drawing/2014/main" id="{09CC997A-4C31-123E-7593-033268CFA581}"/>
              </a:ext>
            </a:extLst>
          </p:cNvPr>
          <p:cNvPicPr>
            <a:picLocks noChangeAspect="1"/>
          </p:cNvPicPr>
          <p:nvPr/>
        </p:nvPicPr>
        <p:blipFill>
          <a:blip r:embed="rId16"/>
          <a:stretch>
            <a:fillRect/>
          </a:stretch>
        </p:blipFill>
        <p:spPr>
          <a:xfrm>
            <a:off x="2420186" y="4164765"/>
            <a:ext cx="731520" cy="731520"/>
          </a:xfrm>
          <a:prstGeom prst="ellipse">
            <a:avLst/>
          </a:prstGeom>
        </p:spPr>
      </p:pic>
      <p:pic>
        <p:nvPicPr>
          <p:cNvPr id="42" name="Picture 41" descr="Kevin K. Yang">
            <a:extLst>
              <a:ext uri="{FF2B5EF4-FFF2-40B4-BE49-F238E27FC236}">
                <a16:creationId xmlns:a16="http://schemas.microsoft.com/office/drawing/2014/main" id="{DDF2677C-DEE7-E2E8-F640-16292B3E12B1}"/>
              </a:ext>
            </a:extLst>
          </p:cNvPr>
          <p:cNvPicPr>
            <a:picLocks noChangeAspect="1"/>
          </p:cNvPicPr>
          <p:nvPr/>
        </p:nvPicPr>
        <p:blipFill>
          <a:blip r:embed="rId17"/>
          <a:stretch>
            <a:fillRect/>
          </a:stretch>
        </p:blipFill>
        <p:spPr>
          <a:xfrm>
            <a:off x="4992776" y="4147211"/>
            <a:ext cx="731520" cy="731520"/>
          </a:xfrm>
          <a:prstGeom prst="ellipse">
            <a:avLst/>
          </a:prstGeom>
        </p:spPr>
      </p:pic>
      <p:pic>
        <p:nvPicPr>
          <p:cNvPr id="43" name="Picture 42" descr="Alan M Moses">
            <a:extLst>
              <a:ext uri="{FF2B5EF4-FFF2-40B4-BE49-F238E27FC236}">
                <a16:creationId xmlns:a16="http://schemas.microsoft.com/office/drawing/2014/main" id="{66376F33-0482-FA18-026F-C3319F3AB075}"/>
              </a:ext>
            </a:extLst>
          </p:cNvPr>
          <p:cNvPicPr>
            <a:picLocks noChangeAspect="1"/>
          </p:cNvPicPr>
          <p:nvPr/>
        </p:nvPicPr>
        <p:blipFill>
          <a:blip r:embed="rId18"/>
          <a:srcRect l="121" t="4184" r="-121" b="13917"/>
          <a:stretch>
            <a:fillRect/>
          </a:stretch>
        </p:blipFill>
        <p:spPr>
          <a:xfrm>
            <a:off x="3310680" y="4152386"/>
            <a:ext cx="739684" cy="731520"/>
          </a:xfrm>
          <a:prstGeom prst="ellipse">
            <a:avLst/>
          </a:prstGeom>
        </p:spPr>
      </p:pic>
      <p:pic>
        <p:nvPicPr>
          <p:cNvPr id="46" name="Picture 45">
            <a:extLst>
              <a:ext uri="{FF2B5EF4-FFF2-40B4-BE49-F238E27FC236}">
                <a16:creationId xmlns:a16="http://schemas.microsoft.com/office/drawing/2014/main" id="{BA120E53-899E-C90D-7658-01CF20046D1C}"/>
              </a:ext>
            </a:extLst>
          </p:cNvPr>
          <p:cNvPicPr>
            <a:picLocks noChangeAspect="1"/>
          </p:cNvPicPr>
          <p:nvPr/>
        </p:nvPicPr>
        <p:blipFill>
          <a:blip r:embed="rId19"/>
          <a:stretch>
            <a:fillRect/>
          </a:stretch>
        </p:blipFill>
        <p:spPr>
          <a:xfrm>
            <a:off x="4155810" y="4152386"/>
            <a:ext cx="731520" cy="731520"/>
          </a:xfrm>
          <a:prstGeom prst="ellipse">
            <a:avLst/>
          </a:prstGeom>
        </p:spPr>
      </p:pic>
      <p:pic>
        <p:nvPicPr>
          <p:cNvPr id="47" name="Picture 46" descr="Lorin Crawford">
            <a:extLst>
              <a:ext uri="{FF2B5EF4-FFF2-40B4-BE49-F238E27FC236}">
                <a16:creationId xmlns:a16="http://schemas.microsoft.com/office/drawing/2014/main" id="{D7D3CBE7-AF7C-E7A9-648C-3F1C5D0DCB24}"/>
              </a:ext>
            </a:extLst>
          </p:cNvPr>
          <p:cNvPicPr>
            <a:picLocks noChangeAspect="1"/>
          </p:cNvPicPr>
          <p:nvPr/>
        </p:nvPicPr>
        <p:blipFill>
          <a:blip r:embed="rId20"/>
          <a:srcRect l="5897" r="4862"/>
          <a:stretch>
            <a:fillRect/>
          </a:stretch>
        </p:blipFill>
        <p:spPr>
          <a:xfrm>
            <a:off x="5824207" y="4146355"/>
            <a:ext cx="742314" cy="731520"/>
          </a:xfrm>
          <a:prstGeom prst="ellipse">
            <a:avLst/>
          </a:prstGeom>
        </p:spPr>
      </p:pic>
      <p:pic>
        <p:nvPicPr>
          <p:cNvPr id="48" name="Picture 47" descr="Ashley Mae Conard">
            <a:extLst>
              <a:ext uri="{FF2B5EF4-FFF2-40B4-BE49-F238E27FC236}">
                <a16:creationId xmlns:a16="http://schemas.microsoft.com/office/drawing/2014/main" id="{194C6FB5-FFDB-A215-0E7A-828686B79F8F}"/>
              </a:ext>
            </a:extLst>
          </p:cNvPr>
          <p:cNvPicPr>
            <a:picLocks noChangeAspect="1"/>
          </p:cNvPicPr>
          <p:nvPr/>
        </p:nvPicPr>
        <p:blipFill>
          <a:blip r:embed="rId21"/>
          <a:stretch>
            <a:fillRect/>
          </a:stretch>
        </p:blipFill>
        <p:spPr>
          <a:xfrm>
            <a:off x="6688855" y="4146355"/>
            <a:ext cx="737280" cy="731520"/>
          </a:xfrm>
          <a:prstGeom prst="ellipse">
            <a:avLst/>
          </a:prstGeom>
        </p:spPr>
      </p:pic>
      <p:sp>
        <p:nvSpPr>
          <p:cNvPr id="49" name="TextBox 48">
            <a:extLst>
              <a:ext uri="{FF2B5EF4-FFF2-40B4-BE49-F238E27FC236}">
                <a16:creationId xmlns:a16="http://schemas.microsoft.com/office/drawing/2014/main" id="{27700D16-1B3B-9274-58EE-FEFF52BD2556}"/>
              </a:ext>
            </a:extLst>
          </p:cNvPr>
          <p:cNvSpPr txBox="1"/>
          <p:nvPr/>
        </p:nvSpPr>
        <p:spPr>
          <a:xfrm>
            <a:off x="2083354" y="2831226"/>
            <a:ext cx="344966" cy="230832"/>
          </a:xfrm>
          <a:prstGeom prst="rect">
            <a:avLst/>
          </a:prstGeom>
          <a:noFill/>
        </p:spPr>
        <p:txBody>
          <a:bodyPr wrap="none" rtlCol="0">
            <a:spAutoFit/>
          </a:bodyPr>
          <a:lstStyle/>
          <a:p>
            <a:r>
              <a:rPr lang="en-US" sz="900" dirty="0"/>
              <a:t>1.7</a:t>
            </a:r>
          </a:p>
        </p:txBody>
      </p:sp>
    </p:spTree>
    <p:extLst>
      <p:ext uri="{BB962C8B-B14F-4D97-AF65-F5344CB8AC3E}">
        <p14:creationId xmlns:p14="http://schemas.microsoft.com/office/powerpoint/2010/main" val="129181052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E40594-F141-8EE7-FE17-2021BFAB54C5}"/>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ADB23E42-DC8E-7E71-2256-0AF50B6F2026}"/>
              </a:ext>
            </a:extLst>
          </p:cNvPr>
          <p:cNvSpPr>
            <a:spLocks noGrp="1"/>
          </p:cNvSpPr>
          <p:nvPr>
            <p:ph type="body" idx="1"/>
          </p:nvPr>
        </p:nvSpPr>
        <p:spPr>
          <a:xfrm>
            <a:off x="373137" y="1332778"/>
            <a:ext cx="4076528" cy="2915018"/>
          </a:xfrm>
        </p:spPr>
        <p:txBody>
          <a:bodyPr/>
          <a:lstStyle/>
          <a:p>
            <a:pPr marL="177800" indent="0" algn="ctr">
              <a:buNone/>
            </a:pPr>
            <a:r>
              <a:rPr lang="en-US" b="1" dirty="0" err="1"/>
              <a:t>Gamba</a:t>
            </a:r>
            <a:br>
              <a:rPr lang="en-US" dirty="0"/>
            </a:br>
            <a:r>
              <a:rPr lang="en-US" dirty="0"/>
              <a:t>Does pretraining on conservation </a:t>
            </a:r>
            <a:br>
              <a:rPr lang="en-US" dirty="0"/>
            </a:br>
            <a:r>
              <a:rPr lang="en-US" dirty="0"/>
              <a:t>better learn the regulatory code?</a:t>
            </a:r>
          </a:p>
        </p:txBody>
      </p:sp>
      <p:pic>
        <p:nvPicPr>
          <p:cNvPr id="5" name="Picture 4">
            <a:extLst>
              <a:ext uri="{FF2B5EF4-FFF2-40B4-BE49-F238E27FC236}">
                <a16:creationId xmlns:a16="http://schemas.microsoft.com/office/drawing/2014/main" id="{D9A2B0FE-D929-7B81-9E32-C29E50781819}"/>
              </a:ext>
            </a:extLst>
          </p:cNvPr>
          <p:cNvPicPr>
            <a:picLocks noChangeAspect="1"/>
          </p:cNvPicPr>
          <p:nvPr/>
        </p:nvPicPr>
        <p:blipFill>
          <a:blip r:embed="rId3"/>
          <a:srcRect r="69026" b="95835"/>
          <a:stretch>
            <a:fillRect/>
          </a:stretch>
        </p:blipFill>
        <p:spPr>
          <a:xfrm>
            <a:off x="1120050" y="2563107"/>
            <a:ext cx="2320380" cy="156529"/>
          </a:xfrm>
          <a:prstGeom prst="rect">
            <a:avLst/>
          </a:prstGeom>
        </p:spPr>
      </p:pic>
      <mc:AlternateContent xmlns:mc="http://schemas.openxmlformats.org/markup-compatibility/2006" xmlns:p14="http://schemas.microsoft.com/office/powerpoint/2010/main">
        <mc:Choice Requires="p14">
          <p:contentPart p14:bwMode="auto" r:id="rId4">
            <p14:nvContentPartPr>
              <p14:cNvPr id="6" name="Ink 5">
                <a:extLst>
                  <a:ext uri="{FF2B5EF4-FFF2-40B4-BE49-F238E27FC236}">
                    <a16:creationId xmlns:a16="http://schemas.microsoft.com/office/drawing/2014/main" id="{E6095374-E97B-1818-BD12-CF7251DE5BE2}"/>
                  </a:ext>
                </a:extLst>
              </p14:cNvPr>
              <p14:cNvContentPartPr/>
              <p14:nvPr/>
            </p14:nvContentPartPr>
            <p14:xfrm>
              <a:off x="2197983" y="2719636"/>
              <a:ext cx="102600" cy="55800"/>
            </p14:xfrm>
          </p:contentPart>
        </mc:Choice>
        <mc:Fallback xmlns="">
          <p:pic>
            <p:nvPicPr>
              <p:cNvPr id="6" name="Ink 5">
                <a:extLst>
                  <a:ext uri="{FF2B5EF4-FFF2-40B4-BE49-F238E27FC236}">
                    <a16:creationId xmlns:a16="http://schemas.microsoft.com/office/drawing/2014/main" id="{E6095374-E97B-1818-BD12-CF7251DE5BE2}"/>
                  </a:ext>
                </a:extLst>
              </p:cNvPr>
              <p:cNvPicPr/>
              <p:nvPr/>
            </p:nvPicPr>
            <p:blipFill>
              <a:blip r:embed="rId5"/>
              <a:stretch>
                <a:fillRect/>
              </a:stretch>
            </p:blipFill>
            <p:spPr>
              <a:xfrm>
                <a:off x="2191863" y="2713516"/>
                <a:ext cx="114840" cy="68040"/>
              </a:xfrm>
              <a:prstGeom prst="rect">
                <a:avLst/>
              </a:prstGeom>
            </p:spPr>
          </p:pic>
        </mc:Fallback>
      </mc:AlternateContent>
      <p:sp>
        <p:nvSpPr>
          <p:cNvPr id="7" name="TextBox 6">
            <a:extLst>
              <a:ext uri="{FF2B5EF4-FFF2-40B4-BE49-F238E27FC236}">
                <a16:creationId xmlns:a16="http://schemas.microsoft.com/office/drawing/2014/main" id="{2878871E-45FF-D53F-96DE-067BDAB8F928}"/>
              </a:ext>
            </a:extLst>
          </p:cNvPr>
          <p:cNvSpPr txBox="1"/>
          <p:nvPr/>
        </p:nvSpPr>
        <p:spPr>
          <a:xfrm>
            <a:off x="1605879" y="2233885"/>
            <a:ext cx="1826141" cy="338554"/>
          </a:xfrm>
          <a:prstGeom prst="rect">
            <a:avLst/>
          </a:prstGeom>
          <a:noFill/>
        </p:spPr>
        <p:txBody>
          <a:bodyPr wrap="none" rtlCol="0">
            <a:spAutoFit/>
          </a:bodyPr>
          <a:lstStyle/>
          <a:p>
            <a:r>
              <a:rPr lang="en-US" sz="1600" b="1" dirty="0">
                <a:solidFill>
                  <a:srgbClr val="C00000"/>
                </a:solidFill>
                <a:latin typeface="Bradley Hand ITC" panose="03070402050302030203" pitchFamily="66" charset="0"/>
              </a:rPr>
              <a:t>Genomic </a:t>
            </a:r>
            <a:r>
              <a:rPr lang="en-US" sz="1600" b="1" u="sng" dirty="0">
                <a:solidFill>
                  <a:srgbClr val="C00000"/>
                </a:solidFill>
                <a:latin typeface="Bradley Hand ITC" panose="03070402050302030203" pitchFamily="66" charset="0"/>
              </a:rPr>
              <a:t>Evolution</a:t>
            </a:r>
          </a:p>
        </p:txBody>
      </p:sp>
      <p:pic>
        <p:nvPicPr>
          <p:cNvPr id="9" name="Picture 8" descr="The image depicts a genetic sequence diagram with labels for an ARM gene, including a nucleotide sequence with 'C' for cytosine, 'G' for guanine, and 'A' and 'T' for adenine and thymine respectively.&#10;&#10;AI-generated content may be incorrect.">
            <a:extLst>
              <a:ext uri="{FF2B5EF4-FFF2-40B4-BE49-F238E27FC236}">
                <a16:creationId xmlns:a16="http://schemas.microsoft.com/office/drawing/2014/main" id="{ABC08E30-F767-16C3-469B-C50843D792B9}"/>
              </a:ext>
            </a:extLst>
          </p:cNvPr>
          <p:cNvPicPr>
            <a:picLocks noChangeAspect="1"/>
          </p:cNvPicPr>
          <p:nvPr/>
        </p:nvPicPr>
        <p:blipFill>
          <a:blip r:embed="rId6"/>
          <a:stretch>
            <a:fillRect/>
          </a:stretch>
        </p:blipFill>
        <p:spPr>
          <a:xfrm>
            <a:off x="1388762" y="2835036"/>
            <a:ext cx="1458476" cy="1228844"/>
          </a:xfrm>
          <a:prstGeom prst="rect">
            <a:avLst/>
          </a:prstGeom>
        </p:spPr>
      </p:pic>
      <p:sp>
        <p:nvSpPr>
          <p:cNvPr id="11" name="Rectangle 10">
            <a:extLst>
              <a:ext uri="{FF2B5EF4-FFF2-40B4-BE49-F238E27FC236}">
                <a16:creationId xmlns:a16="http://schemas.microsoft.com/office/drawing/2014/main" id="{25CB24F5-9D46-DEEA-9254-66C2BDFE32DE}"/>
              </a:ext>
            </a:extLst>
          </p:cNvPr>
          <p:cNvSpPr/>
          <p:nvPr/>
        </p:nvSpPr>
        <p:spPr>
          <a:xfrm>
            <a:off x="2087164" y="2875596"/>
            <a:ext cx="324237" cy="137160"/>
          </a:xfrm>
          <a:prstGeom prst="rect">
            <a:avLst/>
          </a:prstGeom>
          <a:solidFill>
            <a:srgbClr val="E0CDEF"/>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dirty="0"/>
          </a:p>
        </p:txBody>
      </p:sp>
      <p:sp>
        <p:nvSpPr>
          <p:cNvPr id="12" name="TextBox 11">
            <a:extLst>
              <a:ext uri="{FF2B5EF4-FFF2-40B4-BE49-F238E27FC236}">
                <a16:creationId xmlns:a16="http://schemas.microsoft.com/office/drawing/2014/main" id="{5B505465-CD87-0AC6-5B28-D7E7ABE520C2}"/>
              </a:ext>
            </a:extLst>
          </p:cNvPr>
          <p:cNvSpPr txBox="1"/>
          <p:nvPr/>
        </p:nvSpPr>
        <p:spPr>
          <a:xfrm>
            <a:off x="1770380" y="2790287"/>
            <a:ext cx="288862" cy="307777"/>
          </a:xfrm>
          <a:prstGeom prst="rect">
            <a:avLst/>
          </a:prstGeom>
          <a:noFill/>
        </p:spPr>
        <p:txBody>
          <a:bodyPr wrap="none" rtlCol="0">
            <a:spAutoFit/>
          </a:bodyPr>
          <a:lstStyle/>
          <a:p>
            <a:r>
              <a:rPr lang="en-US" dirty="0"/>
              <a:t>+</a:t>
            </a:r>
          </a:p>
        </p:txBody>
      </p:sp>
      <p:sp>
        <p:nvSpPr>
          <p:cNvPr id="14" name="TextBox 13">
            <a:extLst>
              <a:ext uri="{FF2B5EF4-FFF2-40B4-BE49-F238E27FC236}">
                <a16:creationId xmlns:a16="http://schemas.microsoft.com/office/drawing/2014/main" id="{0C4308AC-A556-90EC-6DAF-C7252996C1E3}"/>
              </a:ext>
            </a:extLst>
          </p:cNvPr>
          <p:cNvSpPr txBox="1"/>
          <p:nvPr/>
        </p:nvSpPr>
        <p:spPr>
          <a:xfrm>
            <a:off x="2546922" y="2790287"/>
            <a:ext cx="1087157" cy="276999"/>
          </a:xfrm>
          <a:prstGeom prst="rect">
            <a:avLst/>
          </a:prstGeom>
          <a:noFill/>
        </p:spPr>
        <p:txBody>
          <a:bodyPr wrap="none" rtlCol="0">
            <a:spAutoFit/>
          </a:bodyPr>
          <a:lstStyle/>
          <a:p>
            <a:pPr algn="ctr"/>
            <a:r>
              <a:rPr lang="en-US" sz="1200" dirty="0"/>
              <a:t>Conservation</a:t>
            </a:r>
          </a:p>
        </p:txBody>
      </p:sp>
      <p:grpSp>
        <p:nvGrpSpPr>
          <p:cNvPr id="21" name="Group 20">
            <a:extLst>
              <a:ext uri="{FF2B5EF4-FFF2-40B4-BE49-F238E27FC236}">
                <a16:creationId xmlns:a16="http://schemas.microsoft.com/office/drawing/2014/main" id="{C6ECBF9C-9196-180C-FA73-0D6B6B350991}"/>
              </a:ext>
            </a:extLst>
          </p:cNvPr>
          <p:cNvGrpSpPr/>
          <p:nvPr/>
        </p:nvGrpSpPr>
        <p:grpSpPr>
          <a:xfrm>
            <a:off x="2384670" y="3057145"/>
            <a:ext cx="432720" cy="134280"/>
            <a:chOff x="2384670" y="3691740"/>
            <a:chExt cx="432720" cy="134280"/>
          </a:xfrm>
        </p:grpSpPr>
        <mc:AlternateContent xmlns:mc="http://schemas.openxmlformats.org/markup-compatibility/2006" xmlns:p14="http://schemas.microsoft.com/office/powerpoint/2010/main">
          <mc:Choice Requires="p14">
            <p:contentPart p14:bwMode="auto" r:id="rId7">
              <p14:nvContentPartPr>
                <p14:cNvPr id="19" name="Ink 18">
                  <a:extLst>
                    <a:ext uri="{FF2B5EF4-FFF2-40B4-BE49-F238E27FC236}">
                      <a16:creationId xmlns:a16="http://schemas.microsoft.com/office/drawing/2014/main" id="{FE53F028-7CC9-EF75-BF16-DAB5EB708E4A}"/>
                    </a:ext>
                  </a:extLst>
                </p14:cNvPr>
                <p14:cNvContentPartPr/>
                <p14:nvPr/>
              </p14:nvContentPartPr>
              <p14:xfrm>
                <a:off x="2384670" y="3691740"/>
                <a:ext cx="110160" cy="50040"/>
              </p14:xfrm>
            </p:contentPart>
          </mc:Choice>
          <mc:Fallback xmlns="">
            <p:pic>
              <p:nvPicPr>
                <p:cNvPr id="19" name="Ink 18">
                  <a:extLst>
                    <a:ext uri="{FF2B5EF4-FFF2-40B4-BE49-F238E27FC236}">
                      <a16:creationId xmlns:a16="http://schemas.microsoft.com/office/drawing/2014/main" id="{FE53F028-7CC9-EF75-BF16-DAB5EB708E4A}"/>
                    </a:ext>
                  </a:extLst>
                </p:cNvPr>
                <p:cNvPicPr/>
                <p:nvPr/>
              </p:nvPicPr>
              <p:blipFill>
                <a:blip r:embed="rId8"/>
                <a:stretch>
                  <a:fillRect/>
                </a:stretch>
              </p:blipFill>
              <p:spPr>
                <a:xfrm>
                  <a:off x="2378550" y="3685620"/>
                  <a:ext cx="122400" cy="6228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20" name="Ink 19">
                  <a:extLst>
                    <a:ext uri="{FF2B5EF4-FFF2-40B4-BE49-F238E27FC236}">
                      <a16:creationId xmlns:a16="http://schemas.microsoft.com/office/drawing/2014/main" id="{F28A727F-85CA-0A75-961D-47AFEF5C9C3A}"/>
                    </a:ext>
                  </a:extLst>
                </p14:cNvPr>
                <p14:cNvContentPartPr/>
                <p14:nvPr/>
              </p14:nvContentPartPr>
              <p14:xfrm>
                <a:off x="2415270" y="3699300"/>
                <a:ext cx="402120" cy="126720"/>
              </p14:xfrm>
            </p:contentPart>
          </mc:Choice>
          <mc:Fallback xmlns="">
            <p:pic>
              <p:nvPicPr>
                <p:cNvPr id="20" name="Ink 19">
                  <a:extLst>
                    <a:ext uri="{FF2B5EF4-FFF2-40B4-BE49-F238E27FC236}">
                      <a16:creationId xmlns:a16="http://schemas.microsoft.com/office/drawing/2014/main" id="{F28A727F-85CA-0A75-961D-47AFEF5C9C3A}"/>
                    </a:ext>
                  </a:extLst>
                </p:cNvPr>
                <p:cNvPicPr/>
                <p:nvPr/>
              </p:nvPicPr>
              <p:blipFill>
                <a:blip r:embed="rId10"/>
                <a:stretch>
                  <a:fillRect/>
                </a:stretch>
              </p:blipFill>
              <p:spPr>
                <a:xfrm>
                  <a:off x="2409150" y="3693180"/>
                  <a:ext cx="414360" cy="138960"/>
                </a:xfrm>
                <a:prstGeom prst="rect">
                  <a:avLst/>
                </a:prstGeom>
              </p:spPr>
            </p:pic>
          </mc:Fallback>
        </mc:AlternateContent>
      </p:grpSp>
      <p:sp>
        <p:nvSpPr>
          <p:cNvPr id="8" name="Text Placeholder 2">
            <a:extLst>
              <a:ext uri="{FF2B5EF4-FFF2-40B4-BE49-F238E27FC236}">
                <a16:creationId xmlns:a16="http://schemas.microsoft.com/office/drawing/2014/main" id="{BCBF9C35-56CE-924F-54F8-CF2BB039AC3C}"/>
              </a:ext>
            </a:extLst>
          </p:cNvPr>
          <p:cNvSpPr txBox="1">
            <a:spLocks/>
          </p:cNvSpPr>
          <p:nvPr/>
        </p:nvSpPr>
        <p:spPr>
          <a:xfrm>
            <a:off x="4886443" y="3449458"/>
            <a:ext cx="3364320" cy="2915018"/>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79400" algn="l" rtl="0">
              <a:lnSpc>
                <a:spcPct val="115000"/>
              </a:lnSpc>
              <a:spcBef>
                <a:spcPts val="0"/>
              </a:spcBef>
              <a:spcAft>
                <a:spcPts val="0"/>
              </a:spcAft>
              <a:buClr>
                <a:schemeClr val="dk1"/>
              </a:buClr>
              <a:buSzPts val="800"/>
              <a:buFont typeface="Hanken Grotesk"/>
              <a:buChar char="●"/>
              <a:defRPr sz="1400" b="0" i="0" u="none" strike="noStrike" cap="none">
                <a:solidFill>
                  <a:schemeClr val="dk1"/>
                </a:solidFill>
                <a:latin typeface="Hanken Grotesk"/>
                <a:ea typeface="Hanken Grotesk"/>
                <a:cs typeface="Hanken Grotesk"/>
                <a:sym typeface="Hanken Grotesk"/>
              </a:defRPr>
            </a:lvl1pPr>
            <a:lvl2pPr marL="914400" marR="0" lvl="1"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2pPr>
            <a:lvl3pPr marL="1371600" marR="0" lvl="2"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3pPr>
            <a:lvl4pPr marL="1828800" marR="0" lvl="3"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4pPr>
            <a:lvl5pPr marL="2286000" marR="0" lvl="4"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5pPr>
            <a:lvl6pPr marL="2743200" marR="0" lvl="5"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6pPr>
            <a:lvl7pPr marL="3200400" marR="0" lvl="6"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7pPr>
            <a:lvl8pPr marL="3657600" marR="0" lvl="7"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8pPr>
            <a:lvl9pPr marL="4114800" marR="0" lvl="8"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9pPr>
          </a:lstStyle>
          <a:p>
            <a:pPr marL="177800" indent="0" algn="ctr">
              <a:buFont typeface="Hanken Grotesk"/>
              <a:buNone/>
            </a:pPr>
            <a:r>
              <a:rPr lang="en-US" b="1" dirty="0"/>
              <a:t>Mica </a:t>
            </a:r>
            <a:r>
              <a:rPr lang="en-US" b="1" dirty="0" err="1"/>
              <a:t>Consens</a:t>
            </a:r>
            <a:endParaRPr lang="en-US" dirty="0"/>
          </a:p>
        </p:txBody>
      </p:sp>
      <p:sp>
        <p:nvSpPr>
          <p:cNvPr id="16" name="Title 1">
            <a:extLst>
              <a:ext uri="{FF2B5EF4-FFF2-40B4-BE49-F238E27FC236}">
                <a16:creationId xmlns:a16="http://schemas.microsoft.com/office/drawing/2014/main" id="{E676F307-35F3-1958-074B-B76B911CA598}"/>
              </a:ext>
            </a:extLst>
          </p:cNvPr>
          <p:cNvSpPr>
            <a:spLocks noGrp="1"/>
          </p:cNvSpPr>
          <p:nvPr>
            <p:ph type="title"/>
          </p:nvPr>
        </p:nvSpPr>
        <p:spPr>
          <a:xfrm>
            <a:off x="719999" y="362674"/>
            <a:ext cx="7704000" cy="572700"/>
          </a:xfrm>
        </p:spPr>
        <p:txBody>
          <a:bodyPr/>
          <a:lstStyle/>
          <a:p>
            <a:pPr algn="ctr"/>
            <a:r>
              <a:rPr lang="en-US" sz="2400" dirty="0"/>
              <a:t>Combining evolution-based strategies </a:t>
            </a:r>
            <a:br>
              <a:rPr lang="en-US" sz="2400" dirty="0"/>
            </a:br>
            <a:r>
              <a:rPr lang="en-US" sz="2400" dirty="0"/>
              <a:t>with genome language modeling </a:t>
            </a:r>
          </a:p>
        </p:txBody>
      </p:sp>
      <p:pic>
        <p:nvPicPr>
          <p:cNvPr id="17" name="Picture 16" descr="Micaela Consens - PhD Candidate in Computer Science at the Wang and Moses  Lab | LinkedIn">
            <a:extLst>
              <a:ext uri="{FF2B5EF4-FFF2-40B4-BE49-F238E27FC236}">
                <a16:creationId xmlns:a16="http://schemas.microsoft.com/office/drawing/2014/main" id="{DFBB63B3-AF62-041D-4547-4147A4A96B31}"/>
              </a:ext>
            </a:extLst>
          </p:cNvPr>
          <p:cNvPicPr>
            <a:picLocks noChangeAspect="1"/>
          </p:cNvPicPr>
          <p:nvPr/>
        </p:nvPicPr>
        <p:blipFill>
          <a:blip r:embed="rId11"/>
          <a:stretch>
            <a:fillRect/>
          </a:stretch>
        </p:blipFill>
        <p:spPr>
          <a:xfrm>
            <a:off x="5675074" y="1678221"/>
            <a:ext cx="1787057" cy="1787057"/>
          </a:xfrm>
          <a:prstGeom prst="ellipse">
            <a:avLst/>
          </a:prstGeom>
        </p:spPr>
      </p:pic>
      <p:sp>
        <p:nvSpPr>
          <p:cNvPr id="18" name="TextBox 17">
            <a:extLst>
              <a:ext uri="{FF2B5EF4-FFF2-40B4-BE49-F238E27FC236}">
                <a16:creationId xmlns:a16="http://schemas.microsoft.com/office/drawing/2014/main" id="{098CEE24-289D-2527-FC68-62DAC59CD003}"/>
              </a:ext>
            </a:extLst>
          </p:cNvPr>
          <p:cNvSpPr txBox="1"/>
          <p:nvPr/>
        </p:nvSpPr>
        <p:spPr>
          <a:xfrm>
            <a:off x="2083354" y="2831226"/>
            <a:ext cx="344966" cy="230832"/>
          </a:xfrm>
          <a:prstGeom prst="rect">
            <a:avLst/>
          </a:prstGeom>
          <a:noFill/>
        </p:spPr>
        <p:txBody>
          <a:bodyPr wrap="none" rtlCol="0">
            <a:spAutoFit/>
          </a:bodyPr>
          <a:lstStyle/>
          <a:p>
            <a:r>
              <a:rPr lang="en-US" sz="900" dirty="0"/>
              <a:t>1.7</a:t>
            </a:r>
          </a:p>
        </p:txBody>
      </p:sp>
    </p:spTree>
    <p:extLst>
      <p:ext uri="{BB962C8B-B14F-4D97-AF65-F5344CB8AC3E}">
        <p14:creationId xmlns:p14="http://schemas.microsoft.com/office/powerpoint/2010/main" val="67686992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D18E21-2DF4-6982-E85D-628EF2ED801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68AE66-063F-81F0-0C3D-6026B8FCF06F}"/>
              </a:ext>
            </a:extLst>
          </p:cNvPr>
          <p:cNvSpPr>
            <a:spLocks noGrp="1"/>
          </p:cNvSpPr>
          <p:nvPr>
            <p:ph type="title"/>
          </p:nvPr>
        </p:nvSpPr>
        <p:spPr/>
        <p:txBody>
          <a:bodyPr/>
          <a:lstStyle/>
          <a:p>
            <a:r>
              <a:rPr lang="en-US" sz="2400" dirty="0"/>
              <a:t>Bioinformatics methods can estimate evolutionary conservation at the nucleotide level…</a:t>
            </a:r>
          </a:p>
        </p:txBody>
      </p:sp>
      <p:pic>
        <p:nvPicPr>
          <p:cNvPr id="8" name="Picture 7">
            <a:extLst>
              <a:ext uri="{FF2B5EF4-FFF2-40B4-BE49-F238E27FC236}">
                <a16:creationId xmlns:a16="http://schemas.microsoft.com/office/drawing/2014/main" id="{B8A22AB0-F07F-3548-065E-51379B57A1A9}"/>
              </a:ext>
            </a:extLst>
          </p:cNvPr>
          <p:cNvPicPr>
            <a:picLocks noChangeAspect="1"/>
          </p:cNvPicPr>
          <p:nvPr/>
        </p:nvPicPr>
        <p:blipFill>
          <a:blip r:embed="rId3"/>
          <a:stretch>
            <a:fillRect/>
          </a:stretch>
        </p:blipFill>
        <p:spPr>
          <a:xfrm>
            <a:off x="507222" y="1707384"/>
            <a:ext cx="607510" cy="1407524"/>
          </a:xfrm>
          <a:prstGeom prst="rect">
            <a:avLst/>
          </a:prstGeom>
        </p:spPr>
      </p:pic>
      <p:pic>
        <p:nvPicPr>
          <p:cNvPr id="9" name="Picture 8">
            <a:extLst>
              <a:ext uri="{FF2B5EF4-FFF2-40B4-BE49-F238E27FC236}">
                <a16:creationId xmlns:a16="http://schemas.microsoft.com/office/drawing/2014/main" id="{518669F9-61D2-B3F7-D1C3-17DC340AE775}"/>
              </a:ext>
            </a:extLst>
          </p:cNvPr>
          <p:cNvPicPr>
            <a:picLocks noChangeAspect="1"/>
          </p:cNvPicPr>
          <p:nvPr/>
        </p:nvPicPr>
        <p:blipFill>
          <a:blip r:embed="rId4"/>
          <a:srcRect l="2796" t="19536" r="38737" b="61613"/>
          <a:stretch>
            <a:fillRect/>
          </a:stretch>
        </p:blipFill>
        <p:spPr>
          <a:xfrm>
            <a:off x="932778" y="1702149"/>
            <a:ext cx="7704000" cy="1739202"/>
          </a:xfrm>
          <a:prstGeom prst="rect">
            <a:avLst/>
          </a:prstGeom>
        </p:spPr>
      </p:pic>
    </p:spTree>
    <p:extLst>
      <p:ext uri="{BB962C8B-B14F-4D97-AF65-F5344CB8AC3E}">
        <p14:creationId xmlns:p14="http://schemas.microsoft.com/office/powerpoint/2010/main" val="9890451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D01F7D-48A6-E10E-4519-CC9BE8EE7BA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D51035D-3434-5FB1-5B43-D454FD8EAE98}"/>
              </a:ext>
            </a:extLst>
          </p:cNvPr>
          <p:cNvSpPr>
            <a:spLocks noGrp="1"/>
          </p:cNvSpPr>
          <p:nvPr>
            <p:ph type="title"/>
          </p:nvPr>
        </p:nvSpPr>
        <p:spPr/>
        <p:txBody>
          <a:bodyPr/>
          <a:lstStyle/>
          <a:p>
            <a:r>
              <a:rPr lang="en-US" sz="2400" dirty="0"/>
              <a:t>Bioinformatics methods can estimate evolutionary conservation at the nucleotide level…</a:t>
            </a:r>
          </a:p>
        </p:txBody>
      </p:sp>
      <p:pic>
        <p:nvPicPr>
          <p:cNvPr id="8" name="Picture 7">
            <a:extLst>
              <a:ext uri="{FF2B5EF4-FFF2-40B4-BE49-F238E27FC236}">
                <a16:creationId xmlns:a16="http://schemas.microsoft.com/office/drawing/2014/main" id="{FE531638-8F49-19F6-6041-9B820DD6CA61}"/>
              </a:ext>
            </a:extLst>
          </p:cNvPr>
          <p:cNvPicPr>
            <a:picLocks noChangeAspect="1"/>
          </p:cNvPicPr>
          <p:nvPr/>
        </p:nvPicPr>
        <p:blipFill>
          <a:blip r:embed="rId3"/>
          <a:stretch>
            <a:fillRect/>
          </a:stretch>
        </p:blipFill>
        <p:spPr>
          <a:xfrm>
            <a:off x="507222" y="1707384"/>
            <a:ext cx="607510" cy="1407524"/>
          </a:xfrm>
          <a:prstGeom prst="rect">
            <a:avLst/>
          </a:prstGeom>
        </p:spPr>
      </p:pic>
      <p:pic>
        <p:nvPicPr>
          <p:cNvPr id="9" name="Picture 8">
            <a:extLst>
              <a:ext uri="{FF2B5EF4-FFF2-40B4-BE49-F238E27FC236}">
                <a16:creationId xmlns:a16="http://schemas.microsoft.com/office/drawing/2014/main" id="{23FBD960-981E-7C19-98A9-FD0E0039C202}"/>
              </a:ext>
            </a:extLst>
          </p:cNvPr>
          <p:cNvPicPr>
            <a:picLocks noChangeAspect="1"/>
          </p:cNvPicPr>
          <p:nvPr/>
        </p:nvPicPr>
        <p:blipFill>
          <a:blip r:embed="rId4"/>
          <a:srcRect l="2796" t="19536" r="38737" b="61613"/>
          <a:stretch>
            <a:fillRect/>
          </a:stretch>
        </p:blipFill>
        <p:spPr>
          <a:xfrm>
            <a:off x="932778" y="1702149"/>
            <a:ext cx="7704000" cy="1739202"/>
          </a:xfrm>
          <a:prstGeom prst="rect">
            <a:avLst/>
          </a:prstGeom>
        </p:spPr>
      </p:pic>
      <p:sp>
        <p:nvSpPr>
          <p:cNvPr id="3" name="Rectangle 2">
            <a:extLst>
              <a:ext uri="{FF2B5EF4-FFF2-40B4-BE49-F238E27FC236}">
                <a16:creationId xmlns:a16="http://schemas.microsoft.com/office/drawing/2014/main" id="{CA82CA98-87E3-E02D-A887-DF3249B83BB9}"/>
              </a:ext>
            </a:extLst>
          </p:cNvPr>
          <p:cNvSpPr/>
          <p:nvPr/>
        </p:nvSpPr>
        <p:spPr>
          <a:xfrm>
            <a:off x="5036574" y="1702149"/>
            <a:ext cx="607510" cy="1407524"/>
          </a:xfrm>
          <a:prstGeom prst="rect">
            <a:avLst/>
          </a:prstGeom>
          <a:noFill/>
          <a:ln w="3810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2355528E-91CA-E359-E3BF-06C31743D6AC}"/>
              </a:ext>
            </a:extLst>
          </p:cNvPr>
          <p:cNvSpPr/>
          <p:nvPr/>
        </p:nvSpPr>
        <p:spPr>
          <a:xfrm>
            <a:off x="4147124" y="1702149"/>
            <a:ext cx="607510" cy="1407524"/>
          </a:xfrm>
          <a:prstGeom prst="rect">
            <a:avLst/>
          </a:prstGeom>
          <a:noFill/>
          <a:ln w="3810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2779857B-77CE-207C-B2DD-4788FAF464C2}"/>
              </a:ext>
            </a:extLst>
          </p:cNvPr>
          <p:cNvSpPr/>
          <p:nvPr/>
        </p:nvSpPr>
        <p:spPr>
          <a:xfrm>
            <a:off x="7361470" y="1702149"/>
            <a:ext cx="607510" cy="1407524"/>
          </a:xfrm>
          <a:prstGeom prst="rect">
            <a:avLst/>
          </a:prstGeom>
          <a:noFill/>
          <a:ln w="3810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B57C0C45-B954-013C-3B71-18A33DCA5335}"/>
              </a:ext>
            </a:extLst>
          </p:cNvPr>
          <p:cNvSpPr/>
          <p:nvPr/>
        </p:nvSpPr>
        <p:spPr>
          <a:xfrm>
            <a:off x="3576484" y="1702149"/>
            <a:ext cx="288700" cy="1407524"/>
          </a:xfrm>
          <a:prstGeom prst="rect">
            <a:avLst/>
          </a:prstGeom>
          <a:noFill/>
          <a:ln w="3810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D346551F-E368-C54F-CB10-61285D66F680}"/>
              </a:ext>
            </a:extLst>
          </p:cNvPr>
          <p:cNvSpPr/>
          <p:nvPr/>
        </p:nvSpPr>
        <p:spPr>
          <a:xfrm>
            <a:off x="2110281" y="1714661"/>
            <a:ext cx="288700" cy="1407524"/>
          </a:xfrm>
          <a:prstGeom prst="rect">
            <a:avLst/>
          </a:prstGeom>
          <a:noFill/>
          <a:ln w="3810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9656524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BEF3AF-AABE-5EC9-A801-1CE064FE78D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77FE7D9-06A2-1376-A175-94C0A6EB8C00}"/>
              </a:ext>
            </a:extLst>
          </p:cNvPr>
          <p:cNvSpPr>
            <a:spLocks noGrp="1"/>
          </p:cNvSpPr>
          <p:nvPr>
            <p:ph type="title"/>
          </p:nvPr>
        </p:nvSpPr>
        <p:spPr/>
        <p:txBody>
          <a:bodyPr/>
          <a:lstStyle/>
          <a:p>
            <a:r>
              <a:rPr lang="en-US" sz="2400" dirty="0"/>
              <a:t>Bioinformatics methods can estimate evolutionary conservation at the nucleotide level…</a:t>
            </a:r>
          </a:p>
        </p:txBody>
      </p:sp>
      <p:pic>
        <p:nvPicPr>
          <p:cNvPr id="8" name="Picture 7">
            <a:extLst>
              <a:ext uri="{FF2B5EF4-FFF2-40B4-BE49-F238E27FC236}">
                <a16:creationId xmlns:a16="http://schemas.microsoft.com/office/drawing/2014/main" id="{19D85591-B7FF-86A2-A872-268F3E3690AB}"/>
              </a:ext>
            </a:extLst>
          </p:cNvPr>
          <p:cNvPicPr>
            <a:picLocks noChangeAspect="1"/>
          </p:cNvPicPr>
          <p:nvPr/>
        </p:nvPicPr>
        <p:blipFill>
          <a:blip r:embed="rId3"/>
          <a:stretch>
            <a:fillRect/>
          </a:stretch>
        </p:blipFill>
        <p:spPr>
          <a:xfrm>
            <a:off x="507222" y="1707384"/>
            <a:ext cx="607510" cy="1407524"/>
          </a:xfrm>
          <a:prstGeom prst="rect">
            <a:avLst/>
          </a:prstGeom>
        </p:spPr>
      </p:pic>
      <p:pic>
        <p:nvPicPr>
          <p:cNvPr id="9" name="Picture 8">
            <a:extLst>
              <a:ext uri="{FF2B5EF4-FFF2-40B4-BE49-F238E27FC236}">
                <a16:creationId xmlns:a16="http://schemas.microsoft.com/office/drawing/2014/main" id="{D1981DEF-D746-0E1C-F16B-C4B33FBA5EE0}"/>
              </a:ext>
            </a:extLst>
          </p:cNvPr>
          <p:cNvPicPr>
            <a:picLocks noChangeAspect="1"/>
          </p:cNvPicPr>
          <p:nvPr/>
        </p:nvPicPr>
        <p:blipFill>
          <a:blip r:embed="rId4"/>
          <a:srcRect l="2796" t="19536" r="38737" b="61613"/>
          <a:stretch>
            <a:fillRect/>
          </a:stretch>
        </p:blipFill>
        <p:spPr>
          <a:xfrm>
            <a:off x="932778" y="1702149"/>
            <a:ext cx="7704000" cy="1739202"/>
          </a:xfrm>
          <a:prstGeom prst="rect">
            <a:avLst/>
          </a:prstGeom>
        </p:spPr>
      </p:pic>
      <p:sp>
        <p:nvSpPr>
          <p:cNvPr id="11" name="Rectangle 10">
            <a:extLst>
              <a:ext uri="{FF2B5EF4-FFF2-40B4-BE49-F238E27FC236}">
                <a16:creationId xmlns:a16="http://schemas.microsoft.com/office/drawing/2014/main" id="{5C579E47-055D-53E5-C940-65733FBF735E}"/>
              </a:ext>
            </a:extLst>
          </p:cNvPr>
          <p:cNvSpPr/>
          <p:nvPr/>
        </p:nvSpPr>
        <p:spPr>
          <a:xfrm>
            <a:off x="1232830" y="3594625"/>
            <a:ext cx="288700" cy="270510"/>
          </a:xfrm>
          <a:prstGeom prst="rect">
            <a:avLst/>
          </a:prstGeom>
          <a:solidFill>
            <a:srgbClr val="E0CDEF"/>
          </a:solidFill>
          <a:ln w="19050">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7030A0"/>
                </a:solidFill>
              </a:rPr>
              <a:t>0</a:t>
            </a:r>
          </a:p>
        </p:txBody>
      </p:sp>
      <p:sp>
        <p:nvSpPr>
          <p:cNvPr id="12" name="Rectangle 11">
            <a:extLst>
              <a:ext uri="{FF2B5EF4-FFF2-40B4-BE49-F238E27FC236}">
                <a16:creationId xmlns:a16="http://schemas.microsoft.com/office/drawing/2014/main" id="{AD69008F-CE1E-6CCE-32CF-D1FE4A79E564}"/>
              </a:ext>
            </a:extLst>
          </p:cNvPr>
          <p:cNvSpPr/>
          <p:nvPr/>
        </p:nvSpPr>
        <p:spPr>
          <a:xfrm>
            <a:off x="1521530" y="3594625"/>
            <a:ext cx="288700" cy="270510"/>
          </a:xfrm>
          <a:prstGeom prst="rect">
            <a:avLst/>
          </a:prstGeom>
          <a:solidFill>
            <a:srgbClr val="E0CDEF"/>
          </a:solidFill>
          <a:ln w="19050">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7030A0"/>
                </a:solidFill>
              </a:rPr>
              <a:t>-</a:t>
            </a:r>
          </a:p>
        </p:txBody>
      </p:sp>
      <p:sp>
        <p:nvSpPr>
          <p:cNvPr id="13" name="Rectangle 12">
            <a:extLst>
              <a:ext uri="{FF2B5EF4-FFF2-40B4-BE49-F238E27FC236}">
                <a16:creationId xmlns:a16="http://schemas.microsoft.com/office/drawing/2014/main" id="{97D4EC0B-0EA8-25A6-D908-D1DF59290A94}"/>
              </a:ext>
            </a:extLst>
          </p:cNvPr>
          <p:cNvSpPr/>
          <p:nvPr/>
        </p:nvSpPr>
        <p:spPr>
          <a:xfrm>
            <a:off x="1816501" y="3593880"/>
            <a:ext cx="288700" cy="270510"/>
          </a:xfrm>
          <a:prstGeom prst="rect">
            <a:avLst/>
          </a:prstGeom>
          <a:solidFill>
            <a:srgbClr val="E0CDEF"/>
          </a:solidFill>
          <a:ln w="19050">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7030A0"/>
                </a:solidFill>
              </a:rPr>
              <a:t>-</a:t>
            </a:r>
          </a:p>
        </p:txBody>
      </p:sp>
      <p:sp>
        <p:nvSpPr>
          <p:cNvPr id="14" name="Rectangle 13">
            <a:extLst>
              <a:ext uri="{FF2B5EF4-FFF2-40B4-BE49-F238E27FC236}">
                <a16:creationId xmlns:a16="http://schemas.microsoft.com/office/drawing/2014/main" id="{8D41A936-9847-CDBE-AFA5-26AFBFA38118}"/>
              </a:ext>
            </a:extLst>
          </p:cNvPr>
          <p:cNvSpPr/>
          <p:nvPr/>
        </p:nvSpPr>
        <p:spPr>
          <a:xfrm>
            <a:off x="2110281" y="3593990"/>
            <a:ext cx="288700" cy="270510"/>
          </a:xfrm>
          <a:prstGeom prst="rect">
            <a:avLst/>
          </a:prstGeom>
          <a:solidFill>
            <a:srgbClr val="E0CDEF"/>
          </a:solidFill>
          <a:ln w="19050">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7030A0"/>
                </a:solidFill>
              </a:rPr>
              <a:t>+</a:t>
            </a:r>
          </a:p>
        </p:txBody>
      </p:sp>
      <p:sp>
        <p:nvSpPr>
          <p:cNvPr id="15" name="Rectangle 14">
            <a:extLst>
              <a:ext uri="{FF2B5EF4-FFF2-40B4-BE49-F238E27FC236}">
                <a16:creationId xmlns:a16="http://schemas.microsoft.com/office/drawing/2014/main" id="{C691521D-1B90-6834-ACF4-DDD1CBFD9149}"/>
              </a:ext>
            </a:extLst>
          </p:cNvPr>
          <p:cNvSpPr/>
          <p:nvPr/>
        </p:nvSpPr>
        <p:spPr>
          <a:xfrm>
            <a:off x="2398981" y="3593990"/>
            <a:ext cx="288700" cy="270510"/>
          </a:xfrm>
          <a:prstGeom prst="rect">
            <a:avLst/>
          </a:prstGeom>
          <a:solidFill>
            <a:srgbClr val="E0CDEF"/>
          </a:solidFill>
          <a:ln w="19050">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7030A0"/>
                </a:solidFill>
              </a:rPr>
              <a:t>-</a:t>
            </a:r>
          </a:p>
        </p:txBody>
      </p:sp>
      <p:sp>
        <p:nvSpPr>
          <p:cNvPr id="16" name="Rectangle 15">
            <a:extLst>
              <a:ext uri="{FF2B5EF4-FFF2-40B4-BE49-F238E27FC236}">
                <a16:creationId xmlns:a16="http://schemas.microsoft.com/office/drawing/2014/main" id="{8D71ECF7-8625-F42C-34A7-93791854537F}"/>
              </a:ext>
            </a:extLst>
          </p:cNvPr>
          <p:cNvSpPr/>
          <p:nvPr/>
        </p:nvSpPr>
        <p:spPr>
          <a:xfrm>
            <a:off x="2693952" y="3595150"/>
            <a:ext cx="288700" cy="270510"/>
          </a:xfrm>
          <a:prstGeom prst="rect">
            <a:avLst/>
          </a:prstGeom>
          <a:solidFill>
            <a:srgbClr val="E0CDEF"/>
          </a:solidFill>
          <a:ln w="19050">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7030A0"/>
                </a:solidFill>
              </a:rPr>
              <a:t>+</a:t>
            </a:r>
          </a:p>
        </p:txBody>
      </p:sp>
      <p:sp>
        <p:nvSpPr>
          <p:cNvPr id="29" name="Rectangle 28">
            <a:extLst>
              <a:ext uri="{FF2B5EF4-FFF2-40B4-BE49-F238E27FC236}">
                <a16:creationId xmlns:a16="http://schemas.microsoft.com/office/drawing/2014/main" id="{223C4DF5-F62C-F120-4472-8680C93159C7}"/>
              </a:ext>
            </a:extLst>
          </p:cNvPr>
          <p:cNvSpPr/>
          <p:nvPr/>
        </p:nvSpPr>
        <p:spPr>
          <a:xfrm>
            <a:off x="2991463" y="3593355"/>
            <a:ext cx="288700" cy="270510"/>
          </a:xfrm>
          <a:prstGeom prst="rect">
            <a:avLst/>
          </a:prstGeom>
          <a:solidFill>
            <a:srgbClr val="E0CDEF"/>
          </a:solidFill>
          <a:ln w="19050">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7030A0"/>
                </a:solidFill>
              </a:rPr>
              <a:t>+</a:t>
            </a:r>
          </a:p>
        </p:txBody>
      </p:sp>
      <p:sp>
        <p:nvSpPr>
          <p:cNvPr id="30" name="Rectangle 29">
            <a:extLst>
              <a:ext uri="{FF2B5EF4-FFF2-40B4-BE49-F238E27FC236}">
                <a16:creationId xmlns:a16="http://schemas.microsoft.com/office/drawing/2014/main" id="{8A732838-0183-F39E-1FA8-5DB2D947A4B6}"/>
              </a:ext>
            </a:extLst>
          </p:cNvPr>
          <p:cNvSpPr/>
          <p:nvPr/>
        </p:nvSpPr>
        <p:spPr>
          <a:xfrm>
            <a:off x="3280163" y="3593355"/>
            <a:ext cx="288700" cy="270510"/>
          </a:xfrm>
          <a:prstGeom prst="rect">
            <a:avLst/>
          </a:prstGeom>
          <a:solidFill>
            <a:srgbClr val="E0CDEF"/>
          </a:solidFill>
          <a:ln w="19050">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7030A0"/>
                </a:solidFill>
              </a:rPr>
              <a:t>-</a:t>
            </a:r>
          </a:p>
        </p:txBody>
      </p:sp>
      <p:sp>
        <p:nvSpPr>
          <p:cNvPr id="31" name="Rectangle 30">
            <a:extLst>
              <a:ext uri="{FF2B5EF4-FFF2-40B4-BE49-F238E27FC236}">
                <a16:creationId xmlns:a16="http://schemas.microsoft.com/office/drawing/2014/main" id="{52519EBD-C7DA-C5E9-B224-2896AFBEE2C8}"/>
              </a:ext>
            </a:extLst>
          </p:cNvPr>
          <p:cNvSpPr/>
          <p:nvPr/>
        </p:nvSpPr>
        <p:spPr>
          <a:xfrm>
            <a:off x="3575134" y="3592610"/>
            <a:ext cx="288700" cy="270510"/>
          </a:xfrm>
          <a:prstGeom prst="rect">
            <a:avLst/>
          </a:prstGeom>
          <a:solidFill>
            <a:srgbClr val="E0CDEF"/>
          </a:solidFill>
          <a:ln w="19050">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7030A0"/>
                </a:solidFill>
              </a:rPr>
              <a:t>+</a:t>
            </a:r>
          </a:p>
        </p:txBody>
      </p:sp>
      <p:sp>
        <p:nvSpPr>
          <p:cNvPr id="32" name="Rectangle 31">
            <a:extLst>
              <a:ext uri="{FF2B5EF4-FFF2-40B4-BE49-F238E27FC236}">
                <a16:creationId xmlns:a16="http://schemas.microsoft.com/office/drawing/2014/main" id="{0A29A069-1331-5701-1354-3A1893175BA9}"/>
              </a:ext>
            </a:extLst>
          </p:cNvPr>
          <p:cNvSpPr/>
          <p:nvPr/>
        </p:nvSpPr>
        <p:spPr>
          <a:xfrm>
            <a:off x="3868914" y="3592720"/>
            <a:ext cx="288700" cy="270510"/>
          </a:xfrm>
          <a:prstGeom prst="rect">
            <a:avLst/>
          </a:prstGeom>
          <a:solidFill>
            <a:srgbClr val="E0CDEF"/>
          </a:solidFill>
          <a:ln w="19050">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7030A0"/>
                </a:solidFill>
              </a:rPr>
              <a:t>0</a:t>
            </a:r>
          </a:p>
        </p:txBody>
      </p:sp>
      <p:sp>
        <p:nvSpPr>
          <p:cNvPr id="33" name="Rectangle 32">
            <a:extLst>
              <a:ext uri="{FF2B5EF4-FFF2-40B4-BE49-F238E27FC236}">
                <a16:creationId xmlns:a16="http://schemas.microsoft.com/office/drawing/2014/main" id="{8F575287-1C67-03D5-702A-F773C914E6F4}"/>
              </a:ext>
            </a:extLst>
          </p:cNvPr>
          <p:cNvSpPr/>
          <p:nvPr/>
        </p:nvSpPr>
        <p:spPr>
          <a:xfrm>
            <a:off x="4157614" y="3592720"/>
            <a:ext cx="288700" cy="270510"/>
          </a:xfrm>
          <a:prstGeom prst="rect">
            <a:avLst/>
          </a:prstGeom>
          <a:solidFill>
            <a:srgbClr val="E0CDEF"/>
          </a:solidFill>
          <a:ln w="19050">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7030A0"/>
                </a:solidFill>
              </a:rPr>
              <a:t>+</a:t>
            </a:r>
          </a:p>
        </p:txBody>
      </p:sp>
      <p:sp>
        <p:nvSpPr>
          <p:cNvPr id="34" name="Rectangle 33">
            <a:extLst>
              <a:ext uri="{FF2B5EF4-FFF2-40B4-BE49-F238E27FC236}">
                <a16:creationId xmlns:a16="http://schemas.microsoft.com/office/drawing/2014/main" id="{2F0F65D1-97B5-0F67-7A57-955E2CBBB807}"/>
              </a:ext>
            </a:extLst>
          </p:cNvPr>
          <p:cNvSpPr/>
          <p:nvPr/>
        </p:nvSpPr>
        <p:spPr>
          <a:xfrm>
            <a:off x="4452585" y="3593880"/>
            <a:ext cx="288700" cy="270510"/>
          </a:xfrm>
          <a:prstGeom prst="rect">
            <a:avLst/>
          </a:prstGeom>
          <a:solidFill>
            <a:srgbClr val="E0CDEF"/>
          </a:solidFill>
          <a:ln w="19050">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7030A0"/>
                </a:solidFill>
              </a:rPr>
              <a:t>+</a:t>
            </a:r>
          </a:p>
        </p:txBody>
      </p:sp>
      <p:sp>
        <p:nvSpPr>
          <p:cNvPr id="35" name="Rectangle 34">
            <a:extLst>
              <a:ext uri="{FF2B5EF4-FFF2-40B4-BE49-F238E27FC236}">
                <a16:creationId xmlns:a16="http://schemas.microsoft.com/office/drawing/2014/main" id="{486F2CF1-55B0-24CE-5994-24F00735F18C}"/>
              </a:ext>
            </a:extLst>
          </p:cNvPr>
          <p:cNvSpPr/>
          <p:nvPr/>
        </p:nvSpPr>
        <p:spPr>
          <a:xfrm>
            <a:off x="4748906" y="3592273"/>
            <a:ext cx="288700" cy="270510"/>
          </a:xfrm>
          <a:prstGeom prst="rect">
            <a:avLst/>
          </a:prstGeom>
          <a:solidFill>
            <a:srgbClr val="E0CDEF"/>
          </a:solidFill>
          <a:ln w="19050">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7030A0"/>
                </a:solidFill>
              </a:rPr>
              <a:t>-</a:t>
            </a:r>
          </a:p>
        </p:txBody>
      </p:sp>
      <p:sp>
        <p:nvSpPr>
          <p:cNvPr id="36" name="Rectangle 35">
            <a:extLst>
              <a:ext uri="{FF2B5EF4-FFF2-40B4-BE49-F238E27FC236}">
                <a16:creationId xmlns:a16="http://schemas.microsoft.com/office/drawing/2014/main" id="{41E2631D-C43C-BEF1-E7B9-41CE3A79A9C9}"/>
              </a:ext>
            </a:extLst>
          </p:cNvPr>
          <p:cNvSpPr/>
          <p:nvPr/>
        </p:nvSpPr>
        <p:spPr>
          <a:xfrm>
            <a:off x="5037606" y="3592273"/>
            <a:ext cx="288700" cy="270510"/>
          </a:xfrm>
          <a:prstGeom prst="rect">
            <a:avLst/>
          </a:prstGeom>
          <a:solidFill>
            <a:srgbClr val="E0CDEF"/>
          </a:solidFill>
          <a:ln w="19050">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7030A0"/>
                </a:solidFill>
              </a:rPr>
              <a:t>+</a:t>
            </a:r>
          </a:p>
        </p:txBody>
      </p:sp>
      <p:sp>
        <p:nvSpPr>
          <p:cNvPr id="37" name="Rectangle 36">
            <a:extLst>
              <a:ext uri="{FF2B5EF4-FFF2-40B4-BE49-F238E27FC236}">
                <a16:creationId xmlns:a16="http://schemas.microsoft.com/office/drawing/2014/main" id="{F7F9E311-9C91-CFF1-E3F0-CA01B7294C24}"/>
              </a:ext>
            </a:extLst>
          </p:cNvPr>
          <p:cNvSpPr/>
          <p:nvPr/>
        </p:nvSpPr>
        <p:spPr>
          <a:xfrm>
            <a:off x="5332577" y="3591528"/>
            <a:ext cx="288700" cy="270510"/>
          </a:xfrm>
          <a:prstGeom prst="rect">
            <a:avLst/>
          </a:prstGeom>
          <a:solidFill>
            <a:srgbClr val="E0CDEF"/>
          </a:solidFill>
          <a:ln w="19050">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7030A0"/>
                </a:solidFill>
              </a:rPr>
              <a:t>+</a:t>
            </a:r>
          </a:p>
        </p:txBody>
      </p:sp>
      <p:sp>
        <p:nvSpPr>
          <p:cNvPr id="38" name="Rectangle 37">
            <a:extLst>
              <a:ext uri="{FF2B5EF4-FFF2-40B4-BE49-F238E27FC236}">
                <a16:creationId xmlns:a16="http://schemas.microsoft.com/office/drawing/2014/main" id="{97E851B6-4E5A-000A-2649-ECD2FA31B239}"/>
              </a:ext>
            </a:extLst>
          </p:cNvPr>
          <p:cNvSpPr/>
          <p:nvPr/>
        </p:nvSpPr>
        <p:spPr>
          <a:xfrm>
            <a:off x="5626357" y="3591638"/>
            <a:ext cx="288700" cy="270510"/>
          </a:xfrm>
          <a:prstGeom prst="rect">
            <a:avLst/>
          </a:prstGeom>
          <a:solidFill>
            <a:schemeClr val="accent1">
              <a:lumMod val="20000"/>
              <a:lumOff val="80000"/>
            </a:schemeClr>
          </a:solid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rgbClr val="7030A0"/>
                </a:solidFill>
              </a:rPr>
              <a:t>⋅</a:t>
            </a:r>
            <a:endParaRPr lang="en-US" dirty="0">
              <a:solidFill>
                <a:srgbClr val="7030A0"/>
              </a:solidFill>
              <a:effectLst/>
            </a:endParaRPr>
          </a:p>
        </p:txBody>
      </p:sp>
      <p:sp>
        <p:nvSpPr>
          <p:cNvPr id="39" name="Rectangle 38">
            <a:extLst>
              <a:ext uri="{FF2B5EF4-FFF2-40B4-BE49-F238E27FC236}">
                <a16:creationId xmlns:a16="http://schemas.microsoft.com/office/drawing/2014/main" id="{D45A76FD-2A62-253C-934A-72661A7F337A}"/>
              </a:ext>
            </a:extLst>
          </p:cNvPr>
          <p:cNvSpPr/>
          <p:nvPr/>
        </p:nvSpPr>
        <p:spPr>
          <a:xfrm>
            <a:off x="5915057" y="3591638"/>
            <a:ext cx="288700" cy="270510"/>
          </a:xfrm>
          <a:prstGeom prst="rect">
            <a:avLst/>
          </a:prstGeom>
          <a:solidFill>
            <a:schemeClr val="accent1">
              <a:lumMod val="20000"/>
              <a:lumOff val="80000"/>
            </a:schemeClr>
          </a:solid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solidFill>
                  <a:srgbClr val="7030A0"/>
                </a:solidFill>
              </a:rPr>
              <a:t>⋅</a:t>
            </a:r>
            <a:endParaRPr lang="en-US">
              <a:solidFill>
                <a:srgbClr val="7030A0"/>
              </a:solidFill>
              <a:effectLst/>
            </a:endParaRPr>
          </a:p>
        </p:txBody>
      </p:sp>
      <p:sp>
        <p:nvSpPr>
          <p:cNvPr id="40" name="Rectangle 39">
            <a:extLst>
              <a:ext uri="{FF2B5EF4-FFF2-40B4-BE49-F238E27FC236}">
                <a16:creationId xmlns:a16="http://schemas.microsoft.com/office/drawing/2014/main" id="{F88E22A3-3213-8958-68B2-451FB1F727E6}"/>
              </a:ext>
            </a:extLst>
          </p:cNvPr>
          <p:cNvSpPr/>
          <p:nvPr/>
        </p:nvSpPr>
        <p:spPr>
          <a:xfrm>
            <a:off x="6210028" y="3592798"/>
            <a:ext cx="288700" cy="270510"/>
          </a:xfrm>
          <a:prstGeom prst="rect">
            <a:avLst/>
          </a:prstGeom>
          <a:solidFill>
            <a:schemeClr val="accent1">
              <a:lumMod val="20000"/>
              <a:lumOff val="80000"/>
            </a:schemeClr>
          </a:solid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solidFill>
                  <a:srgbClr val="7030A0"/>
                </a:solidFill>
              </a:rPr>
              <a:t>⋅</a:t>
            </a:r>
            <a:endParaRPr lang="en-US">
              <a:solidFill>
                <a:srgbClr val="7030A0"/>
              </a:solidFill>
              <a:effectLst/>
            </a:endParaRPr>
          </a:p>
        </p:txBody>
      </p:sp>
      <p:sp>
        <p:nvSpPr>
          <p:cNvPr id="41" name="Rectangle 40">
            <a:extLst>
              <a:ext uri="{FF2B5EF4-FFF2-40B4-BE49-F238E27FC236}">
                <a16:creationId xmlns:a16="http://schemas.microsoft.com/office/drawing/2014/main" id="{209C32BC-C038-6B5F-06F2-6F449C44835F}"/>
              </a:ext>
            </a:extLst>
          </p:cNvPr>
          <p:cNvSpPr/>
          <p:nvPr/>
        </p:nvSpPr>
        <p:spPr>
          <a:xfrm>
            <a:off x="6507539" y="3591003"/>
            <a:ext cx="288700" cy="270510"/>
          </a:xfrm>
          <a:prstGeom prst="rect">
            <a:avLst/>
          </a:prstGeom>
          <a:solidFill>
            <a:srgbClr val="E0CDEF"/>
          </a:solidFill>
          <a:ln w="19050">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7030A0"/>
                </a:solidFill>
              </a:rPr>
              <a:t>+</a:t>
            </a:r>
          </a:p>
        </p:txBody>
      </p:sp>
      <p:sp>
        <p:nvSpPr>
          <p:cNvPr id="42" name="Rectangle 41">
            <a:extLst>
              <a:ext uri="{FF2B5EF4-FFF2-40B4-BE49-F238E27FC236}">
                <a16:creationId xmlns:a16="http://schemas.microsoft.com/office/drawing/2014/main" id="{6609592C-CDBF-2BFF-6B2F-350168409BB1}"/>
              </a:ext>
            </a:extLst>
          </p:cNvPr>
          <p:cNvSpPr/>
          <p:nvPr/>
        </p:nvSpPr>
        <p:spPr>
          <a:xfrm>
            <a:off x="6796239" y="3591003"/>
            <a:ext cx="288700" cy="270510"/>
          </a:xfrm>
          <a:prstGeom prst="rect">
            <a:avLst/>
          </a:prstGeom>
          <a:solidFill>
            <a:srgbClr val="E0CDEF"/>
          </a:solidFill>
          <a:ln w="19050">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7030A0"/>
                </a:solidFill>
              </a:rPr>
              <a:t>0</a:t>
            </a:r>
          </a:p>
        </p:txBody>
      </p:sp>
      <p:sp>
        <p:nvSpPr>
          <p:cNvPr id="43" name="Rectangle 42">
            <a:extLst>
              <a:ext uri="{FF2B5EF4-FFF2-40B4-BE49-F238E27FC236}">
                <a16:creationId xmlns:a16="http://schemas.microsoft.com/office/drawing/2014/main" id="{E592DE21-3D17-EE98-EC59-D534088BADAD}"/>
              </a:ext>
            </a:extLst>
          </p:cNvPr>
          <p:cNvSpPr/>
          <p:nvPr/>
        </p:nvSpPr>
        <p:spPr>
          <a:xfrm>
            <a:off x="7091210" y="3590258"/>
            <a:ext cx="288700" cy="270510"/>
          </a:xfrm>
          <a:prstGeom prst="rect">
            <a:avLst/>
          </a:prstGeom>
          <a:solidFill>
            <a:srgbClr val="E0CDEF"/>
          </a:solidFill>
          <a:ln w="19050">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7030A0"/>
                </a:solidFill>
              </a:rPr>
              <a:t>0</a:t>
            </a:r>
          </a:p>
        </p:txBody>
      </p:sp>
      <p:sp>
        <p:nvSpPr>
          <p:cNvPr id="44" name="Rectangle 43">
            <a:extLst>
              <a:ext uri="{FF2B5EF4-FFF2-40B4-BE49-F238E27FC236}">
                <a16:creationId xmlns:a16="http://schemas.microsoft.com/office/drawing/2014/main" id="{1BB03624-8586-4001-110E-8EB84D0AD51D}"/>
              </a:ext>
            </a:extLst>
          </p:cNvPr>
          <p:cNvSpPr/>
          <p:nvPr/>
        </p:nvSpPr>
        <p:spPr>
          <a:xfrm>
            <a:off x="7384990" y="3590368"/>
            <a:ext cx="288700" cy="270510"/>
          </a:xfrm>
          <a:prstGeom prst="rect">
            <a:avLst/>
          </a:prstGeom>
          <a:solidFill>
            <a:srgbClr val="E0CDEF"/>
          </a:solidFill>
          <a:ln w="19050">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7030A0"/>
                </a:solidFill>
              </a:rPr>
              <a:t>+</a:t>
            </a:r>
          </a:p>
        </p:txBody>
      </p:sp>
      <p:sp>
        <p:nvSpPr>
          <p:cNvPr id="45" name="Rectangle 44">
            <a:extLst>
              <a:ext uri="{FF2B5EF4-FFF2-40B4-BE49-F238E27FC236}">
                <a16:creationId xmlns:a16="http://schemas.microsoft.com/office/drawing/2014/main" id="{86DEF6DC-6E30-04D6-F87F-37BD4BF4AD8C}"/>
              </a:ext>
            </a:extLst>
          </p:cNvPr>
          <p:cNvSpPr/>
          <p:nvPr/>
        </p:nvSpPr>
        <p:spPr>
          <a:xfrm>
            <a:off x="7673690" y="3590368"/>
            <a:ext cx="288700" cy="270510"/>
          </a:xfrm>
          <a:prstGeom prst="rect">
            <a:avLst/>
          </a:prstGeom>
          <a:solidFill>
            <a:srgbClr val="E0CDEF"/>
          </a:solidFill>
          <a:ln w="19050">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7030A0"/>
                </a:solidFill>
              </a:rPr>
              <a:t>+</a:t>
            </a:r>
          </a:p>
        </p:txBody>
      </p:sp>
      <p:sp>
        <p:nvSpPr>
          <p:cNvPr id="46" name="Rectangle 45">
            <a:extLst>
              <a:ext uri="{FF2B5EF4-FFF2-40B4-BE49-F238E27FC236}">
                <a16:creationId xmlns:a16="http://schemas.microsoft.com/office/drawing/2014/main" id="{4E3CB6A4-5222-E634-5AF4-B3AD2FA4A445}"/>
              </a:ext>
            </a:extLst>
          </p:cNvPr>
          <p:cNvSpPr/>
          <p:nvPr/>
        </p:nvSpPr>
        <p:spPr>
          <a:xfrm>
            <a:off x="7968661" y="3591528"/>
            <a:ext cx="288700" cy="270510"/>
          </a:xfrm>
          <a:prstGeom prst="rect">
            <a:avLst/>
          </a:prstGeom>
          <a:solidFill>
            <a:srgbClr val="E0CDEF"/>
          </a:solidFill>
          <a:ln w="19050">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7030A0"/>
                </a:solidFill>
              </a:rPr>
              <a:t>-</a:t>
            </a:r>
          </a:p>
        </p:txBody>
      </p:sp>
      <p:pic>
        <p:nvPicPr>
          <p:cNvPr id="47" name="Picture 46">
            <a:extLst>
              <a:ext uri="{FF2B5EF4-FFF2-40B4-BE49-F238E27FC236}">
                <a16:creationId xmlns:a16="http://schemas.microsoft.com/office/drawing/2014/main" id="{DA8065C6-0C52-8F33-BB19-79105F5A977D}"/>
              </a:ext>
            </a:extLst>
          </p:cNvPr>
          <p:cNvPicPr>
            <a:picLocks noChangeAspect="1"/>
          </p:cNvPicPr>
          <p:nvPr/>
        </p:nvPicPr>
        <p:blipFill>
          <a:blip r:embed="rId5"/>
          <a:stretch>
            <a:fillRect/>
          </a:stretch>
        </p:blipFill>
        <p:spPr>
          <a:xfrm>
            <a:off x="5032057" y="3027997"/>
            <a:ext cx="9525" cy="9525"/>
          </a:xfrm>
          <a:prstGeom prst="rect">
            <a:avLst/>
          </a:prstGeom>
        </p:spPr>
      </p:pic>
      <p:pic>
        <p:nvPicPr>
          <p:cNvPr id="48" name="Picture 47">
            <a:extLst>
              <a:ext uri="{FF2B5EF4-FFF2-40B4-BE49-F238E27FC236}">
                <a16:creationId xmlns:a16="http://schemas.microsoft.com/office/drawing/2014/main" id="{0B920094-5EB6-F423-9738-4108738E554F}"/>
              </a:ext>
            </a:extLst>
          </p:cNvPr>
          <p:cNvPicPr>
            <a:picLocks noChangeAspect="1"/>
          </p:cNvPicPr>
          <p:nvPr/>
        </p:nvPicPr>
        <p:blipFill>
          <a:blip r:embed="rId5"/>
          <a:stretch>
            <a:fillRect/>
          </a:stretch>
        </p:blipFill>
        <p:spPr>
          <a:xfrm>
            <a:off x="5182057" y="3177997"/>
            <a:ext cx="9525" cy="9525"/>
          </a:xfrm>
          <a:prstGeom prst="rect">
            <a:avLst/>
          </a:prstGeom>
        </p:spPr>
      </p:pic>
      <p:pic>
        <p:nvPicPr>
          <p:cNvPr id="49" name="Picture 48">
            <a:extLst>
              <a:ext uri="{FF2B5EF4-FFF2-40B4-BE49-F238E27FC236}">
                <a16:creationId xmlns:a16="http://schemas.microsoft.com/office/drawing/2014/main" id="{8BE1CBC4-3D6A-AECE-A2A2-01CE6672E996}"/>
              </a:ext>
            </a:extLst>
          </p:cNvPr>
          <p:cNvPicPr>
            <a:picLocks noChangeAspect="1"/>
          </p:cNvPicPr>
          <p:nvPr/>
        </p:nvPicPr>
        <p:blipFill>
          <a:blip r:embed="rId5"/>
          <a:stretch>
            <a:fillRect/>
          </a:stretch>
        </p:blipFill>
        <p:spPr>
          <a:xfrm>
            <a:off x="5032057" y="3027997"/>
            <a:ext cx="9525" cy="9525"/>
          </a:xfrm>
          <a:prstGeom prst="rect">
            <a:avLst/>
          </a:prstGeom>
        </p:spPr>
      </p:pic>
      <p:pic>
        <p:nvPicPr>
          <p:cNvPr id="50" name="Picture 49">
            <a:extLst>
              <a:ext uri="{FF2B5EF4-FFF2-40B4-BE49-F238E27FC236}">
                <a16:creationId xmlns:a16="http://schemas.microsoft.com/office/drawing/2014/main" id="{5DEABCAC-B0BC-78EB-277B-9D331C4F5AEF}"/>
              </a:ext>
            </a:extLst>
          </p:cNvPr>
          <p:cNvPicPr>
            <a:picLocks noChangeAspect="1"/>
          </p:cNvPicPr>
          <p:nvPr/>
        </p:nvPicPr>
        <p:blipFill>
          <a:blip r:embed="rId5"/>
          <a:stretch>
            <a:fillRect/>
          </a:stretch>
        </p:blipFill>
        <p:spPr>
          <a:xfrm>
            <a:off x="5182057" y="3177997"/>
            <a:ext cx="9525" cy="9525"/>
          </a:xfrm>
          <a:prstGeom prst="rect">
            <a:avLst/>
          </a:prstGeom>
        </p:spPr>
      </p:pic>
      <p:pic>
        <p:nvPicPr>
          <p:cNvPr id="51" name="Picture 50">
            <a:extLst>
              <a:ext uri="{FF2B5EF4-FFF2-40B4-BE49-F238E27FC236}">
                <a16:creationId xmlns:a16="http://schemas.microsoft.com/office/drawing/2014/main" id="{AFBF6F9D-0ABE-1B86-4096-A680459EC34D}"/>
              </a:ext>
            </a:extLst>
          </p:cNvPr>
          <p:cNvPicPr>
            <a:picLocks noChangeAspect="1"/>
          </p:cNvPicPr>
          <p:nvPr/>
        </p:nvPicPr>
        <p:blipFill>
          <a:blip r:embed="rId5"/>
          <a:stretch>
            <a:fillRect/>
          </a:stretch>
        </p:blipFill>
        <p:spPr>
          <a:xfrm>
            <a:off x="5032057" y="3027997"/>
            <a:ext cx="9525" cy="9525"/>
          </a:xfrm>
          <a:prstGeom prst="rect">
            <a:avLst/>
          </a:prstGeom>
        </p:spPr>
      </p:pic>
      <p:pic>
        <p:nvPicPr>
          <p:cNvPr id="52" name="Picture 51">
            <a:extLst>
              <a:ext uri="{FF2B5EF4-FFF2-40B4-BE49-F238E27FC236}">
                <a16:creationId xmlns:a16="http://schemas.microsoft.com/office/drawing/2014/main" id="{C5A35402-DD42-4627-1796-C36B5DE2BF10}"/>
              </a:ext>
            </a:extLst>
          </p:cNvPr>
          <p:cNvPicPr>
            <a:picLocks noChangeAspect="1"/>
          </p:cNvPicPr>
          <p:nvPr/>
        </p:nvPicPr>
        <p:blipFill>
          <a:blip r:embed="rId5"/>
          <a:stretch>
            <a:fillRect/>
          </a:stretch>
        </p:blipFill>
        <p:spPr>
          <a:xfrm>
            <a:off x="5182057" y="3177997"/>
            <a:ext cx="9525" cy="9525"/>
          </a:xfrm>
          <a:prstGeom prst="rect">
            <a:avLst/>
          </a:prstGeom>
        </p:spPr>
      </p:pic>
    </p:spTree>
    <p:extLst>
      <p:ext uri="{BB962C8B-B14F-4D97-AF65-F5344CB8AC3E}">
        <p14:creationId xmlns:p14="http://schemas.microsoft.com/office/powerpoint/2010/main" val="228092898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601019-8432-7B68-6619-CCE636993F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0A9D27-20DA-5C40-4243-6A3BBE317828}"/>
              </a:ext>
            </a:extLst>
          </p:cNvPr>
          <p:cNvSpPr>
            <a:spLocks noGrp="1"/>
          </p:cNvSpPr>
          <p:nvPr>
            <p:ph type="title"/>
          </p:nvPr>
        </p:nvSpPr>
        <p:spPr/>
        <p:txBody>
          <a:bodyPr/>
          <a:lstStyle/>
          <a:p>
            <a:r>
              <a:rPr lang="en-US" sz="2400" dirty="0"/>
              <a:t>Can we use conservation scores to pre-train genome language models?</a:t>
            </a:r>
          </a:p>
        </p:txBody>
      </p:sp>
      <p:pic>
        <p:nvPicPr>
          <p:cNvPr id="8" name="Picture 7">
            <a:extLst>
              <a:ext uri="{FF2B5EF4-FFF2-40B4-BE49-F238E27FC236}">
                <a16:creationId xmlns:a16="http://schemas.microsoft.com/office/drawing/2014/main" id="{9AD2097F-7B08-7CD9-054C-7CC57100969C}"/>
              </a:ext>
            </a:extLst>
          </p:cNvPr>
          <p:cNvPicPr>
            <a:picLocks noChangeAspect="1"/>
          </p:cNvPicPr>
          <p:nvPr/>
        </p:nvPicPr>
        <p:blipFill>
          <a:blip r:embed="rId3"/>
          <a:srcRect b="59312"/>
          <a:stretch>
            <a:fillRect/>
          </a:stretch>
        </p:blipFill>
        <p:spPr>
          <a:xfrm>
            <a:off x="507222" y="1707384"/>
            <a:ext cx="607510" cy="572700"/>
          </a:xfrm>
          <a:prstGeom prst="rect">
            <a:avLst/>
          </a:prstGeom>
        </p:spPr>
      </p:pic>
      <p:pic>
        <p:nvPicPr>
          <p:cNvPr id="9" name="Picture 8">
            <a:extLst>
              <a:ext uri="{FF2B5EF4-FFF2-40B4-BE49-F238E27FC236}">
                <a16:creationId xmlns:a16="http://schemas.microsoft.com/office/drawing/2014/main" id="{FFC6DEE0-CDDD-A393-5240-D7616D5621A7}"/>
              </a:ext>
            </a:extLst>
          </p:cNvPr>
          <p:cNvPicPr>
            <a:picLocks noChangeAspect="1"/>
          </p:cNvPicPr>
          <p:nvPr/>
        </p:nvPicPr>
        <p:blipFill>
          <a:blip r:embed="rId4"/>
          <a:srcRect l="2796" t="19536" r="38737" b="75984"/>
          <a:stretch>
            <a:fillRect/>
          </a:stretch>
        </p:blipFill>
        <p:spPr>
          <a:xfrm>
            <a:off x="932778" y="1702148"/>
            <a:ext cx="7704000" cy="413355"/>
          </a:xfrm>
          <a:prstGeom prst="rect">
            <a:avLst/>
          </a:prstGeom>
        </p:spPr>
      </p:pic>
      <p:sp>
        <p:nvSpPr>
          <p:cNvPr id="11" name="Rectangle 10">
            <a:extLst>
              <a:ext uri="{FF2B5EF4-FFF2-40B4-BE49-F238E27FC236}">
                <a16:creationId xmlns:a16="http://schemas.microsoft.com/office/drawing/2014/main" id="{4EDFB40A-84B7-74BF-2E57-BE408E122C78}"/>
              </a:ext>
            </a:extLst>
          </p:cNvPr>
          <p:cNvSpPr/>
          <p:nvPr/>
        </p:nvSpPr>
        <p:spPr>
          <a:xfrm>
            <a:off x="1232830" y="3594625"/>
            <a:ext cx="288700" cy="270510"/>
          </a:xfrm>
          <a:prstGeom prst="rect">
            <a:avLst/>
          </a:prstGeom>
          <a:solidFill>
            <a:srgbClr val="E0CDEF"/>
          </a:solidFill>
          <a:ln w="19050">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7030A0"/>
                </a:solidFill>
              </a:rPr>
              <a:t>0</a:t>
            </a:r>
          </a:p>
        </p:txBody>
      </p:sp>
      <p:sp>
        <p:nvSpPr>
          <p:cNvPr id="12" name="Rectangle 11">
            <a:extLst>
              <a:ext uri="{FF2B5EF4-FFF2-40B4-BE49-F238E27FC236}">
                <a16:creationId xmlns:a16="http://schemas.microsoft.com/office/drawing/2014/main" id="{FC3046C2-D02F-45D1-58C7-4B9BD5D1FA31}"/>
              </a:ext>
            </a:extLst>
          </p:cNvPr>
          <p:cNvSpPr/>
          <p:nvPr/>
        </p:nvSpPr>
        <p:spPr>
          <a:xfrm>
            <a:off x="1521530" y="3594625"/>
            <a:ext cx="288700" cy="270510"/>
          </a:xfrm>
          <a:prstGeom prst="rect">
            <a:avLst/>
          </a:prstGeom>
          <a:solidFill>
            <a:srgbClr val="E0CDEF"/>
          </a:solidFill>
          <a:ln w="19050">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7030A0"/>
                </a:solidFill>
              </a:rPr>
              <a:t>-</a:t>
            </a:r>
          </a:p>
        </p:txBody>
      </p:sp>
      <p:sp>
        <p:nvSpPr>
          <p:cNvPr id="13" name="Rectangle 12">
            <a:extLst>
              <a:ext uri="{FF2B5EF4-FFF2-40B4-BE49-F238E27FC236}">
                <a16:creationId xmlns:a16="http://schemas.microsoft.com/office/drawing/2014/main" id="{3A854B0B-A42C-ADCC-5917-F20213C0AB75}"/>
              </a:ext>
            </a:extLst>
          </p:cNvPr>
          <p:cNvSpPr/>
          <p:nvPr/>
        </p:nvSpPr>
        <p:spPr>
          <a:xfrm>
            <a:off x="1816501" y="3593880"/>
            <a:ext cx="288700" cy="270510"/>
          </a:xfrm>
          <a:prstGeom prst="rect">
            <a:avLst/>
          </a:prstGeom>
          <a:solidFill>
            <a:srgbClr val="E0CDEF"/>
          </a:solidFill>
          <a:ln w="19050">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7030A0"/>
                </a:solidFill>
              </a:rPr>
              <a:t>-</a:t>
            </a:r>
          </a:p>
        </p:txBody>
      </p:sp>
      <p:sp>
        <p:nvSpPr>
          <p:cNvPr id="14" name="Rectangle 13">
            <a:extLst>
              <a:ext uri="{FF2B5EF4-FFF2-40B4-BE49-F238E27FC236}">
                <a16:creationId xmlns:a16="http://schemas.microsoft.com/office/drawing/2014/main" id="{3E0B52BE-B8C6-14BD-1F50-2C294079C4BC}"/>
              </a:ext>
            </a:extLst>
          </p:cNvPr>
          <p:cNvSpPr/>
          <p:nvPr/>
        </p:nvSpPr>
        <p:spPr>
          <a:xfrm>
            <a:off x="2110281" y="3593990"/>
            <a:ext cx="288700" cy="270510"/>
          </a:xfrm>
          <a:prstGeom prst="rect">
            <a:avLst/>
          </a:prstGeom>
          <a:solidFill>
            <a:srgbClr val="E0CDEF"/>
          </a:solidFill>
          <a:ln w="19050">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7030A0"/>
                </a:solidFill>
              </a:rPr>
              <a:t>+</a:t>
            </a:r>
          </a:p>
        </p:txBody>
      </p:sp>
      <p:sp>
        <p:nvSpPr>
          <p:cNvPr id="15" name="Rectangle 14">
            <a:extLst>
              <a:ext uri="{FF2B5EF4-FFF2-40B4-BE49-F238E27FC236}">
                <a16:creationId xmlns:a16="http://schemas.microsoft.com/office/drawing/2014/main" id="{B395AD65-3B24-7205-FCFE-EEE7BB458D4D}"/>
              </a:ext>
            </a:extLst>
          </p:cNvPr>
          <p:cNvSpPr/>
          <p:nvPr/>
        </p:nvSpPr>
        <p:spPr>
          <a:xfrm>
            <a:off x="2398981" y="3593990"/>
            <a:ext cx="288700" cy="270510"/>
          </a:xfrm>
          <a:prstGeom prst="rect">
            <a:avLst/>
          </a:prstGeom>
          <a:solidFill>
            <a:srgbClr val="E0CDEF"/>
          </a:solidFill>
          <a:ln w="19050">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7030A0"/>
                </a:solidFill>
              </a:rPr>
              <a:t>-</a:t>
            </a:r>
          </a:p>
        </p:txBody>
      </p:sp>
      <p:sp>
        <p:nvSpPr>
          <p:cNvPr id="16" name="Rectangle 15">
            <a:extLst>
              <a:ext uri="{FF2B5EF4-FFF2-40B4-BE49-F238E27FC236}">
                <a16:creationId xmlns:a16="http://schemas.microsoft.com/office/drawing/2014/main" id="{E396BC4B-6247-5832-D746-B5E5FB799C04}"/>
              </a:ext>
            </a:extLst>
          </p:cNvPr>
          <p:cNvSpPr/>
          <p:nvPr/>
        </p:nvSpPr>
        <p:spPr>
          <a:xfrm>
            <a:off x="2693952" y="3595150"/>
            <a:ext cx="288700" cy="270510"/>
          </a:xfrm>
          <a:prstGeom prst="rect">
            <a:avLst/>
          </a:prstGeom>
          <a:solidFill>
            <a:srgbClr val="E0CDEF"/>
          </a:solidFill>
          <a:ln w="19050">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7030A0"/>
                </a:solidFill>
              </a:rPr>
              <a:t>+</a:t>
            </a:r>
          </a:p>
        </p:txBody>
      </p:sp>
      <p:sp>
        <p:nvSpPr>
          <p:cNvPr id="29" name="Rectangle 28">
            <a:extLst>
              <a:ext uri="{FF2B5EF4-FFF2-40B4-BE49-F238E27FC236}">
                <a16:creationId xmlns:a16="http://schemas.microsoft.com/office/drawing/2014/main" id="{9E094759-10EE-2AB6-D9A8-686D0C40786A}"/>
              </a:ext>
            </a:extLst>
          </p:cNvPr>
          <p:cNvSpPr/>
          <p:nvPr/>
        </p:nvSpPr>
        <p:spPr>
          <a:xfrm>
            <a:off x="2991463" y="3593355"/>
            <a:ext cx="288700" cy="270510"/>
          </a:xfrm>
          <a:prstGeom prst="rect">
            <a:avLst/>
          </a:prstGeom>
          <a:solidFill>
            <a:srgbClr val="E0CDEF"/>
          </a:solidFill>
          <a:ln w="19050">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7030A0"/>
                </a:solidFill>
              </a:rPr>
              <a:t>+</a:t>
            </a:r>
          </a:p>
        </p:txBody>
      </p:sp>
      <p:sp>
        <p:nvSpPr>
          <p:cNvPr id="30" name="Rectangle 29">
            <a:extLst>
              <a:ext uri="{FF2B5EF4-FFF2-40B4-BE49-F238E27FC236}">
                <a16:creationId xmlns:a16="http://schemas.microsoft.com/office/drawing/2014/main" id="{28940808-04CA-8089-2AA3-6FAEDDD76E1D}"/>
              </a:ext>
            </a:extLst>
          </p:cNvPr>
          <p:cNvSpPr/>
          <p:nvPr/>
        </p:nvSpPr>
        <p:spPr>
          <a:xfrm>
            <a:off x="3280163" y="3593355"/>
            <a:ext cx="288700" cy="270510"/>
          </a:xfrm>
          <a:prstGeom prst="rect">
            <a:avLst/>
          </a:prstGeom>
          <a:solidFill>
            <a:srgbClr val="E0CDEF"/>
          </a:solidFill>
          <a:ln w="19050">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7030A0"/>
                </a:solidFill>
              </a:rPr>
              <a:t>-</a:t>
            </a:r>
          </a:p>
        </p:txBody>
      </p:sp>
      <p:sp>
        <p:nvSpPr>
          <p:cNvPr id="31" name="Rectangle 30">
            <a:extLst>
              <a:ext uri="{FF2B5EF4-FFF2-40B4-BE49-F238E27FC236}">
                <a16:creationId xmlns:a16="http://schemas.microsoft.com/office/drawing/2014/main" id="{EADABFC6-1AD1-9FE2-17FC-9A8A1CB1B838}"/>
              </a:ext>
            </a:extLst>
          </p:cNvPr>
          <p:cNvSpPr/>
          <p:nvPr/>
        </p:nvSpPr>
        <p:spPr>
          <a:xfrm>
            <a:off x="3575134" y="3592610"/>
            <a:ext cx="288700" cy="270510"/>
          </a:xfrm>
          <a:prstGeom prst="rect">
            <a:avLst/>
          </a:prstGeom>
          <a:solidFill>
            <a:srgbClr val="E0CDEF"/>
          </a:solidFill>
          <a:ln w="19050">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7030A0"/>
                </a:solidFill>
              </a:rPr>
              <a:t>+</a:t>
            </a:r>
          </a:p>
        </p:txBody>
      </p:sp>
      <p:sp>
        <p:nvSpPr>
          <p:cNvPr id="32" name="Rectangle 31">
            <a:extLst>
              <a:ext uri="{FF2B5EF4-FFF2-40B4-BE49-F238E27FC236}">
                <a16:creationId xmlns:a16="http://schemas.microsoft.com/office/drawing/2014/main" id="{3060412D-FAED-AF9B-ECE5-BA20AF50ECDC}"/>
              </a:ext>
            </a:extLst>
          </p:cNvPr>
          <p:cNvSpPr/>
          <p:nvPr/>
        </p:nvSpPr>
        <p:spPr>
          <a:xfrm>
            <a:off x="3868914" y="3592720"/>
            <a:ext cx="288700" cy="270510"/>
          </a:xfrm>
          <a:prstGeom prst="rect">
            <a:avLst/>
          </a:prstGeom>
          <a:solidFill>
            <a:srgbClr val="E0CDEF"/>
          </a:solidFill>
          <a:ln w="19050">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7030A0"/>
                </a:solidFill>
              </a:rPr>
              <a:t>0</a:t>
            </a:r>
          </a:p>
        </p:txBody>
      </p:sp>
      <p:sp>
        <p:nvSpPr>
          <p:cNvPr id="33" name="Rectangle 32">
            <a:extLst>
              <a:ext uri="{FF2B5EF4-FFF2-40B4-BE49-F238E27FC236}">
                <a16:creationId xmlns:a16="http://schemas.microsoft.com/office/drawing/2014/main" id="{CDB2F287-CF61-FA5A-EC16-94874E470476}"/>
              </a:ext>
            </a:extLst>
          </p:cNvPr>
          <p:cNvSpPr/>
          <p:nvPr/>
        </p:nvSpPr>
        <p:spPr>
          <a:xfrm>
            <a:off x="4157614" y="3592720"/>
            <a:ext cx="288700" cy="270510"/>
          </a:xfrm>
          <a:prstGeom prst="rect">
            <a:avLst/>
          </a:prstGeom>
          <a:solidFill>
            <a:srgbClr val="E0CDEF"/>
          </a:solidFill>
          <a:ln w="19050">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7030A0"/>
                </a:solidFill>
              </a:rPr>
              <a:t>+</a:t>
            </a:r>
          </a:p>
        </p:txBody>
      </p:sp>
      <p:sp>
        <p:nvSpPr>
          <p:cNvPr id="34" name="Rectangle 33">
            <a:extLst>
              <a:ext uri="{FF2B5EF4-FFF2-40B4-BE49-F238E27FC236}">
                <a16:creationId xmlns:a16="http://schemas.microsoft.com/office/drawing/2014/main" id="{F76C9D4D-4B03-02A8-3311-BA0A7C89266F}"/>
              </a:ext>
            </a:extLst>
          </p:cNvPr>
          <p:cNvSpPr/>
          <p:nvPr/>
        </p:nvSpPr>
        <p:spPr>
          <a:xfrm>
            <a:off x="4452585" y="3593880"/>
            <a:ext cx="288700" cy="270510"/>
          </a:xfrm>
          <a:prstGeom prst="rect">
            <a:avLst/>
          </a:prstGeom>
          <a:solidFill>
            <a:srgbClr val="E0CDEF"/>
          </a:solidFill>
          <a:ln w="19050">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7030A0"/>
                </a:solidFill>
              </a:rPr>
              <a:t>+</a:t>
            </a:r>
          </a:p>
        </p:txBody>
      </p:sp>
      <p:sp>
        <p:nvSpPr>
          <p:cNvPr id="35" name="Rectangle 34">
            <a:extLst>
              <a:ext uri="{FF2B5EF4-FFF2-40B4-BE49-F238E27FC236}">
                <a16:creationId xmlns:a16="http://schemas.microsoft.com/office/drawing/2014/main" id="{445AA6D4-A260-FA9B-C6C9-9FB25A249562}"/>
              </a:ext>
            </a:extLst>
          </p:cNvPr>
          <p:cNvSpPr/>
          <p:nvPr/>
        </p:nvSpPr>
        <p:spPr>
          <a:xfrm>
            <a:off x="4748906" y="3592273"/>
            <a:ext cx="288700" cy="270510"/>
          </a:xfrm>
          <a:prstGeom prst="rect">
            <a:avLst/>
          </a:prstGeom>
          <a:solidFill>
            <a:srgbClr val="E0CDEF"/>
          </a:solidFill>
          <a:ln w="19050">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7030A0"/>
                </a:solidFill>
              </a:rPr>
              <a:t>-</a:t>
            </a:r>
          </a:p>
        </p:txBody>
      </p:sp>
      <p:sp>
        <p:nvSpPr>
          <p:cNvPr id="36" name="Rectangle 35">
            <a:extLst>
              <a:ext uri="{FF2B5EF4-FFF2-40B4-BE49-F238E27FC236}">
                <a16:creationId xmlns:a16="http://schemas.microsoft.com/office/drawing/2014/main" id="{E8436B05-A174-B878-C976-2022D7C6EBB2}"/>
              </a:ext>
            </a:extLst>
          </p:cNvPr>
          <p:cNvSpPr/>
          <p:nvPr/>
        </p:nvSpPr>
        <p:spPr>
          <a:xfrm>
            <a:off x="5037606" y="3592273"/>
            <a:ext cx="288700" cy="270510"/>
          </a:xfrm>
          <a:prstGeom prst="rect">
            <a:avLst/>
          </a:prstGeom>
          <a:solidFill>
            <a:srgbClr val="E0CDEF"/>
          </a:solidFill>
          <a:ln w="19050">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7030A0"/>
                </a:solidFill>
              </a:rPr>
              <a:t>+</a:t>
            </a:r>
          </a:p>
        </p:txBody>
      </p:sp>
      <p:sp>
        <p:nvSpPr>
          <p:cNvPr id="37" name="Rectangle 36">
            <a:extLst>
              <a:ext uri="{FF2B5EF4-FFF2-40B4-BE49-F238E27FC236}">
                <a16:creationId xmlns:a16="http://schemas.microsoft.com/office/drawing/2014/main" id="{19CE0002-5A1D-3C6F-18AE-3160DA940C4C}"/>
              </a:ext>
            </a:extLst>
          </p:cNvPr>
          <p:cNvSpPr/>
          <p:nvPr/>
        </p:nvSpPr>
        <p:spPr>
          <a:xfrm>
            <a:off x="5332577" y="3591528"/>
            <a:ext cx="288700" cy="270510"/>
          </a:xfrm>
          <a:prstGeom prst="rect">
            <a:avLst/>
          </a:prstGeom>
          <a:solidFill>
            <a:srgbClr val="E0CDEF"/>
          </a:solidFill>
          <a:ln w="19050">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7030A0"/>
                </a:solidFill>
              </a:rPr>
              <a:t>+</a:t>
            </a:r>
          </a:p>
        </p:txBody>
      </p:sp>
      <p:sp>
        <p:nvSpPr>
          <p:cNvPr id="38" name="Rectangle 37">
            <a:extLst>
              <a:ext uri="{FF2B5EF4-FFF2-40B4-BE49-F238E27FC236}">
                <a16:creationId xmlns:a16="http://schemas.microsoft.com/office/drawing/2014/main" id="{75A67360-34C9-A426-CB94-7D4A2F6D8AD5}"/>
              </a:ext>
            </a:extLst>
          </p:cNvPr>
          <p:cNvSpPr/>
          <p:nvPr/>
        </p:nvSpPr>
        <p:spPr>
          <a:xfrm>
            <a:off x="5626357" y="3591638"/>
            <a:ext cx="288700" cy="270510"/>
          </a:xfrm>
          <a:prstGeom prst="rect">
            <a:avLst/>
          </a:prstGeom>
          <a:solidFill>
            <a:schemeClr val="accent1">
              <a:lumMod val="20000"/>
              <a:lumOff val="80000"/>
            </a:schemeClr>
          </a:solid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rgbClr val="7030A0"/>
                </a:solidFill>
              </a:rPr>
              <a:t>⋅</a:t>
            </a:r>
            <a:endParaRPr lang="en-US" dirty="0">
              <a:solidFill>
                <a:srgbClr val="7030A0"/>
              </a:solidFill>
              <a:effectLst/>
            </a:endParaRPr>
          </a:p>
        </p:txBody>
      </p:sp>
      <p:sp>
        <p:nvSpPr>
          <p:cNvPr id="39" name="Rectangle 38">
            <a:extLst>
              <a:ext uri="{FF2B5EF4-FFF2-40B4-BE49-F238E27FC236}">
                <a16:creationId xmlns:a16="http://schemas.microsoft.com/office/drawing/2014/main" id="{8D5CCEC8-AB37-995D-AA2E-2A9C1DE6E783}"/>
              </a:ext>
            </a:extLst>
          </p:cNvPr>
          <p:cNvSpPr/>
          <p:nvPr/>
        </p:nvSpPr>
        <p:spPr>
          <a:xfrm>
            <a:off x="5915057" y="3591638"/>
            <a:ext cx="288700" cy="270510"/>
          </a:xfrm>
          <a:prstGeom prst="rect">
            <a:avLst/>
          </a:prstGeom>
          <a:solidFill>
            <a:schemeClr val="accent1">
              <a:lumMod val="20000"/>
              <a:lumOff val="80000"/>
            </a:schemeClr>
          </a:solid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solidFill>
                  <a:srgbClr val="7030A0"/>
                </a:solidFill>
              </a:rPr>
              <a:t>⋅</a:t>
            </a:r>
            <a:endParaRPr lang="en-US">
              <a:solidFill>
                <a:srgbClr val="7030A0"/>
              </a:solidFill>
              <a:effectLst/>
            </a:endParaRPr>
          </a:p>
        </p:txBody>
      </p:sp>
      <p:sp>
        <p:nvSpPr>
          <p:cNvPr id="40" name="Rectangle 39">
            <a:extLst>
              <a:ext uri="{FF2B5EF4-FFF2-40B4-BE49-F238E27FC236}">
                <a16:creationId xmlns:a16="http://schemas.microsoft.com/office/drawing/2014/main" id="{910F6B70-D995-E869-A04F-8D39A1545AD0}"/>
              </a:ext>
            </a:extLst>
          </p:cNvPr>
          <p:cNvSpPr/>
          <p:nvPr/>
        </p:nvSpPr>
        <p:spPr>
          <a:xfrm>
            <a:off x="6210028" y="3592798"/>
            <a:ext cx="288700" cy="270510"/>
          </a:xfrm>
          <a:prstGeom prst="rect">
            <a:avLst/>
          </a:prstGeom>
          <a:solidFill>
            <a:schemeClr val="accent1">
              <a:lumMod val="20000"/>
              <a:lumOff val="80000"/>
            </a:schemeClr>
          </a:solid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solidFill>
                  <a:srgbClr val="7030A0"/>
                </a:solidFill>
              </a:rPr>
              <a:t>⋅</a:t>
            </a:r>
            <a:endParaRPr lang="en-US">
              <a:solidFill>
                <a:srgbClr val="7030A0"/>
              </a:solidFill>
              <a:effectLst/>
            </a:endParaRPr>
          </a:p>
        </p:txBody>
      </p:sp>
      <p:sp>
        <p:nvSpPr>
          <p:cNvPr id="41" name="Rectangle 40">
            <a:extLst>
              <a:ext uri="{FF2B5EF4-FFF2-40B4-BE49-F238E27FC236}">
                <a16:creationId xmlns:a16="http://schemas.microsoft.com/office/drawing/2014/main" id="{D2AB57E6-8CA6-E17B-7CD9-4100122D928B}"/>
              </a:ext>
            </a:extLst>
          </p:cNvPr>
          <p:cNvSpPr/>
          <p:nvPr/>
        </p:nvSpPr>
        <p:spPr>
          <a:xfrm>
            <a:off x="6507539" y="3591003"/>
            <a:ext cx="288700" cy="270510"/>
          </a:xfrm>
          <a:prstGeom prst="rect">
            <a:avLst/>
          </a:prstGeom>
          <a:solidFill>
            <a:srgbClr val="E0CDEF"/>
          </a:solidFill>
          <a:ln w="19050">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7030A0"/>
                </a:solidFill>
              </a:rPr>
              <a:t>+</a:t>
            </a:r>
          </a:p>
        </p:txBody>
      </p:sp>
      <p:sp>
        <p:nvSpPr>
          <p:cNvPr id="42" name="Rectangle 41">
            <a:extLst>
              <a:ext uri="{FF2B5EF4-FFF2-40B4-BE49-F238E27FC236}">
                <a16:creationId xmlns:a16="http://schemas.microsoft.com/office/drawing/2014/main" id="{2D250A83-104D-B911-33E1-AD431DED1D48}"/>
              </a:ext>
            </a:extLst>
          </p:cNvPr>
          <p:cNvSpPr/>
          <p:nvPr/>
        </p:nvSpPr>
        <p:spPr>
          <a:xfrm>
            <a:off x="6796239" y="3591003"/>
            <a:ext cx="288700" cy="270510"/>
          </a:xfrm>
          <a:prstGeom prst="rect">
            <a:avLst/>
          </a:prstGeom>
          <a:solidFill>
            <a:srgbClr val="E0CDEF"/>
          </a:solidFill>
          <a:ln w="19050">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7030A0"/>
                </a:solidFill>
              </a:rPr>
              <a:t>0</a:t>
            </a:r>
          </a:p>
        </p:txBody>
      </p:sp>
      <p:sp>
        <p:nvSpPr>
          <p:cNvPr id="43" name="Rectangle 42">
            <a:extLst>
              <a:ext uri="{FF2B5EF4-FFF2-40B4-BE49-F238E27FC236}">
                <a16:creationId xmlns:a16="http://schemas.microsoft.com/office/drawing/2014/main" id="{84B17280-C358-D756-C7FD-1A767DAA3911}"/>
              </a:ext>
            </a:extLst>
          </p:cNvPr>
          <p:cNvSpPr/>
          <p:nvPr/>
        </p:nvSpPr>
        <p:spPr>
          <a:xfrm>
            <a:off x="7091210" y="3590258"/>
            <a:ext cx="288700" cy="270510"/>
          </a:xfrm>
          <a:prstGeom prst="rect">
            <a:avLst/>
          </a:prstGeom>
          <a:solidFill>
            <a:srgbClr val="E0CDEF"/>
          </a:solidFill>
          <a:ln w="19050">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7030A0"/>
                </a:solidFill>
              </a:rPr>
              <a:t>0</a:t>
            </a:r>
          </a:p>
        </p:txBody>
      </p:sp>
      <p:sp>
        <p:nvSpPr>
          <p:cNvPr id="44" name="Rectangle 43">
            <a:extLst>
              <a:ext uri="{FF2B5EF4-FFF2-40B4-BE49-F238E27FC236}">
                <a16:creationId xmlns:a16="http://schemas.microsoft.com/office/drawing/2014/main" id="{06C2A856-BC88-87A1-4562-70DB2D74A99A}"/>
              </a:ext>
            </a:extLst>
          </p:cNvPr>
          <p:cNvSpPr/>
          <p:nvPr/>
        </p:nvSpPr>
        <p:spPr>
          <a:xfrm>
            <a:off x="7384990" y="3590368"/>
            <a:ext cx="288700" cy="270510"/>
          </a:xfrm>
          <a:prstGeom prst="rect">
            <a:avLst/>
          </a:prstGeom>
          <a:solidFill>
            <a:srgbClr val="E0CDEF"/>
          </a:solidFill>
          <a:ln w="19050">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7030A0"/>
                </a:solidFill>
              </a:rPr>
              <a:t>+</a:t>
            </a:r>
          </a:p>
        </p:txBody>
      </p:sp>
      <p:sp>
        <p:nvSpPr>
          <p:cNvPr id="45" name="Rectangle 44">
            <a:extLst>
              <a:ext uri="{FF2B5EF4-FFF2-40B4-BE49-F238E27FC236}">
                <a16:creationId xmlns:a16="http://schemas.microsoft.com/office/drawing/2014/main" id="{90273AEF-951F-9BA7-4FB2-B3564B540FDF}"/>
              </a:ext>
            </a:extLst>
          </p:cNvPr>
          <p:cNvSpPr/>
          <p:nvPr/>
        </p:nvSpPr>
        <p:spPr>
          <a:xfrm>
            <a:off x="7673690" y="3590368"/>
            <a:ext cx="288700" cy="270510"/>
          </a:xfrm>
          <a:prstGeom prst="rect">
            <a:avLst/>
          </a:prstGeom>
          <a:solidFill>
            <a:srgbClr val="E0CDEF"/>
          </a:solidFill>
          <a:ln w="19050">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7030A0"/>
                </a:solidFill>
              </a:rPr>
              <a:t>+</a:t>
            </a:r>
          </a:p>
        </p:txBody>
      </p:sp>
      <p:sp>
        <p:nvSpPr>
          <p:cNvPr id="46" name="Rectangle 45">
            <a:extLst>
              <a:ext uri="{FF2B5EF4-FFF2-40B4-BE49-F238E27FC236}">
                <a16:creationId xmlns:a16="http://schemas.microsoft.com/office/drawing/2014/main" id="{C7076843-021F-BFD2-83DD-E6992ED49EB1}"/>
              </a:ext>
            </a:extLst>
          </p:cNvPr>
          <p:cNvSpPr/>
          <p:nvPr/>
        </p:nvSpPr>
        <p:spPr>
          <a:xfrm>
            <a:off x="7968661" y="3591528"/>
            <a:ext cx="288700" cy="270510"/>
          </a:xfrm>
          <a:prstGeom prst="rect">
            <a:avLst/>
          </a:prstGeom>
          <a:solidFill>
            <a:srgbClr val="E0CDEF"/>
          </a:solidFill>
          <a:ln w="19050">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7030A0"/>
                </a:solidFill>
              </a:rPr>
              <a:t>-</a:t>
            </a:r>
          </a:p>
        </p:txBody>
      </p:sp>
      <p:pic>
        <p:nvPicPr>
          <p:cNvPr id="47" name="Picture 46">
            <a:extLst>
              <a:ext uri="{FF2B5EF4-FFF2-40B4-BE49-F238E27FC236}">
                <a16:creationId xmlns:a16="http://schemas.microsoft.com/office/drawing/2014/main" id="{CC12794D-BCA2-3281-3503-80EE32C8E2FE}"/>
              </a:ext>
            </a:extLst>
          </p:cNvPr>
          <p:cNvPicPr>
            <a:picLocks noChangeAspect="1"/>
          </p:cNvPicPr>
          <p:nvPr/>
        </p:nvPicPr>
        <p:blipFill>
          <a:blip r:embed="rId5"/>
          <a:stretch>
            <a:fillRect/>
          </a:stretch>
        </p:blipFill>
        <p:spPr>
          <a:xfrm>
            <a:off x="5032057" y="3027997"/>
            <a:ext cx="9525" cy="9525"/>
          </a:xfrm>
          <a:prstGeom prst="rect">
            <a:avLst/>
          </a:prstGeom>
        </p:spPr>
      </p:pic>
      <p:pic>
        <p:nvPicPr>
          <p:cNvPr id="48" name="Picture 47">
            <a:extLst>
              <a:ext uri="{FF2B5EF4-FFF2-40B4-BE49-F238E27FC236}">
                <a16:creationId xmlns:a16="http://schemas.microsoft.com/office/drawing/2014/main" id="{616E1E9A-D741-A8E1-4CFE-A7F7EAFDFB8C}"/>
              </a:ext>
            </a:extLst>
          </p:cNvPr>
          <p:cNvPicPr>
            <a:picLocks noChangeAspect="1"/>
          </p:cNvPicPr>
          <p:nvPr/>
        </p:nvPicPr>
        <p:blipFill>
          <a:blip r:embed="rId5"/>
          <a:stretch>
            <a:fillRect/>
          </a:stretch>
        </p:blipFill>
        <p:spPr>
          <a:xfrm>
            <a:off x="5182057" y="3177997"/>
            <a:ext cx="9525" cy="9525"/>
          </a:xfrm>
          <a:prstGeom prst="rect">
            <a:avLst/>
          </a:prstGeom>
        </p:spPr>
      </p:pic>
      <p:pic>
        <p:nvPicPr>
          <p:cNvPr id="49" name="Picture 48">
            <a:extLst>
              <a:ext uri="{FF2B5EF4-FFF2-40B4-BE49-F238E27FC236}">
                <a16:creationId xmlns:a16="http://schemas.microsoft.com/office/drawing/2014/main" id="{4854BB90-E9E9-7A7C-31DC-4CBD85AE00CF}"/>
              </a:ext>
            </a:extLst>
          </p:cNvPr>
          <p:cNvPicPr>
            <a:picLocks noChangeAspect="1"/>
          </p:cNvPicPr>
          <p:nvPr/>
        </p:nvPicPr>
        <p:blipFill>
          <a:blip r:embed="rId5"/>
          <a:stretch>
            <a:fillRect/>
          </a:stretch>
        </p:blipFill>
        <p:spPr>
          <a:xfrm>
            <a:off x="5032057" y="3027997"/>
            <a:ext cx="9525" cy="9525"/>
          </a:xfrm>
          <a:prstGeom prst="rect">
            <a:avLst/>
          </a:prstGeom>
        </p:spPr>
      </p:pic>
      <p:pic>
        <p:nvPicPr>
          <p:cNvPr id="50" name="Picture 49">
            <a:extLst>
              <a:ext uri="{FF2B5EF4-FFF2-40B4-BE49-F238E27FC236}">
                <a16:creationId xmlns:a16="http://schemas.microsoft.com/office/drawing/2014/main" id="{4B8BC49C-58D5-F427-C74A-B43DD63887E1}"/>
              </a:ext>
            </a:extLst>
          </p:cNvPr>
          <p:cNvPicPr>
            <a:picLocks noChangeAspect="1"/>
          </p:cNvPicPr>
          <p:nvPr/>
        </p:nvPicPr>
        <p:blipFill>
          <a:blip r:embed="rId5"/>
          <a:stretch>
            <a:fillRect/>
          </a:stretch>
        </p:blipFill>
        <p:spPr>
          <a:xfrm>
            <a:off x="5182057" y="3177997"/>
            <a:ext cx="9525" cy="9525"/>
          </a:xfrm>
          <a:prstGeom prst="rect">
            <a:avLst/>
          </a:prstGeom>
        </p:spPr>
      </p:pic>
      <p:pic>
        <p:nvPicPr>
          <p:cNvPr id="51" name="Picture 50">
            <a:extLst>
              <a:ext uri="{FF2B5EF4-FFF2-40B4-BE49-F238E27FC236}">
                <a16:creationId xmlns:a16="http://schemas.microsoft.com/office/drawing/2014/main" id="{F3B3EF73-C0BE-78D0-F842-304FCFEA53D5}"/>
              </a:ext>
            </a:extLst>
          </p:cNvPr>
          <p:cNvPicPr>
            <a:picLocks noChangeAspect="1"/>
          </p:cNvPicPr>
          <p:nvPr/>
        </p:nvPicPr>
        <p:blipFill>
          <a:blip r:embed="rId5"/>
          <a:stretch>
            <a:fillRect/>
          </a:stretch>
        </p:blipFill>
        <p:spPr>
          <a:xfrm>
            <a:off x="5032057" y="3027997"/>
            <a:ext cx="9525" cy="9525"/>
          </a:xfrm>
          <a:prstGeom prst="rect">
            <a:avLst/>
          </a:prstGeom>
        </p:spPr>
      </p:pic>
      <p:pic>
        <p:nvPicPr>
          <p:cNvPr id="52" name="Picture 51">
            <a:extLst>
              <a:ext uri="{FF2B5EF4-FFF2-40B4-BE49-F238E27FC236}">
                <a16:creationId xmlns:a16="http://schemas.microsoft.com/office/drawing/2014/main" id="{F838920C-C071-13FF-87BD-CBB7C501ECC8}"/>
              </a:ext>
            </a:extLst>
          </p:cNvPr>
          <p:cNvPicPr>
            <a:picLocks noChangeAspect="1"/>
          </p:cNvPicPr>
          <p:nvPr/>
        </p:nvPicPr>
        <p:blipFill>
          <a:blip r:embed="rId5"/>
          <a:stretch>
            <a:fillRect/>
          </a:stretch>
        </p:blipFill>
        <p:spPr>
          <a:xfrm>
            <a:off x="5182057" y="3177997"/>
            <a:ext cx="9525" cy="9525"/>
          </a:xfrm>
          <a:prstGeom prst="rect">
            <a:avLst/>
          </a:prstGeom>
        </p:spPr>
      </p:pic>
      <p:sp>
        <p:nvSpPr>
          <p:cNvPr id="3" name="Rectangle: Rounded Corners 2">
            <a:extLst>
              <a:ext uri="{FF2B5EF4-FFF2-40B4-BE49-F238E27FC236}">
                <a16:creationId xmlns:a16="http://schemas.microsoft.com/office/drawing/2014/main" id="{1D30DB03-D8CB-C657-C3AB-D45AB3510637}"/>
              </a:ext>
            </a:extLst>
          </p:cNvPr>
          <p:cNvSpPr/>
          <p:nvPr/>
        </p:nvSpPr>
        <p:spPr>
          <a:xfrm>
            <a:off x="3509915" y="2586642"/>
            <a:ext cx="2124169" cy="426568"/>
          </a:xfrm>
          <a:prstGeom prst="roundRect">
            <a:avLst/>
          </a:prstGeom>
          <a:solidFill>
            <a:srgbClr val="B4E5A3"/>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err="1">
                <a:solidFill>
                  <a:schemeClr val="bg1">
                    <a:lumMod val="10000"/>
                  </a:schemeClr>
                </a:solidFill>
              </a:rPr>
              <a:t>gLM</a:t>
            </a:r>
            <a:endParaRPr lang="en-US" dirty="0">
              <a:solidFill>
                <a:schemeClr val="bg1">
                  <a:lumMod val="10000"/>
                </a:schemeClr>
              </a:solidFill>
            </a:endParaRPr>
          </a:p>
        </p:txBody>
      </p:sp>
      <p:cxnSp>
        <p:nvCxnSpPr>
          <p:cNvPr id="6" name="Straight Arrow Connector 5">
            <a:extLst>
              <a:ext uri="{FF2B5EF4-FFF2-40B4-BE49-F238E27FC236}">
                <a16:creationId xmlns:a16="http://schemas.microsoft.com/office/drawing/2014/main" id="{565C35A0-BC71-570A-EBD9-BB271930693B}"/>
              </a:ext>
            </a:extLst>
          </p:cNvPr>
          <p:cNvCxnSpPr>
            <a:cxnSpLocks/>
          </p:cNvCxnSpPr>
          <p:nvPr/>
        </p:nvCxnSpPr>
        <p:spPr>
          <a:xfrm>
            <a:off x="4596935" y="2225675"/>
            <a:ext cx="0" cy="26670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0" name="Straight Arrow Connector 9">
            <a:extLst>
              <a:ext uri="{FF2B5EF4-FFF2-40B4-BE49-F238E27FC236}">
                <a16:creationId xmlns:a16="http://schemas.microsoft.com/office/drawing/2014/main" id="{9DD8BD6C-C52D-C485-5DD0-D524E93D76CE}"/>
              </a:ext>
            </a:extLst>
          </p:cNvPr>
          <p:cNvCxnSpPr>
            <a:cxnSpLocks/>
          </p:cNvCxnSpPr>
          <p:nvPr/>
        </p:nvCxnSpPr>
        <p:spPr>
          <a:xfrm>
            <a:off x="4596935" y="3177997"/>
            <a:ext cx="0" cy="26670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7" name="Text Placeholder 2">
            <a:extLst>
              <a:ext uri="{FF2B5EF4-FFF2-40B4-BE49-F238E27FC236}">
                <a16:creationId xmlns:a16="http://schemas.microsoft.com/office/drawing/2014/main" id="{91A55E4A-87B9-B48A-6C5B-16257640EACF}"/>
              </a:ext>
            </a:extLst>
          </p:cNvPr>
          <p:cNvSpPr>
            <a:spLocks noGrp="1"/>
          </p:cNvSpPr>
          <p:nvPr>
            <p:ph type="body" idx="1"/>
          </p:nvPr>
        </p:nvSpPr>
        <p:spPr>
          <a:xfrm>
            <a:off x="1262665" y="4112296"/>
            <a:ext cx="6668539" cy="586179"/>
          </a:xfrm>
        </p:spPr>
        <p:txBody>
          <a:bodyPr/>
          <a:lstStyle/>
          <a:p>
            <a:pPr marL="177800" indent="0" algn="ctr">
              <a:buNone/>
            </a:pPr>
            <a:r>
              <a:rPr lang="en-US" dirty="0"/>
              <a:t>Conservation scores capture both regional and local functional signal</a:t>
            </a:r>
          </a:p>
        </p:txBody>
      </p:sp>
    </p:spTree>
    <p:extLst>
      <p:ext uri="{BB962C8B-B14F-4D97-AF65-F5344CB8AC3E}">
        <p14:creationId xmlns:p14="http://schemas.microsoft.com/office/powerpoint/2010/main" val="340538840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12E37A-BE4E-C110-3195-2EC7BA270F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4134C26-664A-2BD8-F18E-F7DBAEF784A9}"/>
              </a:ext>
            </a:extLst>
          </p:cNvPr>
          <p:cNvSpPr>
            <a:spLocks noGrp="1"/>
          </p:cNvSpPr>
          <p:nvPr>
            <p:ph type="title"/>
          </p:nvPr>
        </p:nvSpPr>
        <p:spPr/>
        <p:txBody>
          <a:bodyPr/>
          <a:lstStyle/>
          <a:p>
            <a:pPr algn="ctr"/>
            <a:r>
              <a:rPr lang="en-US" sz="2400" dirty="0"/>
              <a:t>Designing pretraining tasks comparable with sequence-based reconstruction</a:t>
            </a:r>
          </a:p>
        </p:txBody>
      </p:sp>
      <p:sp>
        <p:nvSpPr>
          <p:cNvPr id="5" name="Rectangle 4">
            <a:extLst>
              <a:ext uri="{FF2B5EF4-FFF2-40B4-BE49-F238E27FC236}">
                <a16:creationId xmlns:a16="http://schemas.microsoft.com/office/drawing/2014/main" id="{9E3462A0-4F8D-FB7A-E6D9-9050901F43D8}"/>
              </a:ext>
            </a:extLst>
          </p:cNvPr>
          <p:cNvSpPr/>
          <p:nvPr/>
        </p:nvSpPr>
        <p:spPr>
          <a:xfrm>
            <a:off x="837006" y="2480041"/>
            <a:ext cx="292894" cy="288925"/>
          </a:xfrm>
          <a:prstGeom prst="rect">
            <a:avLst/>
          </a:prstGeom>
          <a:solidFill>
            <a:srgbClr val="C8DBC8"/>
          </a:solidFill>
          <a:ln w="12700">
            <a:solidFill>
              <a:srgbClr val="5AA24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rgbClr val="5AA240"/>
                </a:solidFill>
              </a:rPr>
              <a:t>C</a:t>
            </a:r>
            <a:endParaRPr lang="en-US" dirty="0">
              <a:solidFill>
                <a:srgbClr val="5AA240"/>
              </a:solidFill>
            </a:endParaRPr>
          </a:p>
        </p:txBody>
      </p:sp>
      <p:sp>
        <p:nvSpPr>
          <p:cNvPr id="7" name="Rectangle 6">
            <a:extLst>
              <a:ext uri="{FF2B5EF4-FFF2-40B4-BE49-F238E27FC236}">
                <a16:creationId xmlns:a16="http://schemas.microsoft.com/office/drawing/2014/main" id="{17201D33-C23E-E814-A9C0-5D151C67D723}"/>
              </a:ext>
            </a:extLst>
          </p:cNvPr>
          <p:cNvSpPr/>
          <p:nvPr/>
        </p:nvSpPr>
        <p:spPr>
          <a:xfrm>
            <a:off x="1129900" y="2480041"/>
            <a:ext cx="292894" cy="288925"/>
          </a:xfrm>
          <a:prstGeom prst="rect">
            <a:avLst/>
          </a:prstGeom>
          <a:solidFill>
            <a:srgbClr val="EDAEAE"/>
          </a:solidFill>
          <a:ln w="12700">
            <a:solidFill>
              <a:srgbClr val="C23F3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rgbClr val="C13A32"/>
                </a:solidFill>
              </a:rPr>
              <a:t>A</a:t>
            </a:r>
            <a:endParaRPr lang="en-US" dirty="0">
              <a:solidFill>
                <a:srgbClr val="C13A32"/>
              </a:solidFill>
            </a:endParaRPr>
          </a:p>
        </p:txBody>
      </p:sp>
      <p:sp>
        <p:nvSpPr>
          <p:cNvPr id="8" name="Rectangle 7">
            <a:extLst>
              <a:ext uri="{FF2B5EF4-FFF2-40B4-BE49-F238E27FC236}">
                <a16:creationId xmlns:a16="http://schemas.microsoft.com/office/drawing/2014/main" id="{BC27E95E-AE28-4304-72BA-501AAEEF17C8}"/>
              </a:ext>
            </a:extLst>
          </p:cNvPr>
          <p:cNvSpPr/>
          <p:nvPr/>
        </p:nvSpPr>
        <p:spPr>
          <a:xfrm>
            <a:off x="1422794" y="2480041"/>
            <a:ext cx="292894" cy="288925"/>
          </a:xfrm>
          <a:prstGeom prst="rect">
            <a:avLst/>
          </a:prstGeom>
          <a:solidFill>
            <a:srgbClr val="EDAEAE"/>
          </a:solidFill>
          <a:ln w="12700">
            <a:solidFill>
              <a:srgbClr val="C23F3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rgbClr val="C13A32"/>
                </a:solidFill>
              </a:rPr>
              <a:t>A</a:t>
            </a:r>
            <a:endParaRPr lang="en-US" dirty="0">
              <a:solidFill>
                <a:srgbClr val="C13A32"/>
              </a:solidFill>
            </a:endParaRPr>
          </a:p>
        </p:txBody>
      </p:sp>
      <p:sp>
        <p:nvSpPr>
          <p:cNvPr id="9" name="Rectangle 8">
            <a:extLst>
              <a:ext uri="{FF2B5EF4-FFF2-40B4-BE49-F238E27FC236}">
                <a16:creationId xmlns:a16="http://schemas.microsoft.com/office/drawing/2014/main" id="{234DAB00-A6DF-8DFA-7201-5A8657D891E4}"/>
              </a:ext>
            </a:extLst>
          </p:cNvPr>
          <p:cNvSpPr/>
          <p:nvPr/>
        </p:nvSpPr>
        <p:spPr>
          <a:xfrm>
            <a:off x="1715688" y="2480041"/>
            <a:ext cx="292894" cy="288925"/>
          </a:xfrm>
          <a:prstGeom prst="rect">
            <a:avLst/>
          </a:prstGeom>
          <a:solidFill>
            <a:srgbClr val="C8DBC8"/>
          </a:solidFill>
          <a:ln w="12700">
            <a:solidFill>
              <a:srgbClr val="5AA24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rgbClr val="5AA240"/>
                </a:solidFill>
              </a:rPr>
              <a:t>C</a:t>
            </a:r>
            <a:endParaRPr lang="en-US" dirty="0">
              <a:solidFill>
                <a:srgbClr val="5AA240"/>
              </a:solidFill>
            </a:endParaRPr>
          </a:p>
        </p:txBody>
      </p:sp>
      <p:sp>
        <p:nvSpPr>
          <p:cNvPr id="10" name="Rectangle 9">
            <a:extLst>
              <a:ext uri="{FF2B5EF4-FFF2-40B4-BE49-F238E27FC236}">
                <a16:creationId xmlns:a16="http://schemas.microsoft.com/office/drawing/2014/main" id="{32110F3F-0137-CE52-E85D-0067C84CFA28}"/>
              </a:ext>
            </a:extLst>
          </p:cNvPr>
          <p:cNvSpPr/>
          <p:nvPr/>
        </p:nvSpPr>
        <p:spPr>
          <a:xfrm>
            <a:off x="2012610" y="2480041"/>
            <a:ext cx="292894" cy="288925"/>
          </a:xfrm>
          <a:prstGeom prst="rect">
            <a:avLst/>
          </a:prstGeom>
          <a:solidFill>
            <a:srgbClr val="B8E2DE"/>
          </a:solidFill>
          <a:ln w="12700">
            <a:solidFill>
              <a:srgbClr val="46B0A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rgbClr val="46B0AA"/>
                </a:solidFill>
              </a:rPr>
              <a:t>T</a:t>
            </a:r>
            <a:endParaRPr lang="en-US" dirty="0">
              <a:solidFill>
                <a:srgbClr val="46B0AA"/>
              </a:solidFill>
            </a:endParaRPr>
          </a:p>
        </p:txBody>
      </p:sp>
      <p:sp>
        <p:nvSpPr>
          <p:cNvPr id="11" name="Rectangle 10">
            <a:extLst>
              <a:ext uri="{FF2B5EF4-FFF2-40B4-BE49-F238E27FC236}">
                <a16:creationId xmlns:a16="http://schemas.microsoft.com/office/drawing/2014/main" id="{DF997B9C-92F6-8604-7CB4-81EA270F596A}"/>
              </a:ext>
            </a:extLst>
          </p:cNvPr>
          <p:cNvSpPr/>
          <p:nvPr/>
        </p:nvSpPr>
        <p:spPr>
          <a:xfrm>
            <a:off x="2309532" y="2480041"/>
            <a:ext cx="292894" cy="288925"/>
          </a:xfrm>
          <a:prstGeom prst="rect">
            <a:avLst/>
          </a:prstGeom>
          <a:solidFill>
            <a:srgbClr val="C8DBC8"/>
          </a:solidFill>
          <a:ln w="12700">
            <a:solidFill>
              <a:srgbClr val="5AA24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rgbClr val="5AA240"/>
                </a:solidFill>
              </a:rPr>
              <a:t>C</a:t>
            </a:r>
            <a:endParaRPr lang="en-US" dirty="0">
              <a:solidFill>
                <a:srgbClr val="5AA240"/>
              </a:solidFill>
            </a:endParaRPr>
          </a:p>
        </p:txBody>
      </p:sp>
      <p:sp>
        <p:nvSpPr>
          <p:cNvPr id="12" name="Rectangle 11">
            <a:extLst>
              <a:ext uri="{FF2B5EF4-FFF2-40B4-BE49-F238E27FC236}">
                <a16:creationId xmlns:a16="http://schemas.microsoft.com/office/drawing/2014/main" id="{1CE98805-EFD6-88EA-62C1-8A34178095B5}"/>
              </a:ext>
            </a:extLst>
          </p:cNvPr>
          <p:cNvSpPr/>
          <p:nvPr/>
        </p:nvSpPr>
        <p:spPr>
          <a:xfrm>
            <a:off x="2602426" y="2480041"/>
            <a:ext cx="292894" cy="288925"/>
          </a:xfrm>
          <a:prstGeom prst="rect">
            <a:avLst/>
          </a:prstGeom>
          <a:solidFill>
            <a:srgbClr val="F4E6AA"/>
          </a:solidFill>
          <a:ln w="12700">
            <a:solidFill>
              <a:srgbClr val="F2BC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rgbClr val="F2BC55"/>
                </a:solidFill>
              </a:rPr>
              <a:t>G</a:t>
            </a:r>
            <a:endParaRPr lang="en-US" dirty="0">
              <a:solidFill>
                <a:srgbClr val="F2BC55"/>
              </a:solidFill>
            </a:endParaRPr>
          </a:p>
        </p:txBody>
      </p:sp>
      <p:sp>
        <p:nvSpPr>
          <p:cNvPr id="13" name="Rectangle 12">
            <a:extLst>
              <a:ext uri="{FF2B5EF4-FFF2-40B4-BE49-F238E27FC236}">
                <a16:creationId xmlns:a16="http://schemas.microsoft.com/office/drawing/2014/main" id="{B0AA40DF-7D4C-1B0B-BCB0-5B380AD1C42F}"/>
              </a:ext>
            </a:extLst>
          </p:cNvPr>
          <p:cNvSpPr/>
          <p:nvPr/>
        </p:nvSpPr>
        <p:spPr>
          <a:xfrm>
            <a:off x="2895320" y="2480040"/>
            <a:ext cx="292894" cy="288925"/>
          </a:xfrm>
          <a:prstGeom prst="rect">
            <a:avLst/>
          </a:prstGeom>
          <a:solidFill>
            <a:srgbClr val="B8E2DE"/>
          </a:solidFill>
          <a:ln w="12700">
            <a:solidFill>
              <a:srgbClr val="46B0A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rgbClr val="46B0AA"/>
                </a:solidFill>
              </a:rPr>
              <a:t>T</a:t>
            </a:r>
            <a:endParaRPr lang="en-US" dirty="0">
              <a:solidFill>
                <a:srgbClr val="46B0AA"/>
              </a:solidFill>
            </a:endParaRPr>
          </a:p>
        </p:txBody>
      </p:sp>
      <p:sp>
        <p:nvSpPr>
          <p:cNvPr id="14" name="Rectangle 13">
            <a:extLst>
              <a:ext uri="{FF2B5EF4-FFF2-40B4-BE49-F238E27FC236}">
                <a16:creationId xmlns:a16="http://schemas.microsoft.com/office/drawing/2014/main" id="{134A4A84-5010-DCF0-BAC7-1B4479B6F090}"/>
              </a:ext>
            </a:extLst>
          </p:cNvPr>
          <p:cNvSpPr/>
          <p:nvPr/>
        </p:nvSpPr>
        <p:spPr>
          <a:xfrm>
            <a:off x="3188214" y="2480040"/>
            <a:ext cx="292894" cy="288925"/>
          </a:xfrm>
          <a:prstGeom prst="rect">
            <a:avLst/>
          </a:prstGeom>
          <a:solidFill>
            <a:srgbClr val="EDAEAE"/>
          </a:solidFill>
          <a:ln w="12700">
            <a:solidFill>
              <a:srgbClr val="C23F3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rgbClr val="C13A32"/>
                </a:solidFill>
              </a:rPr>
              <a:t>A</a:t>
            </a:r>
            <a:endParaRPr lang="en-US" dirty="0">
              <a:solidFill>
                <a:srgbClr val="C13A32"/>
              </a:solidFill>
            </a:endParaRPr>
          </a:p>
        </p:txBody>
      </p:sp>
      <p:sp>
        <p:nvSpPr>
          <p:cNvPr id="15" name="Rectangle 14">
            <a:extLst>
              <a:ext uri="{FF2B5EF4-FFF2-40B4-BE49-F238E27FC236}">
                <a16:creationId xmlns:a16="http://schemas.microsoft.com/office/drawing/2014/main" id="{2B67109D-BD44-CDF7-C158-011B151AD7E9}"/>
              </a:ext>
            </a:extLst>
          </p:cNvPr>
          <p:cNvSpPr/>
          <p:nvPr/>
        </p:nvSpPr>
        <p:spPr>
          <a:xfrm>
            <a:off x="3479399" y="2480040"/>
            <a:ext cx="292894" cy="288925"/>
          </a:xfrm>
          <a:prstGeom prst="rect">
            <a:avLst/>
          </a:prstGeom>
          <a:solidFill>
            <a:srgbClr val="C8DBC8"/>
          </a:solidFill>
          <a:ln w="12700">
            <a:solidFill>
              <a:srgbClr val="5AA24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rgbClr val="5AA240"/>
                </a:solidFill>
              </a:rPr>
              <a:t>C</a:t>
            </a:r>
            <a:endParaRPr lang="en-US" dirty="0">
              <a:solidFill>
                <a:srgbClr val="5AA240"/>
              </a:solidFill>
            </a:endParaRPr>
          </a:p>
        </p:txBody>
      </p:sp>
      <p:pic>
        <p:nvPicPr>
          <p:cNvPr id="16" name="Picture 15">
            <a:extLst>
              <a:ext uri="{FF2B5EF4-FFF2-40B4-BE49-F238E27FC236}">
                <a16:creationId xmlns:a16="http://schemas.microsoft.com/office/drawing/2014/main" id="{E03BD237-F1C0-E00F-4CDD-BBEA87B372C2}"/>
              </a:ext>
            </a:extLst>
          </p:cNvPr>
          <p:cNvPicPr>
            <a:picLocks noChangeAspect="1"/>
          </p:cNvPicPr>
          <p:nvPr/>
        </p:nvPicPr>
        <p:blipFill>
          <a:blip r:embed="rId3"/>
          <a:stretch>
            <a:fillRect/>
          </a:stretch>
        </p:blipFill>
        <p:spPr>
          <a:xfrm>
            <a:off x="2740626" y="3594315"/>
            <a:ext cx="9525" cy="9525"/>
          </a:xfrm>
          <a:prstGeom prst="rect">
            <a:avLst/>
          </a:prstGeom>
        </p:spPr>
      </p:pic>
      <p:pic>
        <p:nvPicPr>
          <p:cNvPr id="17" name="Picture 16">
            <a:extLst>
              <a:ext uri="{FF2B5EF4-FFF2-40B4-BE49-F238E27FC236}">
                <a16:creationId xmlns:a16="http://schemas.microsoft.com/office/drawing/2014/main" id="{E99A2991-A6DE-AFC1-D09F-EF713D9BEC3C}"/>
              </a:ext>
            </a:extLst>
          </p:cNvPr>
          <p:cNvPicPr>
            <a:picLocks noChangeAspect="1"/>
          </p:cNvPicPr>
          <p:nvPr/>
        </p:nvPicPr>
        <p:blipFill>
          <a:blip r:embed="rId3"/>
          <a:stretch>
            <a:fillRect/>
          </a:stretch>
        </p:blipFill>
        <p:spPr>
          <a:xfrm>
            <a:off x="2890626" y="3625823"/>
            <a:ext cx="9525" cy="9525"/>
          </a:xfrm>
          <a:prstGeom prst="rect">
            <a:avLst/>
          </a:prstGeom>
        </p:spPr>
      </p:pic>
      <p:pic>
        <p:nvPicPr>
          <p:cNvPr id="18" name="Picture 17">
            <a:extLst>
              <a:ext uri="{FF2B5EF4-FFF2-40B4-BE49-F238E27FC236}">
                <a16:creationId xmlns:a16="http://schemas.microsoft.com/office/drawing/2014/main" id="{B5FC0AAB-8ED1-3E2F-EA7B-5AE7547440BC}"/>
              </a:ext>
            </a:extLst>
          </p:cNvPr>
          <p:cNvPicPr>
            <a:picLocks noChangeAspect="1"/>
          </p:cNvPicPr>
          <p:nvPr/>
        </p:nvPicPr>
        <p:blipFill>
          <a:blip r:embed="rId3"/>
          <a:stretch>
            <a:fillRect/>
          </a:stretch>
        </p:blipFill>
        <p:spPr>
          <a:xfrm>
            <a:off x="2740626" y="3594315"/>
            <a:ext cx="9525" cy="9525"/>
          </a:xfrm>
          <a:prstGeom prst="rect">
            <a:avLst/>
          </a:prstGeom>
        </p:spPr>
      </p:pic>
      <p:pic>
        <p:nvPicPr>
          <p:cNvPr id="19" name="Picture 18">
            <a:extLst>
              <a:ext uri="{FF2B5EF4-FFF2-40B4-BE49-F238E27FC236}">
                <a16:creationId xmlns:a16="http://schemas.microsoft.com/office/drawing/2014/main" id="{5B0F493A-FAE1-4653-308D-4A87B72D18F3}"/>
              </a:ext>
            </a:extLst>
          </p:cNvPr>
          <p:cNvPicPr>
            <a:picLocks noChangeAspect="1"/>
          </p:cNvPicPr>
          <p:nvPr/>
        </p:nvPicPr>
        <p:blipFill>
          <a:blip r:embed="rId3"/>
          <a:stretch>
            <a:fillRect/>
          </a:stretch>
        </p:blipFill>
        <p:spPr>
          <a:xfrm>
            <a:off x="2890626" y="3625823"/>
            <a:ext cx="9525" cy="9525"/>
          </a:xfrm>
          <a:prstGeom prst="rect">
            <a:avLst/>
          </a:prstGeom>
        </p:spPr>
      </p:pic>
      <p:pic>
        <p:nvPicPr>
          <p:cNvPr id="20" name="Picture 19">
            <a:extLst>
              <a:ext uri="{FF2B5EF4-FFF2-40B4-BE49-F238E27FC236}">
                <a16:creationId xmlns:a16="http://schemas.microsoft.com/office/drawing/2014/main" id="{A5513B86-B5D9-87DD-9E17-E11230A5F6D8}"/>
              </a:ext>
            </a:extLst>
          </p:cNvPr>
          <p:cNvPicPr>
            <a:picLocks noChangeAspect="1"/>
          </p:cNvPicPr>
          <p:nvPr/>
        </p:nvPicPr>
        <p:blipFill>
          <a:blip r:embed="rId3"/>
          <a:stretch>
            <a:fillRect/>
          </a:stretch>
        </p:blipFill>
        <p:spPr>
          <a:xfrm>
            <a:off x="2740626" y="3594315"/>
            <a:ext cx="9525" cy="9525"/>
          </a:xfrm>
          <a:prstGeom prst="rect">
            <a:avLst/>
          </a:prstGeom>
        </p:spPr>
      </p:pic>
      <p:pic>
        <p:nvPicPr>
          <p:cNvPr id="21" name="Picture 20">
            <a:extLst>
              <a:ext uri="{FF2B5EF4-FFF2-40B4-BE49-F238E27FC236}">
                <a16:creationId xmlns:a16="http://schemas.microsoft.com/office/drawing/2014/main" id="{0EEA2ACA-698F-BDCC-75B2-2CF157EE60D5}"/>
              </a:ext>
            </a:extLst>
          </p:cNvPr>
          <p:cNvPicPr>
            <a:picLocks noChangeAspect="1"/>
          </p:cNvPicPr>
          <p:nvPr/>
        </p:nvPicPr>
        <p:blipFill>
          <a:blip r:embed="rId3"/>
          <a:stretch>
            <a:fillRect/>
          </a:stretch>
        </p:blipFill>
        <p:spPr>
          <a:xfrm>
            <a:off x="2890626" y="3625823"/>
            <a:ext cx="9525" cy="9525"/>
          </a:xfrm>
          <a:prstGeom prst="rect">
            <a:avLst/>
          </a:prstGeom>
        </p:spPr>
      </p:pic>
      <p:sp>
        <p:nvSpPr>
          <p:cNvPr id="22" name="Rectangle: Rounded Corners 21">
            <a:extLst>
              <a:ext uri="{FF2B5EF4-FFF2-40B4-BE49-F238E27FC236}">
                <a16:creationId xmlns:a16="http://schemas.microsoft.com/office/drawing/2014/main" id="{268E59D0-FF6B-9902-E021-6D378EFF7043}"/>
              </a:ext>
            </a:extLst>
          </p:cNvPr>
          <p:cNvSpPr/>
          <p:nvPr/>
        </p:nvSpPr>
        <p:spPr>
          <a:xfrm>
            <a:off x="1218484" y="3152960"/>
            <a:ext cx="2124169" cy="426568"/>
          </a:xfrm>
          <a:prstGeom prst="roundRect">
            <a:avLst/>
          </a:prstGeom>
          <a:solidFill>
            <a:srgbClr val="B4E5A3"/>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lumMod val="10000"/>
                  </a:schemeClr>
                </a:solidFill>
              </a:rPr>
              <a:t>AR-</a:t>
            </a:r>
            <a:r>
              <a:rPr lang="en-US" dirty="0" err="1">
                <a:solidFill>
                  <a:schemeClr val="bg1">
                    <a:lumMod val="10000"/>
                  </a:schemeClr>
                </a:solidFill>
              </a:rPr>
              <a:t>gLM</a:t>
            </a:r>
            <a:endParaRPr lang="en-US" dirty="0">
              <a:solidFill>
                <a:schemeClr val="bg1">
                  <a:lumMod val="10000"/>
                </a:schemeClr>
              </a:solidFill>
            </a:endParaRPr>
          </a:p>
        </p:txBody>
      </p:sp>
      <p:cxnSp>
        <p:nvCxnSpPr>
          <p:cNvPr id="23" name="Straight Arrow Connector 22">
            <a:extLst>
              <a:ext uri="{FF2B5EF4-FFF2-40B4-BE49-F238E27FC236}">
                <a16:creationId xmlns:a16="http://schemas.microsoft.com/office/drawing/2014/main" id="{58BF8486-2C16-D480-3302-97818849D811}"/>
              </a:ext>
            </a:extLst>
          </p:cNvPr>
          <p:cNvCxnSpPr>
            <a:cxnSpLocks/>
          </p:cNvCxnSpPr>
          <p:nvPr/>
        </p:nvCxnSpPr>
        <p:spPr>
          <a:xfrm>
            <a:off x="2305504" y="2881849"/>
            <a:ext cx="0" cy="17684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5" name="Rectangle 24">
            <a:extLst>
              <a:ext uri="{FF2B5EF4-FFF2-40B4-BE49-F238E27FC236}">
                <a16:creationId xmlns:a16="http://schemas.microsoft.com/office/drawing/2014/main" id="{8C969223-2EBD-321D-FE16-FEDD01194D64}"/>
              </a:ext>
            </a:extLst>
          </p:cNvPr>
          <p:cNvSpPr/>
          <p:nvPr/>
        </p:nvSpPr>
        <p:spPr>
          <a:xfrm>
            <a:off x="837006" y="3963523"/>
            <a:ext cx="292894" cy="288925"/>
          </a:xfrm>
          <a:prstGeom prst="rect">
            <a:avLst/>
          </a:prstGeom>
          <a:solidFill>
            <a:schemeClr val="accent6">
              <a:lumMod val="95000"/>
            </a:schemeClr>
          </a:solidFill>
          <a:ln w="12700">
            <a:solidFill>
              <a:schemeClr val="accent6">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2"/>
              </a:solidFill>
            </a:endParaRPr>
          </a:p>
        </p:txBody>
      </p:sp>
      <p:sp>
        <p:nvSpPr>
          <p:cNvPr id="26" name="Rectangle 25">
            <a:extLst>
              <a:ext uri="{FF2B5EF4-FFF2-40B4-BE49-F238E27FC236}">
                <a16:creationId xmlns:a16="http://schemas.microsoft.com/office/drawing/2014/main" id="{6975032F-2004-E2C6-3326-DD1A65239962}"/>
              </a:ext>
            </a:extLst>
          </p:cNvPr>
          <p:cNvSpPr/>
          <p:nvPr/>
        </p:nvSpPr>
        <p:spPr>
          <a:xfrm>
            <a:off x="1129900" y="3963523"/>
            <a:ext cx="292894" cy="288925"/>
          </a:xfrm>
          <a:prstGeom prst="rect">
            <a:avLst/>
          </a:prstGeom>
          <a:solidFill>
            <a:schemeClr val="accent6">
              <a:lumMod val="95000"/>
            </a:schemeClr>
          </a:solidFill>
          <a:ln w="12700">
            <a:solidFill>
              <a:schemeClr val="accent6">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2"/>
              </a:solidFill>
            </a:endParaRPr>
          </a:p>
        </p:txBody>
      </p:sp>
      <p:sp>
        <p:nvSpPr>
          <p:cNvPr id="27" name="Rectangle 26">
            <a:extLst>
              <a:ext uri="{FF2B5EF4-FFF2-40B4-BE49-F238E27FC236}">
                <a16:creationId xmlns:a16="http://schemas.microsoft.com/office/drawing/2014/main" id="{26071F37-24FF-40F2-E318-ACC957B34C0B}"/>
              </a:ext>
            </a:extLst>
          </p:cNvPr>
          <p:cNvSpPr/>
          <p:nvPr/>
        </p:nvSpPr>
        <p:spPr>
          <a:xfrm>
            <a:off x="1422794" y="3963523"/>
            <a:ext cx="292894" cy="288925"/>
          </a:xfrm>
          <a:prstGeom prst="rect">
            <a:avLst/>
          </a:prstGeom>
          <a:solidFill>
            <a:schemeClr val="accent6">
              <a:lumMod val="95000"/>
            </a:schemeClr>
          </a:solidFill>
          <a:ln w="12700">
            <a:solidFill>
              <a:schemeClr val="accent6">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2"/>
              </a:solidFill>
            </a:endParaRPr>
          </a:p>
        </p:txBody>
      </p:sp>
      <p:sp>
        <p:nvSpPr>
          <p:cNvPr id="28" name="Rectangle 27">
            <a:extLst>
              <a:ext uri="{FF2B5EF4-FFF2-40B4-BE49-F238E27FC236}">
                <a16:creationId xmlns:a16="http://schemas.microsoft.com/office/drawing/2014/main" id="{C1D6F29B-9FFD-98F6-85CD-27BD5AE9A26A}"/>
              </a:ext>
            </a:extLst>
          </p:cNvPr>
          <p:cNvSpPr/>
          <p:nvPr/>
        </p:nvSpPr>
        <p:spPr>
          <a:xfrm>
            <a:off x="1715688" y="3963523"/>
            <a:ext cx="292894" cy="288925"/>
          </a:xfrm>
          <a:prstGeom prst="rect">
            <a:avLst/>
          </a:prstGeom>
          <a:solidFill>
            <a:schemeClr val="accent6">
              <a:lumMod val="95000"/>
            </a:schemeClr>
          </a:solidFill>
          <a:ln w="12700">
            <a:solidFill>
              <a:schemeClr val="accent6">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2"/>
              </a:solidFill>
            </a:endParaRPr>
          </a:p>
        </p:txBody>
      </p:sp>
      <p:sp>
        <p:nvSpPr>
          <p:cNvPr id="29" name="Rectangle 28">
            <a:extLst>
              <a:ext uri="{FF2B5EF4-FFF2-40B4-BE49-F238E27FC236}">
                <a16:creationId xmlns:a16="http://schemas.microsoft.com/office/drawing/2014/main" id="{858180E3-DF80-3D34-1493-9A949AA306FF}"/>
              </a:ext>
            </a:extLst>
          </p:cNvPr>
          <p:cNvSpPr/>
          <p:nvPr/>
        </p:nvSpPr>
        <p:spPr>
          <a:xfrm>
            <a:off x="2012610" y="3963523"/>
            <a:ext cx="292894" cy="288925"/>
          </a:xfrm>
          <a:prstGeom prst="rect">
            <a:avLst/>
          </a:prstGeom>
          <a:solidFill>
            <a:schemeClr val="accent6">
              <a:lumMod val="95000"/>
            </a:schemeClr>
          </a:solidFill>
          <a:ln w="12700">
            <a:solidFill>
              <a:schemeClr val="accent6">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2"/>
              </a:solidFill>
            </a:endParaRPr>
          </a:p>
        </p:txBody>
      </p:sp>
      <p:sp>
        <p:nvSpPr>
          <p:cNvPr id="30" name="Rectangle 29">
            <a:extLst>
              <a:ext uri="{FF2B5EF4-FFF2-40B4-BE49-F238E27FC236}">
                <a16:creationId xmlns:a16="http://schemas.microsoft.com/office/drawing/2014/main" id="{722461E2-E348-80F4-623B-530A50A73C10}"/>
              </a:ext>
            </a:extLst>
          </p:cNvPr>
          <p:cNvSpPr/>
          <p:nvPr/>
        </p:nvSpPr>
        <p:spPr>
          <a:xfrm>
            <a:off x="2309532" y="3963523"/>
            <a:ext cx="292894" cy="288925"/>
          </a:xfrm>
          <a:prstGeom prst="rect">
            <a:avLst/>
          </a:prstGeom>
          <a:solidFill>
            <a:schemeClr val="accent6">
              <a:lumMod val="95000"/>
            </a:schemeClr>
          </a:solidFill>
          <a:ln w="12700">
            <a:solidFill>
              <a:schemeClr val="accent6">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2"/>
              </a:solidFill>
            </a:endParaRPr>
          </a:p>
        </p:txBody>
      </p:sp>
      <p:sp>
        <p:nvSpPr>
          <p:cNvPr id="31" name="Rectangle 30">
            <a:extLst>
              <a:ext uri="{FF2B5EF4-FFF2-40B4-BE49-F238E27FC236}">
                <a16:creationId xmlns:a16="http://schemas.microsoft.com/office/drawing/2014/main" id="{673D4FAD-FD76-74E4-CBDE-23C650E70E46}"/>
              </a:ext>
            </a:extLst>
          </p:cNvPr>
          <p:cNvSpPr/>
          <p:nvPr/>
        </p:nvSpPr>
        <p:spPr>
          <a:xfrm>
            <a:off x="2602426" y="3963523"/>
            <a:ext cx="292894" cy="288925"/>
          </a:xfrm>
          <a:prstGeom prst="rect">
            <a:avLst/>
          </a:prstGeom>
          <a:solidFill>
            <a:schemeClr val="accent6">
              <a:lumMod val="95000"/>
            </a:schemeClr>
          </a:solidFill>
          <a:ln w="12700">
            <a:solidFill>
              <a:schemeClr val="accent6">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2"/>
              </a:solidFill>
            </a:endParaRPr>
          </a:p>
        </p:txBody>
      </p:sp>
      <p:sp>
        <p:nvSpPr>
          <p:cNvPr id="32" name="Rectangle 31">
            <a:extLst>
              <a:ext uri="{FF2B5EF4-FFF2-40B4-BE49-F238E27FC236}">
                <a16:creationId xmlns:a16="http://schemas.microsoft.com/office/drawing/2014/main" id="{F493FB2E-9DCC-4DC0-FA27-D7473E1A89D6}"/>
              </a:ext>
            </a:extLst>
          </p:cNvPr>
          <p:cNvSpPr/>
          <p:nvPr/>
        </p:nvSpPr>
        <p:spPr>
          <a:xfrm>
            <a:off x="2895320" y="3963522"/>
            <a:ext cx="292894" cy="288925"/>
          </a:xfrm>
          <a:prstGeom prst="rect">
            <a:avLst/>
          </a:prstGeom>
          <a:solidFill>
            <a:schemeClr val="accent6">
              <a:lumMod val="95000"/>
            </a:schemeClr>
          </a:solidFill>
          <a:ln w="12700">
            <a:solidFill>
              <a:schemeClr val="accent6">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2"/>
              </a:solidFill>
            </a:endParaRPr>
          </a:p>
        </p:txBody>
      </p:sp>
      <p:sp>
        <p:nvSpPr>
          <p:cNvPr id="33" name="Rectangle 32">
            <a:extLst>
              <a:ext uri="{FF2B5EF4-FFF2-40B4-BE49-F238E27FC236}">
                <a16:creationId xmlns:a16="http://schemas.microsoft.com/office/drawing/2014/main" id="{17157D3C-526B-4807-C14E-A0AAF162295F}"/>
              </a:ext>
            </a:extLst>
          </p:cNvPr>
          <p:cNvSpPr/>
          <p:nvPr/>
        </p:nvSpPr>
        <p:spPr>
          <a:xfrm>
            <a:off x="3188214" y="3963522"/>
            <a:ext cx="292894" cy="288925"/>
          </a:xfrm>
          <a:prstGeom prst="rect">
            <a:avLst/>
          </a:prstGeom>
          <a:solidFill>
            <a:schemeClr val="accent6">
              <a:lumMod val="95000"/>
            </a:schemeClr>
          </a:solidFill>
          <a:ln w="12700">
            <a:solidFill>
              <a:schemeClr val="accent6">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2"/>
              </a:solidFill>
            </a:endParaRPr>
          </a:p>
        </p:txBody>
      </p:sp>
      <p:sp>
        <p:nvSpPr>
          <p:cNvPr id="34" name="Rectangle 33">
            <a:extLst>
              <a:ext uri="{FF2B5EF4-FFF2-40B4-BE49-F238E27FC236}">
                <a16:creationId xmlns:a16="http://schemas.microsoft.com/office/drawing/2014/main" id="{2DE8127F-7839-22F3-92B1-706453EE73DF}"/>
              </a:ext>
            </a:extLst>
          </p:cNvPr>
          <p:cNvSpPr/>
          <p:nvPr/>
        </p:nvSpPr>
        <p:spPr>
          <a:xfrm>
            <a:off x="3479399" y="3963522"/>
            <a:ext cx="292894" cy="288925"/>
          </a:xfrm>
          <a:prstGeom prst="rect">
            <a:avLst/>
          </a:prstGeom>
          <a:solidFill>
            <a:schemeClr val="accent6">
              <a:lumMod val="95000"/>
            </a:schemeClr>
          </a:solidFill>
          <a:ln w="12700">
            <a:solidFill>
              <a:schemeClr val="accent6">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2"/>
              </a:solidFill>
            </a:endParaRPr>
          </a:p>
        </p:txBody>
      </p:sp>
      <p:sp>
        <p:nvSpPr>
          <p:cNvPr id="36" name="Rectangle 35">
            <a:extLst>
              <a:ext uri="{FF2B5EF4-FFF2-40B4-BE49-F238E27FC236}">
                <a16:creationId xmlns:a16="http://schemas.microsoft.com/office/drawing/2014/main" id="{D9008593-7AEF-3E98-931F-7F03D9349CDB}"/>
              </a:ext>
            </a:extLst>
          </p:cNvPr>
          <p:cNvSpPr/>
          <p:nvPr/>
        </p:nvSpPr>
        <p:spPr>
          <a:xfrm>
            <a:off x="3782058" y="3963521"/>
            <a:ext cx="292894" cy="288925"/>
          </a:xfrm>
          <a:prstGeom prst="rect">
            <a:avLst/>
          </a:prstGeom>
          <a:solidFill>
            <a:srgbClr val="F4E6AA"/>
          </a:solidFill>
          <a:ln w="12700">
            <a:solidFill>
              <a:srgbClr val="F2BC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rgbClr val="F2BC55"/>
                </a:solidFill>
              </a:rPr>
              <a:t>G</a:t>
            </a:r>
            <a:endParaRPr lang="en-US" dirty="0">
              <a:solidFill>
                <a:srgbClr val="F2BC55"/>
              </a:solidFill>
            </a:endParaRPr>
          </a:p>
        </p:txBody>
      </p:sp>
      <p:sp>
        <p:nvSpPr>
          <p:cNvPr id="67" name="Rectangle 66">
            <a:extLst>
              <a:ext uri="{FF2B5EF4-FFF2-40B4-BE49-F238E27FC236}">
                <a16:creationId xmlns:a16="http://schemas.microsoft.com/office/drawing/2014/main" id="{69299A11-41E2-F04E-3E60-397A99FD854C}"/>
              </a:ext>
            </a:extLst>
          </p:cNvPr>
          <p:cNvSpPr/>
          <p:nvPr/>
        </p:nvSpPr>
        <p:spPr>
          <a:xfrm>
            <a:off x="5271723" y="2480040"/>
            <a:ext cx="292894" cy="288925"/>
          </a:xfrm>
          <a:prstGeom prst="rect">
            <a:avLst/>
          </a:prstGeom>
          <a:solidFill>
            <a:srgbClr val="C8DBC8"/>
          </a:solidFill>
          <a:ln w="12700">
            <a:solidFill>
              <a:srgbClr val="5AA24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rgbClr val="5AA240"/>
                </a:solidFill>
              </a:rPr>
              <a:t>C</a:t>
            </a:r>
            <a:endParaRPr lang="en-US" dirty="0">
              <a:solidFill>
                <a:srgbClr val="5AA240"/>
              </a:solidFill>
            </a:endParaRPr>
          </a:p>
        </p:txBody>
      </p:sp>
      <p:sp>
        <p:nvSpPr>
          <p:cNvPr id="68" name="Rectangle 67">
            <a:extLst>
              <a:ext uri="{FF2B5EF4-FFF2-40B4-BE49-F238E27FC236}">
                <a16:creationId xmlns:a16="http://schemas.microsoft.com/office/drawing/2014/main" id="{FEBB69BF-26C0-5488-CA63-5DEB15212F34}"/>
              </a:ext>
            </a:extLst>
          </p:cNvPr>
          <p:cNvSpPr/>
          <p:nvPr/>
        </p:nvSpPr>
        <p:spPr>
          <a:xfrm>
            <a:off x="5564617" y="2480040"/>
            <a:ext cx="292894" cy="288925"/>
          </a:xfrm>
          <a:prstGeom prst="rect">
            <a:avLst/>
          </a:prstGeom>
          <a:solidFill>
            <a:srgbClr val="EDAEAE"/>
          </a:solidFill>
          <a:ln w="12700">
            <a:solidFill>
              <a:srgbClr val="C23F3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rgbClr val="C13A32"/>
                </a:solidFill>
              </a:rPr>
              <a:t>A</a:t>
            </a:r>
            <a:endParaRPr lang="en-US" dirty="0">
              <a:solidFill>
                <a:srgbClr val="C13A32"/>
              </a:solidFill>
            </a:endParaRPr>
          </a:p>
        </p:txBody>
      </p:sp>
      <p:sp>
        <p:nvSpPr>
          <p:cNvPr id="69" name="Rectangle 68">
            <a:extLst>
              <a:ext uri="{FF2B5EF4-FFF2-40B4-BE49-F238E27FC236}">
                <a16:creationId xmlns:a16="http://schemas.microsoft.com/office/drawing/2014/main" id="{A7A3697B-5546-B415-77A7-CAC52170CDA7}"/>
              </a:ext>
            </a:extLst>
          </p:cNvPr>
          <p:cNvSpPr/>
          <p:nvPr/>
        </p:nvSpPr>
        <p:spPr>
          <a:xfrm>
            <a:off x="5857511" y="2480040"/>
            <a:ext cx="292894" cy="288925"/>
          </a:xfrm>
          <a:prstGeom prst="rect">
            <a:avLst/>
          </a:prstGeom>
          <a:solidFill>
            <a:schemeClr val="accent6">
              <a:lumMod val="95000"/>
            </a:schemeClr>
          </a:solidFill>
          <a:ln w="12700">
            <a:solidFill>
              <a:schemeClr val="accent6">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accent1"/>
                </a:solidFill>
              </a:rPr>
              <a:t>⋅</a:t>
            </a:r>
          </a:p>
        </p:txBody>
      </p:sp>
      <p:sp>
        <p:nvSpPr>
          <p:cNvPr id="70" name="Rectangle 69">
            <a:extLst>
              <a:ext uri="{FF2B5EF4-FFF2-40B4-BE49-F238E27FC236}">
                <a16:creationId xmlns:a16="http://schemas.microsoft.com/office/drawing/2014/main" id="{1DE22F3F-1AB6-53B5-97B1-E32E50BB8769}"/>
              </a:ext>
            </a:extLst>
          </p:cNvPr>
          <p:cNvSpPr/>
          <p:nvPr/>
        </p:nvSpPr>
        <p:spPr>
          <a:xfrm>
            <a:off x="6150405" y="2480040"/>
            <a:ext cx="292894" cy="288925"/>
          </a:xfrm>
          <a:prstGeom prst="rect">
            <a:avLst/>
          </a:prstGeom>
          <a:solidFill>
            <a:srgbClr val="C8DBC8"/>
          </a:solidFill>
          <a:ln w="12700">
            <a:solidFill>
              <a:srgbClr val="5AA24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rgbClr val="5AA240"/>
                </a:solidFill>
              </a:rPr>
              <a:t>C</a:t>
            </a:r>
            <a:endParaRPr lang="en-US" dirty="0">
              <a:solidFill>
                <a:srgbClr val="5AA240"/>
              </a:solidFill>
            </a:endParaRPr>
          </a:p>
        </p:txBody>
      </p:sp>
      <p:sp>
        <p:nvSpPr>
          <p:cNvPr id="71" name="Rectangle 70">
            <a:extLst>
              <a:ext uri="{FF2B5EF4-FFF2-40B4-BE49-F238E27FC236}">
                <a16:creationId xmlns:a16="http://schemas.microsoft.com/office/drawing/2014/main" id="{7479B515-076B-DFB2-3DB8-6B257414C6D9}"/>
              </a:ext>
            </a:extLst>
          </p:cNvPr>
          <p:cNvSpPr/>
          <p:nvPr/>
        </p:nvSpPr>
        <p:spPr>
          <a:xfrm>
            <a:off x="6447327" y="2480040"/>
            <a:ext cx="292894" cy="288925"/>
          </a:xfrm>
          <a:prstGeom prst="rect">
            <a:avLst/>
          </a:prstGeom>
          <a:solidFill>
            <a:srgbClr val="B8E2DE"/>
          </a:solidFill>
          <a:ln w="12700">
            <a:solidFill>
              <a:srgbClr val="46B0A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rgbClr val="46B0AA"/>
                </a:solidFill>
              </a:rPr>
              <a:t>T</a:t>
            </a:r>
            <a:endParaRPr lang="en-US" dirty="0">
              <a:solidFill>
                <a:srgbClr val="46B0AA"/>
              </a:solidFill>
            </a:endParaRPr>
          </a:p>
        </p:txBody>
      </p:sp>
      <p:sp>
        <p:nvSpPr>
          <p:cNvPr id="72" name="Rectangle 71">
            <a:extLst>
              <a:ext uri="{FF2B5EF4-FFF2-40B4-BE49-F238E27FC236}">
                <a16:creationId xmlns:a16="http://schemas.microsoft.com/office/drawing/2014/main" id="{9A006806-5A14-1A24-4A83-A6D947D78500}"/>
              </a:ext>
            </a:extLst>
          </p:cNvPr>
          <p:cNvSpPr/>
          <p:nvPr/>
        </p:nvSpPr>
        <p:spPr>
          <a:xfrm>
            <a:off x="6744249" y="2480040"/>
            <a:ext cx="292894" cy="288925"/>
          </a:xfrm>
          <a:prstGeom prst="rect">
            <a:avLst/>
          </a:prstGeom>
          <a:solidFill>
            <a:schemeClr val="accent6">
              <a:lumMod val="95000"/>
            </a:schemeClr>
          </a:solidFill>
          <a:ln w="12700">
            <a:solidFill>
              <a:schemeClr val="accent6">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accent1"/>
                </a:solidFill>
              </a:rPr>
              <a:t>⋅</a:t>
            </a:r>
            <a:endParaRPr lang="en-US" dirty="0">
              <a:solidFill>
                <a:srgbClr val="5AA240"/>
              </a:solidFill>
            </a:endParaRPr>
          </a:p>
        </p:txBody>
      </p:sp>
      <p:sp>
        <p:nvSpPr>
          <p:cNvPr id="73" name="Rectangle 72">
            <a:extLst>
              <a:ext uri="{FF2B5EF4-FFF2-40B4-BE49-F238E27FC236}">
                <a16:creationId xmlns:a16="http://schemas.microsoft.com/office/drawing/2014/main" id="{04C4F4A3-E003-7753-6D30-612695AAF31C}"/>
              </a:ext>
            </a:extLst>
          </p:cNvPr>
          <p:cNvSpPr/>
          <p:nvPr/>
        </p:nvSpPr>
        <p:spPr>
          <a:xfrm>
            <a:off x="7037143" y="2480040"/>
            <a:ext cx="292894" cy="288925"/>
          </a:xfrm>
          <a:prstGeom prst="rect">
            <a:avLst/>
          </a:prstGeom>
          <a:solidFill>
            <a:srgbClr val="F4E6AA"/>
          </a:solidFill>
          <a:ln w="12700">
            <a:solidFill>
              <a:srgbClr val="F2BC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rgbClr val="F2BC55"/>
                </a:solidFill>
              </a:rPr>
              <a:t>G</a:t>
            </a:r>
            <a:endParaRPr lang="en-US" dirty="0">
              <a:solidFill>
                <a:srgbClr val="F2BC55"/>
              </a:solidFill>
            </a:endParaRPr>
          </a:p>
        </p:txBody>
      </p:sp>
      <p:sp>
        <p:nvSpPr>
          <p:cNvPr id="74" name="Rectangle 73">
            <a:extLst>
              <a:ext uri="{FF2B5EF4-FFF2-40B4-BE49-F238E27FC236}">
                <a16:creationId xmlns:a16="http://schemas.microsoft.com/office/drawing/2014/main" id="{FCC8E69B-7C2F-0A92-D07B-AF2AEB9139E7}"/>
              </a:ext>
            </a:extLst>
          </p:cNvPr>
          <p:cNvSpPr/>
          <p:nvPr/>
        </p:nvSpPr>
        <p:spPr>
          <a:xfrm>
            <a:off x="7330037" y="2480039"/>
            <a:ext cx="292894" cy="288925"/>
          </a:xfrm>
          <a:prstGeom prst="rect">
            <a:avLst/>
          </a:prstGeom>
          <a:solidFill>
            <a:schemeClr val="accent6">
              <a:lumMod val="95000"/>
            </a:schemeClr>
          </a:solidFill>
          <a:ln w="12700">
            <a:solidFill>
              <a:schemeClr val="accent6">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accent1"/>
                </a:solidFill>
              </a:rPr>
              <a:t>⋅</a:t>
            </a:r>
            <a:endParaRPr lang="en-US" dirty="0">
              <a:solidFill>
                <a:srgbClr val="46B0AA"/>
              </a:solidFill>
            </a:endParaRPr>
          </a:p>
        </p:txBody>
      </p:sp>
      <p:sp>
        <p:nvSpPr>
          <p:cNvPr id="75" name="Rectangle 74">
            <a:extLst>
              <a:ext uri="{FF2B5EF4-FFF2-40B4-BE49-F238E27FC236}">
                <a16:creationId xmlns:a16="http://schemas.microsoft.com/office/drawing/2014/main" id="{B1C0D490-C03D-3C99-47D0-9AAC73CABDBF}"/>
              </a:ext>
            </a:extLst>
          </p:cNvPr>
          <p:cNvSpPr/>
          <p:nvPr/>
        </p:nvSpPr>
        <p:spPr>
          <a:xfrm>
            <a:off x="7622931" y="2480039"/>
            <a:ext cx="292894" cy="288925"/>
          </a:xfrm>
          <a:prstGeom prst="rect">
            <a:avLst/>
          </a:prstGeom>
          <a:solidFill>
            <a:srgbClr val="EDAEAE"/>
          </a:solidFill>
          <a:ln w="12700">
            <a:solidFill>
              <a:srgbClr val="C23F3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rgbClr val="C13A32"/>
                </a:solidFill>
              </a:rPr>
              <a:t>A</a:t>
            </a:r>
            <a:endParaRPr lang="en-US" dirty="0">
              <a:solidFill>
                <a:srgbClr val="C13A32"/>
              </a:solidFill>
            </a:endParaRPr>
          </a:p>
        </p:txBody>
      </p:sp>
      <p:sp>
        <p:nvSpPr>
          <p:cNvPr id="76" name="Rectangle 75">
            <a:extLst>
              <a:ext uri="{FF2B5EF4-FFF2-40B4-BE49-F238E27FC236}">
                <a16:creationId xmlns:a16="http://schemas.microsoft.com/office/drawing/2014/main" id="{A89B012A-8A74-2B47-CE48-A6AA27A559E9}"/>
              </a:ext>
            </a:extLst>
          </p:cNvPr>
          <p:cNvSpPr/>
          <p:nvPr/>
        </p:nvSpPr>
        <p:spPr>
          <a:xfrm>
            <a:off x="7914116" y="2480039"/>
            <a:ext cx="292894" cy="288925"/>
          </a:xfrm>
          <a:prstGeom prst="rect">
            <a:avLst/>
          </a:prstGeom>
          <a:solidFill>
            <a:srgbClr val="C8DBC8"/>
          </a:solidFill>
          <a:ln w="12700">
            <a:solidFill>
              <a:srgbClr val="5AA24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rgbClr val="5AA240"/>
                </a:solidFill>
              </a:rPr>
              <a:t>C</a:t>
            </a:r>
            <a:endParaRPr lang="en-US" dirty="0">
              <a:solidFill>
                <a:srgbClr val="5AA240"/>
              </a:solidFill>
            </a:endParaRPr>
          </a:p>
        </p:txBody>
      </p:sp>
      <p:pic>
        <p:nvPicPr>
          <p:cNvPr id="77" name="Picture 76">
            <a:extLst>
              <a:ext uri="{FF2B5EF4-FFF2-40B4-BE49-F238E27FC236}">
                <a16:creationId xmlns:a16="http://schemas.microsoft.com/office/drawing/2014/main" id="{0A4F7A97-D402-26CD-8BBA-B91F5CB16F9A}"/>
              </a:ext>
            </a:extLst>
          </p:cNvPr>
          <p:cNvPicPr>
            <a:picLocks noChangeAspect="1"/>
          </p:cNvPicPr>
          <p:nvPr/>
        </p:nvPicPr>
        <p:blipFill>
          <a:blip r:embed="rId3"/>
          <a:stretch>
            <a:fillRect/>
          </a:stretch>
        </p:blipFill>
        <p:spPr>
          <a:xfrm>
            <a:off x="7163862" y="3594315"/>
            <a:ext cx="9525" cy="9525"/>
          </a:xfrm>
          <a:prstGeom prst="rect">
            <a:avLst/>
          </a:prstGeom>
        </p:spPr>
      </p:pic>
      <p:pic>
        <p:nvPicPr>
          <p:cNvPr id="78" name="Picture 77">
            <a:extLst>
              <a:ext uri="{FF2B5EF4-FFF2-40B4-BE49-F238E27FC236}">
                <a16:creationId xmlns:a16="http://schemas.microsoft.com/office/drawing/2014/main" id="{875BDEDE-715D-2C1D-5416-67F2B29B8152}"/>
              </a:ext>
            </a:extLst>
          </p:cNvPr>
          <p:cNvPicPr>
            <a:picLocks noChangeAspect="1"/>
          </p:cNvPicPr>
          <p:nvPr/>
        </p:nvPicPr>
        <p:blipFill>
          <a:blip r:embed="rId3"/>
          <a:stretch>
            <a:fillRect/>
          </a:stretch>
        </p:blipFill>
        <p:spPr>
          <a:xfrm>
            <a:off x="7313862" y="3744315"/>
            <a:ext cx="9525" cy="9525"/>
          </a:xfrm>
          <a:prstGeom prst="rect">
            <a:avLst/>
          </a:prstGeom>
        </p:spPr>
      </p:pic>
      <p:pic>
        <p:nvPicPr>
          <p:cNvPr id="79" name="Picture 78">
            <a:extLst>
              <a:ext uri="{FF2B5EF4-FFF2-40B4-BE49-F238E27FC236}">
                <a16:creationId xmlns:a16="http://schemas.microsoft.com/office/drawing/2014/main" id="{2FB4D923-3776-0C7C-9A67-EAF4E8E00768}"/>
              </a:ext>
            </a:extLst>
          </p:cNvPr>
          <p:cNvPicPr>
            <a:picLocks noChangeAspect="1"/>
          </p:cNvPicPr>
          <p:nvPr/>
        </p:nvPicPr>
        <p:blipFill>
          <a:blip r:embed="rId3"/>
          <a:stretch>
            <a:fillRect/>
          </a:stretch>
        </p:blipFill>
        <p:spPr>
          <a:xfrm>
            <a:off x="7163862" y="3594315"/>
            <a:ext cx="9525" cy="9525"/>
          </a:xfrm>
          <a:prstGeom prst="rect">
            <a:avLst/>
          </a:prstGeom>
        </p:spPr>
      </p:pic>
      <p:pic>
        <p:nvPicPr>
          <p:cNvPr id="80" name="Picture 79">
            <a:extLst>
              <a:ext uri="{FF2B5EF4-FFF2-40B4-BE49-F238E27FC236}">
                <a16:creationId xmlns:a16="http://schemas.microsoft.com/office/drawing/2014/main" id="{08A4D654-E757-8090-4D6A-871A9DF9C53B}"/>
              </a:ext>
            </a:extLst>
          </p:cNvPr>
          <p:cNvPicPr>
            <a:picLocks noChangeAspect="1"/>
          </p:cNvPicPr>
          <p:nvPr/>
        </p:nvPicPr>
        <p:blipFill>
          <a:blip r:embed="rId3"/>
          <a:stretch>
            <a:fillRect/>
          </a:stretch>
        </p:blipFill>
        <p:spPr>
          <a:xfrm>
            <a:off x="7313862" y="3744315"/>
            <a:ext cx="9525" cy="9525"/>
          </a:xfrm>
          <a:prstGeom prst="rect">
            <a:avLst/>
          </a:prstGeom>
        </p:spPr>
      </p:pic>
      <p:pic>
        <p:nvPicPr>
          <p:cNvPr id="81" name="Picture 80">
            <a:extLst>
              <a:ext uri="{FF2B5EF4-FFF2-40B4-BE49-F238E27FC236}">
                <a16:creationId xmlns:a16="http://schemas.microsoft.com/office/drawing/2014/main" id="{9718D81E-7662-17CE-E110-DBEF61DC50A1}"/>
              </a:ext>
            </a:extLst>
          </p:cNvPr>
          <p:cNvPicPr>
            <a:picLocks noChangeAspect="1"/>
          </p:cNvPicPr>
          <p:nvPr/>
        </p:nvPicPr>
        <p:blipFill>
          <a:blip r:embed="rId3"/>
          <a:stretch>
            <a:fillRect/>
          </a:stretch>
        </p:blipFill>
        <p:spPr>
          <a:xfrm>
            <a:off x="7163862" y="3594315"/>
            <a:ext cx="9525" cy="9525"/>
          </a:xfrm>
          <a:prstGeom prst="rect">
            <a:avLst/>
          </a:prstGeom>
        </p:spPr>
      </p:pic>
      <p:pic>
        <p:nvPicPr>
          <p:cNvPr id="82" name="Picture 81">
            <a:extLst>
              <a:ext uri="{FF2B5EF4-FFF2-40B4-BE49-F238E27FC236}">
                <a16:creationId xmlns:a16="http://schemas.microsoft.com/office/drawing/2014/main" id="{75F0C00F-6A8F-5391-6392-ACAABDD79E52}"/>
              </a:ext>
            </a:extLst>
          </p:cNvPr>
          <p:cNvPicPr>
            <a:picLocks noChangeAspect="1"/>
          </p:cNvPicPr>
          <p:nvPr/>
        </p:nvPicPr>
        <p:blipFill>
          <a:blip r:embed="rId3"/>
          <a:stretch>
            <a:fillRect/>
          </a:stretch>
        </p:blipFill>
        <p:spPr>
          <a:xfrm>
            <a:off x="7313862" y="3744315"/>
            <a:ext cx="9525" cy="9525"/>
          </a:xfrm>
          <a:prstGeom prst="rect">
            <a:avLst/>
          </a:prstGeom>
        </p:spPr>
      </p:pic>
      <p:sp>
        <p:nvSpPr>
          <p:cNvPr id="83" name="Rectangle: Rounded Corners 82">
            <a:extLst>
              <a:ext uri="{FF2B5EF4-FFF2-40B4-BE49-F238E27FC236}">
                <a16:creationId xmlns:a16="http://schemas.microsoft.com/office/drawing/2014/main" id="{67727E4B-8601-AC04-499C-BB2A5147A801}"/>
              </a:ext>
            </a:extLst>
          </p:cNvPr>
          <p:cNvSpPr/>
          <p:nvPr/>
        </p:nvSpPr>
        <p:spPr>
          <a:xfrm>
            <a:off x="5641720" y="3152960"/>
            <a:ext cx="2124169" cy="426568"/>
          </a:xfrm>
          <a:prstGeom prst="roundRect">
            <a:avLst/>
          </a:prstGeom>
          <a:solidFill>
            <a:srgbClr val="B4E5A3"/>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lumMod val="10000"/>
                  </a:schemeClr>
                </a:solidFill>
              </a:rPr>
              <a:t>Bidirectional </a:t>
            </a:r>
            <a:r>
              <a:rPr lang="en-US" dirty="0" err="1">
                <a:solidFill>
                  <a:schemeClr val="bg1">
                    <a:lumMod val="10000"/>
                  </a:schemeClr>
                </a:solidFill>
              </a:rPr>
              <a:t>gLM</a:t>
            </a:r>
            <a:endParaRPr lang="en-US" dirty="0">
              <a:solidFill>
                <a:schemeClr val="bg1">
                  <a:lumMod val="10000"/>
                </a:schemeClr>
              </a:solidFill>
            </a:endParaRPr>
          </a:p>
        </p:txBody>
      </p:sp>
      <p:sp>
        <p:nvSpPr>
          <p:cNvPr id="86" name="Rectangle 85">
            <a:extLst>
              <a:ext uri="{FF2B5EF4-FFF2-40B4-BE49-F238E27FC236}">
                <a16:creationId xmlns:a16="http://schemas.microsoft.com/office/drawing/2014/main" id="{8F7049F4-033A-B3CE-458D-DDA556B50E7E}"/>
              </a:ext>
            </a:extLst>
          </p:cNvPr>
          <p:cNvSpPr/>
          <p:nvPr/>
        </p:nvSpPr>
        <p:spPr>
          <a:xfrm>
            <a:off x="5271723" y="3963522"/>
            <a:ext cx="292894" cy="288925"/>
          </a:xfrm>
          <a:prstGeom prst="rect">
            <a:avLst/>
          </a:prstGeom>
          <a:solidFill>
            <a:srgbClr val="C8DBC8">
              <a:alpha val="30000"/>
            </a:srgbClr>
          </a:solidFill>
          <a:ln w="12700">
            <a:solidFill>
              <a:srgbClr val="5AA240">
                <a:alpha val="30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rgbClr val="5AA240">
                    <a:alpha val="30000"/>
                  </a:srgbClr>
                </a:solidFill>
              </a:rPr>
              <a:t>C</a:t>
            </a:r>
            <a:endParaRPr lang="en-US" dirty="0">
              <a:solidFill>
                <a:srgbClr val="5AA240">
                  <a:alpha val="30000"/>
                </a:srgbClr>
              </a:solidFill>
            </a:endParaRPr>
          </a:p>
        </p:txBody>
      </p:sp>
      <p:sp>
        <p:nvSpPr>
          <p:cNvPr id="87" name="Rectangle 86">
            <a:extLst>
              <a:ext uri="{FF2B5EF4-FFF2-40B4-BE49-F238E27FC236}">
                <a16:creationId xmlns:a16="http://schemas.microsoft.com/office/drawing/2014/main" id="{AF7E4D1B-4CF8-6078-91FD-4D837C6C06E4}"/>
              </a:ext>
            </a:extLst>
          </p:cNvPr>
          <p:cNvSpPr/>
          <p:nvPr/>
        </p:nvSpPr>
        <p:spPr>
          <a:xfrm>
            <a:off x="5564617" y="3963522"/>
            <a:ext cx="292894" cy="288925"/>
          </a:xfrm>
          <a:prstGeom prst="rect">
            <a:avLst/>
          </a:prstGeom>
          <a:solidFill>
            <a:srgbClr val="EDAEAE">
              <a:alpha val="30000"/>
            </a:srgbClr>
          </a:solidFill>
          <a:ln w="12700">
            <a:solidFill>
              <a:srgbClr val="5AA240">
                <a:alpha val="30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rgbClr val="C13A32">
                    <a:alpha val="30000"/>
                  </a:srgbClr>
                </a:solidFill>
              </a:rPr>
              <a:t>A</a:t>
            </a:r>
            <a:endParaRPr lang="en-US" dirty="0">
              <a:solidFill>
                <a:srgbClr val="C13A32">
                  <a:alpha val="30000"/>
                </a:srgbClr>
              </a:solidFill>
            </a:endParaRPr>
          </a:p>
        </p:txBody>
      </p:sp>
      <p:sp>
        <p:nvSpPr>
          <p:cNvPr id="89" name="Rectangle 88">
            <a:extLst>
              <a:ext uri="{FF2B5EF4-FFF2-40B4-BE49-F238E27FC236}">
                <a16:creationId xmlns:a16="http://schemas.microsoft.com/office/drawing/2014/main" id="{7859997F-F87A-154F-06F6-1432A57EDADC}"/>
              </a:ext>
            </a:extLst>
          </p:cNvPr>
          <p:cNvSpPr/>
          <p:nvPr/>
        </p:nvSpPr>
        <p:spPr>
          <a:xfrm>
            <a:off x="6150405" y="3963522"/>
            <a:ext cx="292894" cy="288925"/>
          </a:xfrm>
          <a:prstGeom prst="rect">
            <a:avLst/>
          </a:prstGeom>
          <a:solidFill>
            <a:srgbClr val="C8DBC8">
              <a:alpha val="30000"/>
            </a:srgbClr>
          </a:solidFill>
          <a:ln w="12700">
            <a:solidFill>
              <a:srgbClr val="5AA240">
                <a:alpha val="30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rgbClr val="5AA240">
                    <a:alpha val="30000"/>
                  </a:srgbClr>
                </a:solidFill>
              </a:rPr>
              <a:t>C</a:t>
            </a:r>
            <a:endParaRPr lang="en-US" dirty="0">
              <a:solidFill>
                <a:srgbClr val="5AA240">
                  <a:alpha val="30000"/>
                </a:srgbClr>
              </a:solidFill>
            </a:endParaRPr>
          </a:p>
        </p:txBody>
      </p:sp>
      <p:sp>
        <p:nvSpPr>
          <p:cNvPr id="90" name="Rectangle 89">
            <a:extLst>
              <a:ext uri="{FF2B5EF4-FFF2-40B4-BE49-F238E27FC236}">
                <a16:creationId xmlns:a16="http://schemas.microsoft.com/office/drawing/2014/main" id="{9E0D5B3E-C1A4-C1C0-2B8B-13F6585CD589}"/>
              </a:ext>
            </a:extLst>
          </p:cNvPr>
          <p:cNvSpPr/>
          <p:nvPr/>
        </p:nvSpPr>
        <p:spPr>
          <a:xfrm>
            <a:off x="6447327" y="3963522"/>
            <a:ext cx="292894" cy="288925"/>
          </a:xfrm>
          <a:prstGeom prst="rect">
            <a:avLst/>
          </a:prstGeom>
          <a:solidFill>
            <a:srgbClr val="B8E2DE">
              <a:alpha val="30000"/>
            </a:srgbClr>
          </a:solidFill>
          <a:ln w="12700">
            <a:solidFill>
              <a:srgbClr val="5AA240">
                <a:alpha val="30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rgbClr val="46B0AA">
                    <a:alpha val="30000"/>
                  </a:srgbClr>
                </a:solidFill>
              </a:rPr>
              <a:t>T</a:t>
            </a:r>
            <a:endParaRPr lang="en-US" dirty="0">
              <a:solidFill>
                <a:srgbClr val="46B0AA">
                  <a:alpha val="30000"/>
                </a:srgbClr>
              </a:solidFill>
            </a:endParaRPr>
          </a:p>
        </p:txBody>
      </p:sp>
      <p:sp>
        <p:nvSpPr>
          <p:cNvPr id="92" name="Rectangle 91">
            <a:extLst>
              <a:ext uri="{FF2B5EF4-FFF2-40B4-BE49-F238E27FC236}">
                <a16:creationId xmlns:a16="http://schemas.microsoft.com/office/drawing/2014/main" id="{8ABA2A52-E784-FD55-87A1-7298AF1336BD}"/>
              </a:ext>
            </a:extLst>
          </p:cNvPr>
          <p:cNvSpPr/>
          <p:nvPr/>
        </p:nvSpPr>
        <p:spPr>
          <a:xfrm>
            <a:off x="7037143" y="3963522"/>
            <a:ext cx="292894" cy="288925"/>
          </a:xfrm>
          <a:prstGeom prst="rect">
            <a:avLst/>
          </a:prstGeom>
          <a:solidFill>
            <a:srgbClr val="F4E6AA">
              <a:alpha val="30000"/>
            </a:srgbClr>
          </a:solidFill>
          <a:ln w="12700">
            <a:solidFill>
              <a:srgbClr val="5AA240">
                <a:alpha val="30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rgbClr val="F2BC55">
                    <a:alpha val="30000"/>
                  </a:srgbClr>
                </a:solidFill>
              </a:rPr>
              <a:t>G</a:t>
            </a:r>
            <a:endParaRPr lang="en-US" dirty="0">
              <a:solidFill>
                <a:srgbClr val="F2BC55">
                  <a:alpha val="30000"/>
                </a:srgbClr>
              </a:solidFill>
            </a:endParaRPr>
          </a:p>
        </p:txBody>
      </p:sp>
      <p:sp>
        <p:nvSpPr>
          <p:cNvPr id="94" name="Rectangle 93">
            <a:extLst>
              <a:ext uri="{FF2B5EF4-FFF2-40B4-BE49-F238E27FC236}">
                <a16:creationId xmlns:a16="http://schemas.microsoft.com/office/drawing/2014/main" id="{51FDD430-CEA3-F91E-C236-633E4775E33B}"/>
              </a:ext>
            </a:extLst>
          </p:cNvPr>
          <p:cNvSpPr/>
          <p:nvPr/>
        </p:nvSpPr>
        <p:spPr>
          <a:xfrm>
            <a:off x="7622931" y="3963521"/>
            <a:ext cx="292894" cy="288925"/>
          </a:xfrm>
          <a:prstGeom prst="rect">
            <a:avLst/>
          </a:prstGeom>
          <a:solidFill>
            <a:srgbClr val="EDAEAE">
              <a:alpha val="30000"/>
            </a:srgbClr>
          </a:solidFill>
          <a:ln w="12700">
            <a:solidFill>
              <a:srgbClr val="5AA240">
                <a:alpha val="30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rgbClr val="C13A32">
                    <a:alpha val="30000"/>
                  </a:srgbClr>
                </a:solidFill>
              </a:rPr>
              <a:t>A</a:t>
            </a:r>
            <a:endParaRPr lang="en-US" dirty="0">
              <a:solidFill>
                <a:srgbClr val="C13A32">
                  <a:alpha val="30000"/>
                </a:srgbClr>
              </a:solidFill>
            </a:endParaRPr>
          </a:p>
        </p:txBody>
      </p:sp>
      <p:sp>
        <p:nvSpPr>
          <p:cNvPr id="95" name="Rectangle 94">
            <a:extLst>
              <a:ext uri="{FF2B5EF4-FFF2-40B4-BE49-F238E27FC236}">
                <a16:creationId xmlns:a16="http://schemas.microsoft.com/office/drawing/2014/main" id="{0B56F76E-DFE4-8321-B169-3CA3ECA0F309}"/>
              </a:ext>
            </a:extLst>
          </p:cNvPr>
          <p:cNvSpPr/>
          <p:nvPr/>
        </p:nvSpPr>
        <p:spPr>
          <a:xfrm>
            <a:off x="7920212" y="3963521"/>
            <a:ext cx="292894" cy="288925"/>
          </a:xfrm>
          <a:prstGeom prst="rect">
            <a:avLst/>
          </a:prstGeom>
          <a:solidFill>
            <a:srgbClr val="C8DBC8">
              <a:alpha val="30000"/>
            </a:srgbClr>
          </a:solidFill>
          <a:ln w="12700">
            <a:solidFill>
              <a:srgbClr val="5AA240">
                <a:alpha val="30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rgbClr val="5AA240">
                    <a:alpha val="30000"/>
                  </a:srgbClr>
                </a:solidFill>
              </a:rPr>
              <a:t>C</a:t>
            </a:r>
            <a:endParaRPr lang="en-US" dirty="0">
              <a:solidFill>
                <a:srgbClr val="5AA240">
                  <a:alpha val="30000"/>
                </a:srgbClr>
              </a:solidFill>
            </a:endParaRPr>
          </a:p>
        </p:txBody>
      </p:sp>
      <p:sp>
        <p:nvSpPr>
          <p:cNvPr id="96" name="Text Placeholder 2">
            <a:extLst>
              <a:ext uri="{FF2B5EF4-FFF2-40B4-BE49-F238E27FC236}">
                <a16:creationId xmlns:a16="http://schemas.microsoft.com/office/drawing/2014/main" id="{70DB9112-DB79-28D9-02A7-AE9D1E6F3776}"/>
              </a:ext>
            </a:extLst>
          </p:cNvPr>
          <p:cNvSpPr>
            <a:spLocks noGrp="1"/>
          </p:cNvSpPr>
          <p:nvPr>
            <p:ph type="body" idx="1"/>
          </p:nvPr>
        </p:nvSpPr>
        <p:spPr>
          <a:xfrm>
            <a:off x="553117" y="1949438"/>
            <a:ext cx="3454902" cy="586179"/>
          </a:xfrm>
        </p:spPr>
        <p:txBody>
          <a:bodyPr/>
          <a:lstStyle/>
          <a:p>
            <a:pPr marL="177800" indent="0" algn="ctr">
              <a:buNone/>
            </a:pPr>
            <a:r>
              <a:rPr lang="en-US" b="1" dirty="0"/>
              <a:t>Autoregressive Language Modeling</a:t>
            </a:r>
          </a:p>
        </p:txBody>
      </p:sp>
      <p:cxnSp>
        <p:nvCxnSpPr>
          <p:cNvPr id="101" name="Straight Arrow Connector 100">
            <a:extLst>
              <a:ext uri="{FF2B5EF4-FFF2-40B4-BE49-F238E27FC236}">
                <a16:creationId xmlns:a16="http://schemas.microsoft.com/office/drawing/2014/main" id="{8BF093A6-EA8D-26F8-661C-BD3B55A4C03C}"/>
              </a:ext>
            </a:extLst>
          </p:cNvPr>
          <p:cNvCxnSpPr>
            <a:cxnSpLocks/>
          </p:cNvCxnSpPr>
          <p:nvPr/>
        </p:nvCxnSpPr>
        <p:spPr>
          <a:xfrm>
            <a:off x="2314363" y="3680394"/>
            <a:ext cx="0" cy="17684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02" name="Straight Arrow Connector 101">
            <a:extLst>
              <a:ext uri="{FF2B5EF4-FFF2-40B4-BE49-F238E27FC236}">
                <a16:creationId xmlns:a16="http://schemas.microsoft.com/office/drawing/2014/main" id="{55D18FD0-5B93-1AD8-775A-7639E86A1071}"/>
              </a:ext>
            </a:extLst>
          </p:cNvPr>
          <p:cNvCxnSpPr>
            <a:cxnSpLocks/>
          </p:cNvCxnSpPr>
          <p:nvPr/>
        </p:nvCxnSpPr>
        <p:spPr>
          <a:xfrm>
            <a:off x="6740221" y="2857348"/>
            <a:ext cx="0" cy="17684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03" name="Straight Arrow Connector 102">
            <a:extLst>
              <a:ext uri="{FF2B5EF4-FFF2-40B4-BE49-F238E27FC236}">
                <a16:creationId xmlns:a16="http://schemas.microsoft.com/office/drawing/2014/main" id="{70C1856A-A3E1-D75C-39A9-9D51E2B09351}"/>
              </a:ext>
            </a:extLst>
          </p:cNvPr>
          <p:cNvCxnSpPr>
            <a:cxnSpLocks/>
          </p:cNvCxnSpPr>
          <p:nvPr/>
        </p:nvCxnSpPr>
        <p:spPr>
          <a:xfrm>
            <a:off x="6749080" y="3655893"/>
            <a:ext cx="0" cy="17684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04" name="Text Placeholder 2">
            <a:extLst>
              <a:ext uri="{FF2B5EF4-FFF2-40B4-BE49-F238E27FC236}">
                <a16:creationId xmlns:a16="http://schemas.microsoft.com/office/drawing/2014/main" id="{F0021CA2-151E-43AB-B1E9-580C9AA32A2A}"/>
              </a:ext>
            </a:extLst>
          </p:cNvPr>
          <p:cNvSpPr txBox="1">
            <a:spLocks/>
          </p:cNvSpPr>
          <p:nvPr/>
        </p:nvSpPr>
        <p:spPr>
          <a:xfrm>
            <a:off x="1237730" y="1436683"/>
            <a:ext cx="6668539" cy="586179"/>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79400" algn="l" rtl="0">
              <a:lnSpc>
                <a:spcPct val="115000"/>
              </a:lnSpc>
              <a:spcBef>
                <a:spcPts val="0"/>
              </a:spcBef>
              <a:spcAft>
                <a:spcPts val="0"/>
              </a:spcAft>
              <a:buClr>
                <a:schemeClr val="dk1"/>
              </a:buClr>
              <a:buSzPts val="800"/>
              <a:buFont typeface="Hanken Grotesk"/>
              <a:buChar char="●"/>
              <a:defRPr sz="1400" b="0" i="0" u="none" strike="noStrike" cap="none">
                <a:solidFill>
                  <a:schemeClr val="dk1"/>
                </a:solidFill>
                <a:latin typeface="Hanken Grotesk"/>
                <a:ea typeface="Hanken Grotesk"/>
                <a:cs typeface="Hanken Grotesk"/>
                <a:sym typeface="Hanken Grotesk"/>
              </a:defRPr>
            </a:lvl1pPr>
            <a:lvl2pPr marL="914400" marR="0" lvl="1"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2pPr>
            <a:lvl3pPr marL="1371600" marR="0" lvl="2"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3pPr>
            <a:lvl4pPr marL="1828800" marR="0" lvl="3"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4pPr>
            <a:lvl5pPr marL="2286000" marR="0" lvl="4"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5pPr>
            <a:lvl6pPr marL="2743200" marR="0" lvl="5"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6pPr>
            <a:lvl7pPr marL="3200400" marR="0" lvl="6"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7pPr>
            <a:lvl8pPr marL="3657600" marR="0" lvl="7"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8pPr>
            <a:lvl9pPr marL="4114800" marR="0" lvl="8"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9pPr>
          </a:lstStyle>
          <a:p>
            <a:pPr marL="177800" indent="0" algn="ctr">
              <a:buFont typeface="Hanken Grotesk"/>
              <a:buNone/>
            </a:pPr>
            <a:r>
              <a:rPr lang="en-US" dirty="0"/>
              <a:t>Most biological sequence language models use one of two pretraining tasks</a:t>
            </a:r>
          </a:p>
        </p:txBody>
      </p:sp>
      <p:sp>
        <p:nvSpPr>
          <p:cNvPr id="105" name="Text Placeholder 2">
            <a:extLst>
              <a:ext uri="{FF2B5EF4-FFF2-40B4-BE49-F238E27FC236}">
                <a16:creationId xmlns:a16="http://schemas.microsoft.com/office/drawing/2014/main" id="{A0ACA4D3-1B7A-E3D2-FECA-EEDD5387C961}"/>
              </a:ext>
            </a:extLst>
          </p:cNvPr>
          <p:cNvSpPr txBox="1">
            <a:spLocks/>
          </p:cNvSpPr>
          <p:nvPr/>
        </p:nvSpPr>
        <p:spPr>
          <a:xfrm>
            <a:off x="4866323" y="1949438"/>
            <a:ext cx="3454902" cy="586179"/>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79400" algn="l" rtl="0">
              <a:lnSpc>
                <a:spcPct val="115000"/>
              </a:lnSpc>
              <a:spcBef>
                <a:spcPts val="0"/>
              </a:spcBef>
              <a:spcAft>
                <a:spcPts val="0"/>
              </a:spcAft>
              <a:buClr>
                <a:schemeClr val="dk1"/>
              </a:buClr>
              <a:buSzPts val="800"/>
              <a:buFont typeface="Hanken Grotesk"/>
              <a:buChar char="●"/>
              <a:defRPr sz="1400" b="0" i="0" u="none" strike="noStrike" cap="none">
                <a:solidFill>
                  <a:schemeClr val="dk1"/>
                </a:solidFill>
                <a:latin typeface="Hanken Grotesk"/>
                <a:ea typeface="Hanken Grotesk"/>
                <a:cs typeface="Hanken Grotesk"/>
                <a:sym typeface="Hanken Grotesk"/>
              </a:defRPr>
            </a:lvl1pPr>
            <a:lvl2pPr marL="914400" marR="0" lvl="1"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2pPr>
            <a:lvl3pPr marL="1371600" marR="0" lvl="2"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3pPr>
            <a:lvl4pPr marL="1828800" marR="0" lvl="3"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4pPr>
            <a:lvl5pPr marL="2286000" marR="0" lvl="4"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5pPr>
            <a:lvl6pPr marL="2743200" marR="0" lvl="5"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6pPr>
            <a:lvl7pPr marL="3200400" marR="0" lvl="6"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7pPr>
            <a:lvl8pPr marL="3657600" marR="0" lvl="7"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8pPr>
            <a:lvl9pPr marL="4114800" marR="0" lvl="8"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9pPr>
          </a:lstStyle>
          <a:p>
            <a:pPr marL="177800" indent="0" algn="ctr">
              <a:buFont typeface="Hanken Grotesk"/>
              <a:buNone/>
            </a:pPr>
            <a:r>
              <a:rPr lang="en-US" b="1" dirty="0"/>
              <a:t>Masked Language Modeling</a:t>
            </a:r>
          </a:p>
        </p:txBody>
      </p:sp>
      <p:sp>
        <p:nvSpPr>
          <p:cNvPr id="88" name="Rectangle 87">
            <a:extLst>
              <a:ext uri="{FF2B5EF4-FFF2-40B4-BE49-F238E27FC236}">
                <a16:creationId xmlns:a16="http://schemas.microsoft.com/office/drawing/2014/main" id="{3C8A7CC7-98CA-A8AD-2C19-1559BAA76018}"/>
              </a:ext>
            </a:extLst>
          </p:cNvPr>
          <p:cNvSpPr/>
          <p:nvPr/>
        </p:nvSpPr>
        <p:spPr>
          <a:xfrm>
            <a:off x="5857511" y="3963522"/>
            <a:ext cx="292894" cy="288925"/>
          </a:xfrm>
          <a:prstGeom prst="rect">
            <a:avLst/>
          </a:prstGeom>
          <a:solidFill>
            <a:srgbClr val="EDAEAE"/>
          </a:solidFill>
          <a:ln w="12700">
            <a:solidFill>
              <a:srgbClr val="C23F3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rgbClr val="C13A32"/>
                </a:solidFill>
              </a:rPr>
              <a:t>A</a:t>
            </a:r>
            <a:endParaRPr lang="en-US" dirty="0">
              <a:solidFill>
                <a:srgbClr val="C13A32"/>
              </a:solidFill>
            </a:endParaRPr>
          </a:p>
        </p:txBody>
      </p:sp>
      <p:sp>
        <p:nvSpPr>
          <p:cNvPr id="91" name="Rectangle 90">
            <a:extLst>
              <a:ext uri="{FF2B5EF4-FFF2-40B4-BE49-F238E27FC236}">
                <a16:creationId xmlns:a16="http://schemas.microsoft.com/office/drawing/2014/main" id="{48560428-3962-8673-2E85-74F85EC24952}"/>
              </a:ext>
            </a:extLst>
          </p:cNvPr>
          <p:cNvSpPr/>
          <p:nvPr/>
        </p:nvSpPr>
        <p:spPr>
          <a:xfrm>
            <a:off x="6744249" y="3963522"/>
            <a:ext cx="292894" cy="288925"/>
          </a:xfrm>
          <a:prstGeom prst="rect">
            <a:avLst/>
          </a:prstGeom>
          <a:solidFill>
            <a:srgbClr val="C8DBC8"/>
          </a:solidFill>
          <a:ln w="12700">
            <a:solidFill>
              <a:srgbClr val="5AA24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rgbClr val="5AA240"/>
                </a:solidFill>
              </a:rPr>
              <a:t>C</a:t>
            </a:r>
            <a:endParaRPr lang="en-US" dirty="0">
              <a:solidFill>
                <a:srgbClr val="5AA240"/>
              </a:solidFill>
            </a:endParaRPr>
          </a:p>
        </p:txBody>
      </p:sp>
      <p:sp>
        <p:nvSpPr>
          <p:cNvPr id="93" name="Rectangle 92">
            <a:extLst>
              <a:ext uri="{FF2B5EF4-FFF2-40B4-BE49-F238E27FC236}">
                <a16:creationId xmlns:a16="http://schemas.microsoft.com/office/drawing/2014/main" id="{F018D5BA-4D3D-E104-60DF-D75BEC5B65AA}"/>
              </a:ext>
            </a:extLst>
          </p:cNvPr>
          <p:cNvSpPr/>
          <p:nvPr/>
        </p:nvSpPr>
        <p:spPr>
          <a:xfrm>
            <a:off x="7330037" y="3963521"/>
            <a:ext cx="292894" cy="288925"/>
          </a:xfrm>
          <a:prstGeom prst="rect">
            <a:avLst/>
          </a:prstGeom>
          <a:solidFill>
            <a:srgbClr val="B8E2DE"/>
          </a:solidFill>
          <a:ln w="12700">
            <a:solidFill>
              <a:srgbClr val="46B0A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rgbClr val="46B0AA"/>
                </a:solidFill>
              </a:rPr>
              <a:t>T</a:t>
            </a:r>
            <a:endParaRPr lang="en-US" dirty="0">
              <a:solidFill>
                <a:srgbClr val="46B0AA"/>
              </a:solidFill>
            </a:endParaRPr>
          </a:p>
        </p:txBody>
      </p:sp>
    </p:spTree>
    <p:extLst>
      <p:ext uri="{BB962C8B-B14F-4D97-AF65-F5344CB8AC3E}">
        <p14:creationId xmlns:p14="http://schemas.microsoft.com/office/powerpoint/2010/main" val="114405367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8DA824-8E9D-9BC7-6D54-DE35C3ED527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3BF290F-EB5B-A6C6-170B-0928A6F39622}"/>
              </a:ext>
            </a:extLst>
          </p:cNvPr>
          <p:cNvSpPr>
            <a:spLocks noGrp="1"/>
          </p:cNvSpPr>
          <p:nvPr>
            <p:ph type="title"/>
          </p:nvPr>
        </p:nvSpPr>
        <p:spPr/>
        <p:txBody>
          <a:bodyPr/>
          <a:lstStyle/>
          <a:p>
            <a:pPr algn="ctr"/>
            <a:r>
              <a:rPr lang="en-US" sz="2400" dirty="0"/>
              <a:t>Designing pretraining tasks comparable with sequence-based reconstruction</a:t>
            </a:r>
          </a:p>
        </p:txBody>
      </p:sp>
      <p:sp>
        <p:nvSpPr>
          <p:cNvPr id="5" name="Rectangle 4">
            <a:extLst>
              <a:ext uri="{FF2B5EF4-FFF2-40B4-BE49-F238E27FC236}">
                <a16:creationId xmlns:a16="http://schemas.microsoft.com/office/drawing/2014/main" id="{F428418F-1940-3EF6-14A2-B05926154F0E}"/>
              </a:ext>
            </a:extLst>
          </p:cNvPr>
          <p:cNvSpPr/>
          <p:nvPr/>
        </p:nvSpPr>
        <p:spPr>
          <a:xfrm>
            <a:off x="837006" y="2480041"/>
            <a:ext cx="292894" cy="288925"/>
          </a:xfrm>
          <a:prstGeom prst="rect">
            <a:avLst/>
          </a:prstGeom>
          <a:solidFill>
            <a:srgbClr val="C8DBC8"/>
          </a:solidFill>
          <a:ln w="12700">
            <a:solidFill>
              <a:srgbClr val="5AA24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rgbClr val="5AA240"/>
                </a:solidFill>
              </a:rPr>
              <a:t>C</a:t>
            </a:r>
            <a:endParaRPr lang="en-US" dirty="0">
              <a:solidFill>
                <a:srgbClr val="5AA240"/>
              </a:solidFill>
            </a:endParaRPr>
          </a:p>
        </p:txBody>
      </p:sp>
      <p:sp>
        <p:nvSpPr>
          <p:cNvPr id="7" name="Rectangle 6">
            <a:extLst>
              <a:ext uri="{FF2B5EF4-FFF2-40B4-BE49-F238E27FC236}">
                <a16:creationId xmlns:a16="http://schemas.microsoft.com/office/drawing/2014/main" id="{76AD0B03-E8C1-7342-1532-4ABD0526E897}"/>
              </a:ext>
            </a:extLst>
          </p:cNvPr>
          <p:cNvSpPr/>
          <p:nvPr/>
        </p:nvSpPr>
        <p:spPr>
          <a:xfrm>
            <a:off x="1129900" y="2480041"/>
            <a:ext cx="292894" cy="288925"/>
          </a:xfrm>
          <a:prstGeom prst="rect">
            <a:avLst/>
          </a:prstGeom>
          <a:solidFill>
            <a:srgbClr val="EDAEAE"/>
          </a:solidFill>
          <a:ln w="12700">
            <a:solidFill>
              <a:srgbClr val="C23F3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rgbClr val="C13A32"/>
                </a:solidFill>
              </a:rPr>
              <a:t>A</a:t>
            </a:r>
            <a:endParaRPr lang="en-US" dirty="0">
              <a:solidFill>
                <a:srgbClr val="C13A32"/>
              </a:solidFill>
            </a:endParaRPr>
          </a:p>
        </p:txBody>
      </p:sp>
      <p:sp>
        <p:nvSpPr>
          <p:cNvPr id="8" name="Rectangle 7">
            <a:extLst>
              <a:ext uri="{FF2B5EF4-FFF2-40B4-BE49-F238E27FC236}">
                <a16:creationId xmlns:a16="http://schemas.microsoft.com/office/drawing/2014/main" id="{201E0B87-807B-A803-5F5A-BD1F392A82DB}"/>
              </a:ext>
            </a:extLst>
          </p:cNvPr>
          <p:cNvSpPr/>
          <p:nvPr/>
        </p:nvSpPr>
        <p:spPr>
          <a:xfrm>
            <a:off x="1422794" y="2480041"/>
            <a:ext cx="292894" cy="288925"/>
          </a:xfrm>
          <a:prstGeom prst="rect">
            <a:avLst/>
          </a:prstGeom>
          <a:solidFill>
            <a:srgbClr val="EDAEAE"/>
          </a:solidFill>
          <a:ln w="12700">
            <a:solidFill>
              <a:srgbClr val="C23F3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rgbClr val="C13A32"/>
                </a:solidFill>
              </a:rPr>
              <a:t>A</a:t>
            </a:r>
            <a:endParaRPr lang="en-US" dirty="0">
              <a:solidFill>
                <a:srgbClr val="C13A32"/>
              </a:solidFill>
            </a:endParaRPr>
          </a:p>
        </p:txBody>
      </p:sp>
      <p:sp>
        <p:nvSpPr>
          <p:cNvPr id="9" name="Rectangle 8">
            <a:extLst>
              <a:ext uri="{FF2B5EF4-FFF2-40B4-BE49-F238E27FC236}">
                <a16:creationId xmlns:a16="http://schemas.microsoft.com/office/drawing/2014/main" id="{DA04BAD8-DE0A-5171-D38B-810473A92994}"/>
              </a:ext>
            </a:extLst>
          </p:cNvPr>
          <p:cNvSpPr/>
          <p:nvPr/>
        </p:nvSpPr>
        <p:spPr>
          <a:xfrm>
            <a:off x="1715688" y="2480041"/>
            <a:ext cx="292894" cy="288925"/>
          </a:xfrm>
          <a:prstGeom prst="rect">
            <a:avLst/>
          </a:prstGeom>
          <a:solidFill>
            <a:srgbClr val="C8DBC8"/>
          </a:solidFill>
          <a:ln w="12700">
            <a:solidFill>
              <a:srgbClr val="5AA24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rgbClr val="5AA240"/>
                </a:solidFill>
              </a:rPr>
              <a:t>C</a:t>
            </a:r>
            <a:endParaRPr lang="en-US" dirty="0">
              <a:solidFill>
                <a:srgbClr val="5AA240"/>
              </a:solidFill>
            </a:endParaRPr>
          </a:p>
        </p:txBody>
      </p:sp>
      <p:sp>
        <p:nvSpPr>
          <p:cNvPr id="10" name="Rectangle 9">
            <a:extLst>
              <a:ext uri="{FF2B5EF4-FFF2-40B4-BE49-F238E27FC236}">
                <a16:creationId xmlns:a16="http://schemas.microsoft.com/office/drawing/2014/main" id="{A0542565-0B9B-223B-AB5E-7BF4DE9111E5}"/>
              </a:ext>
            </a:extLst>
          </p:cNvPr>
          <p:cNvSpPr/>
          <p:nvPr/>
        </p:nvSpPr>
        <p:spPr>
          <a:xfrm>
            <a:off x="2012610" y="2480041"/>
            <a:ext cx="292894" cy="288925"/>
          </a:xfrm>
          <a:prstGeom prst="rect">
            <a:avLst/>
          </a:prstGeom>
          <a:solidFill>
            <a:srgbClr val="B8E2DE"/>
          </a:solidFill>
          <a:ln w="12700">
            <a:solidFill>
              <a:srgbClr val="46B0A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rgbClr val="46B0AA"/>
                </a:solidFill>
              </a:rPr>
              <a:t>T</a:t>
            </a:r>
            <a:endParaRPr lang="en-US" dirty="0">
              <a:solidFill>
                <a:srgbClr val="46B0AA"/>
              </a:solidFill>
            </a:endParaRPr>
          </a:p>
        </p:txBody>
      </p:sp>
      <p:sp>
        <p:nvSpPr>
          <p:cNvPr id="11" name="Rectangle 10">
            <a:extLst>
              <a:ext uri="{FF2B5EF4-FFF2-40B4-BE49-F238E27FC236}">
                <a16:creationId xmlns:a16="http://schemas.microsoft.com/office/drawing/2014/main" id="{EBB7CFDB-D2A5-3DDA-1C72-87B4ED2DD411}"/>
              </a:ext>
            </a:extLst>
          </p:cNvPr>
          <p:cNvSpPr/>
          <p:nvPr/>
        </p:nvSpPr>
        <p:spPr>
          <a:xfrm>
            <a:off x="2309532" y="2480041"/>
            <a:ext cx="292894" cy="288925"/>
          </a:xfrm>
          <a:prstGeom prst="rect">
            <a:avLst/>
          </a:prstGeom>
          <a:solidFill>
            <a:srgbClr val="C8DBC8"/>
          </a:solidFill>
          <a:ln w="12700">
            <a:solidFill>
              <a:srgbClr val="5AA24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rgbClr val="5AA240"/>
                </a:solidFill>
              </a:rPr>
              <a:t>C</a:t>
            </a:r>
            <a:endParaRPr lang="en-US" dirty="0">
              <a:solidFill>
                <a:srgbClr val="5AA240"/>
              </a:solidFill>
            </a:endParaRPr>
          </a:p>
        </p:txBody>
      </p:sp>
      <p:sp>
        <p:nvSpPr>
          <p:cNvPr id="12" name="Rectangle 11">
            <a:extLst>
              <a:ext uri="{FF2B5EF4-FFF2-40B4-BE49-F238E27FC236}">
                <a16:creationId xmlns:a16="http://schemas.microsoft.com/office/drawing/2014/main" id="{A1DB7FF4-789F-4D13-1150-17ED4EDE83AE}"/>
              </a:ext>
            </a:extLst>
          </p:cNvPr>
          <p:cNvSpPr/>
          <p:nvPr/>
        </p:nvSpPr>
        <p:spPr>
          <a:xfrm>
            <a:off x="2602426" y="2480041"/>
            <a:ext cx="292894" cy="288925"/>
          </a:xfrm>
          <a:prstGeom prst="rect">
            <a:avLst/>
          </a:prstGeom>
          <a:solidFill>
            <a:srgbClr val="F4E6AA"/>
          </a:solidFill>
          <a:ln w="12700">
            <a:solidFill>
              <a:srgbClr val="F2BC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rgbClr val="F2BC55"/>
                </a:solidFill>
              </a:rPr>
              <a:t>G</a:t>
            </a:r>
            <a:endParaRPr lang="en-US" dirty="0">
              <a:solidFill>
                <a:srgbClr val="F2BC55"/>
              </a:solidFill>
            </a:endParaRPr>
          </a:p>
        </p:txBody>
      </p:sp>
      <p:sp>
        <p:nvSpPr>
          <p:cNvPr id="13" name="Rectangle 12">
            <a:extLst>
              <a:ext uri="{FF2B5EF4-FFF2-40B4-BE49-F238E27FC236}">
                <a16:creationId xmlns:a16="http://schemas.microsoft.com/office/drawing/2014/main" id="{BCF689B7-1DD9-72B4-FAC0-84366C8EFBA8}"/>
              </a:ext>
            </a:extLst>
          </p:cNvPr>
          <p:cNvSpPr/>
          <p:nvPr/>
        </p:nvSpPr>
        <p:spPr>
          <a:xfrm>
            <a:off x="2895320" y="2480040"/>
            <a:ext cx="292894" cy="288925"/>
          </a:xfrm>
          <a:prstGeom prst="rect">
            <a:avLst/>
          </a:prstGeom>
          <a:solidFill>
            <a:srgbClr val="B8E2DE"/>
          </a:solidFill>
          <a:ln w="12700">
            <a:solidFill>
              <a:srgbClr val="46B0A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rgbClr val="46B0AA"/>
                </a:solidFill>
              </a:rPr>
              <a:t>T</a:t>
            </a:r>
            <a:endParaRPr lang="en-US" dirty="0">
              <a:solidFill>
                <a:srgbClr val="46B0AA"/>
              </a:solidFill>
            </a:endParaRPr>
          </a:p>
        </p:txBody>
      </p:sp>
      <p:sp>
        <p:nvSpPr>
          <p:cNvPr id="14" name="Rectangle 13">
            <a:extLst>
              <a:ext uri="{FF2B5EF4-FFF2-40B4-BE49-F238E27FC236}">
                <a16:creationId xmlns:a16="http://schemas.microsoft.com/office/drawing/2014/main" id="{BB57A617-70EF-0C3D-0E3E-E8B949912D87}"/>
              </a:ext>
            </a:extLst>
          </p:cNvPr>
          <p:cNvSpPr/>
          <p:nvPr/>
        </p:nvSpPr>
        <p:spPr>
          <a:xfrm>
            <a:off x="3188214" y="2480040"/>
            <a:ext cx="292894" cy="288925"/>
          </a:xfrm>
          <a:prstGeom prst="rect">
            <a:avLst/>
          </a:prstGeom>
          <a:solidFill>
            <a:srgbClr val="EDAEAE"/>
          </a:solidFill>
          <a:ln w="12700">
            <a:solidFill>
              <a:srgbClr val="C23F3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rgbClr val="C13A32"/>
                </a:solidFill>
              </a:rPr>
              <a:t>A</a:t>
            </a:r>
            <a:endParaRPr lang="en-US" dirty="0">
              <a:solidFill>
                <a:srgbClr val="C13A32"/>
              </a:solidFill>
            </a:endParaRPr>
          </a:p>
        </p:txBody>
      </p:sp>
      <p:sp>
        <p:nvSpPr>
          <p:cNvPr id="15" name="Rectangle 14">
            <a:extLst>
              <a:ext uri="{FF2B5EF4-FFF2-40B4-BE49-F238E27FC236}">
                <a16:creationId xmlns:a16="http://schemas.microsoft.com/office/drawing/2014/main" id="{DA9182D3-09EB-6B5B-53B4-91ECB9ED963E}"/>
              </a:ext>
            </a:extLst>
          </p:cNvPr>
          <p:cNvSpPr/>
          <p:nvPr/>
        </p:nvSpPr>
        <p:spPr>
          <a:xfrm>
            <a:off x="3479399" y="2480040"/>
            <a:ext cx="292894" cy="288925"/>
          </a:xfrm>
          <a:prstGeom prst="rect">
            <a:avLst/>
          </a:prstGeom>
          <a:solidFill>
            <a:srgbClr val="C8DBC8"/>
          </a:solidFill>
          <a:ln w="12700">
            <a:solidFill>
              <a:srgbClr val="5AA24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rgbClr val="5AA240"/>
                </a:solidFill>
              </a:rPr>
              <a:t>C</a:t>
            </a:r>
            <a:endParaRPr lang="en-US" dirty="0">
              <a:solidFill>
                <a:srgbClr val="5AA240"/>
              </a:solidFill>
            </a:endParaRPr>
          </a:p>
        </p:txBody>
      </p:sp>
      <p:pic>
        <p:nvPicPr>
          <p:cNvPr id="16" name="Picture 15">
            <a:extLst>
              <a:ext uri="{FF2B5EF4-FFF2-40B4-BE49-F238E27FC236}">
                <a16:creationId xmlns:a16="http://schemas.microsoft.com/office/drawing/2014/main" id="{DD8323A0-082A-BE81-2B5B-E0E53240FF34}"/>
              </a:ext>
            </a:extLst>
          </p:cNvPr>
          <p:cNvPicPr>
            <a:picLocks noChangeAspect="1"/>
          </p:cNvPicPr>
          <p:nvPr/>
        </p:nvPicPr>
        <p:blipFill>
          <a:blip r:embed="rId3"/>
          <a:stretch>
            <a:fillRect/>
          </a:stretch>
        </p:blipFill>
        <p:spPr>
          <a:xfrm>
            <a:off x="2740626" y="3594315"/>
            <a:ext cx="9525" cy="9525"/>
          </a:xfrm>
          <a:prstGeom prst="rect">
            <a:avLst/>
          </a:prstGeom>
        </p:spPr>
      </p:pic>
      <p:pic>
        <p:nvPicPr>
          <p:cNvPr id="17" name="Picture 16">
            <a:extLst>
              <a:ext uri="{FF2B5EF4-FFF2-40B4-BE49-F238E27FC236}">
                <a16:creationId xmlns:a16="http://schemas.microsoft.com/office/drawing/2014/main" id="{E4270631-0318-154A-29A6-CD39FB48D1F0}"/>
              </a:ext>
            </a:extLst>
          </p:cNvPr>
          <p:cNvPicPr>
            <a:picLocks noChangeAspect="1"/>
          </p:cNvPicPr>
          <p:nvPr/>
        </p:nvPicPr>
        <p:blipFill>
          <a:blip r:embed="rId3"/>
          <a:stretch>
            <a:fillRect/>
          </a:stretch>
        </p:blipFill>
        <p:spPr>
          <a:xfrm>
            <a:off x="2890626" y="3625823"/>
            <a:ext cx="9525" cy="9525"/>
          </a:xfrm>
          <a:prstGeom prst="rect">
            <a:avLst/>
          </a:prstGeom>
        </p:spPr>
      </p:pic>
      <p:pic>
        <p:nvPicPr>
          <p:cNvPr id="18" name="Picture 17">
            <a:extLst>
              <a:ext uri="{FF2B5EF4-FFF2-40B4-BE49-F238E27FC236}">
                <a16:creationId xmlns:a16="http://schemas.microsoft.com/office/drawing/2014/main" id="{10025CE7-504A-C8A2-BD3A-E174964EA233}"/>
              </a:ext>
            </a:extLst>
          </p:cNvPr>
          <p:cNvPicPr>
            <a:picLocks noChangeAspect="1"/>
          </p:cNvPicPr>
          <p:nvPr/>
        </p:nvPicPr>
        <p:blipFill>
          <a:blip r:embed="rId3"/>
          <a:stretch>
            <a:fillRect/>
          </a:stretch>
        </p:blipFill>
        <p:spPr>
          <a:xfrm>
            <a:off x="2740626" y="3594315"/>
            <a:ext cx="9525" cy="9525"/>
          </a:xfrm>
          <a:prstGeom prst="rect">
            <a:avLst/>
          </a:prstGeom>
        </p:spPr>
      </p:pic>
      <p:pic>
        <p:nvPicPr>
          <p:cNvPr id="19" name="Picture 18">
            <a:extLst>
              <a:ext uri="{FF2B5EF4-FFF2-40B4-BE49-F238E27FC236}">
                <a16:creationId xmlns:a16="http://schemas.microsoft.com/office/drawing/2014/main" id="{20F7A7F3-5FA3-BFF8-732D-FAA8321E3519}"/>
              </a:ext>
            </a:extLst>
          </p:cNvPr>
          <p:cNvPicPr>
            <a:picLocks noChangeAspect="1"/>
          </p:cNvPicPr>
          <p:nvPr/>
        </p:nvPicPr>
        <p:blipFill>
          <a:blip r:embed="rId3"/>
          <a:stretch>
            <a:fillRect/>
          </a:stretch>
        </p:blipFill>
        <p:spPr>
          <a:xfrm>
            <a:off x="2890626" y="3625823"/>
            <a:ext cx="9525" cy="9525"/>
          </a:xfrm>
          <a:prstGeom prst="rect">
            <a:avLst/>
          </a:prstGeom>
        </p:spPr>
      </p:pic>
      <p:pic>
        <p:nvPicPr>
          <p:cNvPr id="20" name="Picture 19">
            <a:extLst>
              <a:ext uri="{FF2B5EF4-FFF2-40B4-BE49-F238E27FC236}">
                <a16:creationId xmlns:a16="http://schemas.microsoft.com/office/drawing/2014/main" id="{E62265AA-4AC6-0705-8024-D331BC7F3511}"/>
              </a:ext>
            </a:extLst>
          </p:cNvPr>
          <p:cNvPicPr>
            <a:picLocks noChangeAspect="1"/>
          </p:cNvPicPr>
          <p:nvPr/>
        </p:nvPicPr>
        <p:blipFill>
          <a:blip r:embed="rId3"/>
          <a:stretch>
            <a:fillRect/>
          </a:stretch>
        </p:blipFill>
        <p:spPr>
          <a:xfrm>
            <a:off x="2740626" y="3594315"/>
            <a:ext cx="9525" cy="9525"/>
          </a:xfrm>
          <a:prstGeom prst="rect">
            <a:avLst/>
          </a:prstGeom>
        </p:spPr>
      </p:pic>
      <p:pic>
        <p:nvPicPr>
          <p:cNvPr id="21" name="Picture 20">
            <a:extLst>
              <a:ext uri="{FF2B5EF4-FFF2-40B4-BE49-F238E27FC236}">
                <a16:creationId xmlns:a16="http://schemas.microsoft.com/office/drawing/2014/main" id="{E6CA8905-BC39-6C18-B9D4-EEC7A843F651}"/>
              </a:ext>
            </a:extLst>
          </p:cNvPr>
          <p:cNvPicPr>
            <a:picLocks noChangeAspect="1"/>
          </p:cNvPicPr>
          <p:nvPr/>
        </p:nvPicPr>
        <p:blipFill>
          <a:blip r:embed="rId3"/>
          <a:stretch>
            <a:fillRect/>
          </a:stretch>
        </p:blipFill>
        <p:spPr>
          <a:xfrm>
            <a:off x="2890626" y="3625823"/>
            <a:ext cx="9525" cy="9525"/>
          </a:xfrm>
          <a:prstGeom prst="rect">
            <a:avLst/>
          </a:prstGeom>
        </p:spPr>
      </p:pic>
      <p:sp>
        <p:nvSpPr>
          <p:cNvPr id="22" name="Rectangle: Rounded Corners 21">
            <a:extLst>
              <a:ext uri="{FF2B5EF4-FFF2-40B4-BE49-F238E27FC236}">
                <a16:creationId xmlns:a16="http://schemas.microsoft.com/office/drawing/2014/main" id="{FF8C7E71-B593-36A8-7CCF-2D0C88B278EF}"/>
              </a:ext>
            </a:extLst>
          </p:cNvPr>
          <p:cNvSpPr/>
          <p:nvPr/>
        </p:nvSpPr>
        <p:spPr>
          <a:xfrm>
            <a:off x="1218484" y="3152960"/>
            <a:ext cx="2124169" cy="426568"/>
          </a:xfrm>
          <a:prstGeom prst="roundRect">
            <a:avLst/>
          </a:prstGeom>
          <a:solidFill>
            <a:srgbClr val="B4E5A3"/>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lumMod val="10000"/>
                  </a:schemeClr>
                </a:solidFill>
              </a:rPr>
              <a:t>AR-</a:t>
            </a:r>
            <a:r>
              <a:rPr lang="en-US" dirty="0" err="1">
                <a:solidFill>
                  <a:schemeClr val="bg1">
                    <a:lumMod val="10000"/>
                  </a:schemeClr>
                </a:solidFill>
              </a:rPr>
              <a:t>gLM</a:t>
            </a:r>
            <a:endParaRPr lang="en-US" dirty="0">
              <a:solidFill>
                <a:schemeClr val="bg1">
                  <a:lumMod val="10000"/>
                </a:schemeClr>
              </a:solidFill>
            </a:endParaRPr>
          </a:p>
        </p:txBody>
      </p:sp>
      <p:cxnSp>
        <p:nvCxnSpPr>
          <p:cNvPr id="23" name="Straight Arrow Connector 22">
            <a:extLst>
              <a:ext uri="{FF2B5EF4-FFF2-40B4-BE49-F238E27FC236}">
                <a16:creationId xmlns:a16="http://schemas.microsoft.com/office/drawing/2014/main" id="{E0401F34-E5F2-926D-513E-4D68F06A04D2}"/>
              </a:ext>
            </a:extLst>
          </p:cNvPr>
          <p:cNvCxnSpPr>
            <a:cxnSpLocks/>
          </p:cNvCxnSpPr>
          <p:nvPr/>
        </p:nvCxnSpPr>
        <p:spPr>
          <a:xfrm>
            <a:off x="2305504" y="2881849"/>
            <a:ext cx="0" cy="17684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96" name="Text Placeholder 2">
            <a:extLst>
              <a:ext uri="{FF2B5EF4-FFF2-40B4-BE49-F238E27FC236}">
                <a16:creationId xmlns:a16="http://schemas.microsoft.com/office/drawing/2014/main" id="{68271651-9C22-0BE3-5218-B6D7CD3328F3}"/>
              </a:ext>
            </a:extLst>
          </p:cNvPr>
          <p:cNvSpPr>
            <a:spLocks noGrp="1"/>
          </p:cNvSpPr>
          <p:nvPr>
            <p:ph type="body" idx="1"/>
          </p:nvPr>
        </p:nvSpPr>
        <p:spPr>
          <a:xfrm>
            <a:off x="553117" y="1949438"/>
            <a:ext cx="3454902" cy="586179"/>
          </a:xfrm>
        </p:spPr>
        <p:txBody>
          <a:bodyPr/>
          <a:lstStyle/>
          <a:p>
            <a:pPr marL="177800" indent="0" algn="ctr">
              <a:buNone/>
            </a:pPr>
            <a:r>
              <a:rPr lang="en-US" b="1" dirty="0"/>
              <a:t>Autoregressive Language Modeling</a:t>
            </a:r>
          </a:p>
        </p:txBody>
      </p:sp>
      <p:cxnSp>
        <p:nvCxnSpPr>
          <p:cNvPr id="101" name="Straight Arrow Connector 100">
            <a:extLst>
              <a:ext uri="{FF2B5EF4-FFF2-40B4-BE49-F238E27FC236}">
                <a16:creationId xmlns:a16="http://schemas.microsoft.com/office/drawing/2014/main" id="{A3DA53FA-44E6-B881-292A-C91AEA10F325}"/>
              </a:ext>
            </a:extLst>
          </p:cNvPr>
          <p:cNvCxnSpPr>
            <a:cxnSpLocks/>
          </p:cNvCxnSpPr>
          <p:nvPr/>
        </p:nvCxnSpPr>
        <p:spPr>
          <a:xfrm>
            <a:off x="2314363" y="3680394"/>
            <a:ext cx="0" cy="17684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04" name="Text Placeholder 2">
            <a:extLst>
              <a:ext uri="{FF2B5EF4-FFF2-40B4-BE49-F238E27FC236}">
                <a16:creationId xmlns:a16="http://schemas.microsoft.com/office/drawing/2014/main" id="{3D3EFE82-5E11-B0B0-91D1-98D1CB36BCB5}"/>
              </a:ext>
            </a:extLst>
          </p:cNvPr>
          <p:cNvSpPr txBox="1">
            <a:spLocks/>
          </p:cNvSpPr>
          <p:nvPr/>
        </p:nvSpPr>
        <p:spPr>
          <a:xfrm>
            <a:off x="1237730" y="1316964"/>
            <a:ext cx="6668539" cy="586179"/>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79400" algn="l" rtl="0">
              <a:lnSpc>
                <a:spcPct val="115000"/>
              </a:lnSpc>
              <a:spcBef>
                <a:spcPts val="0"/>
              </a:spcBef>
              <a:spcAft>
                <a:spcPts val="0"/>
              </a:spcAft>
              <a:buClr>
                <a:schemeClr val="dk1"/>
              </a:buClr>
              <a:buSzPts val="800"/>
              <a:buFont typeface="Hanken Grotesk"/>
              <a:buChar char="●"/>
              <a:defRPr sz="1400" b="0" i="0" u="none" strike="noStrike" cap="none">
                <a:solidFill>
                  <a:schemeClr val="dk1"/>
                </a:solidFill>
                <a:latin typeface="Hanken Grotesk"/>
                <a:ea typeface="Hanken Grotesk"/>
                <a:cs typeface="Hanken Grotesk"/>
                <a:sym typeface="Hanken Grotesk"/>
              </a:defRPr>
            </a:lvl1pPr>
            <a:lvl2pPr marL="914400" marR="0" lvl="1"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2pPr>
            <a:lvl3pPr marL="1371600" marR="0" lvl="2"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3pPr>
            <a:lvl4pPr marL="1828800" marR="0" lvl="3"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4pPr>
            <a:lvl5pPr marL="2286000" marR="0" lvl="4"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5pPr>
            <a:lvl6pPr marL="2743200" marR="0" lvl="5"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6pPr>
            <a:lvl7pPr marL="3200400" marR="0" lvl="6"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7pPr>
            <a:lvl8pPr marL="3657600" marR="0" lvl="7"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8pPr>
            <a:lvl9pPr marL="4114800" marR="0" lvl="8"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9pPr>
          </a:lstStyle>
          <a:p>
            <a:pPr marL="177800" indent="0" algn="ctr">
              <a:buFont typeface="Hanken Grotesk"/>
              <a:buNone/>
            </a:pPr>
            <a:r>
              <a:rPr lang="en-US" dirty="0"/>
              <a:t>Current conservation prediction shares input sequence and output </a:t>
            </a:r>
            <a:br>
              <a:rPr lang="en-US" dirty="0"/>
            </a:br>
            <a:r>
              <a:rPr lang="en-US" dirty="0"/>
              <a:t>dimensionality with autoregressive language modeling </a:t>
            </a:r>
          </a:p>
        </p:txBody>
      </p:sp>
      <p:sp>
        <p:nvSpPr>
          <p:cNvPr id="63" name="Rectangle 62">
            <a:extLst>
              <a:ext uri="{FF2B5EF4-FFF2-40B4-BE49-F238E27FC236}">
                <a16:creationId xmlns:a16="http://schemas.microsoft.com/office/drawing/2014/main" id="{750B9625-A520-3BBB-FE7D-C98D39910829}"/>
              </a:ext>
            </a:extLst>
          </p:cNvPr>
          <p:cNvSpPr/>
          <p:nvPr/>
        </p:nvSpPr>
        <p:spPr>
          <a:xfrm>
            <a:off x="837006" y="3963523"/>
            <a:ext cx="292894" cy="288925"/>
          </a:xfrm>
          <a:prstGeom prst="rect">
            <a:avLst/>
          </a:prstGeom>
          <a:solidFill>
            <a:schemeClr val="accent6">
              <a:lumMod val="95000"/>
            </a:schemeClr>
          </a:solidFill>
          <a:ln w="12700">
            <a:solidFill>
              <a:schemeClr val="accent6">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2"/>
              </a:solidFill>
            </a:endParaRPr>
          </a:p>
        </p:txBody>
      </p:sp>
      <p:sp>
        <p:nvSpPr>
          <p:cNvPr id="64" name="Rectangle 63">
            <a:extLst>
              <a:ext uri="{FF2B5EF4-FFF2-40B4-BE49-F238E27FC236}">
                <a16:creationId xmlns:a16="http://schemas.microsoft.com/office/drawing/2014/main" id="{1D939A9A-7CBF-AB7D-09C8-CE80310827D8}"/>
              </a:ext>
            </a:extLst>
          </p:cNvPr>
          <p:cNvSpPr/>
          <p:nvPr/>
        </p:nvSpPr>
        <p:spPr>
          <a:xfrm>
            <a:off x="1129900" y="3963523"/>
            <a:ext cx="292894" cy="288925"/>
          </a:xfrm>
          <a:prstGeom prst="rect">
            <a:avLst/>
          </a:prstGeom>
          <a:solidFill>
            <a:schemeClr val="accent6">
              <a:lumMod val="95000"/>
            </a:schemeClr>
          </a:solidFill>
          <a:ln w="12700">
            <a:solidFill>
              <a:schemeClr val="accent6">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2"/>
              </a:solidFill>
            </a:endParaRPr>
          </a:p>
        </p:txBody>
      </p:sp>
      <p:sp>
        <p:nvSpPr>
          <p:cNvPr id="65" name="Rectangle 64">
            <a:extLst>
              <a:ext uri="{FF2B5EF4-FFF2-40B4-BE49-F238E27FC236}">
                <a16:creationId xmlns:a16="http://schemas.microsoft.com/office/drawing/2014/main" id="{542EF6A4-115B-6A91-3F61-8870115F11DE}"/>
              </a:ext>
            </a:extLst>
          </p:cNvPr>
          <p:cNvSpPr/>
          <p:nvPr/>
        </p:nvSpPr>
        <p:spPr>
          <a:xfrm>
            <a:off x="1422794" y="3963523"/>
            <a:ext cx="292894" cy="288925"/>
          </a:xfrm>
          <a:prstGeom prst="rect">
            <a:avLst/>
          </a:prstGeom>
          <a:solidFill>
            <a:schemeClr val="accent6">
              <a:lumMod val="95000"/>
            </a:schemeClr>
          </a:solidFill>
          <a:ln w="12700">
            <a:solidFill>
              <a:schemeClr val="accent6">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2"/>
              </a:solidFill>
            </a:endParaRPr>
          </a:p>
        </p:txBody>
      </p:sp>
      <p:sp>
        <p:nvSpPr>
          <p:cNvPr id="66" name="Rectangle 65">
            <a:extLst>
              <a:ext uri="{FF2B5EF4-FFF2-40B4-BE49-F238E27FC236}">
                <a16:creationId xmlns:a16="http://schemas.microsoft.com/office/drawing/2014/main" id="{A482F5B8-4557-174D-2F16-874D8E1ABC27}"/>
              </a:ext>
            </a:extLst>
          </p:cNvPr>
          <p:cNvSpPr/>
          <p:nvPr/>
        </p:nvSpPr>
        <p:spPr>
          <a:xfrm>
            <a:off x="1715688" y="3963523"/>
            <a:ext cx="292894" cy="288925"/>
          </a:xfrm>
          <a:prstGeom prst="rect">
            <a:avLst/>
          </a:prstGeom>
          <a:solidFill>
            <a:schemeClr val="accent6">
              <a:lumMod val="95000"/>
            </a:schemeClr>
          </a:solidFill>
          <a:ln w="12700">
            <a:solidFill>
              <a:schemeClr val="accent6">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2"/>
              </a:solidFill>
            </a:endParaRPr>
          </a:p>
        </p:txBody>
      </p:sp>
      <p:sp>
        <p:nvSpPr>
          <p:cNvPr id="84" name="Rectangle 83">
            <a:extLst>
              <a:ext uri="{FF2B5EF4-FFF2-40B4-BE49-F238E27FC236}">
                <a16:creationId xmlns:a16="http://schemas.microsoft.com/office/drawing/2014/main" id="{A36DBAD8-BCCA-366F-BF41-EE90687F8F6D}"/>
              </a:ext>
            </a:extLst>
          </p:cNvPr>
          <p:cNvSpPr/>
          <p:nvPr/>
        </p:nvSpPr>
        <p:spPr>
          <a:xfrm>
            <a:off x="2012610" y="3963523"/>
            <a:ext cx="292894" cy="288925"/>
          </a:xfrm>
          <a:prstGeom prst="rect">
            <a:avLst/>
          </a:prstGeom>
          <a:solidFill>
            <a:schemeClr val="accent6">
              <a:lumMod val="95000"/>
            </a:schemeClr>
          </a:solidFill>
          <a:ln w="12700">
            <a:solidFill>
              <a:schemeClr val="accent6">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2"/>
              </a:solidFill>
            </a:endParaRPr>
          </a:p>
        </p:txBody>
      </p:sp>
      <p:sp>
        <p:nvSpPr>
          <p:cNvPr id="85" name="Rectangle 84">
            <a:extLst>
              <a:ext uri="{FF2B5EF4-FFF2-40B4-BE49-F238E27FC236}">
                <a16:creationId xmlns:a16="http://schemas.microsoft.com/office/drawing/2014/main" id="{F6490806-66AE-66DC-364B-E66221C59EB5}"/>
              </a:ext>
            </a:extLst>
          </p:cNvPr>
          <p:cNvSpPr/>
          <p:nvPr/>
        </p:nvSpPr>
        <p:spPr>
          <a:xfrm>
            <a:off x="2309532" y="3963523"/>
            <a:ext cx="292894" cy="288925"/>
          </a:xfrm>
          <a:prstGeom prst="rect">
            <a:avLst/>
          </a:prstGeom>
          <a:solidFill>
            <a:schemeClr val="accent6">
              <a:lumMod val="95000"/>
            </a:schemeClr>
          </a:solidFill>
          <a:ln w="12700">
            <a:solidFill>
              <a:schemeClr val="accent6">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2"/>
              </a:solidFill>
            </a:endParaRPr>
          </a:p>
        </p:txBody>
      </p:sp>
      <p:sp>
        <p:nvSpPr>
          <p:cNvPr id="97" name="Rectangle 96">
            <a:extLst>
              <a:ext uri="{FF2B5EF4-FFF2-40B4-BE49-F238E27FC236}">
                <a16:creationId xmlns:a16="http://schemas.microsoft.com/office/drawing/2014/main" id="{AD0FCF27-7B9E-7099-DA5B-8E5DB0026FF3}"/>
              </a:ext>
            </a:extLst>
          </p:cNvPr>
          <p:cNvSpPr/>
          <p:nvPr/>
        </p:nvSpPr>
        <p:spPr>
          <a:xfrm>
            <a:off x="2602426" y="3963523"/>
            <a:ext cx="292894" cy="288925"/>
          </a:xfrm>
          <a:prstGeom prst="rect">
            <a:avLst/>
          </a:prstGeom>
          <a:solidFill>
            <a:schemeClr val="accent6">
              <a:lumMod val="95000"/>
            </a:schemeClr>
          </a:solidFill>
          <a:ln w="12700">
            <a:solidFill>
              <a:schemeClr val="accent6">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2"/>
              </a:solidFill>
            </a:endParaRPr>
          </a:p>
        </p:txBody>
      </p:sp>
      <p:sp>
        <p:nvSpPr>
          <p:cNvPr id="98" name="Rectangle 97">
            <a:extLst>
              <a:ext uri="{FF2B5EF4-FFF2-40B4-BE49-F238E27FC236}">
                <a16:creationId xmlns:a16="http://schemas.microsoft.com/office/drawing/2014/main" id="{E938DE52-8262-9766-2BC1-EFE2CBD6DF3C}"/>
              </a:ext>
            </a:extLst>
          </p:cNvPr>
          <p:cNvSpPr/>
          <p:nvPr/>
        </p:nvSpPr>
        <p:spPr>
          <a:xfrm>
            <a:off x="2895320" y="3963522"/>
            <a:ext cx="292894" cy="288925"/>
          </a:xfrm>
          <a:prstGeom prst="rect">
            <a:avLst/>
          </a:prstGeom>
          <a:solidFill>
            <a:schemeClr val="accent6">
              <a:lumMod val="95000"/>
            </a:schemeClr>
          </a:solidFill>
          <a:ln w="12700">
            <a:solidFill>
              <a:schemeClr val="accent6">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2"/>
              </a:solidFill>
            </a:endParaRPr>
          </a:p>
        </p:txBody>
      </p:sp>
      <p:sp>
        <p:nvSpPr>
          <p:cNvPr id="99" name="Rectangle 98">
            <a:extLst>
              <a:ext uri="{FF2B5EF4-FFF2-40B4-BE49-F238E27FC236}">
                <a16:creationId xmlns:a16="http://schemas.microsoft.com/office/drawing/2014/main" id="{0D2D783C-BDA0-4800-25B9-1B89567001A2}"/>
              </a:ext>
            </a:extLst>
          </p:cNvPr>
          <p:cNvSpPr/>
          <p:nvPr/>
        </p:nvSpPr>
        <p:spPr>
          <a:xfrm>
            <a:off x="3188214" y="3963522"/>
            <a:ext cx="292894" cy="288925"/>
          </a:xfrm>
          <a:prstGeom prst="rect">
            <a:avLst/>
          </a:prstGeom>
          <a:solidFill>
            <a:schemeClr val="accent6">
              <a:lumMod val="95000"/>
            </a:schemeClr>
          </a:solidFill>
          <a:ln w="12700">
            <a:solidFill>
              <a:schemeClr val="accent6">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2"/>
              </a:solidFill>
            </a:endParaRPr>
          </a:p>
        </p:txBody>
      </p:sp>
      <p:sp>
        <p:nvSpPr>
          <p:cNvPr id="100" name="Rectangle 99">
            <a:extLst>
              <a:ext uri="{FF2B5EF4-FFF2-40B4-BE49-F238E27FC236}">
                <a16:creationId xmlns:a16="http://schemas.microsoft.com/office/drawing/2014/main" id="{850C2FE2-2158-959A-A0E8-868FAEEA5FDE}"/>
              </a:ext>
            </a:extLst>
          </p:cNvPr>
          <p:cNvSpPr/>
          <p:nvPr/>
        </p:nvSpPr>
        <p:spPr>
          <a:xfrm>
            <a:off x="3479399" y="3963522"/>
            <a:ext cx="292894" cy="288925"/>
          </a:xfrm>
          <a:prstGeom prst="rect">
            <a:avLst/>
          </a:prstGeom>
          <a:solidFill>
            <a:schemeClr val="accent6">
              <a:lumMod val="95000"/>
            </a:schemeClr>
          </a:solidFill>
          <a:ln w="12700">
            <a:solidFill>
              <a:schemeClr val="accent6">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2"/>
              </a:solidFill>
            </a:endParaRPr>
          </a:p>
        </p:txBody>
      </p:sp>
      <p:sp>
        <p:nvSpPr>
          <p:cNvPr id="106" name="Rectangle 105">
            <a:extLst>
              <a:ext uri="{FF2B5EF4-FFF2-40B4-BE49-F238E27FC236}">
                <a16:creationId xmlns:a16="http://schemas.microsoft.com/office/drawing/2014/main" id="{07C98EFE-BC5F-68A1-BCB1-F9AEC37AED0E}"/>
              </a:ext>
            </a:extLst>
          </p:cNvPr>
          <p:cNvSpPr/>
          <p:nvPr/>
        </p:nvSpPr>
        <p:spPr>
          <a:xfrm>
            <a:off x="3782058" y="3963521"/>
            <a:ext cx="292894" cy="288925"/>
          </a:xfrm>
          <a:prstGeom prst="rect">
            <a:avLst/>
          </a:prstGeom>
          <a:solidFill>
            <a:srgbClr val="F4E6AA"/>
          </a:solidFill>
          <a:ln w="12700">
            <a:solidFill>
              <a:srgbClr val="F2BC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rgbClr val="F2BC55"/>
                </a:solidFill>
              </a:rPr>
              <a:t>G</a:t>
            </a:r>
            <a:endParaRPr lang="en-US" dirty="0">
              <a:solidFill>
                <a:srgbClr val="F2BC55"/>
              </a:solidFill>
            </a:endParaRPr>
          </a:p>
        </p:txBody>
      </p:sp>
      <p:sp>
        <p:nvSpPr>
          <p:cNvPr id="107" name="Rectangle 106">
            <a:extLst>
              <a:ext uri="{FF2B5EF4-FFF2-40B4-BE49-F238E27FC236}">
                <a16:creationId xmlns:a16="http://schemas.microsoft.com/office/drawing/2014/main" id="{D43ACFA8-A5F2-D79A-172B-AA136761DEAD}"/>
              </a:ext>
            </a:extLst>
          </p:cNvPr>
          <p:cNvSpPr/>
          <p:nvPr/>
        </p:nvSpPr>
        <p:spPr>
          <a:xfrm>
            <a:off x="5117429" y="2480041"/>
            <a:ext cx="292894" cy="288925"/>
          </a:xfrm>
          <a:prstGeom prst="rect">
            <a:avLst/>
          </a:prstGeom>
          <a:solidFill>
            <a:srgbClr val="C8DBC8"/>
          </a:solidFill>
          <a:ln w="12700">
            <a:solidFill>
              <a:srgbClr val="5AA24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rgbClr val="5AA240"/>
                </a:solidFill>
              </a:rPr>
              <a:t>C</a:t>
            </a:r>
            <a:endParaRPr lang="en-US" dirty="0">
              <a:solidFill>
                <a:srgbClr val="5AA240"/>
              </a:solidFill>
            </a:endParaRPr>
          </a:p>
        </p:txBody>
      </p:sp>
      <p:sp>
        <p:nvSpPr>
          <p:cNvPr id="108" name="Rectangle 107">
            <a:extLst>
              <a:ext uri="{FF2B5EF4-FFF2-40B4-BE49-F238E27FC236}">
                <a16:creationId xmlns:a16="http://schemas.microsoft.com/office/drawing/2014/main" id="{C2B6D657-3B19-C172-9859-338E7310F384}"/>
              </a:ext>
            </a:extLst>
          </p:cNvPr>
          <p:cNvSpPr/>
          <p:nvPr/>
        </p:nvSpPr>
        <p:spPr>
          <a:xfrm>
            <a:off x="5410323" y="2480041"/>
            <a:ext cx="292894" cy="288925"/>
          </a:xfrm>
          <a:prstGeom prst="rect">
            <a:avLst/>
          </a:prstGeom>
          <a:solidFill>
            <a:srgbClr val="EDAEAE"/>
          </a:solidFill>
          <a:ln w="12700">
            <a:solidFill>
              <a:srgbClr val="C23F3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rgbClr val="C13A32"/>
                </a:solidFill>
              </a:rPr>
              <a:t>A</a:t>
            </a:r>
            <a:endParaRPr lang="en-US" dirty="0">
              <a:solidFill>
                <a:srgbClr val="C13A32"/>
              </a:solidFill>
            </a:endParaRPr>
          </a:p>
        </p:txBody>
      </p:sp>
      <p:sp>
        <p:nvSpPr>
          <p:cNvPr id="109" name="Rectangle 108">
            <a:extLst>
              <a:ext uri="{FF2B5EF4-FFF2-40B4-BE49-F238E27FC236}">
                <a16:creationId xmlns:a16="http://schemas.microsoft.com/office/drawing/2014/main" id="{C068A468-48B0-4533-1686-49175E4762D3}"/>
              </a:ext>
            </a:extLst>
          </p:cNvPr>
          <p:cNvSpPr/>
          <p:nvPr/>
        </p:nvSpPr>
        <p:spPr>
          <a:xfrm>
            <a:off x="5703217" y="2480041"/>
            <a:ext cx="292894" cy="288925"/>
          </a:xfrm>
          <a:prstGeom prst="rect">
            <a:avLst/>
          </a:prstGeom>
          <a:solidFill>
            <a:srgbClr val="EDAEAE"/>
          </a:solidFill>
          <a:ln w="12700">
            <a:solidFill>
              <a:srgbClr val="C23F3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rgbClr val="C13A32"/>
                </a:solidFill>
              </a:rPr>
              <a:t>A</a:t>
            </a:r>
            <a:endParaRPr lang="en-US" dirty="0">
              <a:solidFill>
                <a:srgbClr val="C13A32"/>
              </a:solidFill>
            </a:endParaRPr>
          </a:p>
        </p:txBody>
      </p:sp>
      <p:sp>
        <p:nvSpPr>
          <p:cNvPr id="110" name="Rectangle 109">
            <a:extLst>
              <a:ext uri="{FF2B5EF4-FFF2-40B4-BE49-F238E27FC236}">
                <a16:creationId xmlns:a16="http://schemas.microsoft.com/office/drawing/2014/main" id="{9D6FF06E-08C1-D843-753E-D91E11D6AECC}"/>
              </a:ext>
            </a:extLst>
          </p:cNvPr>
          <p:cNvSpPr/>
          <p:nvPr/>
        </p:nvSpPr>
        <p:spPr>
          <a:xfrm>
            <a:off x="5996111" y="2480041"/>
            <a:ext cx="292894" cy="288925"/>
          </a:xfrm>
          <a:prstGeom prst="rect">
            <a:avLst/>
          </a:prstGeom>
          <a:solidFill>
            <a:srgbClr val="C8DBC8"/>
          </a:solidFill>
          <a:ln w="12700">
            <a:solidFill>
              <a:srgbClr val="5AA24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rgbClr val="5AA240"/>
                </a:solidFill>
              </a:rPr>
              <a:t>C</a:t>
            </a:r>
            <a:endParaRPr lang="en-US" dirty="0">
              <a:solidFill>
                <a:srgbClr val="5AA240"/>
              </a:solidFill>
            </a:endParaRPr>
          </a:p>
        </p:txBody>
      </p:sp>
      <p:sp>
        <p:nvSpPr>
          <p:cNvPr id="111" name="Rectangle 110">
            <a:extLst>
              <a:ext uri="{FF2B5EF4-FFF2-40B4-BE49-F238E27FC236}">
                <a16:creationId xmlns:a16="http://schemas.microsoft.com/office/drawing/2014/main" id="{9147B4A2-9E0A-EEAA-3C16-6D2E5A2D71E3}"/>
              </a:ext>
            </a:extLst>
          </p:cNvPr>
          <p:cNvSpPr/>
          <p:nvPr/>
        </p:nvSpPr>
        <p:spPr>
          <a:xfrm>
            <a:off x="6293033" y="2480041"/>
            <a:ext cx="292894" cy="288925"/>
          </a:xfrm>
          <a:prstGeom prst="rect">
            <a:avLst/>
          </a:prstGeom>
          <a:solidFill>
            <a:srgbClr val="B8E2DE"/>
          </a:solidFill>
          <a:ln w="12700">
            <a:solidFill>
              <a:srgbClr val="46B0A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rgbClr val="46B0AA"/>
                </a:solidFill>
              </a:rPr>
              <a:t>T</a:t>
            </a:r>
            <a:endParaRPr lang="en-US" dirty="0">
              <a:solidFill>
                <a:srgbClr val="46B0AA"/>
              </a:solidFill>
            </a:endParaRPr>
          </a:p>
        </p:txBody>
      </p:sp>
      <p:sp>
        <p:nvSpPr>
          <p:cNvPr id="112" name="Rectangle 111">
            <a:extLst>
              <a:ext uri="{FF2B5EF4-FFF2-40B4-BE49-F238E27FC236}">
                <a16:creationId xmlns:a16="http://schemas.microsoft.com/office/drawing/2014/main" id="{8AFF94DB-F218-44F1-4B63-EDFB88E44BA3}"/>
              </a:ext>
            </a:extLst>
          </p:cNvPr>
          <p:cNvSpPr/>
          <p:nvPr/>
        </p:nvSpPr>
        <p:spPr>
          <a:xfrm>
            <a:off x="6589955" y="2480041"/>
            <a:ext cx="292894" cy="288925"/>
          </a:xfrm>
          <a:prstGeom prst="rect">
            <a:avLst/>
          </a:prstGeom>
          <a:solidFill>
            <a:srgbClr val="C8DBC8"/>
          </a:solidFill>
          <a:ln w="12700">
            <a:solidFill>
              <a:srgbClr val="5AA24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rgbClr val="5AA240"/>
                </a:solidFill>
              </a:rPr>
              <a:t>C</a:t>
            </a:r>
            <a:endParaRPr lang="en-US" dirty="0">
              <a:solidFill>
                <a:srgbClr val="5AA240"/>
              </a:solidFill>
            </a:endParaRPr>
          </a:p>
        </p:txBody>
      </p:sp>
      <p:sp>
        <p:nvSpPr>
          <p:cNvPr id="113" name="Rectangle 112">
            <a:extLst>
              <a:ext uri="{FF2B5EF4-FFF2-40B4-BE49-F238E27FC236}">
                <a16:creationId xmlns:a16="http://schemas.microsoft.com/office/drawing/2014/main" id="{B20E8CFF-8311-A48B-1FE4-E632FCC4167A}"/>
              </a:ext>
            </a:extLst>
          </p:cNvPr>
          <p:cNvSpPr/>
          <p:nvPr/>
        </p:nvSpPr>
        <p:spPr>
          <a:xfrm>
            <a:off x="6882849" y="2480041"/>
            <a:ext cx="292894" cy="288925"/>
          </a:xfrm>
          <a:prstGeom prst="rect">
            <a:avLst/>
          </a:prstGeom>
          <a:solidFill>
            <a:srgbClr val="F4E6AA"/>
          </a:solidFill>
          <a:ln w="12700">
            <a:solidFill>
              <a:srgbClr val="F2BC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rgbClr val="F2BC55"/>
                </a:solidFill>
              </a:rPr>
              <a:t>G</a:t>
            </a:r>
            <a:endParaRPr lang="en-US" dirty="0">
              <a:solidFill>
                <a:srgbClr val="F2BC55"/>
              </a:solidFill>
            </a:endParaRPr>
          </a:p>
        </p:txBody>
      </p:sp>
      <p:sp>
        <p:nvSpPr>
          <p:cNvPr id="114" name="Rectangle 113">
            <a:extLst>
              <a:ext uri="{FF2B5EF4-FFF2-40B4-BE49-F238E27FC236}">
                <a16:creationId xmlns:a16="http://schemas.microsoft.com/office/drawing/2014/main" id="{4D5CD241-AA55-22E9-CCDE-E0FF88F375D2}"/>
              </a:ext>
            </a:extLst>
          </p:cNvPr>
          <p:cNvSpPr/>
          <p:nvPr/>
        </p:nvSpPr>
        <p:spPr>
          <a:xfrm>
            <a:off x="7175743" y="2480040"/>
            <a:ext cx="292894" cy="288925"/>
          </a:xfrm>
          <a:prstGeom prst="rect">
            <a:avLst/>
          </a:prstGeom>
          <a:solidFill>
            <a:srgbClr val="B8E2DE"/>
          </a:solidFill>
          <a:ln w="12700">
            <a:solidFill>
              <a:srgbClr val="46B0A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rgbClr val="46B0AA"/>
                </a:solidFill>
              </a:rPr>
              <a:t>T</a:t>
            </a:r>
            <a:endParaRPr lang="en-US" dirty="0">
              <a:solidFill>
                <a:srgbClr val="46B0AA"/>
              </a:solidFill>
            </a:endParaRPr>
          </a:p>
        </p:txBody>
      </p:sp>
      <p:sp>
        <p:nvSpPr>
          <p:cNvPr id="115" name="Rectangle 114">
            <a:extLst>
              <a:ext uri="{FF2B5EF4-FFF2-40B4-BE49-F238E27FC236}">
                <a16:creationId xmlns:a16="http://schemas.microsoft.com/office/drawing/2014/main" id="{871B23CE-AA21-38F1-0932-F237C7A4CA13}"/>
              </a:ext>
            </a:extLst>
          </p:cNvPr>
          <p:cNvSpPr/>
          <p:nvPr/>
        </p:nvSpPr>
        <p:spPr>
          <a:xfrm>
            <a:off x="7468637" y="2480040"/>
            <a:ext cx="292894" cy="288925"/>
          </a:xfrm>
          <a:prstGeom prst="rect">
            <a:avLst/>
          </a:prstGeom>
          <a:solidFill>
            <a:srgbClr val="EDAEAE"/>
          </a:solidFill>
          <a:ln w="12700">
            <a:solidFill>
              <a:srgbClr val="C23F3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rgbClr val="C13A32"/>
                </a:solidFill>
              </a:rPr>
              <a:t>A</a:t>
            </a:r>
            <a:endParaRPr lang="en-US" dirty="0">
              <a:solidFill>
                <a:srgbClr val="C13A32"/>
              </a:solidFill>
            </a:endParaRPr>
          </a:p>
        </p:txBody>
      </p:sp>
      <p:sp>
        <p:nvSpPr>
          <p:cNvPr id="116" name="Rectangle 115">
            <a:extLst>
              <a:ext uri="{FF2B5EF4-FFF2-40B4-BE49-F238E27FC236}">
                <a16:creationId xmlns:a16="http://schemas.microsoft.com/office/drawing/2014/main" id="{B6AEEA87-68FD-4F08-5D39-4819EF61B304}"/>
              </a:ext>
            </a:extLst>
          </p:cNvPr>
          <p:cNvSpPr/>
          <p:nvPr/>
        </p:nvSpPr>
        <p:spPr>
          <a:xfrm>
            <a:off x="7759822" y="2480040"/>
            <a:ext cx="292894" cy="288925"/>
          </a:xfrm>
          <a:prstGeom prst="rect">
            <a:avLst/>
          </a:prstGeom>
          <a:solidFill>
            <a:srgbClr val="C8DBC8"/>
          </a:solidFill>
          <a:ln w="12700">
            <a:solidFill>
              <a:srgbClr val="5AA24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rgbClr val="5AA240"/>
                </a:solidFill>
              </a:rPr>
              <a:t>C</a:t>
            </a:r>
            <a:endParaRPr lang="en-US" dirty="0">
              <a:solidFill>
                <a:srgbClr val="5AA240"/>
              </a:solidFill>
            </a:endParaRPr>
          </a:p>
        </p:txBody>
      </p:sp>
      <p:pic>
        <p:nvPicPr>
          <p:cNvPr id="117" name="Picture 116">
            <a:extLst>
              <a:ext uri="{FF2B5EF4-FFF2-40B4-BE49-F238E27FC236}">
                <a16:creationId xmlns:a16="http://schemas.microsoft.com/office/drawing/2014/main" id="{C2D05A7E-E405-3245-375E-EFC4DD9E2095}"/>
              </a:ext>
            </a:extLst>
          </p:cNvPr>
          <p:cNvPicPr>
            <a:picLocks noChangeAspect="1"/>
          </p:cNvPicPr>
          <p:nvPr/>
        </p:nvPicPr>
        <p:blipFill>
          <a:blip r:embed="rId3"/>
          <a:stretch>
            <a:fillRect/>
          </a:stretch>
        </p:blipFill>
        <p:spPr>
          <a:xfrm>
            <a:off x="7021049" y="3594315"/>
            <a:ext cx="9525" cy="9525"/>
          </a:xfrm>
          <a:prstGeom prst="rect">
            <a:avLst/>
          </a:prstGeom>
        </p:spPr>
      </p:pic>
      <p:pic>
        <p:nvPicPr>
          <p:cNvPr id="118" name="Picture 117">
            <a:extLst>
              <a:ext uri="{FF2B5EF4-FFF2-40B4-BE49-F238E27FC236}">
                <a16:creationId xmlns:a16="http://schemas.microsoft.com/office/drawing/2014/main" id="{47410006-4EF3-3475-74CB-66C81FF98416}"/>
              </a:ext>
            </a:extLst>
          </p:cNvPr>
          <p:cNvPicPr>
            <a:picLocks noChangeAspect="1"/>
          </p:cNvPicPr>
          <p:nvPr/>
        </p:nvPicPr>
        <p:blipFill>
          <a:blip r:embed="rId3"/>
          <a:stretch>
            <a:fillRect/>
          </a:stretch>
        </p:blipFill>
        <p:spPr>
          <a:xfrm>
            <a:off x="7171049" y="3625823"/>
            <a:ext cx="9525" cy="9525"/>
          </a:xfrm>
          <a:prstGeom prst="rect">
            <a:avLst/>
          </a:prstGeom>
        </p:spPr>
      </p:pic>
      <p:pic>
        <p:nvPicPr>
          <p:cNvPr id="119" name="Picture 118">
            <a:extLst>
              <a:ext uri="{FF2B5EF4-FFF2-40B4-BE49-F238E27FC236}">
                <a16:creationId xmlns:a16="http://schemas.microsoft.com/office/drawing/2014/main" id="{9D9FF521-7139-4E15-1C41-C1FE35C1973B}"/>
              </a:ext>
            </a:extLst>
          </p:cNvPr>
          <p:cNvPicPr>
            <a:picLocks noChangeAspect="1"/>
          </p:cNvPicPr>
          <p:nvPr/>
        </p:nvPicPr>
        <p:blipFill>
          <a:blip r:embed="rId3"/>
          <a:stretch>
            <a:fillRect/>
          </a:stretch>
        </p:blipFill>
        <p:spPr>
          <a:xfrm>
            <a:off x="7021049" y="3594315"/>
            <a:ext cx="9525" cy="9525"/>
          </a:xfrm>
          <a:prstGeom prst="rect">
            <a:avLst/>
          </a:prstGeom>
        </p:spPr>
      </p:pic>
      <p:pic>
        <p:nvPicPr>
          <p:cNvPr id="120" name="Picture 119">
            <a:extLst>
              <a:ext uri="{FF2B5EF4-FFF2-40B4-BE49-F238E27FC236}">
                <a16:creationId xmlns:a16="http://schemas.microsoft.com/office/drawing/2014/main" id="{0ADE3A77-1228-1747-1FEB-6626E49167CA}"/>
              </a:ext>
            </a:extLst>
          </p:cNvPr>
          <p:cNvPicPr>
            <a:picLocks noChangeAspect="1"/>
          </p:cNvPicPr>
          <p:nvPr/>
        </p:nvPicPr>
        <p:blipFill>
          <a:blip r:embed="rId3"/>
          <a:stretch>
            <a:fillRect/>
          </a:stretch>
        </p:blipFill>
        <p:spPr>
          <a:xfrm>
            <a:off x="7171049" y="3625823"/>
            <a:ext cx="9525" cy="9525"/>
          </a:xfrm>
          <a:prstGeom prst="rect">
            <a:avLst/>
          </a:prstGeom>
        </p:spPr>
      </p:pic>
      <p:pic>
        <p:nvPicPr>
          <p:cNvPr id="121" name="Picture 120">
            <a:extLst>
              <a:ext uri="{FF2B5EF4-FFF2-40B4-BE49-F238E27FC236}">
                <a16:creationId xmlns:a16="http://schemas.microsoft.com/office/drawing/2014/main" id="{C901C7BA-9EAA-AFA7-E6AA-1CAF5B1015C9}"/>
              </a:ext>
            </a:extLst>
          </p:cNvPr>
          <p:cNvPicPr>
            <a:picLocks noChangeAspect="1"/>
          </p:cNvPicPr>
          <p:nvPr/>
        </p:nvPicPr>
        <p:blipFill>
          <a:blip r:embed="rId3"/>
          <a:stretch>
            <a:fillRect/>
          </a:stretch>
        </p:blipFill>
        <p:spPr>
          <a:xfrm>
            <a:off x="7021049" y="3594315"/>
            <a:ext cx="9525" cy="9525"/>
          </a:xfrm>
          <a:prstGeom prst="rect">
            <a:avLst/>
          </a:prstGeom>
        </p:spPr>
      </p:pic>
      <p:pic>
        <p:nvPicPr>
          <p:cNvPr id="122" name="Picture 121">
            <a:extLst>
              <a:ext uri="{FF2B5EF4-FFF2-40B4-BE49-F238E27FC236}">
                <a16:creationId xmlns:a16="http://schemas.microsoft.com/office/drawing/2014/main" id="{08BDCAD2-0210-71F9-3383-3DE0DD9495F6}"/>
              </a:ext>
            </a:extLst>
          </p:cNvPr>
          <p:cNvPicPr>
            <a:picLocks noChangeAspect="1"/>
          </p:cNvPicPr>
          <p:nvPr/>
        </p:nvPicPr>
        <p:blipFill>
          <a:blip r:embed="rId3"/>
          <a:stretch>
            <a:fillRect/>
          </a:stretch>
        </p:blipFill>
        <p:spPr>
          <a:xfrm>
            <a:off x="7171049" y="3625823"/>
            <a:ext cx="9525" cy="9525"/>
          </a:xfrm>
          <a:prstGeom prst="rect">
            <a:avLst/>
          </a:prstGeom>
        </p:spPr>
      </p:pic>
      <p:sp>
        <p:nvSpPr>
          <p:cNvPr id="123" name="Rectangle: Rounded Corners 122">
            <a:extLst>
              <a:ext uri="{FF2B5EF4-FFF2-40B4-BE49-F238E27FC236}">
                <a16:creationId xmlns:a16="http://schemas.microsoft.com/office/drawing/2014/main" id="{070E36EA-CA7B-E0C3-7A34-44A83E384939}"/>
              </a:ext>
            </a:extLst>
          </p:cNvPr>
          <p:cNvSpPr/>
          <p:nvPr/>
        </p:nvSpPr>
        <p:spPr>
          <a:xfrm>
            <a:off x="5498907" y="3152960"/>
            <a:ext cx="2124169" cy="426568"/>
          </a:xfrm>
          <a:prstGeom prst="roundRect">
            <a:avLst/>
          </a:prstGeom>
          <a:solidFill>
            <a:srgbClr val="B4E5A3"/>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lumMod val="10000"/>
                  </a:schemeClr>
                </a:solidFill>
              </a:rPr>
              <a:t>AR-</a:t>
            </a:r>
            <a:r>
              <a:rPr lang="en-US" dirty="0" err="1">
                <a:solidFill>
                  <a:schemeClr val="bg1">
                    <a:lumMod val="10000"/>
                  </a:schemeClr>
                </a:solidFill>
              </a:rPr>
              <a:t>gLM</a:t>
            </a:r>
            <a:endParaRPr lang="en-US" dirty="0">
              <a:solidFill>
                <a:schemeClr val="bg1">
                  <a:lumMod val="10000"/>
                </a:schemeClr>
              </a:solidFill>
            </a:endParaRPr>
          </a:p>
        </p:txBody>
      </p:sp>
      <p:cxnSp>
        <p:nvCxnSpPr>
          <p:cNvPr id="124" name="Straight Arrow Connector 123">
            <a:extLst>
              <a:ext uri="{FF2B5EF4-FFF2-40B4-BE49-F238E27FC236}">
                <a16:creationId xmlns:a16="http://schemas.microsoft.com/office/drawing/2014/main" id="{D5EF5CBF-57E9-A52F-0324-C65F1DA43CE8}"/>
              </a:ext>
            </a:extLst>
          </p:cNvPr>
          <p:cNvCxnSpPr>
            <a:cxnSpLocks/>
          </p:cNvCxnSpPr>
          <p:nvPr/>
        </p:nvCxnSpPr>
        <p:spPr>
          <a:xfrm>
            <a:off x="6585927" y="2881849"/>
            <a:ext cx="0" cy="17684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25" name="Text Placeholder 2">
            <a:extLst>
              <a:ext uri="{FF2B5EF4-FFF2-40B4-BE49-F238E27FC236}">
                <a16:creationId xmlns:a16="http://schemas.microsoft.com/office/drawing/2014/main" id="{02F01698-9D3B-D950-CB93-C7BFBA7F9433}"/>
              </a:ext>
            </a:extLst>
          </p:cNvPr>
          <p:cNvSpPr txBox="1">
            <a:spLocks/>
          </p:cNvSpPr>
          <p:nvPr/>
        </p:nvSpPr>
        <p:spPr>
          <a:xfrm>
            <a:off x="4833540" y="1949438"/>
            <a:ext cx="3454902" cy="586179"/>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79400" algn="l" rtl="0">
              <a:lnSpc>
                <a:spcPct val="115000"/>
              </a:lnSpc>
              <a:spcBef>
                <a:spcPts val="0"/>
              </a:spcBef>
              <a:spcAft>
                <a:spcPts val="0"/>
              </a:spcAft>
              <a:buClr>
                <a:schemeClr val="dk1"/>
              </a:buClr>
              <a:buSzPts val="800"/>
              <a:buFont typeface="Hanken Grotesk"/>
              <a:buChar char="●"/>
              <a:defRPr sz="1400" b="0" i="0" u="none" strike="noStrike" cap="none">
                <a:solidFill>
                  <a:schemeClr val="dk1"/>
                </a:solidFill>
                <a:latin typeface="Hanken Grotesk"/>
                <a:ea typeface="Hanken Grotesk"/>
                <a:cs typeface="Hanken Grotesk"/>
                <a:sym typeface="Hanken Grotesk"/>
              </a:defRPr>
            </a:lvl1pPr>
            <a:lvl2pPr marL="914400" marR="0" lvl="1"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2pPr>
            <a:lvl3pPr marL="1371600" marR="0" lvl="2"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3pPr>
            <a:lvl4pPr marL="1828800" marR="0" lvl="3"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4pPr>
            <a:lvl5pPr marL="2286000" marR="0" lvl="4"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5pPr>
            <a:lvl6pPr marL="2743200" marR="0" lvl="5"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6pPr>
            <a:lvl7pPr marL="3200400" marR="0" lvl="6"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7pPr>
            <a:lvl8pPr marL="3657600" marR="0" lvl="7"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8pPr>
            <a:lvl9pPr marL="4114800" marR="0" lvl="8"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9pPr>
          </a:lstStyle>
          <a:p>
            <a:pPr marL="177800" indent="0" algn="ctr">
              <a:buFont typeface="Hanken Grotesk"/>
              <a:buNone/>
            </a:pPr>
            <a:r>
              <a:rPr lang="en-US" b="1" dirty="0"/>
              <a:t>Current Conservation Prediction</a:t>
            </a:r>
          </a:p>
        </p:txBody>
      </p:sp>
      <p:cxnSp>
        <p:nvCxnSpPr>
          <p:cNvPr id="126" name="Straight Arrow Connector 125">
            <a:extLst>
              <a:ext uri="{FF2B5EF4-FFF2-40B4-BE49-F238E27FC236}">
                <a16:creationId xmlns:a16="http://schemas.microsoft.com/office/drawing/2014/main" id="{35D51674-5F84-0B1D-CA0E-609C5C5F45A4}"/>
              </a:ext>
            </a:extLst>
          </p:cNvPr>
          <p:cNvCxnSpPr>
            <a:cxnSpLocks/>
          </p:cNvCxnSpPr>
          <p:nvPr/>
        </p:nvCxnSpPr>
        <p:spPr>
          <a:xfrm>
            <a:off x="6594786" y="3680394"/>
            <a:ext cx="0" cy="17684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27" name="Rectangle 126">
            <a:extLst>
              <a:ext uri="{FF2B5EF4-FFF2-40B4-BE49-F238E27FC236}">
                <a16:creationId xmlns:a16="http://schemas.microsoft.com/office/drawing/2014/main" id="{A848F9EB-B7C0-BF09-CC66-BDDE4DB7A7E3}"/>
              </a:ext>
            </a:extLst>
          </p:cNvPr>
          <p:cNvSpPr/>
          <p:nvPr/>
        </p:nvSpPr>
        <p:spPr>
          <a:xfrm>
            <a:off x="5117429" y="3963523"/>
            <a:ext cx="292894" cy="288925"/>
          </a:xfrm>
          <a:prstGeom prst="rect">
            <a:avLst/>
          </a:prstGeom>
          <a:solidFill>
            <a:schemeClr val="accent6">
              <a:lumMod val="95000"/>
            </a:schemeClr>
          </a:solidFill>
          <a:ln w="12700">
            <a:solidFill>
              <a:schemeClr val="accent6">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2"/>
              </a:solidFill>
            </a:endParaRPr>
          </a:p>
        </p:txBody>
      </p:sp>
      <p:sp>
        <p:nvSpPr>
          <p:cNvPr id="128" name="Rectangle 127">
            <a:extLst>
              <a:ext uri="{FF2B5EF4-FFF2-40B4-BE49-F238E27FC236}">
                <a16:creationId xmlns:a16="http://schemas.microsoft.com/office/drawing/2014/main" id="{21A9AABB-337F-A40B-5682-E26928562078}"/>
              </a:ext>
            </a:extLst>
          </p:cNvPr>
          <p:cNvSpPr/>
          <p:nvPr/>
        </p:nvSpPr>
        <p:spPr>
          <a:xfrm>
            <a:off x="5410323" y="3963523"/>
            <a:ext cx="292894" cy="288925"/>
          </a:xfrm>
          <a:prstGeom prst="rect">
            <a:avLst/>
          </a:prstGeom>
          <a:solidFill>
            <a:schemeClr val="accent6">
              <a:lumMod val="95000"/>
            </a:schemeClr>
          </a:solidFill>
          <a:ln w="12700">
            <a:solidFill>
              <a:schemeClr val="accent6">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2"/>
              </a:solidFill>
            </a:endParaRPr>
          </a:p>
        </p:txBody>
      </p:sp>
      <p:sp>
        <p:nvSpPr>
          <p:cNvPr id="129" name="Rectangle 128">
            <a:extLst>
              <a:ext uri="{FF2B5EF4-FFF2-40B4-BE49-F238E27FC236}">
                <a16:creationId xmlns:a16="http://schemas.microsoft.com/office/drawing/2014/main" id="{21DF7AB9-BC49-645A-0E6A-C56B9C84A90E}"/>
              </a:ext>
            </a:extLst>
          </p:cNvPr>
          <p:cNvSpPr/>
          <p:nvPr/>
        </p:nvSpPr>
        <p:spPr>
          <a:xfrm>
            <a:off x="5703217" y="3963523"/>
            <a:ext cx="292894" cy="288925"/>
          </a:xfrm>
          <a:prstGeom prst="rect">
            <a:avLst/>
          </a:prstGeom>
          <a:solidFill>
            <a:schemeClr val="accent6">
              <a:lumMod val="95000"/>
            </a:schemeClr>
          </a:solidFill>
          <a:ln w="12700">
            <a:solidFill>
              <a:schemeClr val="accent6">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2"/>
              </a:solidFill>
            </a:endParaRPr>
          </a:p>
        </p:txBody>
      </p:sp>
      <p:sp>
        <p:nvSpPr>
          <p:cNvPr id="130" name="Rectangle 129">
            <a:extLst>
              <a:ext uri="{FF2B5EF4-FFF2-40B4-BE49-F238E27FC236}">
                <a16:creationId xmlns:a16="http://schemas.microsoft.com/office/drawing/2014/main" id="{95DCEAA6-96CA-C569-1284-836DB5296C84}"/>
              </a:ext>
            </a:extLst>
          </p:cNvPr>
          <p:cNvSpPr/>
          <p:nvPr/>
        </p:nvSpPr>
        <p:spPr>
          <a:xfrm>
            <a:off x="5996111" y="3963523"/>
            <a:ext cx="292894" cy="288925"/>
          </a:xfrm>
          <a:prstGeom prst="rect">
            <a:avLst/>
          </a:prstGeom>
          <a:solidFill>
            <a:schemeClr val="accent6">
              <a:lumMod val="95000"/>
            </a:schemeClr>
          </a:solidFill>
          <a:ln w="12700">
            <a:solidFill>
              <a:schemeClr val="accent6">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2"/>
              </a:solidFill>
            </a:endParaRPr>
          </a:p>
        </p:txBody>
      </p:sp>
      <p:sp>
        <p:nvSpPr>
          <p:cNvPr id="131" name="Rectangle 130">
            <a:extLst>
              <a:ext uri="{FF2B5EF4-FFF2-40B4-BE49-F238E27FC236}">
                <a16:creationId xmlns:a16="http://schemas.microsoft.com/office/drawing/2014/main" id="{314045EB-812D-8DCD-E3AF-0DA03E8A1862}"/>
              </a:ext>
            </a:extLst>
          </p:cNvPr>
          <p:cNvSpPr/>
          <p:nvPr/>
        </p:nvSpPr>
        <p:spPr>
          <a:xfrm>
            <a:off x="6293033" y="3963523"/>
            <a:ext cx="292894" cy="288925"/>
          </a:xfrm>
          <a:prstGeom prst="rect">
            <a:avLst/>
          </a:prstGeom>
          <a:solidFill>
            <a:schemeClr val="accent6">
              <a:lumMod val="95000"/>
            </a:schemeClr>
          </a:solidFill>
          <a:ln w="12700">
            <a:solidFill>
              <a:schemeClr val="accent6">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2"/>
              </a:solidFill>
            </a:endParaRPr>
          </a:p>
        </p:txBody>
      </p:sp>
      <p:sp>
        <p:nvSpPr>
          <p:cNvPr id="132" name="Rectangle 131">
            <a:extLst>
              <a:ext uri="{FF2B5EF4-FFF2-40B4-BE49-F238E27FC236}">
                <a16:creationId xmlns:a16="http://schemas.microsoft.com/office/drawing/2014/main" id="{7D3BAA9F-61F9-24BF-EEE8-FC99E5398FD4}"/>
              </a:ext>
            </a:extLst>
          </p:cNvPr>
          <p:cNvSpPr/>
          <p:nvPr/>
        </p:nvSpPr>
        <p:spPr>
          <a:xfrm>
            <a:off x="6589955" y="3963523"/>
            <a:ext cx="292894" cy="288925"/>
          </a:xfrm>
          <a:prstGeom prst="rect">
            <a:avLst/>
          </a:prstGeom>
          <a:solidFill>
            <a:schemeClr val="accent6">
              <a:lumMod val="95000"/>
            </a:schemeClr>
          </a:solidFill>
          <a:ln w="12700">
            <a:solidFill>
              <a:schemeClr val="accent6">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2"/>
              </a:solidFill>
            </a:endParaRPr>
          </a:p>
        </p:txBody>
      </p:sp>
      <p:sp>
        <p:nvSpPr>
          <p:cNvPr id="133" name="Rectangle 132">
            <a:extLst>
              <a:ext uri="{FF2B5EF4-FFF2-40B4-BE49-F238E27FC236}">
                <a16:creationId xmlns:a16="http://schemas.microsoft.com/office/drawing/2014/main" id="{6E7D6ED9-F52C-9017-46E8-40D113AFBC38}"/>
              </a:ext>
            </a:extLst>
          </p:cNvPr>
          <p:cNvSpPr/>
          <p:nvPr/>
        </p:nvSpPr>
        <p:spPr>
          <a:xfrm>
            <a:off x="6882849" y="3963523"/>
            <a:ext cx="292894" cy="288925"/>
          </a:xfrm>
          <a:prstGeom prst="rect">
            <a:avLst/>
          </a:prstGeom>
          <a:solidFill>
            <a:schemeClr val="accent6">
              <a:lumMod val="95000"/>
            </a:schemeClr>
          </a:solidFill>
          <a:ln w="12700">
            <a:solidFill>
              <a:schemeClr val="accent6">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2"/>
              </a:solidFill>
            </a:endParaRPr>
          </a:p>
        </p:txBody>
      </p:sp>
      <p:sp>
        <p:nvSpPr>
          <p:cNvPr id="134" name="Rectangle 133">
            <a:extLst>
              <a:ext uri="{FF2B5EF4-FFF2-40B4-BE49-F238E27FC236}">
                <a16:creationId xmlns:a16="http://schemas.microsoft.com/office/drawing/2014/main" id="{5698DFBB-A073-2621-4A81-C4BAFE6865B6}"/>
              </a:ext>
            </a:extLst>
          </p:cNvPr>
          <p:cNvSpPr/>
          <p:nvPr/>
        </p:nvSpPr>
        <p:spPr>
          <a:xfrm>
            <a:off x="7175743" y="3963522"/>
            <a:ext cx="292894" cy="288925"/>
          </a:xfrm>
          <a:prstGeom prst="rect">
            <a:avLst/>
          </a:prstGeom>
          <a:solidFill>
            <a:schemeClr val="accent6">
              <a:lumMod val="95000"/>
            </a:schemeClr>
          </a:solidFill>
          <a:ln w="12700">
            <a:solidFill>
              <a:schemeClr val="accent6">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2"/>
              </a:solidFill>
            </a:endParaRPr>
          </a:p>
        </p:txBody>
      </p:sp>
      <p:sp>
        <p:nvSpPr>
          <p:cNvPr id="135" name="Rectangle 134">
            <a:extLst>
              <a:ext uri="{FF2B5EF4-FFF2-40B4-BE49-F238E27FC236}">
                <a16:creationId xmlns:a16="http://schemas.microsoft.com/office/drawing/2014/main" id="{BE4989B9-CCA5-5BD8-4627-9A79BE6CB4E7}"/>
              </a:ext>
            </a:extLst>
          </p:cNvPr>
          <p:cNvSpPr/>
          <p:nvPr/>
        </p:nvSpPr>
        <p:spPr>
          <a:xfrm>
            <a:off x="7468637" y="3963522"/>
            <a:ext cx="292894" cy="288925"/>
          </a:xfrm>
          <a:prstGeom prst="rect">
            <a:avLst/>
          </a:prstGeom>
          <a:solidFill>
            <a:schemeClr val="accent6">
              <a:lumMod val="95000"/>
            </a:schemeClr>
          </a:solidFill>
          <a:ln w="12700">
            <a:solidFill>
              <a:schemeClr val="accent6">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2"/>
              </a:solidFill>
            </a:endParaRPr>
          </a:p>
        </p:txBody>
      </p:sp>
      <p:sp>
        <p:nvSpPr>
          <p:cNvPr id="138" name="Rectangle 137">
            <a:extLst>
              <a:ext uri="{FF2B5EF4-FFF2-40B4-BE49-F238E27FC236}">
                <a16:creationId xmlns:a16="http://schemas.microsoft.com/office/drawing/2014/main" id="{66192BC8-540A-65A2-B89C-347872DBD371}"/>
              </a:ext>
            </a:extLst>
          </p:cNvPr>
          <p:cNvSpPr/>
          <p:nvPr/>
        </p:nvSpPr>
        <p:spPr>
          <a:xfrm>
            <a:off x="7764015" y="3964006"/>
            <a:ext cx="298465" cy="288439"/>
          </a:xfrm>
          <a:prstGeom prst="rect">
            <a:avLst/>
          </a:prstGeom>
          <a:solidFill>
            <a:srgbClr val="E0CDEF"/>
          </a:solidFill>
          <a:ln w="19050">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7030A0"/>
                </a:solidFill>
              </a:rPr>
              <a:t>+</a:t>
            </a:r>
          </a:p>
        </p:txBody>
      </p:sp>
    </p:spTree>
    <p:extLst>
      <p:ext uri="{BB962C8B-B14F-4D97-AF65-F5344CB8AC3E}">
        <p14:creationId xmlns:p14="http://schemas.microsoft.com/office/powerpoint/2010/main" val="207321188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D5DEFC-D25C-13C8-C283-C51E517FF6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0F01D7-4F1B-1AB4-30C2-B252ECAB1B65}"/>
              </a:ext>
            </a:extLst>
          </p:cNvPr>
          <p:cNvSpPr>
            <a:spLocks noGrp="1"/>
          </p:cNvSpPr>
          <p:nvPr>
            <p:ph type="title"/>
          </p:nvPr>
        </p:nvSpPr>
        <p:spPr/>
        <p:txBody>
          <a:bodyPr/>
          <a:lstStyle/>
          <a:p>
            <a:pPr algn="ctr"/>
            <a:r>
              <a:rPr lang="en-US" sz="2400" dirty="0"/>
              <a:t>Designing pretraining tasks comparable with sequence-based reconstruction</a:t>
            </a:r>
          </a:p>
        </p:txBody>
      </p:sp>
      <p:sp>
        <p:nvSpPr>
          <p:cNvPr id="5" name="Rectangle 4">
            <a:extLst>
              <a:ext uri="{FF2B5EF4-FFF2-40B4-BE49-F238E27FC236}">
                <a16:creationId xmlns:a16="http://schemas.microsoft.com/office/drawing/2014/main" id="{C4A99B60-0BE0-8DE4-B901-37AA107B0ACC}"/>
              </a:ext>
            </a:extLst>
          </p:cNvPr>
          <p:cNvSpPr/>
          <p:nvPr/>
        </p:nvSpPr>
        <p:spPr>
          <a:xfrm>
            <a:off x="837006" y="2480041"/>
            <a:ext cx="292894" cy="288925"/>
          </a:xfrm>
          <a:prstGeom prst="rect">
            <a:avLst/>
          </a:prstGeom>
          <a:solidFill>
            <a:srgbClr val="C8DBC8"/>
          </a:solidFill>
          <a:ln w="12700">
            <a:solidFill>
              <a:srgbClr val="5AA24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rgbClr val="5AA240"/>
                </a:solidFill>
              </a:rPr>
              <a:t>C</a:t>
            </a:r>
            <a:endParaRPr lang="en-US" dirty="0">
              <a:solidFill>
                <a:srgbClr val="5AA240"/>
              </a:solidFill>
            </a:endParaRPr>
          </a:p>
        </p:txBody>
      </p:sp>
      <p:sp>
        <p:nvSpPr>
          <p:cNvPr id="7" name="Rectangle 6">
            <a:extLst>
              <a:ext uri="{FF2B5EF4-FFF2-40B4-BE49-F238E27FC236}">
                <a16:creationId xmlns:a16="http://schemas.microsoft.com/office/drawing/2014/main" id="{3DA45605-222D-EAEE-8C36-4D30266E9BB9}"/>
              </a:ext>
            </a:extLst>
          </p:cNvPr>
          <p:cNvSpPr/>
          <p:nvPr/>
        </p:nvSpPr>
        <p:spPr>
          <a:xfrm>
            <a:off x="1129900" y="2480041"/>
            <a:ext cx="292894" cy="288925"/>
          </a:xfrm>
          <a:prstGeom prst="rect">
            <a:avLst/>
          </a:prstGeom>
          <a:solidFill>
            <a:srgbClr val="EDAEAE"/>
          </a:solidFill>
          <a:ln w="12700">
            <a:solidFill>
              <a:srgbClr val="C23F3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rgbClr val="C13A32"/>
                </a:solidFill>
              </a:rPr>
              <a:t>A</a:t>
            </a:r>
            <a:endParaRPr lang="en-US" dirty="0">
              <a:solidFill>
                <a:srgbClr val="C13A32"/>
              </a:solidFill>
            </a:endParaRPr>
          </a:p>
        </p:txBody>
      </p:sp>
      <p:sp>
        <p:nvSpPr>
          <p:cNvPr id="8" name="Rectangle 7">
            <a:extLst>
              <a:ext uri="{FF2B5EF4-FFF2-40B4-BE49-F238E27FC236}">
                <a16:creationId xmlns:a16="http://schemas.microsoft.com/office/drawing/2014/main" id="{C559EA0E-9968-EDE3-FC7F-78620EB5BBED}"/>
              </a:ext>
            </a:extLst>
          </p:cNvPr>
          <p:cNvSpPr/>
          <p:nvPr/>
        </p:nvSpPr>
        <p:spPr>
          <a:xfrm>
            <a:off x="1422794" y="2480041"/>
            <a:ext cx="292894" cy="288925"/>
          </a:xfrm>
          <a:prstGeom prst="rect">
            <a:avLst/>
          </a:prstGeom>
          <a:solidFill>
            <a:srgbClr val="EDAEAE"/>
          </a:solidFill>
          <a:ln w="12700">
            <a:solidFill>
              <a:srgbClr val="C23F3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rgbClr val="C13A32"/>
                </a:solidFill>
              </a:rPr>
              <a:t>A</a:t>
            </a:r>
            <a:endParaRPr lang="en-US" dirty="0">
              <a:solidFill>
                <a:srgbClr val="C13A32"/>
              </a:solidFill>
            </a:endParaRPr>
          </a:p>
        </p:txBody>
      </p:sp>
      <p:sp>
        <p:nvSpPr>
          <p:cNvPr id="9" name="Rectangle 8">
            <a:extLst>
              <a:ext uri="{FF2B5EF4-FFF2-40B4-BE49-F238E27FC236}">
                <a16:creationId xmlns:a16="http://schemas.microsoft.com/office/drawing/2014/main" id="{15CF50E8-B5EB-8F95-00C1-AA1674BB0CFA}"/>
              </a:ext>
            </a:extLst>
          </p:cNvPr>
          <p:cNvSpPr/>
          <p:nvPr/>
        </p:nvSpPr>
        <p:spPr>
          <a:xfrm>
            <a:off x="1715688" y="2480041"/>
            <a:ext cx="292894" cy="288925"/>
          </a:xfrm>
          <a:prstGeom prst="rect">
            <a:avLst/>
          </a:prstGeom>
          <a:solidFill>
            <a:srgbClr val="C8DBC8"/>
          </a:solidFill>
          <a:ln w="12700">
            <a:solidFill>
              <a:srgbClr val="5AA24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rgbClr val="5AA240"/>
                </a:solidFill>
              </a:rPr>
              <a:t>C</a:t>
            </a:r>
            <a:endParaRPr lang="en-US" dirty="0">
              <a:solidFill>
                <a:srgbClr val="5AA240"/>
              </a:solidFill>
            </a:endParaRPr>
          </a:p>
        </p:txBody>
      </p:sp>
      <p:sp>
        <p:nvSpPr>
          <p:cNvPr id="10" name="Rectangle 9">
            <a:extLst>
              <a:ext uri="{FF2B5EF4-FFF2-40B4-BE49-F238E27FC236}">
                <a16:creationId xmlns:a16="http://schemas.microsoft.com/office/drawing/2014/main" id="{98F07C11-544D-6C1C-C3FE-8FA5FA653821}"/>
              </a:ext>
            </a:extLst>
          </p:cNvPr>
          <p:cNvSpPr/>
          <p:nvPr/>
        </p:nvSpPr>
        <p:spPr>
          <a:xfrm>
            <a:off x="2012610" y="2480041"/>
            <a:ext cx="292894" cy="288925"/>
          </a:xfrm>
          <a:prstGeom prst="rect">
            <a:avLst/>
          </a:prstGeom>
          <a:solidFill>
            <a:srgbClr val="B8E2DE"/>
          </a:solidFill>
          <a:ln w="12700">
            <a:solidFill>
              <a:srgbClr val="46B0A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rgbClr val="46B0AA"/>
                </a:solidFill>
              </a:rPr>
              <a:t>T</a:t>
            </a:r>
            <a:endParaRPr lang="en-US" dirty="0">
              <a:solidFill>
                <a:srgbClr val="46B0AA"/>
              </a:solidFill>
            </a:endParaRPr>
          </a:p>
        </p:txBody>
      </p:sp>
      <p:sp>
        <p:nvSpPr>
          <p:cNvPr id="11" name="Rectangle 10">
            <a:extLst>
              <a:ext uri="{FF2B5EF4-FFF2-40B4-BE49-F238E27FC236}">
                <a16:creationId xmlns:a16="http://schemas.microsoft.com/office/drawing/2014/main" id="{114230F5-99EC-F01D-214B-0D1A55D4C8A2}"/>
              </a:ext>
            </a:extLst>
          </p:cNvPr>
          <p:cNvSpPr/>
          <p:nvPr/>
        </p:nvSpPr>
        <p:spPr>
          <a:xfrm>
            <a:off x="2309532" y="2480041"/>
            <a:ext cx="292894" cy="288925"/>
          </a:xfrm>
          <a:prstGeom prst="rect">
            <a:avLst/>
          </a:prstGeom>
          <a:solidFill>
            <a:srgbClr val="C8DBC8"/>
          </a:solidFill>
          <a:ln w="12700">
            <a:solidFill>
              <a:srgbClr val="5AA24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rgbClr val="5AA240"/>
                </a:solidFill>
              </a:rPr>
              <a:t>C</a:t>
            </a:r>
            <a:endParaRPr lang="en-US" dirty="0">
              <a:solidFill>
                <a:srgbClr val="5AA240"/>
              </a:solidFill>
            </a:endParaRPr>
          </a:p>
        </p:txBody>
      </p:sp>
      <p:sp>
        <p:nvSpPr>
          <p:cNvPr id="12" name="Rectangle 11">
            <a:extLst>
              <a:ext uri="{FF2B5EF4-FFF2-40B4-BE49-F238E27FC236}">
                <a16:creationId xmlns:a16="http://schemas.microsoft.com/office/drawing/2014/main" id="{072C0EC6-7B66-6B42-4AD5-7B46FC7B872B}"/>
              </a:ext>
            </a:extLst>
          </p:cNvPr>
          <p:cNvSpPr/>
          <p:nvPr/>
        </p:nvSpPr>
        <p:spPr>
          <a:xfrm>
            <a:off x="2602426" y="2480041"/>
            <a:ext cx="292894" cy="288925"/>
          </a:xfrm>
          <a:prstGeom prst="rect">
            <a:avLst/>
          </a:prstGeom>
          <a:solidFill>
            <a:srgbClr val="F4E6AA"/>
          </a:solidFill>
          <a:ln w="12700">
            <a:solidFill>
              <a:srgbClr val="F2BC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rgbClr val="F2BC55"/>
                </a:solidFill>
              </a:rPr>
              <a:t>G</a:t>
            </a:r>
            <a:endParaRPr lang="en-US" dirty="0">
              <a:solidFill>
                <a:srgbClr val="F2BC55"/>
              </a:solidFill>
            </a:endParaRPr>
          </a:p>
        </p:txBody>
      </p:sp>
      <p:sp>
        <p:nvSpPr>
          <p:cNvPr id="13" name="Rectangle 12">
            <a:extLst>
              <a:ext uri="{FF2B5EF4-FFF2-40B4-BE49-F238E27FC236}">
                <a16:creationId xmlns:a16="http://schemas.microsoft.com/office/drawing/2014/main" id="{39A50058-ABA0-130A-A9D7-6DB0F7322DE4}"/>
              </a:ext>
            </a:extLst>
          </p:cNvPr>
          <p:cNvSpPr/>
          <p:nvPr/>
        </p:nvSpPr>
        <p:spPr>
          <a:xfrm>
            <a:off x="2895320" y="2480040"/>
            <a:ext cx="292894" cy="288925"/>
          </a:xfrm>
          <a:prstGeom prst="rect">
            <a:avLst/>
          </a:prstGeom>
          <a:solidFill>
            <a:srgbClr val="B8E2DE"/>
          </a:solidFill>
          <a:ln w="12700">
            <a:solidFill>
              <a:srgbClr val="46B0A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rgbClr val="46B0AA"/>
                </a:solidFill>
              </a:rPr>
              <a:t>T</a:t>
            </a:r>
            <a:endParaRPr lang="en-US" dirty="0">
              <a:solidFill>
                <a:srgbClr val="46B0AA"/>
              </a:solidFill>
            </a:endParaRPr>
          </a:p>
        </p:txBody>
      </p:sp>
      <p:sp>
        <p:nvSpPr>
          <p:cNvPr id="14" name="Rectangle 13">
            <a:extLst>
              <a:ext uri="{FF2B5EF4-FFF2-40B4-BE49-F238E27FC236}">
                <a16:creationId xmlns:a16="http://schemas.microsoft.com/office/drawing/2014/main" id="{3C188F94-887E-FD53-342D-FCED4BF64E2D}"/>
              </a:ext>
            </a:extLst>
          </p:cNvPr>
          <p:cNvSpPr/>
          <p:nvPr/>
        </p:nvSpPr>
        <p:spPr>
          <a:xfrm>
            <a:off x="3188214" y="2480040"/>
            <a:ext cx="292894" cy="288925"/>
          </a:xfrm>
          <a:prstGeom prst="rect">
            <a:avLst/>
          </a:prstGeom>
          <a:solidFill>
            <a:srgbClr val="EDAEAE"/>
          </a:solidFill>
          <a:ln w="12700">
            <a:solidFill>
              <a:srgbClr val="C23F3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rgbClr val="C13A32"/>
                </a:solidFill>
              </a:rPr>
              <a:t>A</a:t>
            </a:r>
            <a:endParaRPr lang="en-US" dirty="0">
              <a:solidFill>
                <a:srgbClr val="C13A32"/>
              </a:solidFill>
            </a:endParaRPr>
          </a:p>
        </p:txBody>
      </p:sp>
      <p:sp>
        <p:nvSpPr>
          <p:cNvPr id="15" name="Rectangle 14">
            <a:extLst>
              <a:ext uri="{FF2B5EF4-FFF2-40B4-BE49-F238E27FC236}">
                <a16:creationId xmlns:a16="http://schemas.microsoft.com/office/drawing/2014/main" id="{1CC63449-B3C4-7C07-D77D-8748475C8FC5}"/>
              </a:ext>
            </a:extLst>
          </p:cNvPr>
          <p:cNvSpPr/>
          <p:nvPr/>
        </p:nvSpPr>
        <p:spPr>
          <a:xfrm>
            <a:off x="3479399" y="2480040"/>
            <a:ext cx="292894" cy="288925"/>
          </a:xfrm>
          <a:prstGeom prst="rect">
            <a:avLst/>
          </a:prstGeom>
          <a:solidFill>
            <a:srgbClr val="C8DBC8"/>
          </a:solidFill>
          <a:ln w="12700">
            <a:solidFill>
              <a:srgbClr val="5AA24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rgbClr val="5AA240"/>
                </a:solidFill>
              </a:rPr>
              <a:t>C</a:t>
            </a:r>
            <a:endParaRPr lang="en-US" dirty="0">
              <a:solidFill>
                <a:srgbClr val="5AA240"/>
              </a:solidFill>
            </a:endParaRPr>
          </a:p>
        </p:txBody>
      </p:sp>
      <p:pic>
        <p:nvPicPr>
          <p:cNvPr id="16" name="Picture 15">
            <a:extLst>
              <a:ext uri="{FF2B5EF4-FFF2-40B4-BE49-F238E27FC236}">
                <a16:creationId xmlns:a16="http://schemas.microsoft.com/office/drawing/2014/main" id="{ED39CA23-1876-FFBE-E79D-4BD8A5F66CFE}"/>
              </a:ext>
            </a:extLst>
          </p:cNvPr>
          <p:cNvPicPr>
            <a:picLocks noChangeAspect="1"/>
          </p:cNvPicPr>
          <p:nvPr/>
        </p:nvPicPr>
        <p:blipFill>
          <a:blip r:embed="rId3"/>
          <a:stretch>
            <a:fillRect/>
          </a:stretch>
        </p:blipFill>
        <p:spPr>
          <a:xfrm>
            <a:off x="2740626" y="3594315"/>
            <a:ext cx="9525" cy="9525"/>
          </a:xfrm>
          <a:prstGeom prst="rect">
            <a:avLst/>
          </a:prstGeom>
        </p:spPr>
      </p:pic>
      <p:pic>
        <p:nvPicPr>
          <p:cNvPr id="17" name="Picture 16">
            <a:extLst>
              <a:ext uri="{FF2B5EF4-FFF2-40B4-BE49-F238E27FC236}">
                <a16:creationId xmlns:a16="http://schemas.microsoft.com/office/drawing/2014/main" id="{0C8173DA-2CB0-020D-986C-39E8568C7060}"/>
              </a:ext>
            </a:extLst>
          </p:cNvPr>
          <p:cNvPicPr>
            <a:picLocks noChangeAspect="1"/>
          </p:cNvPicPr>
          <p:nvPr/>
        </p:nvPicPr>
        <p:blipFill>
          <a:blip r:embed="rId3"/>
          <a:stretch>
            <a:fillRect/>
          </a:stretch>
        </p:blipFill>
        <p:spPr>
          <a:xfrm>
            <a:off x="2890626" y="3625823"/>
            <a:ext cx="9525" cy="9525"/>
          </a:xfrm>
          <a:prstGeom prst="rect">
            <a:avLst/>
          </a:prstGeom>
        </p:spPr>
      </p:pic>
      <p:pic>
        <p:nvPicPr>
          <p:cNvPr id="18" name="Picture 17">
            <a:extLst>
              <a:ext uri="{FF2B5EF4-FFF2-40B4-BE49-F238E27FC236}">
                <a16:creationId xmlns:a16="http://schemas.microsoft.com/office/drawing/2014/main" id="{53AFFBDB-E9AC-8220-1155-449FD2E072E7}"/>
              </a:ext>
            </a:extLst>
          </p:cNvPr>
          <p:cNvPicPr>
            <a:picLocks noChangeAspect="1"/>
          </p:cNvPicPr>
          <p:nvPr/>
        </p:nvPicPr>
        <p:blipFill>
          <a:blip r:embed="rId3"/>
          <a:stretch>
            <a:fillRect/>
          </a:stretch>
        </p:blipFill>
        <p:spPr>
          <a:xfrm>
            <a:off x="2740626" y="3594315"/>
            <a:ext cx="9525" cy="9525"/>
          </a:xfrm>
          <a:prstGeom prst="rect">
            <a:avLst/>
          </a:prstGeom>
        </p:spPr>
      </p:pic>
      <p:pic>
        <p:nvPicPr>
          <p:cNvPr id="19" name="Picture 18">
            <a:extLst>
              <a:ext uri="{FF2B5EF4-FFF2-40B4-BE49-F238E27FC236}">
                <a16:creationId xmlns:a16="http://schemas.microsoft.com/office/drawing/2014/main" id="{19EED30D-8822-1F44-728B-81DAB2CDDF9C}"/>
              </a:ext>
            </a:extLst>
          </p:cNvPr>
          <p:cNvPicPr>
            <a:picLocks noChangeAspect="1"/>
          </p:cNvPicPr>
          <p:nvPr/>
        </p:nvPicPr>
        <p:blipFill>
          <a:blip r:embed="rId3"/>
          <a:stretch>
            <a:fillRect/>
          </a:stretch>
        </p:blipFill>
        <p:spPr>
          <a:xfrm>
            <a:off x="2890626" y="3625823"/>
            <a:ext cx="9525" cy="9525"/>
          </a:xfrm>
          <a:prstGeom prst="rect">
            <a:avLst/>
          </a:prstGeom>
        </p:spPr>
      </p:pic>
      <p:pic>
        <p:nvPicPr>
          <p:cNvPr id="20" name="Picture 19">
            <a:extLst>
              <a:ext uri="{FF2B5EF4-FFF2-40B4-BE49-F238E27FC236}">
                <a16:creationId xmlns:a16="http://schemas.microsoft.com/office/drawing/2014/main" id="{CD1A2011-5735-B13B-C2C4-F53FE2168940}"/>
              </a:ext>
            </a:extLst>
          </p:cNvPr>
          <p:cNvPicPr>
            <a:picLocks noChangeAspect="1"/>
          </p:cNvPicPr>
          <p:nvPr/>
        </p:nvPicPr>
        <p:blipFill>
          <a:blip r:embed="rId3"/>
          <a:stretch>
            <a:fillRect/>
          </a:stretch>
        </p:blipFill>
        <p:spPr>
          <a:xfrm>
            <a:off x="2740626" y="3594315"/>
            <a:ext cx="9525" cy="9525"/>
          </a:xfrm>
          <a:prstGeom prst="rect">
            <a:avLst/>
          </a:prstGeom>
        </p:spPr>
      </p:pic>
      <p:pic>
        <p:nvPicPr>
          <p:cNvPr id="21" name="Picture 20">
            <a:extLst>
              <a:ext uri="{FF2B5EF4-FFF2-40B4-BE49-F238E27FC236}">
                <a16:creationId xmlns:a16="http://schemas.microsoft.com/office/drawing/2014/main" id="{48DC1591-FA3F-8C1B-9A49-AA726251E612}"/>
              </a:ext>
            </a:extLst>
          </p:cNvPr>
          <p:cNvPicPr>
            <a:picLocks noChangeAspect="1"/>
          </p:cNvPicPr>
          <p:nvPr/>
        </p:nvPicPr>
        <p:blipFill>
          <a:blip r:embed="rId3"/>
          <a:stretch>
            <a:fillRect/>
          </a:stretch>
        </p:blipFill>
        <p:spPr>
          <a:xfrm>
            <a:off x="2890626" y="3625823"/>
            <a:ext cx="9525" cy="9525"/>
          </a:xfrm>
          <a:prstGeom prst="rect">
            <a:avLst/>
          </a:prstGeom>
        </p:spPr>
      </p:pic>
      <p:sp>
        <p:nvSpPr>
          <p:cNvPr id="22" name="Rectangle: Rounded Corners 21">
            <a:extLst>
              <a:ext uri="{FF2B5EF4-FFF2-40B4-BE49-F238E27FC236}">
                <a16:creationId xmlns:a16="http://schemas.microsoft.com/office/drawing/2014/main" id="{7B695BDF-E6A7-C77E-92E0-5FCB5C905E1E}"/>
              </a:ext>
            </a:extLst>
          </p:cNvPr>
          <p:cNvSpPr/>
          <p:nvPr/>
        </p:nvSpPr>
        <p:spPr>
          <a:xfrm>
            <a:off x="1218484" y="3152960"/>
            <a:ext cx="2124169" cy="426568"/>
          </a:xfrm>
          <a:prstGeom prst="roundRect">
            <a:avLst/>
          </a:prstGeom>
          <a:solidFill>
            <a:srgbClr val="B4E5A3"/>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lumMod val="10000"/>
                  </a:schemeClr>
                </a:solidFill>
              </a:rPr>
              <a:t>AR-</a:t>
            </a:r>
            <a:r>
              <a:rPr lang="en-US" dirty="0" err="1">
                <a:solidFill>
                  <a:schemeClr val="bg1">
                    <a:lumMod val="10000"/>
                  </a:schemeClr>
                </a:solidFill>
              </a:rPr>
              <a:t>gLM</a:t>
            </a:r>
            <a:endParaRPr lang="en-US" dirty="0">
              <a:solidFill>
                <a:schemeClr val="bg1">
                  <a:lumMod val="10000"/>
                </a:schemeClr>
              </a:solidFill>
            </a:endParaRPr>
          </a:p>
        </p:txBody>
      </p:sp>
      <p:cxnSp>
        <p:nvCxnSpPr>
          <p:cNvPr id="23" name="Straight Arrow Connector 22">
            <a:extLst>
              <a:ext uri="{FF2B5EF4-FFF2-40B4-BE49-F238E27FC236}">
                <a16:creationId xmlns:a16="http://schemas.microsoft.com/office/drawing/2014/main" id="{8B83012F-E2C7-C36F-6A5B-D8443D189138}"/>
              </a:ext>
            </a:extLst>
          </p:cNvPr>
          <p:cNvCxnSpPr>
            <a:cxnSpLocks/>
          </p:cNvCxnSpPr>
          <p:nvPr/>
        </p:nvCxnSpPr>
        <p:spPr>
          <a:xfrm>
            <a:off x="2305504" y="2881849"/>
            <a:ext cx="0" cy="17684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96" name="Text Placeholder 2">
            <a:extLst>
              <a:ext uri="{FF2B5EF4-FFF2-40B4-BE49-F238E27FC236}">
                <a16:creationId xmlns:a16="http://schemas.microsoft.com/office/drawing/2014/main" id="{9EEB83FF-097E-3A82-6720-E747B9B6F132}"/>
              </a:ext>
            </a:extLst>
          </p:cNvPr>
          <p:cNvSpPr>
            <a:spLocks noGrp="1"/>
          </p:cNvSpPr>
          <p:nvPr>
            <p:ph type="body" idx="1"/>
          </p:nvPr>
        </p:nvSpPr>
        <p:spPr>
          <a:xfrm>
            <a:off x="553117" y="1949438"/>
            <a:ext cx="3454902" cy="586179"/>
          </a:xfrm>
        </p:spPr>
        <p:txBody>
          <a:bodyPr/>
          <a:lstStyle/>
          <a:p>
            <a:pPr marL="177800" indent="0" algn="ctr">
              <a:buNone/>
            </a:pPr>
            <a:r>
              <a:rPr lang="en-US" b="1" dirty="0"/>
              <a:t>Autoregressive Language Modeling</a:t>
            </a:r>
          </a:p>
        </p:txBody>
      </p:sp>
      <p:cxnSp>
        <p:nvCxnSpPr>
          <p:cNvPr id="101" name="Straight Arrow Connector 100">
            <a:extLst>
              <a:ext uri="{FF2B5EF4-FFF2-40B4-BE49-F238E27FC236}">
                <a16:creationId xmlns:a16="http://schemas.microsoft.com/office/drawing/2014/main" id="{976D87BC-55C5-225A-9E90-CC2A6CDBF1C2}"/>
              </a:ext>
            </a:extLst>
          </p:cNvPr>
          <p:cNvCxnSpPr>
            <a:cxnSpLocks/>
          </p:cNvCxnSpPr>
          <p:nvPr/>
        </p:nvCxnSpPr>
        <p:spPr>
          <a:xfrm>
            <a:off x="2314363" y="3680394"/>
            <a:ext cx="0" cy="17684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04" name="Text Placeholder 2">
            <a:extLst>
              <a:ext uri="{FF2B5EF4-FFF2-40B4-BE49-F238E27FC236}">
                <a16:creationId xmlns:a16="http://schemas.microsoft.com/office/drawing/2014/main" id="{94EFA65D-B14C-F062-28C0-C96EB57FB5AB}"/>
              </a:ext>
            </a:extLst>
          </p:cNvPr>
          <p:cNvSpPr txBox="1">
            <a:spLocks/>
          </p:cNvSpPr>
          <p:nvPr/>
        </p:nvSpPr>
        <p:spPr>
          <a:xfrm>
            <a:off x="1237730" y="1316964"/>
            <a:ext cx="6668539" cy="586179"/>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79400" algn="l" rtl="0">
              <a:lnSpc>
                <a:spcPct val="115000"/>
              </a:lnSpc>
              <a:spcBef>
                <a:spcPts val="0"/>
              </a:spcBef>
              <a:spcAft>
                <a:spcPts val="0"/>
              </a:spcAft>
              <a:buClr>
                <a:schemeClr val="dk1"/>
              </a:buClr>
              <a:buSzPts val="800"/>
              <a:buFont typeface="Hanken Grotesk"/>
              <a:buChar char="●"/>
              <a:defRPr sz="1400" b="0" i="0" u="none" strike="noStrike" cap="none">
                <a:solidFill>
                  <a:schemeClr val="dk1"/>
                </a:solidFill>
                <a:latin typeface="Hanken Grotesk"/>
                <a:ea typeface="Hanken Grotesk"/>
                <a:cs typeface="Hanken Grotesk"/>
                <a:sym typeface="Hanken Grotesk"/>
              </a:defRPr>
            </a:lvl1pPr>
            <a:lvl2pPr marL="914400" marR="0" lvl="1"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2pPr>
            <a:lvl3pPr marL="1371600" marR="0" lvl="2"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3pPr>
            <a:lvl4pPr marL="1828800" marR="0" lvl="3"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4pPr>
            <a:lvl5pPr marL="2286000" marR="0" lvl="4"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5pPr>
            <a:lvl6pPr marL="2743200" marR="0" lvl="5"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6pPr>
            <a:lvl7pPr marL="3200400" marR="0" lvl="6"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7pPr>
            <a:lvl8pPr marL="3657600" marR="0" lvl="7"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8pPr>
            <a:lvl9pPr marL="4114800" marR="0" lvl="8"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9pPr>
          </a:lstStyle>
          <a:p>
            <a:pPr marL="177800" indent="0" algn="ctr">
              <a:buFont typeface="Hanken Grotesk"/>
              <a:buNone/>
            </a:pPr>
            <a:r>
              <a:rPr lang="en-US" dirty="0"/>
              <a:t>Designing comparable pretraining tasks allows us to compare models </a:t>
            </a:r>
            <a:br>
              <a:rPr lang="en-US" dirty="0"/>
            </a:br>
            <a:r>
              <a:rPr lang="en-US" dirty="0"/>
              <a:t>with the same pretraining data and architecture </a:t>
            </a:r>
          </a:p>
        </p:txBody>
      </p:sp>
      <p:sp>
        <p:nvSpPr>
          <p:cNvPr id="63" name="Rectangle 62">
            <a:extLst>
              <a:ext uri="{FF2B5EF4-FFF2-40B4-BE49-F238E27FC236}">
                <a16:creationId xmlns:a16="http://schemas.microsoft.com/office/drawing/2014/main" id="{B78DE474-A7D7-BA0F-A2BE-28100060A00F}"/>
              </a:ext>
            </a:extLst>
          </p:cNvPr>
          <p:cNvSpPr/>
          <p:nvPr/>
        </p:nvSpPr>
        <p:spPr>
          <a:xfrm>
            <a:off x="837006" y="3963523"/>
            <a:ext cx="292894" cy="288925"/>
          </a:xfrm>
          <a:prstGeom prst="rect">
            <a:avLst/>
          </a:prstGeom>
          <a:solidFill>
            <a:schemeClr val="accent6">
              <a:lumMod val="95000"/>
            </a:schemeClr>
          </a:solidFill>
          <a:ln w="12700">
            <a:solidFill>
              <a:schemeClr val="accent6">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2"/>
              </a:solidFill>
            </a:endParaRPr>
          </a:p>
        </p:txBody>
      </p:sp>
      <p:sp>
        <p:nvSpPr>
          <p:cNvPr id="64" name="Rectangle 63">
            <a:extLst>
              <a:ext uri="{FF2B5EF4-FFF2-40B4-BE49-F238E27FC236}">
                <a16:creationId xmlns:a16="http://schemas.microsoft.com/office/drawing/2014/main" id="{F2BF7539-5E62-44B4-0CB0-E68369C41C1F}"/>
              </a:ext>
            </a:extLst>
          </p:cNvPr>
          <p:cNvSpPr/>
          <p:nvPr/>
        </p:nvSpPr>
        <p:spPr>
          <a:xfrm>
            <a:off x="1129900" y="3963523"/>
            <a:ext cx="292894" cy="288925"/>
          </a:xfrm>
          <a:prstGeom prst="rect">
            <a:avLst/>
          </a:prstGeom>
          <a:solidFill>
            <a:schemeClr val="accent6">
              <a:lumMod val="95000"/>
            </a:schemeClr>
          </a:solidFill>
          <a:ln w="12700">
            <a:solidFill>
              <a:schemeClr val="accent6">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2"/>
              </a:solidFill>
            </a:endParaRPr>
          </a:p>
        </p:txBody>
      </p:sp>
      <p:sp>
        <p:nvSpPr>
          <p:cNvPr id="65" name="Rectangle 64">
            <a:extLst>
              <a:ext uri="{FF2B5EF4-FFF2-40B4-BE49-F238E27FC236}">
                <a16:creationId xmlns:a16="http://schemas.microsoft.com/office/drawing/2014/main" id="{BBC98349-0B51-0830-7E43-FC495CA6A7EB}"/>
              </a:ext>
            </a:extLst>
          </p:cNvPr>
          <p:cNvSpPr/>
          <p:nvPr/>
        </p:nvSpPr>
        <p:spPr>
          <a:xfrm>
            <a:off x="1422794" y="3963523"/>
            <a:ext cx="292894" cy="288925"/>
          </a:xfrm>
          <a:prstGeom prst="rect">
            <a:avLst/>
          </a:prstGeom>
          <a:solidFill>
            <a:schemeClr val="accent6">
              <a:lumMod val="95000"/>
            </a:schemeClr>
          </a:solidFill>
          <a:ln w="12700">
            <a:solidFill>
              <a:schemeClr val="accent6">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2"/>
              </a:solidFill>
            </a:endParaRPr>
          </a:p>
        </p:txBody>
      </p:sp>
      <p:sp>
        <p:nvSpPr>
          <p:cNvPr id="66" name="Rectangle 65">
            <a:extLst>
              <a:ext uri="{FF2B5EF4-FFF2-40B4-BE49-F238E27FC236}">
                <a16:creationId xmlns:a16="http://schemas.microsoft.com/office/drawing/2014/main" id="{D081CA1F-68D4-D1A4-872E-6E8BC9467D29}"/>
              </a:ext>
            </a:extLst>
          </p:cNvPr>
          <p:cNvSpPr/>
          <p:nvPr/>
        </p:nvSpPr>
        <p:spPr>
          <a:xfrm>
            <a:off x="1715688" y="3963523"/>
            <a:ext cx="292894" cy="288925"/>
          </a:xfrm>
          <a:prstGeom prst="rect">
            <a:avLst/>
          </a:prstGeom>
          <a:solidFill>
            <a:schemeClr val="accent6">
              <a:lumMod val="95000"/>
            </a:schemeClr>
          </a:solidFill>
          <a:ln w="12700">
            <a:solidFill>
              <a:schemeClr val="accent6">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2"/>
              </a:solidFill>
            </a:endParaRPr>
          </a:p>
        </p:txBody>
      </p:sp>
      <p:sp>
        <p:nvSpPr>
          <p:cNvPr id="84" name="Rectangle 83">
            <a:extLst>
              <a:ext uri="{FF2B5EF4-FFF2-40B4-BE49-F238E27FC236}">
                <a16:creationId xmlns:a16="http://schemas.microsoft.com/office/drawing/2014/main" id="{2C306329-6D30-64BA-EAA1-86FD64F74CF0}"/>
              </a:ext>
            </a:extLst>
          </p:cNvPr>
          <p:cNvSpPr/>
          <p:nvPr/>
        </p:nvSpPr>
        <p:spPr>
          <a:xfrm>
            <a:off x="2012610" y="3963523"/>
            <a:ext cx="292894" cy="288925"/>
          </a:xfrm>
          <a:prstGeom prst="rect">
            <a:avLst/>
          </a:prstGeom>
          <a:solidFill>
            <a:schemeClr val="accent6">
              <a:lumMod val="95000"/>
            </a:schemeClr>
          </a:solidFill>
          <a:ln w="12700">
            <a:solidFill>
              <a:schemeClr val="accent6">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2"/>
              </a:solidFill>
            </a:endParaRPr>
          </a:p>
        </p:txBody>
      </p:sp>
      <p:sp>
        <p:nvSpPr>
          <p:cNvPr id="85" name="Rectangle 84">
            <a:extLst>
              <a:ext uri="{FF2B5EF4-FFF2-40B4-BE49-F238E27FC236}">
                <a16:creationId xmlns:a16="http://schemas.microsoft.com/office/drawing/2014/main" id="{E7BE5449-0843-FA82-3684-DEC5DD4D6639}"/>
              </a:ext>
            </a:extLst>
          </p:cNvPr>
          <p:cNvSpPr/>
          <p:nvPr/>
        </p:nvSpPr>
        <p:spPr>
          <a:xfrm>
            <a:off x="2309532" y="3963523"/>
            <a:ext cx="292894" cy="288925"/>
          </a:xfrm>
          <a:prstGeom prst="rect">
            <a:avLst/>
          </a:prstGeom>
          <a:solidFill>
            <a:schemeClr val="accent6">
              <a:lumMod val="95000"/>
            </a:schemeClr>
          </a:solidFill>
          <a:ln w="12700">
            <a:solidFill>
              <a:schemeClr val="accent6">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2"/>
              </a:solidFill>
            </a:endParaRPr>
          </a:p>
        </p:txBody>
      </p:sp>
      <p:sp>
        <p:nvSpPr>
          <p:cNvPr id="97" name="Rectangle 96">
            <a:extLst>
              <a:ext uri="{FF2B5EF4-FFF2-40B4-BE49-F238E27FC236}">
                <a16:creationId xmlns:a16="http://schemas.microsoft.com/office/drawing/2014/main" id="{14E55CFD-6770-2C2B-93D2-F27E9D3C4D17}"/>
              </a:ext>
            </a:extLst>
          </p:cNvPr>
          <p:cNvSpPr/>
          <p:nvPr/>
        </p:nvSpPr>
        <p:spPr>
          <a:xfrm>
            <a:off x="2602426" y="3963523"/>
            <a:ext cx="292894" cy="288925"/>
          </a:xfrm>
          <a:prstGeom prst="rect">
            <a:avLst/>
          </a:prstGeom>
          <a:solidFill>
            <a:schemeClr val="accent6">
              <a:lumMod val="95000"/>
            </a:schemeClr>
          </a:solidFill>
          <a:ln w="12700">
            <a:solidFill>
              <a:schemeClr val="accent6">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2"/>
              </a:solidFill>
            </a:endParaRPr>
          </a:p>
        </p:txBody>
      </p:sp>
      <p:sp>
        <p:nvSpPr>
          <p:cNvPr id="98" name="Rectangle 97">
            <a:extLst>
              <a:ext uri="{FF2B5EF4-FFF2-40B4-BE49-F238E27FC236}">
                <a16:creationId xmlns:a16="http://schemas.microsoft.com/office/drawing/2014/main" id="{E12B8DDD-DD08-8355-3D20-588A29035241}"/>
              </a:ext>
            </a:extLst>
          </p:cNvPr>
          <p:cNvSpPr/>
          <p:nvPr/>
        </p:nvSpPr>
        <p:spPr>
          <a:xfrm>
            <a:off x="2895320" y="3963522"/>
            <a:ext cx="292894" cy="288925"/>
          </a:xfrm>
          <a:prstGeom prst="rect">
            <a:avLst/>
          </a:prstGeom>
          <a:solidFill>
            <a:schemeClr val="accent6">
              <a:lumMod val="95000"/>
            </a:schemeClr>
          </a:solidFill>
          <a:ln w="12700">
            <a:solidFill>
              <a:schemeClr val="accent6">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2"/>
              </a:solidFill>
            </a:endParaRPr>
          </a:p>
        </p:txBody>
      </p:sp>
      <p:sp>
        <p:nvSpPr>
          <p:cNvPr id="99" name="Rectangle 98">
            <a:extLst>
              <a:ext uri="{FF2B5EF4-FFF2-40B4-BE49-F238E27FC236}">
                <a16:creationId xmlns:a16="http://schemas.microsoft.com/office/drawing/2014/main" id="{648B922E-2CB7-9D41-F78E-BF65D9CACEA0}"/>
              </a:ext>
            </a:extLst>
          </p:cNvPr>
          <p:cNvSpPr/>
          <p:nvPr/>
        </p:nvSpPr>
        <p:spPr>
          <a:xfrm>
            <a:off x="3188214" y="3963522"/>
            <a:ext cx="292894" cy="288925"/>
          </a:xfrm>
          <a:prstGeom prst="rect">
            <a:avLst/>
          </a:prstGeom>
          <a:solidFill>
            <a:schemeClr val="accent6">
              <a:lumMod val="95000"/>
            </a:schemeClr>
          </a:solidFill>
          <a:ln w="12700">
            <a:solidFill>
              <a:schemeClr val="accent6">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2"/>
              </a:solidFill>
            </a:endParaRPr>
          </a:p>
        </p:txBody>
      </p:sp>
      <p:sp>
        <p:nvSpPr>
          <p:cNvPr id="100" name="Rectangle 99">
            <a:extLst>
              <a:ext uri="{FF2B5EF4-FFF2-40B4-BE49-F238E27FC236}">
                <a16:creationId xmlns:a16="http://schemas.microsoft.com/office/drawing/2014/main" id="{90356AA9-A5E2-9B75-69CF-993B42089CF9}"/>
              </a:ext>
            </a:extLst>
          </p:cNvPr>
          <p:cNvSpPr/>
          <p:nvPr/>
        </p:nvSpPr>
        <p:spPr>
          <a:xfrm>
            <a:off x="3479399" y="3963522"/>
            <a:ext cx="292894" cy="288925"/>
          </a:xfrm>
          <a:prstGeom prst="rect">
            <a:avLst/>
          </a:prstGeom>
          <a:solidFill>
            <a:schemeClr val="accent6">
              <a:lumMod val="95000"/>
            </a:schemeClr>
          </a:solidFill>
          <a:ln w="12700">
            <a:solidFill>
              <a:schemeClr val="accent6">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2"/>
              </a:solidFill>
            </a:endParaRPr>
          </a:p>
        </p:txBody>
      </p:sp>
      <p:sp>
        <p:nvSpPr>
          <p:cNvPr id="106" name="Rectangle 105">
            <a:extLst>
              <a:ext uri="{FF2B5EF4-FFF2-40B4-BE49-F238E27FC236}">
                <a16:creationId xmlns:a16="http://schemas.microsoft.com/office/drawing/2014/main" id="{02B9B230-E311-2D4D-5D6F-0B78185A1884}"/>
              </a:ext>
            </a:extLst>
          </p:cNvPr>
          <p:cNvSpPr/>
          <p:nvPr/>
        </p:nvSpPr>
        <p:spPr>
          <a:xfrm>
            <a:off x="3782058" y="3963521"/>
            <a:ext cx="292894" cy="288925"/>
          </a:xfrm>
          <a:prstGeom prst="rect">
            <a:avLst/>
          </a:prstGeom>
          <a:solidFill>
            <a:srgbClr val="F4E6AA"/>
          </a:solidFill>
          <a:ln w="12700">
            <a:solidFill>
              <a:srgbClr val="F2BC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rgbClr val="F2BC55"/>
                </a:solidFill>
              </a:rPr>
              <a:t>G</a:t>
            </a:r>
            <a:endParaRPr lang="en-US" dirty="0">
              <a:solidFill>
                <a:srgbClr val="F2BC55"/>
              </a:solidFill>
            </a:endParaRPr>
          </a:p>
        </p:txBody>
      </p:sp>
      <p:sp>
        <p:nvSpPr>
          <p:cNvPr id="107" name="Rectangle 106">
            <a:extLst>
              <a:ext uri="{FF2B5EF4-FFF2-40B4-BE49-F238E27FC236}">
                <a16:creationId xmlns:a16="http://schemas.microsoft.com/office/drawing/2014/main" id="{0AAC4149-5A42-4FBE-8C34-BF47A86C9D45}"/>
              </a:ext>
            </a:extLst>
          </p:cNvPr>
          <p:cNvSpPr/>
          <p:nvPr/>
        </p:nvSpPr>
        <p:spPr>
          <a:xfrm>
            <a:off x="5117429" y="2480041"/>
            <a:ext cx="292894" cy="288925"/>
          </a:xfrm>
          <a:prstGeom prst="rect">
            <a:avLst/>
          </a:prstGeom>
          <a:solidFill>
            <a:srgbClr val="C8DBC8"/>
          </a:solidFill>
          <a:ln w="12700">
            <a:solidFill>
              <a:srgbClr val="5AA24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rgbClr val="5AA240"/>
                </a:solidFill>
              </a:rPr>
              <a:t>C</a:t>
            </a:r>
            <a:endParaRPr lang="en-US" dirty="0">
              <a:solidFill>
                <a:srgbClr val="5AA240"/>
              </a:solidFill>
            </a:endParaRPr>
          </a:p>
        </p:txBody>
      </p:sp>
      <p:sp>
        <p:nvSpPr>
          <p:cNvPr id="108" name="Rectangle 107">
            <a:extLst>
              <a:ext uri="{FF2B5EF4-FFF2-40B4-BE49-F238E27FC236}">
                <a16:creationId xmlns:a16="http://schemas.microsoft.com/office/drawing/2014/main" id="{C8A53B2B-3391-72B2-46A9-9103454FF9DB}"/>
              </a:ext>
            </a:extLst>
          </p:cNvPr>
          <p:cNvSpPr/>
          <p:nvPr/>
        </p:nvSpPr>
        <p:spPr>
          <a:xfrm>
            <a:off x="5410323" y="2480041"/>
            <a:ext cx="292894" cy="288925"/>
          </a:xfrm>
          <a:prstGeom prst="rect">
            <a:avLst/>
          </a:prstGeom>
          <a:solidFill>
            <a:srgbClr val="EDAEAE"/>
          </a:solidFill>
          <a:ln w="12700">
            <a:solidFill>
              <a:srgbClr val="C23F3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rgbClr val="C13A32"/>
                </a:solidFill>
              </a:rPr>
              <a:t>A</a:t>
            </a:r>
            <a:endParaRPr lang="en-US" dirty="0">
              <a:solidFill>
                <a:srgbClr val="C13A32"/>
              </a:solidFill>
            </a:endParaRPr>
          </a:p>
        </p:txBody>
      </p:sp>
      <p:sp>
        <p:nvSpPr>
          <p:cNvPr id="109" name="Rectangle 108">
            <a:extLst>
              <a:ext uri="{FF2B5EF4-FFF2-40B4-BE49-F238E27FC236}">
                <a16:creationId xmlns:a16="http://schemas.microsoft.com/office/drawing/2014/main" id="{9F4C065F-F085-1D0C-1CC4-93658FA25711}"/>
              </a:ext>
            </a:extLst>
          </p:cNvPr>
          <p:cNvSpPr/>
          <p:nvPr/>
        </p:nvSpPr>
        <p:spPr>
          <a:xfrm>
            <a:off x="5703217" y="2480041"/>
            <a:ext cx="292894" cy="288925"/>
          </a:xfrm>
          <a:prstGeom prst="rect">
            <a:avLst/>
          </a:prstGeom>
          <a:solidFill>
            <a:srgbClr val="EDAEAE"/>
          </a:solidFill>
          <a:ln w="12700">
            <a:solidFill>
              <a:srgbClr val="C23F3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rgbClr val="C13A32"/>
                </a:solidFill>
              </a:rPr>
              <a:t>A</a:t>
            </a:r>
            <a:endParaRPr lang="en-US" dirty="0">
              <a:solidFill>
                <a:srgbClr val="C13A32"/>
              </a:solidFill>
            </a:endParaRPr>
          </a:p>
        </p:txBody>
      </p:sp>
      <p:sp>
        <p:nvSpPr>
          <p:cNvPr id="110" name="Rectangle 109">
            <a:extLst>
              <a:ext uri="{FF2B5EF4-FFF2-40B4-BE49-F238E27FC236}">
                <a16:creationId xmlns:a16="http://schemas.microsoft.com/office/drawing/2014/main" id="{1030F30C-40AB-1083-3969-18049A6E9846}"/>
              </a:ext>
            </a:extLst>
          </p:cNvPr>
          <p:cNvSpPr/>
          <p:nvPr/>
        </p:nvSpPr>
        <p:spPr>
          <a:xfrm>
            <a:off x="5996111" y="2480041"/>
            <a:ext cx="292894" cy="288925"/>
          </a:xfrm>
          <a:prstGeom prst="rect">
            <a:avLst/>
          </a:prstGeom>
          <a:solidFill>
            <a:srgbClr val="C8DBC8"/>
          </a:solidFill>
          <a:ln w="12700">
            <a:solidFill>
              <a:srgbClr val="5AA24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rgbClr val="5AA240"/>
                </a:solidFill>
              </a:rPr>
              <a:t>C</a:t>
            </a:r>
            <a:endParaRPr lang="en-US" dirty="0">
              <a:solidFill>
                <a:srgbClr val="5AA240"/>
              </a:solidFill>
            </a:endParaRPr>
          </a:p>
        </p:txBody>
      </p:sp>
      <p:sp>
        <p:nvSpPr>
          <p:cNvPr id="111" name="Rectangle 110">
            <a:extLst>
              <a:ext uri="{FF2B5EF4-FFF2-40B4-BE49-F238E27FC236}">
                <a16:creationId xmlns:a16="http://schemas.microsoft.com/office/drawing/2014/main" id="{2019DA23-9A05-D9EB-D2FA-E35FF4BA7BBB}"/>
              </a:ext>
            </a:extLst>
          </p:cNvPr>
          <p:cNvSpPr/>
          <p:nvPr/>
        </p:nvSpPr>
        <p:spPr>
          <a:xfrm>
            <a:off x="6293033" y="2480041"/>
            <a:ext cx="292894" cy="288925"/>
          </a:xfrm>
          <a:prstGeom prst="rect">
            <a:avLst/>
          </a:prstGeom>
          <a:solidFill>
            <a:srgbClr val="B8E2DE"/>
          </a:solidFill>
          <a:ln w="12700">
            <a:solidFill>
              <a:srgbClr val="46B0A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rgbClr val="46B0AA"/>
                </a:solidFill>
              </a:rPr>
              <a:t>T</a:t>
            </a:r>
            <a:endParaRPr lang="en-US" dirty="0">
              <a:solidFill>
                <a:srgbClr val="46B0AA"/>
              </a:solidFill>
            </a:endParaRPr>
          </a:p>
        </p:txBody>
      </p:sp>
      <p:sp>
        <p:nvSpPr>
          <p:cNvPr id="112" name="Rectangle 111">
            <a:extLst>
              <a:ext uri="{FF2B5EF4-FFF2-40B4-BE49-F238E27FC236}">
                <a16:creationId xmlns:a16="http://schemas.microsoft.com/office/drawing/2014/main" id="{577497DE-E718-A479-E441-E7A055C55FA1}"/>
              </a:ext>
            </a:extLst>
          </p:cNvPr>
          <p:cNvSpPr/>
          <p:nvPr/>
        </p:nvSpPr>
        <p:spPr>
          <a:xfrm>
            <a:off x="6589955" y="2480041"/>
            <a:ext cx="292894" cy="288925"/>
          </a:xfrm>
          <a:prstGeom prst="rect">
            <a:avLst/>
          </a:prstGeom>
          <a:solidFill>
            <a:srgbClr val="C8DBC8"/>
          </a:solidFill>
          <a:ln w="12700">
            <a:solidFill>
              <a:srgbClr val="5AA24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rgbClr val="5AA240"/>
                </a:solidFill>
              </a:rPr>
              <a:t>C</a:t>
            </a:r>
            <a:endParaRPr lang="en-US" dirty="0">
              <a:solidFill>
                <a:srgbClr val="5AA240"/>
              </a:solidFill>
            </a:endParaRPr>
          </a:p>
        </p:txBody>
      </p:sp>
      <p:sp>
        <p:nvSpPr>
          <p:cNvPr id="113" name="Rectangle 112">
            <a:extLst>
              <a:ext uri="{FF2B5EF4-FFF2-40B4-BE49-F238E27FC236}">
                <a16:creationId xmlns:a16="http://schemas.microsoft.com/office/drawing/2014/main" id="{95EADC35-9408-EFE4-C933-6E0FAFF0DD15}"/>
              </a:ext>
            </a:extLst>
          </p:cNvPr>
          <p:cNvSpPr/>
          <p:nvPr/>
        </p:nvSpPr>
        <p:spPr>
          <a:xfrm>
            <a:off x="6882849" y="2480041"/>
            <a:ext cx="292894" cy="288925"/>
          </a:xfrm>
          <a:prstGeom prst="rect">
            <a:avLst/>
          </a:prstGeom>
          <a:solidFill>
            <a:srgbClr val="F4E6AA"/>
          </a:solidFill>
          <a:ln w="12700">
            <a:solidFill>
              <a:srgbClr val="F2BC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rgbClr val="F2BC55"/>
                </a:solidFill>
              </a:rPr>
              <a:t>G</a:t>
            </a:r>
            <a:endParaRPr lang="en-US" dirty="0">
              <a:solidFill>
                <a:srgbClr val="F2BC55"/>
              </a:solidFill>
            </a:endParaRPr>
          </a:p>
        </p:txBody>
      </p:sp>
      <p:sp>
        <p:nvSpPr>
          <p:cNvPr id="114" name="Rectangle 113">
            <a:extLst>
              <a:ext uri="{FF2B5EF4-FFF2-40B4-BE49-F238E27FC236}">
                <a16:creationId xmlns:a16="http://schemas.microsoft.com/office/drawing/2014/main" id="{99B8DF87-5489-C195-A067-2C9E9E110626}"/>
              </a:ext>
            </a:extLst>
          </p:cNvPr>
          <p:cNvSpPr/>
          <p:nvPr/>
        </p:nvSpPr>
        <p:spPr>
          <a:xfrm>
            <a:off x="7175743" y="2480040"/>
            <a:ext cx="292894" cy="288925"/>
          </a:xfrm>
          <a:prstGeom prst="rect">
            <a:avLst/>
          </a:prstGeom>
          <a:solidFill>
            <a:srgbClr val="B8E2DE"/>
          </a:solidFill>
          <a:ln w="12700">
            <a:solidFill>
              <a:srgbClr val="46B0A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rgbClr val="46B0AA"/>
                </a:solidFill>
              </a:rPr>
              <a:t>T</a:t>
            </a:r>
            <a:endParaRPr lang="en-US" dirty="0">
              <a:solidFill>
                <a:srgbClr val="46B0AA"/>
              </a:solidFill>
            </a:endParaRPr>
          </a:p>
        </p:txBody>
      </p:sp>
      <p:sp>
        <p:nvSpPr>
          <p:cNvPr id="115" name="Rectangle 114">
            <a:extLst>
              <a:ext uri="{FF2B5EF4-FFF2-40B4-BE49-F238E27FC236}">
                <a16:creationId xmlns:a16="http://schemas.microsoft.com/office/drawing/2014/main" id="{5EF9D707-0D59-700E-861A-388B6EF3EC4D}"/>
              </a:ext>
            </a:extLst>
          </p:cNvPr>
          <p:cNvSpPr/>
          <p:nvPr/>
        </p:nvSpPr>
        <p:spPr>
          <a:xfrm>
            <a:off x="7468637" y="2480040"/>
            <a:ext cx="292894" cy="288925"/>
          </a:xfrm>
          <a:prstGeom prst="rect">
            <a:avLst/>
          </a:prstGeom>
          <a:solidFill>
            <a:srgbClr val="EDAEAE"/>
          </a:solidFill>
          <a:ln w="12700">
            <a:solidFill>
              <a:srgbClr val="C23F3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rgbClr val="C13A32"/>
                </a:solidFill>
              </a:rPr>
              <a:t>A</a:t>
            </a:r>
            <a:endParaRPr lang="en-US" dirty="0">
              <a:solidFill>
                <a:srgbClr val="C13A32"/>
              </a:solidFill>
            </a:endParaRPr>
          </a:p>
        </p:txBody>
      </p:sp>
      <p:sp>
        <p:nvSpPr>
          <p:cNvPr id="116" name="Rectangle 115">
            <a:extLst>
              <a:ext uri="{FF2B5EF4-FFF2-40B4-BE49-F238E27FC236}">
                <a16:creationId xmlns:a16="http://schemas.microsoft.com/office/drawing/2014/main" id="{BC813F00-5BC5-D5D7-72C3-AAD691F10998}"/>
              </a:ext>
            </a:extLst>
          </p:cNvPr>
          <p:cNvSpPr/>
          <p:nvPr/>
        </p:nvSpPr>
        <p:spPr>
          <a:xfrm>
            <a:off x="7759822" y="2480040"/>
            <a:ext cx="292894" cy="288925"/>
          </a:xfrm>
          <a:prstGeom prst="rect">
            <a:avLst/>
          </a:prstGeom>
          <a:solidFill>
            <a:srgbClr val="C8DBC8"/>
          </a:solidFill>
          <a:ln w="12700">
            <a:solidFill>
              <a:srgbClr val="5AA24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rgbClr val="5AA240"/>
                </a:solidFill>
              </a:rPr>
              <a:t>C</a:t>
            </a:r>
            <a:endParaRPr lang="en-US" dirty="0">
              <a:solidFill>
                <a:srgbClr val="5AA240"/>
              </a:solidFill>
            </a:endParaRPr>
          </a:p>
        </p:txBody>
      </p:sp>
      <p:pic>
        <p:nvPicPr>
          <p:cNvPr id="117" name="Picture 116">
            <a:extLst>
              <a:ext uri="{FF2B5EF4-FFF2-40B4-BE49-F238E27FC236}">
                <a16:creationId xmlns:a16="http://schemas.microsoft.com/office/drawing/2014/main" id="{B1938B4A-28AB-177A-BFFF-CDAE9C4D81CD}"/>
              </a:ext>
            </a:extLst>
          </p:cNvPr>
          <p:cNvPicPr>
            <a:picLocks noChangeAspect="1"/>
          </p:cNvPicPr>
          <p:nvPr/>
        </p:nvPicPr>
        <p:blipFill>
          <a:blip r:embed="rId3"/>
          <a:stretch>
            <a:fillRect/>
          </a:stretch>
        </p:blipFill>
        <p:spPr>
          <a:xfrm>
            <a:off x="7021049" y="3594315"/>
            <a:ext cx="9525" cy="9525"/>
          </a:xfrm>
          <a:prstGeom prst="rect">
            <a:avLst/>
          </a:prstGeom>
        </p:spPr>
      </p:pic>
      <p:pic>
        <p:nvPicPr>
          <p:cNvPr id="118" name="Picture 117">
            <a:extLst>
              <a:ext uri="{FF2B5EF4-FFF2-40B4-BE49-F238E27FC236}">
                <a16:creationId xmlns:a16="http://schemas.microsoft.com/office/drawing/2014/main" id="{7ABA3641-4D58-6563-CA04-41FCF002C98F}"/>
              </a:ext>
            </a:extLst>
          </p:cNvPr>
          <p:cNvPicPr>
            <a:picLocks noChangeAspect="1"/>
          </p:cNvPicPr>
          <p:nvPr/>
        </p:nvPicPr>
        <p:blipFill>
          <a:blip r:embed="rId3"/>
          <a:stretch>
            <a:fillRect/>
          </a:stretch>
        </p:blipFill>
        <p:spPr>
          <a:xfrm>
            <a:off x="7171049" y="3625823"/>
            <a:ext cx="9525" cy="9525"/>
          </a:xfrm>
          <a:prstGeom prst="rect">
            <a:avLst/>
          </a:prstGeom>
        </p:spPr>
      </p:pic>
      <p:pic>
        <p:nvPicPr>
          <p:cNvPr id="119" name="Picture 118">
            <a:extLst>
              <a:ext uri="{FF2B5EF4-FFF2-40B4-BE49-F238E27FC236}">
                <a16:creationId xmlns:a16="http://schemas.microsoft.com/office/drawing/2014/main" id="{5637C9DB-D66D-2CDC-5DD2-52E164C1BED9}"/>
              </a:ext>
            </a:extLst>
          </p:cNvPr>
          <p:cNvPicPr>
            <a:picLocks noChangeAspect="1"/>
          </p:cNvPicPr>
          <p:nvPr/>
        </p:nvPicPr>
        <p:blipFill>
          <a:blip r:embed="rId3"/>
          <a:stretch>
            <a:fillRect/>
          </a:stretch>
        </p:blipFill>
        <p:spPr>
          <a:xfrm>
            <a:off x="7021049" y="3594315"/>
            <a:ext cx="9525" cy="9525"/>
          </a:xfrm>
          <a:prstGeom prst="rect">
            <a:avLst/>
          </a:prstGeom>
        </p:spPr>
      </p:pic>
      <p:pic>
        <p:nvPicPr>
          <p:cNvPr id="120" name="Picture 119">
            <a:extLst>
              <a:ext uri="{FF2B5EF4-FFF2-40B4-BE49-F238E27FC236}">
                <a16:creationId xmlns:a16="http://schemas.microsoft.com/office/drawing/2014/main" id="{ED4CE4A7-5483-7984-8DEC-619ED86C9E55}"/>
              </a:ext>
            </a:extLst>
          </p:cNvPr>
          <p:cNvPicPr>
            <a:picLocks noChangeAspect="1"/>
          </p:cNvPicPr>
          <p:nvPr/>
        </p:nvPicPr>
        <p:blipFill>
          <a:blip r:embed="rId3"/>
          <a:stretch>
            <a:fillRect/>
          </a:stretch>
        </p:blipFill>
        <p:spPr>
          <a:xfrm>
            <a:off x="7171049" y="3625823"/>
            <a:ext cx="9525" cy="9525"/>
          </a:xfrm>
          <a:prstGeom prst="rect">
            <a:avLst/>
          </a:prstGeom>
        </p:spPr>
      </p:pic>
      <p:pic>
        <p:nvPicPr>
          <p:cNvPr id="121" name="Picture 120">
            <a:extLst>
              <a:ext uri="{FF2B5EF4-FFF2-40B4-BE49-F238E27FC236}">
                <a16:creationId xmlns:a16="http://schemas.microsoft.com/office/drawing/2014/main" id="{1D162146-E2B0-C860-92D4-3E16DBC2EB5A}"/>
              </a:ext>
            </a:extLst>
          </p:cNvPr>
          <p:cNvPicPr>
            <a:picLocks noChangeAspect="1"/>
          </p:cNvPicPr>
          <p:nvPr/>
        </p:nvPicPr>
        <p:blipFill>
          <a:blip r:embed="rId3"/>
          <a:stretch>
            <a:fillRect/>
          </a:stretch>
        </p:blipFill>
        <p:spPr>
          <a:xfrm>
            <a:off x="7021049" y="3594315"/>
            <a:ext cx="9525" cy="9525"/>
          </a:xfrm>
          <a:prstGeom prst="rect">
            <a:avLst/>
          </a:prstGeom>
        </p:spPr>
      </p:pic>
      <p:pic>
        <p:nvPicPr>
          <p:cNvPr id="122" name="Picture 121">
            <a:extLst>
              <a:ext uri="{FF2B5EF4-FFF2-40B4-BE49-F238E27FC236}">
                <a16:creationId xmlns:a16="http://schemas.microsoft.com/office/drawing/2014/main" id="{5E73A7B8-7FFA-E929-0B26-788931BD6100}"/>
              </a:ext>
            </a:extLst>
          </p:cNvPr>
          <p:cNvPicPr>
            <a:picLocks noChangeAspect="1"/>
          </p:cNvPicPr>
          <p:nvPr/>
        </p:nvPicPr>
        <p:blipFill>
          <a:blip r:embed="rId3"/>
          <a:stretch>
            <a:fillRect/>
          </a:stretch>
        </p:blipFill>
        <p:spPr>
          <a:xfrm>
            <a:off x="7171049" y="3625823"/>
            <a:ext cx="9525" cy="9525"/>
          </a:xfrm>
          <a:prstGeom prst="rect">
            <a:avLst/>
          </a:prstGeom>
        </p:spPr>
      </p:pic>
      <p:sp>
        <p:nvSpPr>
          <p:cNvPr id="123" name="Rectangle: Rounded Corners 122">
            <a:extLst>
              <a:ext uri="{FF2B5EF4-FFF2-40B4-BE49-F238E27FC236}">
                <a16:creationId xmlns:a16="http://schemas.microsoft.com/office/drawing/2014/main" id="{9CFF2525-2B6B-134C-F4ED-0F2333F97F81}"/>
              </a:ext>
            </a:extLst>
          </p:cNvPr>
          <p:cNvSpPr/>
          <p:nvPr/>
        </p:nvSpPr>
        <p:spPr>
          <a:xfrm>
            <a:off x="5498907" y="3152960"/>
            <a:ext cx="2124169" cy="426568"/>
          </a:xfrm>
          <a:prstGeom prst="roundRect">
            <a:avLst/>
          </a:prstGeom>
          <a:solidFill>
            <a:srgbClr val="B4E5A3"/>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lumMod val="10000"/>
                  </a:schemeClr>
                </a:solidFill>
              </a:rPr>
              <a:t>AR-</a:t>
            </a:r>
            <a:r>
              <a:rPr lang="en-US" dirty="0" err="1">
                <a:solidFill>
                  <a:schemeClr val="bg1">
                    <a:lumMod val="10000"/>
                  </a:schemeClr>
                </a:solidFill>
              </a:rPr>
              <a:t>gLM</a:t>
            </a:r>
            <a:endParaRPr lang="en-US" dirty="0">
              <a:solidFill>
                <a:schemeClr val="bg1">
                  <a:lumMod val="10000"/>
                </a:schemeClr>
              </a:solidFill>
            </a:endParaRPr>
          </a:p>
        </p:txBody>
      </p:sp>
      <p:cxnSp>
        <p:nvCxnSpPr>
          <p:cNvPr id="124" name="Straight Arrow Connector 123">
            <a:extLst>
              <a:ext uri="{FF2B5EF4-FFF2-40B4-BE49-F238E27FC236}">
                <a16:creationId xmlns:a16="http://schemas.microsoft.com/office/drawing/2014/main" id="{B4CBBD4E-D97D-0189-01FE-AD7658EFA1B4}"/>
              </a:ext>
            </a:extLst>
          </p:cNvPr>
          <p:cNvCxnSpPr>
            <a:cxnSpLocks/>
          </p:cNvCxnSpPr>
          <p:nvPr/>
        </p:nvCxnSpPr>
        <p:spPr>
          <a:xfrm>
            <a:off x="6585927" y="2881849"/>
            <a:ext cx="0" cy="17684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25" name="Text Placeholder 2">
            <a:extLst>
              <a:ext uri="{FF2B5EF4-FFF2-40B4-BE49-F238E27FC236}">
                <a16:creationId xmlns:a16="http://schemas.microsoft.com/office/drawing/2014/main" id="{9F69A715-E3AB-EBC0-CF04-210132FD7AFA}"/>
              </a:ext>
            </a:extLst>
          </p:cNvPr>
          <p:cNvSpPr txBox="1">
            <a:spLocks/>
          </p:cNvSpPr>
          <p:nvPr/>
        </p:nvSpPr>
        <p:spPr>
          <a:xfrm>
            <a:off x="4833540" y="1949438"/>
            <a:ext cx="3454902" cy="586179"/>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79400" algn="l" rtl="0">
              <a:lnSpc>
                <a:spcPct val="115000"/>
              </a:lnSpc>
              <a:spcBef>
                <a:spcPts val="0"/>
              </a:spcBef>
              <a:spcAft>
                <a:spcPts val="0"/>
              </a:spcAft>
              <a:buClr>
                <a:schemeClr val="dk1"/>
              </a:buClr>
              <a:buSzPts val="800"/>
              <a:buFont typeface="Hanken Grotesk"/>
              <a:buChar char="●"/>
              <a:defRPr sz="1400" b="0" i="0" u="none" strike="noStrike" cap="none">
                <a:solidFill>
                  <a:schemeClr val="dk1"/>
                </a:solidFill>
                <a:latin typeface="Hanken Grotesk"/>
                <a:ea typeface="Hanken Grotesk"/>
                <a:cs typeface="Hanken Grotesk"/>
                <a:sym typeface="Hanken Grotesk"/>
              </a:defRPr>
            </a:lvl1pPr>
            <a:lvl2pPr marL="914400" marR="0" lvl="1"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2pPr>
            <a:lvl3pPr marL="1371600" marR="0" lvl="2"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3pPr>
            <a:lvl4pPr marL="1828800" marR="0" lvl="3"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4pPr>
            <a:lvl5pPr marL="2286000" marR="0" lvl="4"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5pPr>
            <a:lvl6pPr marL="2743200" marR="0" lvl="5"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6pPr>
            <a:lvl7pPr marL="3200400" marR="0" lvl="6"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7pPr>
            <a:lvl8pPr marL="3657600" marR="0" lvl="7"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8pPr>
            <a:lvl9pPr marL="4114800" marR="0" lvl="8"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9pPr>
          </a:lstStyle>
          <a:p>
            <a:pPr marL="177800" indent="0" algn="ctr">
              <a:buFont typeface="Hanken Grotesk"/>
              <a:buNone/>
            </a:pPr>
            <a:r>
              <a:rPr lang="en-US" b="1" dirty="0"/>
              <a:t>Current Conservation Prediction</a:t>
            </a:r>
          </a:p>
        </p:txBody>
      </p:sp>
      <p:cxnSp>
        <p:nvCxnSpPr>
          <p:cNvPr id="126" name="Straight Arrow Connector 125">
            <a:extLst>
              <a:ext uri="{FF2B5EF4-FFF2-40B4-BE49-F238E27FC236}">
                <a16:creationId xmlns:a16="http://schemas.microsoft.com/office/drawing/2014/main" id="{6BB5291D-AFF0-9504-DF1E-BBFEDB4F2456}"/>
              </a:ext>
            </a:extLst>
          </p:cNvPr>
          <p:cNvCxnSpPr>
            <a:cxnSpLocks/>
          </p:cNvCxnSpPr>
          <p:nvPr/>
        </p:nvCxnSpPr>
        <p:spPr>
          <a:xfrm>
            <a:off x="6594786" y="3680394"/>
            <a:ext cx="0" cy="17684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27" name="Rectangle 126">
            <a:extLst>
              <a:ext uri="{FF2B5EF4-FFF2-40B4-BE49-F238E27FC236}">
                <a16:creationId xmlns:a16="http://schemas.microsoft.com/office/drawing/2014/main" id="{462C9491-A048-3262-F3FE-C53C2E4EAC6F}"/>
              </a:ext>
            </a:extLst>
          </p:cNvPr>
          <p:cNvSpPr/>
          <p:nvPr/>
        </p:nvSpPr>
        <p:spPr>
          <a:xfrm>
            <a:off x="5117429" y="3963523"/>
            <a:ext cx="292894" cy="288925"/>
          </a:xfrm>
          <a:prstGeom prst="rect">
            <a:avLst/>
          </a:prstGeom>
          <a:solidFill>
            <a:schemeClr val="accent6">
              <a:lumMod val="95000"/>
            </a:schemeClr>
          </a:solidFill>
          <a:ln w="12700">
            <a:solidFill>
              <a:schemeClr val="accent6">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2"/>
              </a:solidFill>
            </a:endParaRPr>
          </a:p>
        </p:txBody>
      </p:sp>
      <p:sp>
        <p:nvSpPr>
          <p:cNvPr id="128" name="Rectangle 127">
            <a:extLst>
              <a:ext uri="{FF2B5EF4-FFF2-40B4-BE49-F238E27FC236}">
                <a16:creationId xmlns:a16="http://schemas.microsoft.com/office/drawing/2014/main" id="{EA2411C4-343A-8D2C-4D4A-EED954CD8F73}"/>
              </a:ext>
            </a:extLst>
          </p:cNvPr>
          <p:cNvSpPr/>
          <p:nvPr/>
        </p:nvSpPr>
        <p:spPr>
          <a:xfrm>
            <a:off x="5410323" y="3963523"/>
            <a:ext cx="292894" cy="288925"/>
          </a:xfrm>
          <a:prstGeom prst="rect">
            <a:avLst/>
          </a:prstGeom>
          <a:solidFill>
            <a:schemeClr val="accent6">
              <a:lumMod val="95000"/>
            </a:schemeClr>
          </a:solidFill>
          <a:ln w="12700">
            <a:solidFill>
              <a:schemeClr val="accent6">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2"/>
              </a:solidFill>
            </a:endParaRPr>
          </a:p>
        </p:txBody>
      </p:sp>
      <p:sp>
        <p:nvSpPr>
          <p:cNvPr id="129" name="Rectangle 128">
            <a:extLst>
              <a:ext uri="{FF2B5EF4-FFF2-40B4-BE49-F238E27FC236}">
                <a16:creationId xmlns:a16="http://schemas.microsoft.com/office/drawing/2014/main" id="{C95D2348-8A04-5158-8057-DF268CAC981F}"/>
              </a:ext>
            </a:extLst>
          </p:cNvPr>
          <p:cNvSpPr/>
          <p:nvPr/>
        </p:nvSpPr>
        <p:spPr>
          <a:xfrm>
            <a:off x="5703217" y="3963523"/>
            <a:ext cx="292894" cy="288925"/>
          </a:xfrm>
          <a:prstGeom prst="rect">
            <a:avLst/>
          </a:prstGeom>
          <a:solidFill>
            <a:schemeClr val="accent6">
              <a:lumMod val="95000"/>
            </a:schemeClr>
          </a:solidFill>
          <a:ln w="12700">
            <a:solidFill>
              <a:schemeClr val="accent6">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2"/>
              </a:solidFill>
            </a:endParaRPr>
          </a:p>
        </p:txBody>
      </p:sp>
      <p:sp>
        <p:nvSpPr>
          <p:cNvPr id="130" name="Rectangle 129">
            <a:extLst>
              <a:ext uri="{FF2B5EF4-FFF2-40B4-BE49-F238E27FC236}">
                <a16:creationId xmlns:a16="http://schemas.microsoft.com/office/drawing/2014/main" id="{132E9731-0E56-6F5C-2228-4B7128B3B7F8}"/>
              </a:ext>
            </a:extLst>
          </p:cNvPr>
          <p:cNvSpPr/>
          <p:nvPr/>
        </p:nvSpPr>
        <p:spPr>
          <a:xfrm>
            <a:off x="5996111" y="3963523"/>
            <a:ext cx="292894" cy="288925"/>
          </a:xfrm>
          <a:prstGeom prst="rect">
            <a:avLst/>
          </a:prstGeom>
          <a:solidFill>
            <a:schemeClr val="accent6">
              <a:lumMod val="95000"/>
            </a:schemeClr>
          </a:solidFill>
          <a:ln w="12700">
            <a:solidFill>
              <a:schemeClr val="accent6">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2"/>
              </a:solidFill>
            </a:endParaRPr>
          </a:p>
        </p:txBody>
      </p:sp>
      <p:sp>
        <p:nvSpPr>
          <p:cNvPr id="131" name="Rectangle 130">
            <a:extLst>
              <a:ext uri="{FF2B5EF4-FFF2-40B4-BE49-F238E27FC236}">
                <a16:creationId xmlns:a16="http://schemas.microsoft.com/office/drawing/2014/main" id="{9F83E571-3456-D1EB-2B29-266B77834CEC}"/>
              </a:ext>
            </a:extLst>
          </p:cNvPr>
          <p:cNvSpPr/>
          <p:nvPr/>
        </p:nvSpPr>
        <p:spPr>
          <a:xfrm>
            <a:off x="6293033" y="3963523"/>
            <a:ext cx="292894" cy="288925"/>
          </a:xfrm>
          <a:prstGeom prst="rect">
            <a:avLst/>
          </a:prstGeom>
          <a:solidFill>
            <a:schemeClr val="accent6">
              <a:lumMod val="95000"/>
            </a:schemeClr>
          </a:solidFill>
          <a:ln w="12700">
            <a:solidFill>
              <a:schemeClr val="accent6">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2"/>
              </a:solidFill>
            </a:endParaRPr>
          </a:p>
        </p:txBody>
      </p:sp>
      <p:sp>
        <p:nvSpPr>
          <p:cNvPr id="132" name="Rectangle 131">
            <a:extLst>
              <a:ext uri="{FF2B5EF4-FFF2-40B4-BE49-F238E27FC236}">
                <a16:creationId xmlns:a16="http://schemas.microsoft.com/office/drawing/2014/main" id="{04402382-F822-3FFE-BD92-E0B6481EC4C5}"/>
              </a:ext>
            </a:extLst>
          </p:cNvPr>
          <p:cNvSpPr/>
          <p:nvPr/>
        </p:nvSpPr>
        <p:spPr>
          <a:xfrm>
            <a:off x="6589955" y="3963523"/>
            <a:ext cx="292894" cy="288925"/>
          </a:xfrm>
          <a:prstGeom prst="rect">
            <a:avLst/>
          </a:prstGeom>
          <a:solidFill>
            <a:schemeClr val="accent6">
              <a:lumMod val="95000"/>
            </a:schemeClr>
          </a:solidFill>
          <a:ln w="12700">
            <a:solidFill>
              <a:schemeClr val="accent6">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2"/>
              </a:solidFill>
            </a:endParaRPr>
          </a:p>
        </p:txBody>
      </p:sp>
      <p:sp>
        <p:nvSpPr>
          <p:cNvPr id="133" name="Rectangle 132">
            <a:extLst>
              <a:ext uri="{FF2B5EF4-FFF2-40B4-BE49-F238E27FC236}">
                <a16:creationId xmlns:a16="http://schemas.microsoft.com/office/drawing/2014/main" id="{F3235567-E481-9D4E-74EB-7687D2D5D07D}"/>
              </a:ext>
            </a:extLst>
          </p:cNvPr>
          <p:cNvSpPr/>
          <p:nvPr/>
        </p:nvSpPr>
        <p:spPr>
          <a:xfrm>
            <a:off x="6882849" y="3963523"/>
            <a:ext cx="292894" cy="288925"/>
          </a:xfrm>
          <a:prstGeom prst="rect">
            <a:avLst/>
          </a:prstGeom>
          <a:solidFill>
            <a:schemeClr val="accent6">
              <a:lumMod val="95000"/>
            </a:schemeClr>
          </a:solidFill>
          <a:ln w="12700">
            <a:solidFill>
              <a:schemeClr val="accent6">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2"/>
              </a:solidFill>
            </a:endParaRPr>
          </a:p>
        </p:txBody>
      </p:sp>
      <p:sp>
        <p:nvSpPr>
          <p:cNvPr id="134" name="Rectangle 133">
            <a:extLst>
              <a:ext uri="{FF2B5EF4-FFF2-40B4-BE49-F238E27FC236}">
                <a16:creationId xmlns:a16="http://schemas.microsoft.com/office/drawing/2014/main" id="{857C406D-0BBD-638E-65DF-95D39E7D22DA}"/>
              </a:ext>
            </a:extLst>
          </p:cNvPr>
          <p:cNvSpPr/>
          <p:nvPr/>
        </p:nvSpPr>
        <p:spPr>
          <a:xfrm>
            <a:off x="7175743" y="3963522"/>
            <a:ext cx="292894" cy="288925"/>
          </a:xfrm>
          <a:prstGeom prst="rect">
            <a:avLst/>
          </a:prstGeom>
          <a:solidFill>
            <a:schemeClr val="accent6">
              <a:lumMod val="95000"/>
            </a:schemeClr>
          </a:solidFill>
          <a:ln w="12700">
            <a:solidFill>
              <a:schemeClr val="accent6">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2"/>
              </a:solidFill>
            </a:endParaRPr>
          </a:p>
        </p:txBody>
      </p:sp>
      <p:sp>
        <p:nvSpPr>
          <p:cNvPr id="135" name="Rectangle 134">
            <a:extLst>
              <a:ext uri="{FF2B5EF4-FFF2-40B4-BE49-F238E27FC236}">
                <a16:creationId xmlns:a16="http://schemas.microsoft.com/office/drawing/2014/main" id="{D7434EA1-679E-2286-0861-1258511963F3}"/>
              </a:ext>
            </a:extLst>
          </p:cNvPr>
          <p:cNvSpPr/>
          <p:nvPr/>
        </p:nvSpPr>
        <p:spPr>
          <a:xfrm>
            <a:off x="7468637" y="3963522"/>
            <a:ext cx="292894" cy="288925"/>
          </a:xfrm>
          <a:prstGeom prst="rect">
            <a:avLst/>
          </a:prstGeom>
          <a:solidFill>
            <a:schemeClr val="accent6">
              <a:lumMod val="95000"/>
            </a:schemeClr>
          </a:solidFill>
          <a:ln w="12700">
            <a:solidFill>
              <a:schemeClr val="accent6">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2"/>
              </a:solidFill>
            </a:endParaRPr>
          </a:p>
        </p:txBody>
      </p:sp>
      <p:sp>
        <p:nvSpPr>
          <p:cNvPr id="138" name="Rectangle 137">
            <a:extLst>
              <a:ext uri="{FF2B5EF4-FFF2-40B4-BE49-F238E27FC236}">
                <a16:creationId xmlns:a16="http://schemas.microsoft.com/office/drawing/2014/main" id="{92E9DE9E-0858-903D-DC6C-1238998335DC}"/>
              </a:ext>
            </a:extLst>
          </p:cNvPr>
          <p:cNvSpPr/>
          <p:nvPr/>
        </p:nvSpPr>
        <p:spPr>
          <a:xfrm>
            <a:off x="7764015" y="3964006"/>
            <a:ext cx="298465" cy="288439"/>
          </a:xfrm>
          <a:prstGeom prst="rect">
            <a:avLst/>
          </a:prstGeom>
          <a:solidFill>
            <a:srgbClr val="E0CDEF"/>
          </a:solidFill>
          <a:ln w="19050">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7030A0"/>
                </a:solidFill>
              </a:rPr>
              <a:t>+</a:t>
            </a:r>
          </a:p>
        </p:txBody>
      </p:sp>
      <p:cxnSp>
        <p:nvCxnSpPr>
          <p:cNvPr id="4" name="Straight Arrow Connector 3">
            <a:extLst>
              <a:ext uri="{FF2B5EF4-FFF2-40B4-BE49-F238E27FC236}">
                <a16:creationId xmlns:a16="http://schemas.microsoft.com/office/drawing/2014/main" id="{A1A28B94-D35D-90A8-3926-8ED186A3697C}"/>
              </a:ext>
            </a:extLst>
          </p:cNvPr>
          <p:cNvCxnSpPr/>
          <p:nvPr/>
        </p:nvCxnSpPr>
        <p:spPr>
          <a:xfrm>
            <a:off x="3910988" y="2610998"/>
            <a:ext cx="1101687"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6" name="Straight Arrow Connector 5">
            <a:extLst>
              <a:ext uri="{FF2B5EF4-FFF2-40B4-BE49-F238E27FC236}">
                <a16:creationId xmlns:a16="http://schemas.microsoft.com/office/drawing/2014/main" id="{DA9616CA-7113-F5D5-1631-4A10CDA60985}"/>
              </a:ext>
            </a:extLst>
          </p:cNvPr>
          <p:cNvCxnSpPr>
            <a:cxnSpLocks/>
          </p:cNvCxnSpPr>
          <p:nvPr/>
        </p:nvCxnSpPr>
        <p:spPr>
          <a:xfrm>
            <a:off x="3524108" y="3363817"/>
            <a:ext cx="1791531"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5164785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4AAA7D-3345-5781-379A-DCA3F7A53854}"/>
            </a:ext>
          </a:extLst>
        </p:cNvPr>
        <p:cNvGrpSpPr/>
        <p:nvPr/>
      </p:nvGrpSpPr>
      <p:grpSpPr>
        <a:xfrm>
          <a:off x="0" y="0"/>
          <a:ext cx="0" cy="0"/>
          <a:chOff x="0" y="0"/>
          <a:chExt cx="0" cy="0"/>
        </a:xfrm>
      </p:grpSpPr>
      <p:pic>
        <p:nvPicPr>
          <p:cNvPr id="42" name="Picture 41" descr="AR-gLM&#10;&#10;AI-generated content may be incorrect.">
            <a:extLst>
              <a:ext uri="{FF2B5EF4-FFF2-40B4-BE49-F238E27FC236}">
                <a16:creationId xmlns:a16="http://schemas.microsoft.com/office/drawing/2014/main" id="{D5521ABC-D74C-D42E-9BF7-F3DE43ACDA39}"/>
              </a:ext>
            </a:extLst>
          </p:cNvPr>
          <p:cNvPicPr>
            <a:picLocks noChangeAspect="1"/>
          </p:cNvPicPr>
          <p:nvPr/>
        </p:nvPicPr>
        <p:blipFill>
          <a:blip r:embed="rId3"/>
          <a:stretch>
            <a:fillRect/>
          </a:stretch>
        </p:blipFill>
        <p:spPr>
          <a:xfrm>
            <a:off x="5114662" y="2469604"/>
            <a:ext cx="2950720" cy="1463167"/>
          </a:xfrm>
          <a:prstGeom prst="rect">
            <a:avLst/>
          </a:prstGeom>
        </p:spPr>
      </p:pic>
      <p:pic>
        <p:nvPicPr>
          <p:cNvPr id="71" name="Picture 70" descr="G.&#10;&#10;AI-generated content may be incorrect.">
            <a:extLst>
              <a:ext uri="{FF2B5EF4-FFF2-40B4-BE49-F238E27FC236}">
                <a16:creationId xmlns:a16="http://schemas.microsoft.com/office/drawing/2014/main" id="{8D62CE35-C767-A722-2454-2D17B00F11FF}"/>
              </a:ext>
            </a:extLst>
          </p:cNvPr>
          <p:cNvPicPr>
            <a:picLocks noChangeAspect="1"/>
          </p:cNvPicPr>
          <p:nvPr/>
        </p:nvPicPr>
        <p:blipFill>
          <a:blip r:embed="rId4"/>
          <a:stretch>
            <a:fillRect/>
          </a:stretch>
        </p:blipFill>
        <p:spPr>
          <a:xfrm>
            <a:off x="831254" y="3956792"/>
            <a:ext cx="3249450" cy="329213"/>
          </a:xfrm>
          <a:prstGeom prst="rect">
            <a:avLst/>
          </a:prstGeom>
        </p:spPr>
      </p:pic>
      <p:pic>
        <p:nvPicPr>
          <p:cNvPr id="54" name="Picture 53" descr="The image depicts a grid of evenly spaced horizontal lines, with a distinctive purple plus sign at the top right corner.&#10;&#10;AI-generated content may be incorrect.">
            <a:extLst>
              <a:ext uri="{FF2B5EF4-FFF2-40B4-BE49-F238E27FC236}">
                <a16:creationId xmlns:a16="http://schemas.microsoft.com/office/drawing/2014/main" id="{A9BF12AA-89D4-A101-C953-0CE8B44FBD20}"/>
              </a:ext>
            </a:extLst>
          </p:cNvPr>
          <p:cNvPicPr>
            <a:picLocks noChangeAspect="1"/>
          </p:cNvPicPr>
          <p:nvPr/>
        </p:nvPicPr>
        <p:blipFill>
          <a:blip r:embed="rId5"/>
          <a:stretch>
            <a:fillRect/>
          </a:stretch>
        </p:blipFill>
        <p:spPr>
          <a:xfrm>
            <a:off x="5110281" y="3947558"/>
            <a:ext cx="2969009" cy="377985"/>
          </a:xfrm>
          <a:prstGeom prst="rect">
            <a:avLst/>
          </a:prstGeom>
        </p:spPr>
      </p:pic>
      <p:pic>
        <p:nvPicPr>
          <p:cNvPr id="41" name="Picture 40" descr="AR-gLM&#10;&#10;AI-generated content may be incorrect.">
            <a:extLst>
              <a:ext uri="{FF2B5EF4-FFF2-40B4-BE49-F238E27FC236}">
                <a16:creationId xmlns:a16="http://schemas.microsoft.com/office/drawing/2014/main" id="{4F4D4283-ED1B-D11C-FFE7-0AA176114DED}"/>
              </a:ext>
            </a:extLst>
          </p:cNvPr>
          <p:cNvPicPr>
            <a:picLocks noChangeAspect="1"/>
          </p:cNvPicPr>
          <p:nvPr/>
        </p:nvPicPr>
        <p:blipFill>
          <a:blip r:embed="rId3"/>
          <a:stretch>
            <a:fillRect/>
          </a:stretch>
        </p:blipFill>
        <p:spPr>
          <a:xfrm>
            <a:off x="830144" y="2469604"/>
            <a:ext cx="2950720" cy="1463167"/>
          </a:xfrm>
          <a:prstGeom prst="rect">
            <a:avLst/>
          </a:prstGeom>
        </p:spPr>
      </p:pic>
      <p:sp>
        <p:nvSpPr>
          <p:cNvPr id="2" name="Title 1">
            <a:extLst>
              <a:ext uri="{FF2B5EF4-FFF2-40B4-BE49-F238E27FC236}">
                <a16:creationId xmlns:a16="http://schemas.microsoft.com/office/drawing/2014/main" id="{9B79D49C-4FC2-356B-11EF-1C9CCE7DBCAD}"/>
              </a:ext>
            </a:extLst>
          </p:cNvPr>
          <p:cNvSpPr>
            <a:spLocks noGrp="1"/>
          </p:cNvSpPr>
          <p:nvPr>
            <p:ph type="title"/>
          </p:nvPr>
        </p:nvSpPr>
        <p:spPr/>
        <p:txBody>
          <a:bodyPr/>
          <a:lstStyle/>
          <a:p>
            <a:pPr algn="ctr"/>
            <a:r>
              <a:rPr lang="en-US" sz="2400" dirty="0"/>
              <a:t>Designing pretraining tasks comparable with sequence-based reconstruction</a:t>
            </a:r>
          </a:p>
        </p:txBody>
      </p:sp>
      <p:pic>
        <p:nvPicPr>
          <p:cNvPr id="16" name="Picture 15">
            <a:extLst>
              <a:ext uri="{FF2B5EF4-FFF2-40B4-BE49-F238E27FC236}">
                <a16:creationId xmlns:a16="http://schemas.microsoft.com/office/drawing/2014/main" id="{95018F52-E947-4012-DBBA-CC0BC518EAA5}"/>
              </a:ext>
            </a:extLst>
          </p:cNvPr>
          <p:cNvPicPr>
            <a:picLocks noChangeAspect="1"/>
          </p:cNvPicPr>
          <p:nvPr/>
        </p:nvPicPr>
        <p:blipFill>
          <a:blip r:embed="rId6"/>
          <a:stretch>
            <a:fillRect/>
          </a:stretch>
        </p:blipFill>
        <p:spPr>
          <a:xfrm>
            <a:off x="2740626" y="3594315"/>
            <a:ext cx="9525" cy="9525"/>
          </a:xfrm>
          <a:prstGeom prst="rect">
            <a:avLst/>
          </a:prstGeom>
        </p:spPr>
      </p:pic>
      <p:pic>
        <p:nvPicPr>
          <p:cNvPr id="17" name="Picture 16">
            <a:extLst>
              <a:ext uri="{FF2B5EF4-FFF2-40B4-BE49-F238E27FC236}">
                <a16:creationId xmlns:a16="http://schemas.microsoft.com/office/drawing/2014/main" id="{C852A9AB-40F5-7B99-B623-370A5362EEFD}"/>
              </a:ext>
            </a:extLst>
          </p:cNvPr>
          <p:cNvPicPr>
            <a:picLocks noChangeAspect="1"/>
          </p:cNvPicPr>
          <p:nvPr/>
        </p:nvPicPr>
        <p:blipFill>
          <a:blip r:embed="rId6"/>
          <a:stretch>
            <a:fillRect/>
          </a:stretch>
        </p:blipFill>
        <p:spPr>
          <a:xfrm>
            <a:off x="2890626" y="3625823"/>
            <a:ext cx="9525" cy="9525"/>
          </a:xfrm>
          <a:prstGeom prst="rect">
            <a:avLst/>
          </a:prstGeom>
        </p:spPr>
      </p:pic>
      <p:pic>
        <p:nvPicPr>
          <p:cNvPr id="18" name="Picture 17">
            <a:extLst>
              <a:ext uri="{FF2B5EF4-FFF2-40B4-BE49-F238E27FC236}">
                <a16:creationId xmlns:a16="http://schemas.microsoft.com/office/drawing/2014/main" id="{19D08CB8-5DDC-553B-44EE-E5542043BE17}"/>
              </a:ext>
            </a:extLst>
          </p:cNvPr>
          <p:cNvPicPr>
            <a:picLocks noChangeAspect="1"/>
          </p:cNvPicPr>
          <p:nvPr/>
        </p:nvPicPr>
        <p:blipFill>
          <a:blip r:embed="rId6"/>
          <a:stretch>
            <a:fillRect/>
          </a:stretch>
        </p:blipFill>
        <p:spPr>
          <a:xfrm>
            <a:off x="2740626" y="3594315"/>
            <a:ext cx="9525" cy="9525"/>
          </a:xfrm>
          <a:prstGeom prst="rect">
            <a:avLst/>
          </a:prstGeom>
        </p:spPr>
      </p:pic>
      <p:pic>
        <p:nvPicPr>
          <p:cNvPr id="19" name="Picture 18">
            <a:extLst>
              <a:ext uri="{FF2B5EF4-FFF2-40B4-BE49-F238E27FC236}">
                <a16:creationId xmlns:a16="http://schemas.microsoft.com/office/drawing/2014/main" id="{30227930-CD31-F793-AE62-5060689B93A3}"/>
              </a:ext>
            </a:extLst>
          </p:cNvPr>
          <p:cNvPicPr>
            <a:picLocks noChangeAspect="1"/>
          </p:cNvPicPr>
          <p:nvPr/>
        </p:nvPicPr>
        <p:blipFill>
          <a:blip r:embed="rId6"/>
          <a:stretch>
            <a:fillRect/>
          </a:stretch>
        </p:blipFill>
        <p:spPr>
          <a:xfrm>
            <a:off x="2890626" y="3625823"/>
            <a:ext cx="9525" cy="9525"/>
          </a:xfrm>
          <a:prstGeom prst="rect">
            <a:avLst/>
          </a:prstGeom>
        </p:spPr>
      </p:pic>
      <p:pic>
        <p:nvPicPr>
          <p:cNvPr id="20" name="Picture 19">
            <a:extLst>
              <a:ext uri="{FF2B5EF4-FFF2-40B4-BE49-F238E27FC236}">
                <a16:creationId xmlns:a16="http://schemas.microsoft.com/office/drawing/2014/main" id="{D624E8E3-0016-82D7-0A4A-567C0E221153}"/>
              </a:ext>
            </a:extLst>
          </p:cNvPr>
          <p:cNvPicPr>
            <a:picLocks noChangeAspect="1"/>
          </p:cNvPicPr>
          <p:nvPr/>
        </p:nvPicPr>
        <p:blipFill>
          <a:blip r:embed="rId6"/>
          <a:stretch>
            <a:fillRect/>
          </a:stretch>
        </p:blipFill>
        <p:spPr>
          <a:xfrm>
            <a:off x="2740626" y="3594315"/>
            <a:ext cx="9525" cy="9525"/>
          </a:xfrm>
          <a:prstGeom prst="rect">
            <a:avLst/>
          </a:prstGeom>
        </p:spPr>
      </p:pic>
      <p:pic>
        <p:nvPicPr>
          <p:cNvPr id="21" name="Picture 20">
            <a:extLst>
              <a:ext uri="{FF2B5EF4-FFF2-40B4-BE49-F238E27FC236}">
                <a16:creationId xmlns:a16="http://schemas.microsoft.com/office/drawing/2014/main" id="{030969E0-6496-9967-C11F-D61CB3B96994}"/>
              </a:ext>
            </a:extLst>
          </p:cNvPr>
          <p:cNvPicPr>
            <a:picLocks noChangeAspect="1"/>
          </p:cNvPicPr>
          <p:nvPr/>
        </p:nvPicPr>
        <p:blipFill>
          <a:blip r:embed="rId6"/>
          <a:stretch>
            <a:fillRect/>
          </a:stretch>
        </p:blipFill>
        <p:spPr>
          <a:xfrm>
            <a:off x="2890626" y="3625823"/>
            <a:ext cx="9525" cy="9525"/>
          </a:xfrm>
          <a:prstGeom prst="rect">
            <a:avLst/>
          </a:prstGeom>
        </p:spPr>
      </p:pic>
      <p:sp>
        <p:nvSpPr>
          <p:cNvPr id="96" name="Text Placeholder 2">
            <a:extLst>
              <a:ext uri="{FF2B5EF4-FFF2-40B4-BE49-F238E27FC236}">
                <a16:creationId xmlns:a16="http://schemas.microsoft.com/office/drawing/2014/main" id="{88E19BC5-B39E-1EE4-BB41-BDE01BE1D91C}"/>
              </a:ext>
            </a:extLst>
          </p:cNvPr>
          <p:cNvSpPr>
            <a:spLocks noGrp="1"/>
          </p:cNvSpPr>
          <p:nvPr>
            <p:ph type="body" idx="1"/>
          </p:nvPr>
        </p:nvSpPr>
        <p:spPr>
          <a:xfrm>
            <a:off x="553117" y="1949438"/>
            <a:ext cx="3454902" cy="586179"/>
          </a:xfrm>
        </p:spPr>
        <p:txBody>
          <a:bodyPr/>
          <a:lstStyle/>
          <a:p>
            <a:pPr marL="177800" indent="0" algn="ctr">
              <a:buNone/>
            </a:pPr>
            <a:r>
              <a:rPr lang="en-US" b="1" dirty="0"/>
              <a:t>Autoregressive Language Modeling</a:t>
            </a:r>
          </a:p>
        </p:txBody>
      </p:sp>
      <p:sp>
        <p:nvSpPr>
          <p:cNvPr id="104" name="Text Placeholder 2">
            <a:extLst>
              <a:ext uri="{FF2B5EF4-FFF2-40B4-BE49-F238E27FC236}">
                <a16:creationId xmlns:a16="http://schemas.microsoft.com/office/drawing/2014/main" id="{28C2E2AD-73F1-151A-4E81-81AB976BE554}"/>
              </a:ext>
            </a:extLst>
          </p:cNvPr>
          <p:cNvSpPr txBox="1">
            <a:spLocks/>
          </p:cNvSpPr>
          <p:nvPr/>
        </p:nvSpPr>
        <p:spPr>
          <a:xfrm>
            <a:off x="1237730" y="1316964"/>
            <a:ext cx="6668539" cy="586179"/>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79400" algn="l" rtl="0">
              <a:lnSpc>
                <a:spcPct val="115000"/>
              </a:lnSpc>
              <a:spcBef>
                <a:spcPts val="0"/>
              </a:spcBef>
              <a:spcAft>
                <a:spcPts val="0"/>
              </a:spcAft>
              <a:buClr>
                <a:schemeClr val="dk1"/>
              </a:buClr>
              <a:buSzPts val="800"/>
              <a:buFont typeface="Hanken Grotesk"/>
              <a:buChar char="●"/>
              <a:defRPr sz="1400" b="0" i="0" u="none" strike="noStrike" cap="none">
                <a:solidFill>
                  <a:schemeClr val="dk1"/>
                </a:solidFill>
                <a:latin typeface="Hanken Grotesk"/>
                <a:ea typeface="Hanken Grotesk"/>
                <a:cs typeface="Hanken Grotesk"/>
                <a:sym typeface="Hanken Grotesk"/>
              </a:defRPr>
            </a:lvl1pPr>
            <a:lvl2pPr marL="914400" marR="0" lvl="1"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2pPr>
            <a:lvl3pPr marL="1371600" marR="0" lvl="2"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3pPr>
            <a:lvl4pPr marL="1828800" marR="0" lvl="3"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4pPr>
            <a:lvl5pPr marL="2286000" marR="0" lvl="4"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5pPr>
            <a:lvl6pPr marL="2743200" marR="0" lvl="5"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6pPr>
            <a:lvl7pPr marL="3200400" marR="0" lvl="6"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7pPr>
            <a:lvl8pPr marL="3657600" marR="0" lvl="7"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8pPr>
            <a:lvl9pPr marL="4114800" marR="0" lvl="8"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9pPr>
          </a:lstStyle>
          <a:p>
            <a:pPr marL="177800" indent="0" algn="ctr">
              <a:buFont typeface="Hanken Grotesk"/>
              <a:buNone/>
            </a:pPr>
            <a:r>
              <a:rPr lang="en-US" dirty="0"/>
              <a:t>Designing comparable pretraining tasks allows us to compare models </a:t>
            </a:r>
            <a:br>
              <a:rPr lang="en-US" dirty="0"/>
            </a:br>
            <a:r>
              <a:rPr lang="en-US" dirty="0"/>
              <a:t>with the same pretraining data and architecture </a:t>
            </a:r>
          </a:p>
        </p:txBody>
      </p:sp>
      <p:pic>
        <p:nvPicPr>
          <p:cNvPr id="117" name="Picture 116">
            <a:extLst>
              <a:ext uri="{FF2B5EF4-FFF2-40B4-BE49-F238E27FC236}">
                <a16:creationId xmlns:a16="http://schemas.microsoft.com/office/drawing/2014/main" id="{111AD859-04EB-47E8-495F-9086929FBD71}"/>
              </a:ext>
            </a:extLst>
          </p:cNvPr>
          <p:cNvPicPr>
            <a:picLocks noChangeAspect="1"/>
          </p:cNvPicPr>
          <p:nvPr/>
        </p:nvPicPr>
        <p:blipFill>
          <a:blip r:embed="rId6"/>
          <a:stretch>
            <a:fillRect/>
          </a:stretch>
        </p:blipFill>
        <p:spPr>
          <a:xfrm>
            <a:off x="7021049" y="3594315"/>
            <a:ext cx="9525" cy="9525"/>
          </a:xfrm>
          <a:prstGeom prst="rect">
            <a:avLst/>
          </a:prstGeom>
        </p:spPr>
      </p:pic>
      <p:pic>
        <p:nvPicPr>
          <p:cNvPr id="118" name="Picture 117">
            <a:extLst>
              <a:ext uri="{FF2B5EF4-FFF2-40B4-BE49-F238E27FC236}">
                <a16:creationId xmlns:a16="http://schemas.microsoft.com/office/drawing/2014/main" id="{87EBCC6C-46A5-6EE1-3320-F6C57C48E5E5}"/>
              </a:ext>
            </a:extLst>
          </p:cNvPr>
          <p:cNvPicPr>
            <a:picLocks noChangeAspect="1"/>
          </p:cNvPicPr>
          <p:nvPr/>
        </p:nvPicPr>
        <p:blipFill>
          <a:blip r:embed="rId6"/>
          <a:stretch>
            <a:fillRect/>
          </a:stretch>
        </p:blipFill>
        <p:spPr>
          <a:xfrm>
            <a:off x="7171049" y="3625823"/>
            <a:ext cx="9525" cy="9525"/>
          </a:xfrm>
          <a:prstGeom prst="rect">
            <a:avLst/>
          </a:prstGeom>
        </p:spPr>
      </p:pic>
      <p:pic>
        <p:nvPicPr>
          <p:cNvPr id="119" name="Picture 118">
            <a:extLst>
              <a:ext uri="{FF2B5EF4-FFF2-40B4-BE49-F238E27FC236}">
                <a16:creationId xmlns:a16="http://schemas.microsoft.com/office/drawing/2014/main" id="{7636BFD5-234B-1561-F33D-30D83708236D}"/>
              </a:ext>
            </a:extLst>
          </p:cNvPr>
          <p:cNvPicPr>
            <a:picLocks noChangeAspect="1"/>
          </p:cNvPicPr>
          <p:nvPr/>
        </p:nvPicPr>
        <p:blipFill>
          <a:blip r:embed="rId6"/>
          <a:stretch>
            <a:fillRect/>
          </a:stretch>
        </p:blipFill>
        <p:spPr>
          <a:xfrm>
            <a:off x="7021049" y="3594315"/>
            <a:ext cx="9525" cy="9525"/>
          </a:xfrm>
          <a:prstGeom prst="rect">
            <a:avLst/>
          </a:prstGeom>
        </p:spPr>
      </p:pic>
      <p:pic>
        <p:nvPicPr>
          <p:cNvPr id="120" name="Picture 119">
            <a:extLst>
              <a:ext uri="{FF2B5EF4-FFF2-40B4-BE49-F238E27FC236}">
                <a16:creationId xmlns:a16="http://schemas.microsoft.com/office/drawing/2014/main" id="{49B34B36-67FC-DC2B-22B9-669B82F05E55}"/>
              </a:ext>
            </a:extLst>
          </p:cNvPr>
          <p:cNvPicPr>
            <a:picLocks noChangeAspect="1"/>
          </p:cNvPicPr>
          <p:nvPr/>
        </p:nvPicPr>
        <p:blipFill>
          <a:blip r:embed="rId6"/>
          <a:stretch>
            <a:fillRect/>
          </a:stretch>
        </p:blipFill>
        <p:spPr>
          <a:xfrm>
            <a:off x="7171049" y="3625823"/>
            <a:ext cx="9525" cy="9525"/>
          </a:xfrm>
          <a:prstGeom prst="rect">
            <a:avLst/>
          </a:prstGeom>
        </p:spPr>
      </p:pic>
      <p:pic>
        <p:nvPicPr>
          <p:cNvPr id="121" name="Picture 120">
            <a:extLst>
              <a:ext uri="{FF2B5EF4-FFF2-40B4-BE49-F238E27FC236}">
                <a16:creationId xmlns:a16="http://schemas.microsoft.com/office/drawing/2014/main" id="{000518DC-1BA3-1A84-D30E-25656E369113}"/>
              </a:ext>
            </a:extLst>
          </p:cNvPr>
          <p:cNvPicPr>
            <a:picLocks noChangeAspect="1"/>
          </p:cNvPicPr>
          <p:nvPr/>
        </p:nvPicPr>
        <p:blipFill>
          <a:blip r:embed="rId6"/>
          <a:stretch>
            <a:fillRect/>
          </a:stretch>
        </p:blipFill>
        <p:spPr>
          <a:xfrm>
            <a:off x="7021049" y="3594315"/>
            <a:ext cx="9525" cy="9525"/>
          </a:xfrm>
          <a:prstGeom prst="rect">
            <a:avLst/>
          </a:prstGeom>
        </p:spPr>
      </p:pic>
      <p:pic>
        <p:nvPicPr>
          <p:cNvPr id="122" name="Picture 121">
            <a:extLst>
              <a:ext uri="{FF2B5EF4-FFF2-40B4-BE49-F238E27FC236}">
                <a16:creationId xmlns:a16="http://schemas.microsoft.com/office/drawing/2014/main" id="{BF456B04-72C4-829E-65B9-19EB5331EAE6}"/>
              </a:ext>
            </a:extLst>
          </p:cNvPr>
          <p:cNvPicPr>
            <a:picLocks noChangeAspect="1"/>
          </p:cNvPicPr>
          <p:nvPr/>
        </p:nvPicPr>
        <p:blipFill>
          <a:blip r:embed="rId6"/>
          <a:stretch>
            <a:fillRect/>
          </a:stretch>
        </p:blipFill>
        <p:spPr>
          <a:xfrm>
            <a:off x="7171049" y="3625823"/>
            <a:ext cx="9525" cy="9525"/>
          </a:xfrm>
          <a:prstGeom prst="rect">
            <a:avLst/>
          </a:prstGeom>
        </p:spPr>
      </p:pic>
      <p:sp>
        <p:nvSpPr>
          <p:cNvPr id="125" name="Text Placeholder 2">
            <a:extLst>
              <a:ext uri="{FF2B5EF4-FFF2-40B4-BE49-F238E27FC236}">
                <a16:creationId xmlns:a16="http://schemas.microsoft.com/office/drawing/2014/main" id="{9F96DB70-AD95-1C9C-54BA-46744DB99E4D}"/>
              </a:ext>
            </a:extLst>
          </p:cNvPr>
          <p:cNvSpPr txBox="1">
            <a:spLocks/>
          </p:cNvSpPr>
          <p:nvPr/>
        </p:nvSpPr>
        <p:spPr>
          <a:xfrm>
            <a:off x="4833540" y="1949438"/>
            <a:ext cx="3454902" cy="586179"/>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79400" algn="l" rtl="0">
              <a:lnSpc>
                <a:spcPct val="115000"/>
              </a:lnSpc>
              <a:spcBef>
                <a:spcPts val="0"/>
              </a:spcBef>
              <a:spcAft>
                <a:spcPts val="0"/>
              </a:spcAft>
              <a:buClr>
                <a:schemeClr val="dk1"/>
              </a:buClr>
              <a:buSzPts val="800"/>
              <a:buFont typeface="Hanken Grotesk"/>
              <a:buChar char="●"/>
              <a:defRPr sz="1400" b="0" i="0" u="none" strike="noStrike" cap="none">
                <a:solidFill>
                  <a:schemeClr val="dk1"/>
                </a:solidFill>
                <a:latin typeface="Hanken Grotesk"/>
                <a:ea typeface="Hanken Grotesk"/>
                <a:cs typeface="Hanken Grotesk"/>
                <a:sym typeface="Hanken Grotesk"/>
              </a:defRPr>
            </a:lvl1pPr>
            <a:lvl2pPr marL="914400" marR="0" lvl="1"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2pPr>
            <a:lvl3pPr marL="1371600" marR="0" lvl="2"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3pPr>
            <a:lvl4pPr marL="1828800" marR="0" lvl="3"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4pPr>
            <a:lvl5pPr marL="2286000" marR="0" lvl="4"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5pPr>
            <a:lvl6pPr marL="2743200" marR="0" lvl="5"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6pPr>
            <a:lvl7pPr marL="3200400" marR="0" lvl="6"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7pPr>
            <a:lvl8pPr marL="3657600" marR="0" lvl="7"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8pPr>
            <a:lvl9pPr marL="4114800" marR="0" lvl="8"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9pPr>
          </a:lstStyle>
          <a:p>
            <a:pPr marL="177800" indent="0" algn="ctr">
              <a:buFont typeface="Hanken Grotesk"/>
              <a:buNone/>
            </a:pPr>
            <a:r>
              <a:rPr lang="en-US" b="1" dirty="0"/>
              <a:t>Current Conservation Prediction</a:t>
            </a:r>
          </a:p>
        </p:txBody>
      </p:sp>
      <p:cxnSp>
        <p:nvCxnSpPr>
          <p:cNvPr id="4" name="Straight Arrow Connector 3">
            <a:extLst>
              <a:ext uri="{FF2B5EF4-FFF2-40B4-BE49-F238E27FC236}">
                <a16:creationId xmlns:a16="http://schemas.microsoft.com/office/drawing/2014/main" id="{73BE9B55-450D-6400-E329-6F9C49B73A28}"/>
              </a:ext>
            </a:extLst>
          </p:cNvPr>
          <p:cNvCxnSpPr/>
          <p:nvPr/>
        </p:nvCxnSpPr>
        <p:spPr>
          <a:xfrm>
            <a:off x="3910988" y="2610998"/>
            <a:ext cx="1101687"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6" name="Straight Arrow Connector 5">
            <a:extLst>
              <a:ext uri="{FF2B5EF4-FFF2-40B4-BE49-F238E27FC236}">
                <a16:creationId xmlns:a16="http://schemas.microsoft.com/office/drawing/2014/main" id="{6825D656-463D-7EFF-DC6F-3C985B7E4329}"/>
              </a:ext>
            </a:extLst>
          </p:cNvPr>
          <p:cNvCxnSpPr>
            <a:cxnSpLocks/>
          </p:cNvCxnSpPr>
          <p:nvPr/>
        </p:nvCxnSpPr>
        <p:spPr>
          <a:xfrm>
            <a:off x="3524108" y="3363817"/>
            <a:ext cx="1791531"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74" name="TextBox 73">
            <a:extLst>
              <a:ext uri="{FF2B5EF4-FFF2-40B4-BE49-F238E27FC236}">
                <a16:creationId xmlns:a16="http://schemas.microsoft.com/office/drawing/2014/main" id="{DFD30F65-26B4-0757-59AC-7FD2DA96190A}"/>
              </a:ext>
            </a:extLst>
          </p:cNvPr>
          <p:cNvSpPr txBox="1"/>
          <p:nvPr/>
        </p:nvSpPr>
        <p:spPr>
          <a:xfrm>
            <a:off x="4317400" y="2018024"/>
            <a:ext cx="288862" cy="307777"/>
          </a:xfrm>
          <a:prstGeom prst="rect">
            <a:avLst/>
          </a:prstGeom>
          <a:noFill/>
        </p:spPr>
        <p:txBody>
          <a:bodyPr wrap="none" rtlCol="0">
            <a:spAutoFit/>
          </a:bodyPr>
          <a:lstStyle/>
          <a:p>
            <a:r>
              <a:rPr lang="en-US" b="1" dirty="0"/>
              <a:t>+</a:t>
            </a:r>
          </a:p>
        </p:txBody>
      </p:sp>
    </p:spTree>
    <p:extLst>
      <p:ext uri="{BB962C8B-B14F-4D97-AF65-F5344CB8AC3E}">
        <p14:creationId xmlns:p14="http://schemas.microsoft.com/office/powerpoint/2010/main" val="3671830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xit" presetSubtype="0" fill="hold" nodeType="withEffect">
                                  <p:stCondLst>
                                    <p:cond delay="0"/>
                                  </p:stCondLst>
                                  <p:childTnLst>
                                    <p:animEffect transition="out" filter="fade">
                                      <p:cBhvr>
                                        <p:cTn id="6" dur="500"/>
                                        <p:tgtEl>
                                          <p:spTgt spid="4"/>
                                        </p:tgtEl>
                                      </p:cBhvr>
                                    </p:animEffect>
                                    <p:set>
                                      <p:cBhvr>
                                        <p:cTn id="7" dur="1" fill="hold">
                                          <p:stCondLst>
                                            <p:cond delay="499"/>
                                          </p:stCondLst>
                                        </p:cTn>
                                        <p:tgtEl>
                                          <p:spTgt spid="4"/>
                                        </p:tgtEl>
                                        <p:attrNameLst>
                                          <p:attrName>style.visibility</p:attrName>
                                        </p:attrNameLst>
                                      </p:cBhvr>
                                      <p:to>
                                        <p:strVal val="hidden"/>
                                      </p:to>
                                    </p:set>
                                  </p:childTnLst>
                                </p:cTn>
                              </p:par>
                              <p:par>
                                <p:cTn id="8" presetID="10" presetClass="exit" presetSubtype="0" fill="hold" nodeType="withEffect">
                                  <p:stCondLst>
                                    <p:cond delay="0"/>
                                  </p:stCondLst>
                                  <p:childTnLst>
                                    <p:animEffect transition="out" filter="fade">
                                      <p:cBhvr>
                                        <p:cTn id="9" dur="500"/>
                                        <p:tgtEl>
                                          <p:spTgt spid="6"/>
                                        </p:tgtEl>
                                      </p:cBhvr>
                                    </p:animEffect>
                                    <p:set>
                                      <p:cBhvr>
                                        <p:cTn id="10" dur="1" fill="hold">
                                          <p:stCondLst>
                                            <p:cond delay="499"/>
                                          </p:stCondLst>
                                        </p:cTn>
                                        <p:tgtEl>
                                          <p:spTgt spid="6"/>
                                        </p:tgtEl>
                                        <p:attrNameLst>
                                          <p:attrName>style.visibility</p:attrName>
                                        </p:attrNameLst>
                                      </p:cBhvr>
                                      <p:to>
                                        <p:strVal val="hidden"/>
                                      </p:to>
                                    </p:set>
                                  </p:childTnLst>
                                </p:cTn>
                              </p:par>
                              <p:par>
                                <p:cTn id="11" presetID="63" presetClass="path" presetSubtype="0" accel="50000" decel="50000" fill="hold" nodeType="withEffect">
                                  <p:stCondLst>
                                    <p:cond delay="0"/>
                                  </p:stCondLst>
                                  <p:childTnLst>
                                    <p:animMotion origin="layout" path="M -3.33333E-6 -2.22222E-6 L 0.23386 -2.22222E-6 " pathEditMode="relative" rAng="0" ptsTypes="AA">
                                      <p:cBhvr>
                                        <p:cTn id="12" dur="2000" fill="hold"/>
                                        <p:tgtEl>
                                          <p:spTgt spid="41"/>
                                        </p:tgtEl>
                                        <p:attrNameLst>
                                          <p:attrName>ppt_x</p:attrName>
                                          <p:attrName>ppt_y</p:attrName>
                                        </p:attrNameLst>
                                      </p:cBhvr>
                                      <p:rCtr x="11684" y="0"/>
                                    </p:animMotion>
                                  </p:childTnLst>
                                </p:cTn>
                              </p:par>
                              <p:par>
                                <p:cTn id="13" presetID="35" presetClass="path" presetSubtype="0" accel="50000" decel="50000" fill="hold" nodeType="withEffect">
                                  <p:stCondLst>
                                    <p:cond delay="0"/>
                                  </p:stCondLst>
                                  <p:childTnLst>
                                    <p:animMotion origin="layout" path="M 2.77778E-7 -2.22222E-6 L -0.23351 0.00031 " pathEditMode="relative" rAng="0" ptsTypes="AA">
                                      <p:cBhvr>
                                        <p:cTn id="14" dur="2000" fill="hold"/>
                                        <p:tgtEl>
                                          <p:spTgt spid="42"/>
                                        </p:tgtEl>
                                        <p:attrNameLst>
                                          <p:attrName>ppt_x</p:attrName>
                                          <p:attrName>ppt_y</p:attrName>
                                        </p:attrNameLst>
                                      </p:cBhvr>
                                      <p:rCtr x="-11684" y="0"/>
                                    </p:animMotion>
                                  </p:childTnLst>
                                </p:cTn>
                              </p:par>
                              <p:par>
                                <p:cTn id="15" presetID="63" presetClass="path" presetSubtype="0" accel="50000" decel="50000" fill="hold" nodeType="withEffect">
                                  <p:stCondLst>
                                    <p:cond delay="0"/>
                                  </p:stCondLst>
                                  <p:childTnLst>
                                    <p:animMotion origin="layout" path="M 3.61111E-6 -4.5679E-6 L 0.21823 -0.00092 " pathEditMode="relative" rAng="0" ptsTypes="AA">
                                      <p:cBhvr>
                                        <p:cTn id="16" dur="2000" fill="hold"/>
                                        <p:tgtEl>
                                          <p:spTgt spid="71"/>
                                        </p:tgtEl>
                                        <p:attrNameLst>
                                          <p:attrName>ppt_x</p:attrName>
                                          <p:attrName>ppt_y</p:attrName>
                                        </p:attrNameLst>
                                      </p:cBhvr>
                                      <p:rCtr x="10903" y="-62"/>
                                    </p:animMotion>
                                  </p:childTnLst>
                                </p:cTn>
                              </p:par>
                              <p:par>
                                <p:cTn id="17" presetID="42" presetClass="path" presetSubtype="0" accel="50000" decel="50000" fill="hold" nodeType="withEffect">
                                  <p:stCondLst>
                                    <p:cond delay="0"/>
                                  </p:stCondLst>
                                  <p:childTnLst>
                                    <p:animMotion origin="layout" path="M -5.55556E-7 -9.87654E-7 L -0.24861 0.10154 " pathEditMode="relative" rAng="0" ptsTypes="AA">
                                      <p:cBhvr>
                                        <p:cTn id="18" dur="2000" fill="hold"/>
                                        <p:tgtEl>
                                          <p:spTgt spid="54"/>
                                        </p:tgtEl>
                                        <p:attrNameLst>
                                          <p:attrName>ppt_x</p:attrName>
                                          <p:attrName>ppt_y</p:attrName>
                                        </p:attrNameLst>
                                      </p:cBhvr>
                                      <p:rCtr x="-12431" y="5062"/>
                                    </p:animMotion>
                                  </p:childTnLst>
                                </p:cTn>
                              </p:par>
                              <p:par>
                                <p:cTn id="19" presetID="10" presetClass="entr" presetSubtype="0" fill="hold" grpId="0" nodeType="withEffect">
                                  <p:stCondLst>
                                    <p:cond delay="0"/>
                                  </p:stCondLst>
                                  <p:childTnLst>
                                    <p:set>
                                      <p:cBhvr>
                                        <p:cTn id="20" dur="1" fill="hold">
                                          <p:stCondLst>
                                            <p:cond delay="0"/>
                                          </p:stCondLst>
                                        </p:cTn>
                                        <p:tgtEl>
                                          <p:spTgt spid="74"/>
                                        </p:tgtEl>
                                        <p:attrNameLst>
                                          <p:attrName>style.visibility</p:attrName>
                                        </p:attrNameLst>
                                      </p:cBhvr>
                                      <p:to>
                                        <p:strVal val="visible"/>
                                      </p:to>
                                    </p:set>
                                    <p:animEffect transition="in" filter="fade">
                                      <p:cBhvr>
                                        <p:cTn id="21" dur="500"/>
                                        <p:tgtEl>
                                          <p:spTgt spid="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B6A9BE-0AD6-4BBD-D94D-2F84EA8BF006}"/>
            </a:ext>
          </a:extLst>
        </p:cNvPr>
        <p:cNvGrpSpPr/>
        <p:nvPr/>
      </p:nvGrpSpPr>
      <p:grpSpPr>
        <a:xfrm>
          <a:off x="0" y="0"/>
          <a:ext cx="0" cy="0"/>
          <a:chOff x="0" y="0"/>
          <a:chExt cx="0" cy="0"/>
        </a:xfrm>
      </p:grpSpPr>
      <p:pic>
        <p:nvPicPr>
          <p:cNvPr id="148" name="Picture 147" descr="The image displays a sequence of mathematical symbols, specifically a plus sign, a minus sign, a zero, and two more plus signs, arranged in a linear, sequential pattern.&#10;&#10;AI-generated content may be incorrect.">
            <a:extLst>
              <a:ext uri="{FF2B5EF4-FFF2-40B4-BE49-F238E27FC236}">
                <a16:creationId xmlns:a16="http://schemas.microsoft.com/office/drawing/2014/main" id="{96317EF8-1AE6-E887-E949-355B3039AEBC}"/>
              </a:ext>
            </a:extLst>
          </p:cNvPr>
          <p:cNvPicPr>
            <a:picLocks noChangeAspect="1"/>
          </p:cNvPicPr>
          <p:nvPr/>
        </p:nvPicPr>
        <p:blipFill>
          <a:blip r:embed="rId3"/>
          <a:stretch>
            <a:fillRect/>
          </a:stretch>
        </p:blipFill>
        <p:spPr>
          <a:xfrm>
            <a:off x="5111381" y="3985730"/>
            <a:ext cx="2956816" cy="377985"/>
          </a:xfrm>
          <a:prstGeom prst="rect">
            <a:avLst/>
          </a:prstGeom>
        </p:spPr>
      </p:pic>
      <p:pic>
        <p:nvPicPr>
          <p:cNvPr id="84" name="Picture 83" descr="The image depicts a segment of DNA sequence (A, C, T, G) and a label indicating a bidirectional gLM.&#10;&#10;AI-generated content may be incorrect.">
            <a:extLst>
              <a:ext uri="{FF2B5EF4-FFF2-40B4-BE49-F238E27FC236}">
                <a16:creationId xmlns:a16="http://schemas.microsoft.com/office/drawing/2014/main" id="{4A0B5E74-09B7-6637-FC0A-78D9394124A2}"/>
              </a:ext>
            </a:extLst>
          </p:cNvPr>
          <p:cNvPicPr>
            <a:picLocks noChangeAspect="1"/>
          </p:cNvPicPr>
          <p:nvPr/>
        </p:nvPicPr>
        <p:blipFill>
          <a:blip r:embed="rId4"/>
          <a:stretch>
            <a:fillRect/>
          </a:stretch>
        </p:blipFill>
        <p:spPr>
          <a:xfrm>
            <a:off x="5123574" y="2491499"/>
            <a:ext cx="2944623" cy="1457070"/>
          </a:xfrm>
          <a:prstGeom prst="rect">
            <a:avLst/>
          </a:prstGeom>
        </p:spPr>
      </p:pic>
      <p:pic>
        <p:nvPicPr>
          <p:cNvPr id="65" name="Picture 64" descr="The image depicts a segment of DNA sequence (A, C, T, G) and a label indicating a bidirectional gLM.&#10;&#10;AI-generated content may be incorrect.">
            <a:extLst>
              <a:ext uri="{FF2B5EF4-FFF2-40B4-BE49-F238E27FC236}">
                <a16:creationId xmlns:a16="http://schemas.microsoft.com/office/drawing/2014/main" id="{0A087477-7D19-B440-55C2-81CEA267534F}"/>
              </a:ext>
            </a:extLst>
          </p:cNvPr>
          <p:cNvPicPr>
            <a:picLocks noChangeAspect="1"/>
          </p:cNvPicPr>
          <p:nvPr/>
        </p:nvPicPr>
        <p:blipFill>
          <a:blip r:embed="rId4"/>
          <a:stretch>
            <a:fillRect/>
          </a:stretch>
        </p:blipFill>
        <p:spPr>
          <a:xfrm>
            <a:off x="1116064" y="2491499"/>
            <a:ext cx="2944623" cy="1457070"/>
          </a:xfrm>
          <a:prstGeom prst="rect">
            <a:avLst/>
          </a:prstGeom>
        </p:spPr>
      </p:pic>
      <p:sp>
        <p:nvSpPr>
          <p:cNvPr id="2" name="Title 1">
            <a:extLst>
              <a:ext uri="{FF2B5EF4-FFF2-40B4-BE49-F238E27FC236}">
                <a16:creationId xmlns:a16="http://schemas.microsoft.com/office/drawing/2014/main" id="{5D01FC5E-CB85-A9C5-0CBD-DB889F907F90}"/>
              </a:ext>
            </a:extLst>
          </p:cNvPr>
          <p:cNvSpPr>
            <a:spLocks noGrp="1"/>
          </p:cNvSpPr>
          <p:nvPr>
            <p:ph type="title"/>
          </p:nvPr>
        </p:nvSpPr>
        <p:spPr/>
        <p:txBody>
          <a:bodyPr/>
          <a:lstStyle/>
          <a:p>
            <a:pPr algn="ctr"/>
            <a:r>
              <a:rPr lang="en-US" sz="2400" dirty="0"/>
              <a:t>Designing pretraining tasks comparable with sequence-based reconstruction</a:t>
            </a:r>
          </a:p>
        </p:txBody>
      </p:sp>
      <p:pic>
        <p:nvPicPr>
          <p:cNvPr id="77" name="Picture 76">
            <a:extLst>
              <a:ext uri="{FF2B5EF4-FFF2-40B4-BE49-F238E27FC236}">
                <a16:creationId xmlns:a16="http://schemas.microsoft.com/office/drawing/2014/main" id="{465BDD40-2BB9-9FD1-DC02-3FA6C5B73A5C}"/>
              </a:ext>
            </a:extLst>
          </p:cNvPr>
          <p:cNvPicPr>
            <a:picLocks noChangeAspect="1"/>
          </p:cNvPicPr>
          <p:nvPr/>
        </p:nvPicPr>
        <p:blipFill>
          <a:blip r:embed="rId5"/>
          <a:stretch>
            <a:fillRect/>
          </a:stretch>
        </p:blipFill>
        <p:spPr>
          <a:xfrm>
            <a:off x="3017539" y="3630448"/>
            <a:ext cx="9525" cy="9525"/>
          </a:xfrm>
          <a:prstGeom prst="rect">
            <a:avLst/>
          </a:prstGeom>
        </p:spPr>
      </p:pic>
      <p:pic>
        <p:nvPicPr>
          <p:cNvPr id="78" name="Picture 77">
            <a:extLst>
              <a:ext uri="{FF2B5EF4-FFF2-40B4-BE49-F238E27FC236}">
                <a16:creationId xmlns:a16="http://schemas.microsoft.com/office/drawing/2014/main" id="{A9257022-50A7-67E5-1960-150C701B5C3C}"/>
              </a:ext>
            </a:extLst>
          </p:cNvPr>
          <p:cNvPicPr>
            <a:picLocks noChangeAspect="1"/>
          </p:cNvPicPr>
          <p:nvPr/>
        </p:nvPicPr>
        <p:blipFill>
          <a:blip r:embed="rId5"/>
          <a:stretch>
            <a:fillRect/>
          </a:stretch>
        </p:blipFill>
        <p:spPr>
          <a:xfrm>
            <a:off x="3167539" y="3780448"/>
            <a:ext cx="9525" cy="9525"/>
          </a:xfrm>
          <a:prstGeom prst="rect">
            <a:avLst/>
          </a:prstGeom>
        </p:spPr>
      </p:pic>
      <p:pic>
        <p:nvPicPr>
          <p:cNvPr id="79" name="Picture 78">
            <a:extLst>
              <a:ext uri="{FF2B5EF4-FFF2-40B4-BE49-F238E27FC236}">
                <a16:creationId xmlns:a16="http://schemas.microsoft.com/office/drawing/2014/main" id="{4B3004AB-96C6-3946-B4E0-2E36173DC71C}"/>
              </a:ext>
            </a:extLst>
          </p:cNvPr>
          <p:cNvPicPr>
            <a:picLocks noChangeAspect="1"/>
          </p:cNvPicPr>
          <p:nvPr/>
        </p:nvPicPr>
        <p:blipFill>
          <a:blip r:embed="rId5"/>
          <a:stretch>
            <a:fillRect/>
          </a:stretch>
        </p:blipFill>
        <p:spPr>
          <a:xfrm>
            <a:off x="3017539" y="3630448"/>
            <a:ext cx="9525" cy="9525"/>
          </a:xfrm>
          <a:prstGeom prst="rect">
            <a:avLst/>
          </a:prstGeom>
        </p:spPr>
      </p:pic>
      <p:pic>
        <p:nvPicPr>
          <p:cNvPr id="80" name="Picture 79">
            <a:extLst>
              <a:ext uri="{FF2B5EF4-FFF2-40B4-BE49-F238E27FC236}">
                <a16:creationId xmlns:a16="http://schemas.microsoft.com/office/drawing/2014/main" id="{AFDABDBC-DF25-3569-24E5-30AEB33894AF}"/>
              </a:ext>
            </a:extLst>
          </p:cNvPr>
          <p:cNvPicPr>
            <a:picLocks noChangeAspect="1"/>
          </p:cNvPicPr>
          <p:nvPr/>
        </p:nvPicPr>
        <p:blipFill>
          <a:blip r:embed="rId5"/>
          <a:stretch>
            <a:fillRect/>
          </a:stretch>
        </p:blipFill>
        <p:spPr>
          <a:xfrm>
            <a:off x="3167539" y="3780448"/>
            <a:ext cx="9525" cy="9525"/>
          </a:xfrm>
          <a:prstGeom prst="rect">
            <a:avLst/>
          </a:prstGeom>
        </p:spPr>
      </p:pic>
      <p:pic>
        <p:nvPicPr>
          <p:cNvPr id="81" name="Picture 80">
            <a:extLst>
              <a:ext uri="{FF2B5EF4-FFF2-40B4-BE49-F238E27FC236}">
                <a16:creationId xmlns:a16="http://schemas.microsoft.com/office/drawing/2014/main" id="{89F33904-5750-FE3A-57E6-4FCDA3492A1D}"/>
              </a:ext>
            </a:extLst>
          </p:cNvPr>
          <p:cNvPicPr>
            <a:picLocks noChangeAspect="1"/>
          </p:cNvPicPr>
          <p:nvPr/>
        </p:nvPicPr>
        <p:blipFill>
          <a:blip r:embed="rId5"/>
          <a:stretch>
            <a:fillRect/>
          </a:stretch>
        </p:blipFill>
        <p:spPr>
          <a:xfrm>
            <a:off x="3017539" y="3630448"/>
            <a:ext cx="9525" cy="9525"/>
          </a:xfrm>
          <a:prstGeom prst="rect">
            <a:avLst/>
          </a:prstGeom>
        </p:spPr>
      </p:pic>
      <p:pic>
        <p:nvPicPr>
          <p:cNvPr id="82" name="Picture 81">
            <a:extLst>
              <a:ext uri="{FF2B5EF4-FFF2-40B4-BE49-F238E27FC236}">
                <a16:creationId xmlns:a16="http://schemas.microsoft.com/office/drawing/2014/main" id="{0EB272D5-04CD-9324-9076-0029F4D73B67}"/>
              </a:ext>
            </a:extLst>
          </p:cNvPr>
          <p:cNvPicPr>
            <a:picLocks noChangeAspect="1"/>
          </p:cNvPicPr>
          <p:nvPr/>
        </p:nvPicPr>
        <p:blipFill>
          <a:blip r:embed="rId5"/>
          <a:stretch>
            <a:fillRect/>
          </a:stretch>
        </p:blipFill>
        <p:spPr>
          <a:xfrm>
            <a:off x="3167539" y="3780448"/>
            <a:ext cx="9525" cy="9525"/>
          </a:xfrm>
          <a:prstGeom prst="rect">
            <a:avLst/>
          </a:prstGeom>
        </p:spPr>
      </p:pic>
      <p:sp>
        <p:nvSpPr>
          <p:cNvPr id="104" name="Text Placeholder 2">
            <a:extLst>
              <a:ext uri="{FF2B5EF4-FFF2-40B4-BE49-F238E27FC236}">
                <a16:creationId xmlns:a16="http://schemas.microsoft.com/office/drawing/2014/main" id="{B155CBB7-C614-A6B7-16D5-EF9C38A89B85}"/>
              </a:ext>
            </a:extLst>
          </p:cNvPr>
          <p:cNvSpPr txBox="1">
            <a:spLocks/>
          </p:cNvSpPr>
          <p:nvPr/>
        </p:nvSpPr>
        <p:spPr>
          <a:xfrm>
            <a:off x="1237730" y="1359267"/>
            <a:ext cx="6668539" cy="586179"/>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79400" algn="l" rtl="0">
              <a:lnSpc>
                <a:spcPct val="115000"/>
              </a:lnSpc>
              <a:spcBef>
                <a:spcPts val="0"/>
              </a:spcBef>
              <a:spcAft>
                <a:spcPts val="0"/>
              </a:spcAft>
              <a:buClr>
                <a:schemeClr val="dk1"/>
              </a:buClr>
              <a:buSzPts val="800"/>
              <a:buFont typeface="Hanken Grotesk"/>
              <a:buChar char="●"/>
              <a:defRPr sz="1400" b="0" i="0" u="none" strike="noStrike" cap="none">
                <a:solidFill>
                  <a:schemeClr val="dk1"/>
                </a:solidFill>
                <a:latin typeface="Hanken Grotesk"/>
                <a:ea typeface="Hanken Grotesk"/>
                <a:cs typeface="Hanken Grotesk"/>
                <a:sym typeface="Hanken Grotesk"/>
              </a:defRPr>
            </a:lvl1pPr>
            <a:lvl2pPr marL="914400" marR="0" lvl="1"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2pPr>
            <a:lvl3pPr marL="1371600" marR="0" lvl="2"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3pPr>
            <a:lvl4pPr marL="1828800" marR="0" lvl="3"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4pPr>
            <a:lvl5pPr marL="2286000" marR="0" lvl="4"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5pPr>
            <a:lvl6pPr marL="2743200" marR="0" lvl="5"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6pPr>
            <a:lvl7pPr marL="3200400" marR="0" lvl="6"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7pPr>
            <a:lvl8pPr marL="3657600" marR="0" lvl="7"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8pPr>
            <a:lvl9pPr marL="4114800" marR="0" lvl="8"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9pPr>
          </a:lstStyle>
          <a:p>
            <a:pPr marL="177800" indent="0" algn="ctr">
              <a:buNone/>
            </a:pPr>
            <a:r>
              <a:rPr lang="en-US" dirty="0"/>
              <a:t>Masked evolution modeling shares input sequence and output </a:t>
            </a:r>
            <a:br>
              <a:rPr lang="en-US" dirty="0"/>
            </a:br>
            <a:r>
              <a:rPr lang="en-US" dirty="0"/>
              <a:t>dimensionality with masked language modeling</a:t>
            </a:r>
          </a:p>
        </p:txBody>
      </p:sp>
      <p:sp>
        <p:nvSpPr>
          <p:cNvPr id="105" name="Text Placeholder 2">
            <a:extLst>
              <a:ext uri="{FF2B5EF4-FFF2-40B4-BE49-F238E27FC236}">
                <a16:creationId xmlns:a16="http://schemas.microsoft.com/office/drawing/2014/main" id="{3F0E1F4E-8D2D-3E31-4E3D-33D55A8A33A8}"/>
              </a:ext>
            </a:extLst>
          </p:cNvPr>
          <p:cNvSpPr txBox="1">
            <a:spLocks/>
          </p:cNvSpPr>
          <p:nvPr/>
        </p:nvSpPr>
        <p:spPr>
          <a:xfrm>
            <a:off x="720000" y="1985571"/>
            <a:ext cx="3454902" cy="586179"/>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79400" algn="l" rtl="0">
              <a:lnSpc>
                <a:spcPct val="115000"/>
              </a:lnSpc>
              <a:spcBef>
                <a:spcPts val="0"/>
              </a:spcBef>
              <a:spcAft>
                <a:spcPts val="0"/>
              </a:spcAft>
              <a:buClr>
                <a:schemeClr val="dk1"/>
              </a:buClr>
              <a:buSzPts val="800"/>
              <a:buFont typeface="Hanken Grotesk"/>
              <a:buChar char="●"/>
              <a:defRPr sz="1400" b="0" i="0" u="none" strike="noStrike" cap="none">
                <a:solidFill>
                  <a:schemeClr val="dk1"/>
                </a:solidFill>
                <a:latin typeface="Hanken Grotesk"/>
                <a:ea typeface="Hanken Grotesk"/>
                <a:cs typeface="Hanken Grotesk"/>
                <a:sym typeface="Hanken Grotesk"/>
              </a:defRPr>
            </a:lvl1pPr>
            <a:lvl2pPr marL="914400" marR="0" lvl="1"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2pPr>
            <a:lvl3pPr marL="1371600" marR="0" lvl="2"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3pPr>
            <a:lvl4pPr marL="1828800" marR="0" lvl="3"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4pPr>
            <a:lvl5pPr marL="2286000" marR="0" lvl="4"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5pPr>
            <a:lvl6pPr marL="2743200" marR="0" lvl="5"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6pPr>
            <a:lvl7pPr marL="3200400" marR="0" lvl="6"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7pPr>
            <a:lvl8pPr marL="3657600" marR="0" lvl="7"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8pPr>
            <a:lvl9pPr marL="4114800" marR="0" lvl="8"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9pPr>
          </a:lstStyle>
          <a:p>
            <a:pPr marL="177800" indent="0" algn="ctr">
              <a:buFont typeface="Hanken Grotesk"/>
              <a:buNone/>
            </a:pPr>
            <a:r>
              <a:rPr lang="en-US" b="1" dirty="0"/>
              <a:t>Masked Language Modeling</a:t>
            </a:r>
          </a:p>
        </p:txBody>
      </p:sp>
      <p:pic>
        <p:nvPicPr>
          <p:cNvPr id="44" name="Picture 43">
            <a:extLst>
              <a:ext uri="{FF2B5EF4-FFF2-40B4-BE49-F238E27FC236}">
                <a16:creationId xmlns:a16="http://schemas.microsoft.com/office/drawing/2014/main" id="{34144E46-7624-A0D1-1F2E-E16E65C0444E}"/>
              </a:ext>
            </a:extLst>
          </p:cNvPr>
          <p:cNvPicPr>
            <a:picLocks noChangeAspect="1"/>
          </p:cNvPicPr>
          <p:nvPr/>
        </p:nvPicPr>
        <p:blipFill>
          <a:blip r:embed="rId5"/>
          <a:stretch>
            <a:fillRect/>
          </a:stretch>
        </p:blipFill>
        <p:spPr>
          <a:xfrm>
            <a:off x="7015713" y="3667739"/>
            <a:ext cx="9525" cy="9525"/>
          </a:xfrm>
          <a:prstGeom prst="rect">
            <a:avLst/>
          </a:prstGeom>
        </p:spPr>
      </p:pic>
      <p:pic>
        <p:nvPicPr>
          <p:cNvPr id="45" name="Picture 44">
            <a:extLst>
              <a:ext uri="{FF2B5EF4-FFF2-40B4-BE49-F238E27FC236}">
                <a16:creationId xmlns:a16="http://schemas.microsoft.com/office/drawing/2014/main" id="{DB714BCE-2D07-99A3-D0CF-27F82972AEB9}"/>
              </a:ext>
            </a:extLst>
          </p:cNvPr>
          <p:cNvPicPr>
            <a:picLocks noChangeAspect="1"/>
          </p:cNvPicPr>
          <p:nvPr/>
        </p:nvPicPr>
        <p:blipFill>
          <a:blip r:embed="rId5"/>
          <a:stretch>
            <a:fillRect/>
          </a:stretch>
        </p:blipFill>
        <p:spPr>
          <a:xfrm>
            <a:off x="7165713" y="3817739"/>
            <a:ext cx="9525" cy="9525"/>
          </a:xfrm>
          <a:prstGeom prst="rect">
            <a:avLst/>
          </a:prstGeom>
        </p:spPr>
      </p:pic>
      <p:pic>
        <p:nvPicPr>
          <p:cNvPr id="46" name="Picture 45">
            <a:extLst>
              <a:ext uri="{FF2B5EF4-FFF2-40B4-BE49-F238E27FC236}">
                <a16:creationId xmlns:a16="http://schemas.microsoft.com/office/drawing/2014/main" id="{1193DAC3-A2BF-1E63-1A57-308FADDEE6B0}"/>
              </a:ext>
            </a:extLst>
          </p:cNvPr>
          <p:cNvPicPr>
            <a:picLocks noChangeAspect="1"/>
          </p:cNvPicPr>
          <p:nvPr/>
        </p:nvPicPr>
        <p:blipFill>
          <a:blip r:embed="rId5"/>
          <a:stretch>
            <a:fillRect/>
          </a:stretch>
        </p:blipFill>
        <p:spPr>
          <a:xfrm>
            <a:off x="7015713" y="3667739"/>
            <a:ext cx="9525" cy="9525"/>
          </a:xfrm>
          <a:prstGeom prst="rect">
            <a:avLst/>
          </a:prstGeom>
        </p:spPr>
      </p:pic>
      <p:pic>
        <p:nvPicPr>
          <p:cNvPr id="47" name="Picture 46">
            <a:extLst>
              <a:ext uri="{FF2B5EF4-FFF2-40B4-BE49-F238E27FC236}">
                <a16:creationId xmlns:a16="http://schemas.microsoft.com/office/drawing/2014/main" id="{396352BB-0726-CF21-86E5-90493A560441}"/>
              </a:ext>
            </a:extLst>
          </p:cNvPr>
          <p:cNvPicPr>
            <a:picLocks noChangeAspect="1"/>
          </p:cNvPicPr>
          <p:nvPr/>
        </p:nvPicPr>
        <p:blipFill>
          <a:blip r:embed="rId5"/>
          <a:stretch>
            <a:fillRect/>
          </a:stretch>
        </p:blipFill>
        <p:spPr>
          <a:xfrm>
            <a:off x="7165713" y="3817739"/>
            <a:ext cx="9525" cy="9525"/>
          </a:xfrm>
          <a:prstGeom prst="rect">
            <a:avLst/>
          </a:prstGeom>
        </p:spPr>
      </p:pic>
      <p:pic>
        <p:nvPicPr>
          <p:cNvPr id="48" name="Picture 47">
            <a:extLst>
              <a:ext uri="{FF2B5EF4-FFF2-40B4-BE49-F238E27FC236}">
                <a16:creationId xmlns:a16="http://schemas.microsoft.com/office/drawing/2014/main" id="{EF165F60-23BE-EA21-614A-04BD46C62E28}"/>
              </a:ext>
            </a:extLst>
          </p:cNvPr>
          <p:cNvPicPr>
            <a:picLocks noChangeAspect="1"/>
          </p:cNvPicPr>
          <p:nvPr/>
        </p:nvPicPr>
        <p:blipFill>
          <a:blip r:embed="rId5"/>
          <a:stretch>
            <a:fillRect/>
          </a:stretch>
        </p:blipFill>
        <p:spPr>
          <a:xfrm>
            <a:off x="7015713" y="3667739"/>
            <a:ext cx="9525" cy="9525"/>
          </a:xfrm>
          <a:prstGeom prst="rect">
            <a:avLst/>
          </a:prstGeom>
        </p:spPr>
      </p:pic>
      <p:pic>
        <p:nvPicPr>
          <p:cNvPr id="49" name="Picture 48">
            <a:extLst>
              <a:ext uri="{FF2B5EF4-FFF2-40B4-BE49-F238E27FC236}">
                <a16:creationId xmlns:a16="http://schemas.microsoft.com/office/drawing/2014/main" id="{FEC32293-D572-71EB-07A9-92A35DB2DD34}"/>
              </a:ext>
            </a:extLst>
          </p:cNvPr>
          <p:cNvPicPr>
            <a:picLocks noChangeAspect="1"/>
          </p:cNvPicPr>
          <p:nvPr/>
        </p:nvPicPr>
        <p:blipFill>
          <a:blip r:embed="rId5"/>
          <a:stretch>
            <a:fillRect/>
          </a:stretch>
        </p:blipFill>
        <p:spPr>
          <a:xfrm>
            <a:off x="7165713" y="3817739"/>
            <a:ext cx="9525" cy="9525"/>
          </a:xfrm>
          <a:prstGeom prst="rect">
            <a:avLst/>
          </a:prstGeom>
        </p:spPr>
      </p:pic>
      <p:sp>
        <p:nvSpPr>
          <p:cNvPr id="63" name="Text Placeholder 2">
            <a:extLst>
              <a:ext uri="{FF2B5EF4-FFF2-40B4-BE49-F238E27FC236}">
                <a16:creationId xmlns:a16="http://schemas.microsoft.com/office/drawing/2014/main" id="{9434BF8B-1AF2-2D8B-AB76-FE342B7332FA}"/>
              </a:ext>
            </a:extLst>
          </p:cNvPr>
          <p:cNvSpPr txBox="1">
            <a:spLocks/>
          </p:cNvSpPr>
          <p:nvPr/>
        </p:nvSpPr>
        <p:spPr>
          <a:xfrm>
            <a:off x="4758662" y="1982607"/>
            <a:ext cx="3454902" cy="586179"/>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79400" algn="l" rtl="0">
              <a:lnSpc>
                <a:spcPct val="115000"/>
              </a:lnSpc>
              <a:spcBef>
                <a:spcPts val="0"/>
              </a:spcBef>
              <a:spcAft>
                <a:spcPts val="0"/>
              </a:spcAft>
              <a:buClr>
                <a:schemeClr val="dk1"/>
              </a:buClr>
              <a:buSzPts val="800"/>
              <a:buFont typeface="Hanken Grotesk"/>
              <a:buChar char="●"/>
              <a:defRPr sz="1400" b="0" i="0" u="none" strike="noStrike" cap="none">
                <a:solidFill>
                  <a:schemeClr val="dk1"/>
                </a:solidFill>
                <a:latin typeface="Hanken Grotesk"/>
                <a:ea typeface="Hanken Grotesk"/>
                <a:cs typeface="Hanken Grotesk"/>
                <a:sym typeface="Hanken Grotesk"/>
              </a:defRPr>
            </a:lvl1pPr>
            <a:lvl2pPr marL="914400" marR="0" lvl="1"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2pPr>
            <a:lvl3pPr marL="1371600" marR="0" lvl="2"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3pPr>
            <a:lvl4pPr marL="1828800" marR="0" lvl="3"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4pPr>
            <a:lvl5pPr marL="2286000" marR="0" lvl="4"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5pPr>
            <a:lvl6pPr marL="2743200" marR="0" lvl="5"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6pPr>
            <a:lvl7pPr marL="3200400" marR="0" lvl="6"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7pPr>
            <a:lvl8pPr marL="3657600" marR="0" lvl="7"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8pPr>
            <a:lvl9pPr marL="4114800" marR="0" lvl="8"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9pPr>
          </a:lstStyle>
          <a:p>
            <a:pPr marL="177800" indent="0" algn="ctr">
              <a:buFont typeface="Hanken Grotesk"/>
              <a:buNone/>
            </a:pPr>
            <a:r>
              <a:rPr lang="en-US" b="1" dirty="0"/>
              <a:t>Masked Evolution Modeling</a:t>
            </a:r>
          </a:p>
        </p:txBody>
      </p:sp>
      <p:sp>
        <p:nvSpPr>
          <p:cNvPr id="126" name="TextBox 125">
            <a:extLst>
              <a:ext uri="{FF2B5EF4-FFF2-40B4-BE49-F238E27FC236}">
                <a16:creationId xmlns:a16="http://schemas.microsoft.com/office/drawing/2014/main" id="{4AD0065A-B62D-8C55-6770-1F49AB267419}"/>
              </a:ext>
            </a:extLst>
          </p:cNvPr>
          <p:cNvSpPr txBox="1"/>
          <p:nvPr/>
        </p:nvSpPr>
        <p:spPr>
          <a:xfrm>
            <a:off x="4504807" y="2067878"/>
            <a:ext cx="288862" cy="307777"/>
          </a:xfrm>
          <a:prstGeom prst="rect">
            <a:avLst/>
          </a:prstGeom>
          <a:noFill/>
        </p:spPr>
        <p:txBody>
          <a:bodyPr wrap="none" rtlCol="0">
            <a:spAutoFit/>
          </a:bodyPr>
          <a:lstStyle/>
          <a:p>
            <a:r>
              <a:rPr lang="en-US" b="1" dirty="0"/>
              <a:t>+</a:t>
            </a:r>
          </a:p>
        </p:txBody>
      </p:sp>
      <p:pic>
        <p:nvPicPr>
          <p:cNvPr id="162" name="Picture 161" descr="A&#10;&#10;AI-generated content may be incorrect.">
            <a:extLst>
              <a:ext uri="{FF2B5EF4-FFF2-40B4-BE49-F238E27FC236}">
                <a16:creationId xmlns:a16="http://schemas.microsoft.com/office/drawing/2014/main" id="{56A33B2D-423A-D0A0-DC1C-F0237255721A}"/>
              </a:ext>
            </a:extLst>
          </p:cNvPr>
          <p:cNvPicPr>
            <a:picLocks noChangeAspect="1"/>
          </p:cNvPicPr>
          <p:nvPr/>
        </p:nvPicPr>
        <p:blipFill>
          <a:blip r:embed="rId6"/>
          <a:stretch>
            <a:fillRect/>
          </a:stretch>
        </p:blipFill>
        <p:spPr>
          <a:xfrm>
            <a:off x="1116064" y="3985730"/>
            <a:ext cx="2950720" cy="329213"/>
          </a:xfrm>
          <a:prstGeom prst="rect">
            <a:avLst/>
          </a:prstGeom>
        </p:spPr>
      </p:pic>
    </p:spTree>
    <p:extLst>
      <p:ext uri="{BB962C8B-B14F-4D97-AF65-F5344CB8AC3E}">
        <p14:creationId xmlns:p14="http://schemas.microsoft.com/office/powerpoint/2010/main" val="4076676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3" presetClass="path" presetSubtype="0" accel="50000" decel="50000" fill="hold" nodeType="clickEffect">
                                  <p:stCondLst>
                                    <p:cond delay="0"/>
                                  </p:stCondLst>
                                  <p:childTnLst>
                                    <p:animMotion origin="layout" path="M 3.88889E-6 4.07407E-6 L 0.22343 4.07407E-6 " pathEditMode="relative" rAng="0" ptsTypes="AA">
                                      <p:cBhvr>
                                        <p:cTn id="6" dur="2000" fill="hold"/>
                                        <p:tgtEl>
                                          <p:spTgt spid="65"/>
                                        </p:tgtEl>
                                        <p:attrNameLst>
                                          <p:attrName>ppt_x</p:attrName>
                                          <p:attrName>ppt_y</p:attrName>
                                        </p:attrNameLst>
                                      </p:cBhvr>
                                      <p:rCtr x="11163" y="0"/>
                                    </p:animMotion>
                                  </p:childTnLst>
                                </p:cTn>
                              </p:par>
                              <p:par>
                                <p:cTn id="7" presetID="35" presetClass="path" presetSubtype="0" accel="50000" decel="50000" fill="hold" nodeType="withEffect">
                                  <p:stCondLst>
                                    <p:cond delay="0"/>
                                  </p:stCondLst>
                                  <p:childTnLst>
                                    <p:animMotion origin="layout" path="M -5.55556E-7 4.07407E-6 L -0.2151 4.07407E-6 " pathEditMode="relative" rAng="0" ptsTypes="AA">
                                      <p:cBhvr>
                                        <p:cTn id="8" dur="2000" fill="hold"/>
                                        <p:tgtEl>
                                          <p:spTgt spid="84"/>
                                        </p:tgtEl>
                                        <p:attrNameLst>
                                          <p:attrName>ppt_x</p:attrName>
                                          <p:attrName>ppt_y</p:attrName>
                                        </p:attrNameLst>
                                      </p:cBhvr>
                                      <p:rCtr x="-10764" y="0"/>
                                    </p:animMotion>
                                  </p:childTnLst>
                                </p:cTn>
                              </p:par>
                              <p:par>
                                <p:cTn id="9" presetID="10" presetClass="entr" presetSubtype="0" fill="hold" grpId="0" nodeType="withEffect">
                                  <p:stCondLst>
                                    <p:cond delay="0"/>
                                  </p:stCondLst>
                                  <p:childTnLst>
                                    <p:set>
                                      <p:cBhvr>
                                        <p:cTn id="10" dur="1" fill="hold">
                                          <p:stCondLst>
                                            <p:cond delay="0"/>
                                          </p:stCondLst>
                                        </p:cTn>
                                        <p:tgtEl>
                                          <p:spTgt spid="126"/>
                                        </p:tgtEl>
                                        <p:attrNameLst>
                                          <p:attrName>style.visibility</p:attrName>
                                        </p:attrNameLst>
                                      </p:cBhvr>
                                      <p:to>
                                        <p:strVal val="visible"/>
                                      </p:to>
                                    </p:set>
                                    <p:animEffect transition="in" filter="fade">
                                      <p:cBhvr>
                                        <p:cTn id="11" dur="500"/>
                                        <p:tgtEl>
                                          <p:spTgt spid="126"/>
                                        </p:tgtEl>
                                      </p:cBhvr>
                                    </p:animEffect>
                                  </p:childTnLst>
                                </p:cTn>
                              </p:par>
                              <p:par>
                                <p:cTn id="12" presetID="35" presetClass="path" presetSubtype="0" accel="50000" decel="50000" fill="hold" nodeType="withEffect">
                                  <p:stCondLst>
                                    <p:cond delay="0"/>
                                  </p:stCondLst>
                                  <p:childTnLst>
                                    <p:animMotion origin="layout" path="M 2.77778E-7 1.60494E-6 L -0.21319 0.08734 " pathEditMode="relative" rAng="0" ptsTypes="AA">
                                      <p:cBhvr>
                                        <p:cTn id="13" dur="2000" fill="hold"/>
                                        <p:tgtEl>
                                          <p:spTgt spid="148"/>
                                        </p:tgtEl>
                                        <p:attrNameLst>
                                          <p:attrName>ppt_x</p:attrName>
                                          <p:attrName>ppt_y</p:attrName>
                                        </p:attrNameLst>
                                      </p:cBhvr>
                                      <p:rCtr x="-10660" y="4352"/>
                                    </p:animMotion>
                                  </p:childTnLst>
                                </p:cTn>
                              </p:par>
                              <p:par>
                                <p:cTn id="14" presetID="63" presetClass="path" presetSubtype="0" accel="50000" decel="50000" fill="hold" nodeType="withEffect">
                                  <p:stCondLst>
                                    <p:cond delay="0"/>
                                  </p:stCondLst>
                                  <p:childTnLst>
                                    <p:animMotion origin="layout" path="M -3.33333E-6 -1.23457E-7 L 0.22414 -0.00154 " pathEditMode="relative" rAng="0" ptsTypes="AA">
                                      <p:cBhvr>
                                        <p:cTn id="15" dur="2000" fill="hold"/>
                                        <p:tgtEl>
                                          <p:spTgt spid="162"/>
                                        </p:tgtEl>
                                        <p:attrNameLst>
                                          <p:attrName>ppt_x</p:attrName>
                                          <p:attrName>ppt_y</p:attrName>
                                        </p:attrNameLst>
                                      </p:cBhvr>
                                      <p:rCtr x="11198" y="-93"/>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6"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B9EB11-ADE7-BBC2-A1EB-8185EE9BB4F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580EBBB-7403-49A2-878F-845672769BDF}"/>
              </a:ext>
            </a:extLst>
          </p:cNvPr>
          <p:cNvSpPr>
            <a:spLocks noGrp="1"/>
          </p:cNvSpPr>
          <p:nvPr>
            <p:ph type="title"/>
          </p:nvPr>
        </p:nvSpPr>
        <p:spPr>
          <a:xfrm>
            <a:off x="720000" y="312823"/>
            <a:ext cx="7704000" cy="572700"/>
          </a:xfrm>
        </p:spPr>
        <p:txBody>
          <a:bodyPr/>
          <a:lstStyle/>
          <a:p>
            <a:pPr algn="ctr"/>
            <a:r>
              <a:rPr lang="en-US" sz="2400" dirty="0"/>
              <a:t>We train six </a:t>
            </a:r>
            <a:r>
              <a:rPr lang="en-US" sz="2400" dirty="0" err="1"/>
              <a:t>Gamba</a:t>
            </a:r>
            <a:r>
              <a:rPr lang="en-US" sz="2400" dirty="0"/>
              <a:t> variants on the </a:t>
            </a:r>
            <a:br>
              <a:rPr lang="en-US" sz="2400" dirty="0"/>
            </a:br>
            <a:r>
              <a:rPr lang="en-US" sz="2400" dirty="0"/>
              <a:t>repeat-filtered human reference genome</a:t>
            </a:r>
          </a:p>
        </p:txBody>
      </p:sp>
      <p:pic>
        <p:nvPicPr>
          <p:cNvPr id="3" name="Picture 2" descr="G.&#10;&#10;AI-generated content may be incorrect.">
            <a:extLst>
              <a:ext uri="{FF2B5EF4-FFF2-40B4-BE49-F238E27FC236}">
                <a16:creationId xmlns:a16="http://schemas.microsoft.com/office/drawing/2014/main" id="{DA63C3C3-BB47-3733-E8F7-706471048321}"/>
              </a:ext>
            </a:extLst>
          </p:cNvPr>
          <p:cNvPicPr>
            <a:picLocks noChangeAspect="1"/>
          </p:cNvPicPr>
          <p:nvPr/>
        </p:nvPicPr>
        <p:blipFill>
          <a:blip r:embed="rId3"/>
          <a:stretch>
            <a:fillRect/>
          </a:stretch>
        </p:blipFill>
        <p:spPr>
          <a:xfrm>
            <a:off x="1716610" y="2571750"/>
            <a:ext cx="2017652" cy="204415"/>
          </a:xfrm>
          <a:prstGeom prst="rect">
            <a:avLst/>
          </a:prstGeom>
        </p:spPr>
      </p:pic>
      <p:pic>
        <p:nvPicPr>
          <p:cNvPr id="4" name="Picture 3" descr="AR-gLM&#10;&#10;AI-generated content may be incorrect.">
            <a:extLst>
              <a:ext uri="{FF2B5EF4-FFF2-40B4-BE49-F238E27FC236}">
                <a16:creationId xmlns:a16="http://schemas.microsoft.com/office/drawing/2014/main" id="{8140584B-ECBC-0472-352E-81097C5C7206}"/>
              </a:ext>
            </a:extLst>
          </p:cNvPr>
          <p:cNvPicPr>
            <a:picLocks noChangeAspect="1"/>
          </p:cNvPicPr>
          <p:nvPr/>
        </p:nvPicPr>
        <p:blipFill>
          <a:blip r:embed="rId4"/>
          <a:stretch>
            <a:fillRect/>
          </a:stretch>
        </p:blipFill>
        <p:spPr>
          <a:xfrm>
            <a:off x="1716610" y="1663238"/>
            <a:ext cx="1832165" cy="908512"/>
          </a:xfrm>
          <a:prstGeom prst="rect">
            <a:avLst/>
          </a:prstGeom>
        </p:spPr>
      </p:pic>
      <p:pic>
        <p:nvPicPr>
          <p:cNvPr id="5" name="Picture 4" descr="AR-gLM&#10;&#10;AI-generated content may be incorrect.">
            <a:extLst>
              <a:ext uri="{FF2B5EF4-FFF2-40B4-BE49-F238E27FC236}">
                <a16:creationId xmlns:a16="http://schemas.microsoft.com/office/drawing/2014/main" id="{B4F23331-2F5D-AF59-5685-DA6FE423EFEE}"/>
              </a:ext>
            </a:extLst>
          </p:cNvPr>
          <p:cNvPicPr>
            <a:picLocks noChangeAspect="1"/>
          </p:cNvPicPr>
          <p:nvPr/>
        </p:nvPicPr>
        <p:blipFill>
          <a:blip r:embed="rId4"/>
          <a:stretch>
            <a:fillRect/>
          </a:stretch>
        </p:blipFill>
        <p:spPr>
          <a:xfrm>
            <a:off x="4221112" y="1663238"/>
            <a:ext cx="1832165" cy="908512"/>
          </a:xfrm>
          <a:prstGeom prst="rect">
            <a:avLst/>
          </a:prstGeom>
        </p:spPr>
      </p:pic>
      <p:pic>
        <p:nvPicPr>
          <p:cNvPr id="6" name="Picture 5" descr="AR-gLM&#10;&#10;AI-generated content may be incorrect.">
            <a:extLst>
              <a:ext uri="{FF2B5EF4-FFF2-40B4-BE49-F238E27FC236}">
                <a16:creationId xmlns:a16="http://schemas.microsoft.com/office/drawing/2014/main" id="{9D7EDFC2-D6A7-A103-F9AB-521EC17CBF9E}"/>
              </a:ext>
            </a:extLst>
          </p:cNvPr>
          <p:cNvPicPr>
            <a:picLocks noChangeAspect="1"/>
          </p:cNvPicPr>
          <p:nvPr/>
        </p:nvPicPr>
        <p:blipFill>
          <a:blip r:embed="rId4"/>
          <a:stretch>
            <a:fillRect/>
          </a:stretch>
        </p:blipFill>
        <p:spPr>
          <a:xfrm>
            <a:off x="6725614" y="1663238"/>
            <a:ext cx="1832165" cy="908512"/>
          </a:xfrm>
          <a:prstGeom prst="rect">
            <a:avLst/>
          </a:prstGeom>
        </p:spPr>
      </p:pic>
      <p:pic>
        <p:nvPicPr>
          <p:cNvPr id="7" name="Picture 6" descr="The image depicts a grid of evenly spaced horizontal lines, with a distinctive purple plus sign at the top right corner.&#10;&#10;AI-generated content may be incorrect.">
            <a:extLst>
              <a:ext uri="{FF2B5EF4-FFF2-40B4-BE49-F238E27FC236}">
                <a16:creationId xmlns:a16="http://schemas.microsoft.com/office/drawing/2014/main" id="{C4D6F65A-2822-6F37-9085-A7D4653EA74A}"/>
              </a:ext>
            </a:extLst>
          </p:cNvPr>
          <p:cNvPicPr>
            <a:picLocks noChangeAspect="1"/>
          </p:cNvPicPr>
          <p:nvPr/>
        </p:nvPicPr>
        <p:blipFill>
          <a:blip r:embed="rId5"/>
          <a:stretch>
            <a:fillRect/>
          </a:stretch>
        </p:blipFill>
        <p:spPr>
          <a:xfrm>
            <a:off x="4215433" y="2556607"/>
            <a:ext cx="1843521" cy="234699"/>
          </a:xfrm>
          <a:prstGeom prst="rect">
            <a:avLst/>
          </a:prstGeom>
        </p:spPr>
      </p:pic>
      <p:pic>
        <p:nvPicPr>
          <p:cNvPr id="8" name="Picture 7" descr="G.&#10;&#10;AI-generated content may be incorrect.">
            <a:extLst>
              <a:ext uri="{FF2B5EF4-FFF2-40B4-BE49-F238E27FC236}">
                <a16:creationId xmlns:a16="http://schemas.microsoft.com/office/drawing/2014/main" id="{AEAE5238-B0D3-1A4A-7A8D-9AC51812FA9F}"/>
              </a:ext>
            </a:extLst>
          </p:cNvPr>
          <p:cNvPicPr>
            <a:picLocks noChangeAspect="1"/>
          </p:cNvPicPr>
          <p:nvPr/>
        </p:nvPicPr>
        <p:blipFill>
          <a:blip r:embed="rId3"/>
          <a:stretch>
            <a:fillRect/>
          </a:stretch>
        </p:blipFill>
        <p:spPr>
          <a:xfrm>
            <a:off x="6725612" y="2571748"/>
            <a:ext cx="2017652" cy="204415"/>
          </a:xfrm>
          <a:prstGeom prst="rect">
            <a:avLst/>
          </a:prstGeom>
        </p:spPr>
      </p:pic>
      <p:pic>
        <p:nvPicPr>
          <p:cNvPr id="9" name="Picture 8" descr="The image depicts a grid of evenly spaced horizontal lines, with a distinctive purple plus sign at the top right corner.&#10;&#10;AI-generated content may be incorrect.">
            <a:extLst>
              <a:ext uri="{FF2B5EF4-FFF2-40B4-BE49-F238E27FC236}">
                <a16:creationId xmlns:a16="http://schemas.microsoft.com/office/drawing/2014/main" id="{19E39F65-85EA-71B1-CF2D-CFAF053724E6}"/>
              </a:ext>
            </a:extLst>
          </p:cNvPr>
          <p:cNvPicPr>
            <a:picLocks noChangeAspect="1"/>
          </p:cNvPicPr>
          <p:nvPr/>
        </p:nvPicPr>
        <p:blipFill>
          <a:blip r:embed="rId5"/>
          <a:stretch>
            <a:fillRect/>
          </a:stretch>
        </p:blipFill>
        <p:spPr>
          <a:xfrm>
            <a:off x="6719935" y="2791306"/>
            <a:ext cx="1843521" cy="234699"/>
          </a:xfrm>
          <a:prstGeom prst="rect">
            <a:avLst/>
          </a:prstGeom>
        </p:spPr>
      </p:pic>
      <p:pic>
        <p:nvPicPr>
          <p:cNvPr id="10" name="Picture 9" descr="The image depicts a segment of DNA sequence (A, C, T, G) and a label indicating a bidirectional gLM.&#10;&#10;AI-generated content may be incorrect.">
            <a:extLst>
              <a:ext uri="{FF2B5EF4-FFF2-40B4-BE49-F238E27FC236}">
                <a16:creationId xmlns:a16="http://schemas.microsoft.com/office/drawing/2014/main" id="{4D564A63-54EA-6121-EA8C-1E7603228C94}"/>
              </a:ext>
            </a:extLst>
          </p:cNvPr>
          <p:cNvPicPr>
            <a:picLocks noChangeAspect="1"/>
          </p:cNvPicPr>
          <p:nvPr/>
        </p:nvPicPr>
        <p:blipFill>
          <a:blip r:embed="rId6"/>
          <a:stretch>
            <a:fillRect/>
          </a:stretch>
        </p:blipFill>
        <p:spPr>
          <a:xfrm>
            <a:off x="1720396" y="3338109"/>
            <a:ext cx="1828379" cy="904725"/>
          </a:xfrm>
          <a:prstGeom prst="rect">
            <a:avLst/>
          </a:prstGeom>
        </p:spPr>
      </p:pic>
      <p:pic>
        <p:nvPicPr>
          <p:cNvPr id="12" name="Picture 11" descr="The image depicts a segment of DNA sequence (A, C, T, G) and a label indicating a bidirectional gLM.&#10;&#10;AI-generated content may be incorrect.">
            <a:extLst>
              <a:ext uri="{FF2B5EF4-FFF2-40B4-BE49-F238E27FC236}">
                <a16:creationId xmlns:a16="http://schemas.microsoft.com/office/drawing/2014/main" id="{162FE2A1-6F44-400D-DF3B-10D5950A6681}"/>
              </a:ext>
            </a:extLst>
          </p:cNvPr>
          <p:cNvPicPr>
            <a:picLocks noChangeAspect="1"/>
          </p:cNvPicPr>
          <p:nvPr/>
        </p:nvPicPr>
        <p:blipFill>
          <a:blip r:embed="rId6"/>
          <a:stretch>
            <a:fillRect/>
          </a:stretch>
        </p:blipFill>
        <p:spPr>
          <a:xfrm>
            <a:off x="4224898" y="3338109"/>
            <a:ext cx="1828379" cy="904725"/>
          </a:xfrm>
          <a:prstGeom prst="rect">
            <a:avLst/>
          </a:prstGeom>
        </p:spPr>
      </p:pic>
      <p:pic>
        <p:nvPicPr>
          <p:cNvPr id="13" name="Picture 12" descr="The image depicts a segment of DNA sequence (A, C, T, G) and a label indicating a bidirectional gLM.&#10;&#10;AI-generated content may be incorrect.">
            <a:extLst>
              <a:ext uri="{FF2B5EF4-FFF2-40B4-BE49-F238E27FC236}">
                <a16:creationId xmlns:a16="http://schemas.microsoft.com/office/drawing/2014/main" id="{8A64F6B2-F85D-245B-8142-403D1C8E2DF1}"/>
              </a:ext>
            </a:extLst>
          </p:cNvPr>
          <p:cNvPicPr>
            <a:picLocks noChangeAspect="1"/>
          </p:cNvPicPr>
          <p:nvPr/>
        </p:nvPicPr>
        <p:blipFill>
          <a:blip r:embed="rId6"/>
          <a:stretch>
            <a:fillRect/>
          </a:stretch>
        </p:blipFill>
        <p:spPr>
          <a:xfrm>
            <a:off x="6729400" y="3338109"/>
            <a:ext cx="1828379" cy="904725"/>
          </a:xfrm>
          <a:prstGeom prst="rect">
            <a:avLst/>
          </a:prstGeom>
        </p:spPr>
      </p:pic>
      <p:sp>
        <p:nvSpPr>
          <p:cNvPr id="18" name="Text Placeholder 2">
            <a:extLst>
              <a:ext uri="{FF2B5EF4-FFF2-40B4-BE49-F238E27FC236}">
                <a16:creationId xmlns:a16="http://schemas.microsoft.com/office/drawing/2014/main" id="{8145D72A-540C-53A8-4373-C9EEC904FDF7}"/>
              </a:ext>
            </a:extLst>
          </p:cNvPr>
          <p:cNvSpPr txBox="1">
            <a:spLocks/>
          </p:cNvSpPr>
          <p:nvPr/>
        </p:nvSpPr>
        <p:spPr>
          <a:xfrm>
            <a:off x="873763" y="1204069"/>
            <a:ext cx="3454902" cy="586179"/>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79400" algn="l" rtl="0">
              <a:lnSpc>
                <a:spcPct val="115000"/>
              </a:lnSpc>
              <a:spcBef>
                <a:spcPts val="0"/>
              </a:spcBef>
              <a:spcAft>
                <a:spcPts val="0"/>
              </a:spcAft>
              <a:buClr>
                <a:schemeClr val="dk1"/>
              </a:buClr>
              <a:buSzPts val="800"/>
              <a:buFont typeface="Hanken Grotesk"/>
              <a:buChar char="●"/>
              <a:defRPr sz="1400" b="0" i="0" u="none" strike="noStrike" cap="none">
                <a:solidFill>
                  <a:schemeClr val="dk1"/>
                </a:solidFill>
                <a:latin typeface="Hanken Grotesk"/>
                <a:ea typeface="Hanken Grotesk"/>
                <a:cs typeface="Hanken Grotesk"/>
                <a:sym typeface="Hanken Grotesk"/>
              </a:defRPr>
            </a:lvl1pPr>
            <a:lvl2pPr marL="914400" marR="0" lvl="1"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2pPr>
            <a:lvl3pPr marL="1371600" marR="0" lvl="2"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3pPr>
            <a:lvl4pPr marL="1828800" marR="0" lvl="3"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4pPr>
            <a:lvl5pPr marL="2286000" marR="0" lvl="4"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5pPr>
            <a:lvl6pPr marL="2743200" marR="0" lvl="5"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6pPr>
            <a:lvl7pPr marL="3200400" marR="0" lvl="6"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7pPr>
            <a:lvl8pPr marL="3657600" marR="0" lvl="7"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8pPr>
            <a:lvl9pPr marL="4114800" marR="0" lvl="8"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9pPr>
          </a:lstStyle>
          <a:p>
            <a:pPr marL="177800" indent="0" algn="ctr">
              <a:buFont typeface="Hanken Grotesk"/>
              <a:buNone/>
            </a:pPr>
            <a:r>
              <a:rPr lang="en-US" b="1" dirty="0"/>
              <a:t>Sequence only</a:t>
            </a:r>
          </a:p>
        </p:txBody>
      </p:sp>
      <p:sp>
        <p:nvSpPr>
          <p:cNvPr id="19" name="Text Placeholder 2">
            <a:extLst>
              <a:ext uri="{FF2B5EF4-FFF2-40B4-BE49-F238E27FC236}">
                <a16:creationId xmlns:a16="http://schemas.microsoft.com/office/drawing/2014/main" id="{C9DD4F1F-3647-CE03-8D1A-13A14CE172E3}"/>
              </a:ext>
            </a:extLst>
          </p:cNvPr>
          <p:cNvSpPr txBox="1">
            <a:spLocks/>
          </p:cNvSpPr>
          <p:nvPr/>
        </p:nvSpPr>
        <p:spPr>
          <a:xfrm>
            <a:off x="3274498" y="1204069"/>
            <a:ext cx="3454902" cy="586179"/>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79400" algn="l" rtl="0">
              <a:lnSpc>
                <a:spcPct val="115000"/>
              </a:lnSpc>
              <a:spcBef>
                <a:spcPts val="0"/>
              </a:spcBef>
              <a:spcAft>
                <a:spcPts val="0"/>
              </a:spcAft>
              <a:buClr>
                <a:schemeClr val="dk1"/>
              </a:buClr>
              <a:buSzPts val="800"/>
              <a:buFont typeface="Hanken Grotesk"/>
              <a:buChar char="●"/>
              <a:defRPr sz="1400" b="0" i="0" u="none" strike="noStrike" cap="none">
                <a:solidFill>
                  <a:schemeClr val="dk1"/>
                </a:solidFill>
                <a:latin typeface="Hanken Grotesk"/>
                <a:ea typeface="Hanken Grotesk"/>
                <a:cs typeface="Hanken Grotesk"/>
                <a:sym typeface="Hanken Grotesk"/>
              </a:defRPr>
            </a:lvl1pPr>
            <a:lvl2pPr marL="914400" marR="0" lvl="1"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2pPr>
            <a:lvl3pPr marL="1371600" marR="0" lvl="2"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3pPr>
            <a:lvl4pPr marL="1828800" marR="0" lvl="3"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4pPr>
            <a:lvl5pPr marL="2286000" marR="0" lvl="4"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5pPr>
            <a:lvl6pPr marL="2743200" marR="0" lvl="5"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6pPr>
            <a:lvl7pPr marL="3200400" marR="0" lvl="6"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7pPr>
            <a:lvl8pPr marL="3657600" marR="0" lvl="7"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8pPr>
            <a:lvl9pPr marL="4114800" marR="0" lvl="8"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9pPr>
          </a:lstStyle>
          <a:p>
            <a:pPr marL="177800" indent="0" algn="ctr">
              <a:buFont typeface="Hanken Grotesk"/>
              <a:buNone/>
            </a:pPr>
            <a:r>
              <a:rPr lang="en-US" b="1" dirty="0"/>
              <a:t>Evolutionary rate only</a:t>
            </a:r>
          </a:p>
        </p:txBody>
      </p:sp>
      <p:sp>
        <p:nvSpPr>
          <p:cNvPr id="20" name="Text Placeholder 2">
            <a:extLst>
              <a:ext uri="{FF2B5EF4-FFF2-40B4-BE49-F238E27FC236}">
                <a16:creationId xmlns:a16="http://schemas.microsoft.com/office/drawing/2014/main" id="{8907CD3F-C61A-D52C-9591-E055C091EC4D}"/>
              </a:ext>
            </a:extLst>
          </p:cNvPr>
          <p:cNvSpPr txBox="1">
            <a:spLocks/>
          </p:cNvSpPr>
          <p:nvPr/>
        </p:nvSpPr>
        <p:spPr>
          <a:xfrm>
            <a:off x="5820730" y="1191951"/>
            <a:ext cx="3454902" cy="586179"/>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79400" algn="l" rtl="0">
              <a:lnSpc>
                <a:spcPct val="115000"/>
              </a:lnSpc>
              <a:spcBef>
                <a:spcPts val="0"/>
              </a:spcBef>
              <a:spcAft>
                <a:spcPts val="0"/>
              </a:spcAft>
              <a:buClr>
                <a:schemeClr val="dk1"/>
              </a:buClr>
              <a:buSzPts val="800"/>
              <a:buFont typeface="Hanken Grotesk"/>
              <a:buChar char="●"/>
              <a:defRPr sz="1400" b="0" i="0" u="none" strike="noStrike" cap="none">
                <a:solidFill>
                  <a:schemeClr val="dk1"/>
                </a:solidFill>
                <a:latin typeface="Hanken Grotesk"/>
                <a:ea typeface="Hanken Grotesk"/>
                <a:cs typeface="Hanken Grotesk"/>
                <a:sym typeface="Hanken Grotesk"/>
              </a:defRPr>
            </a:lvl1pPr>
            <a:lvl2pPr marL="914400" marR="0" lvl="1"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2pPr>
            <a:lvl3pPr marL="1371600" marR="0" lvl="2"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3pPr>
            <a:lvl4pPr marL="1828800" marR="0" lvl="3"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4pPr>
            <a:lvl5pPr marL="2286000" marR="0" lvl="4"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5pPr>
            <a:lvl6pPr marL="2743200" marR="0" lvl="5"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6pPr>
            <a:lvl7pPr marL="3200400" marR="0" lvl="6"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7pPr>
            <a:lvl8pPr marL="3657600" marR="0" lvl="7"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8pPr>
            <a:lvl9pPr marL="4114800" marR="0" lvl="8"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9pPr>
          </a:lstStyle>
          <a:p>
            <a:pPr marL="177800" indent="0" algn="ctr">
              <a:buFont typeface="Hanken Grotesk"/>
              <a:buNone/>
            </a:pPr>
            <a:r>
              <a:rPr lang="en-US" b="1" dirty="0"/>
              <a:t>Both combined</a:t>
            </a:r>
          </a:p>
        </p:txBody>
      </p:sp>
      <p:pic>
        <p:nvPicPr>
          <p:cNvPr id="23" name="Picture 22" descr="A&#10;&#10;AI-generated content may be incorrect.">
            <a:extLst>
              <a:ext uri="{FF2B5EF4-FFF2-40B4-BE49-F238E27FC236}">
                <a16:creationId xmlns:a16="http://schemas.microsoft.com/office/drawing/2014/main" id="{2FE4A252-DBD1-1E5F-05F7-D18C36DF655D}"/>
              </a:ext>
            </a:extLst>
          </p:cNvPr>
          <p:cNvPicPr>
            <a:picLocks noChangeAspect="1"/>
          </p:cNvPicPr>
          <p:nvPr/>
        </p:nvPicPr>
        <p:blipFill>
          <a:blip r:embed="rId7"/>
          <a:stretch>
            <a:fillRect/>
          </a:stretch>
        </p:blipFill>
        <p:spPr>
          <a:xfrm>
            <a:off x="1716609" y="4242834"/>
            <a:ext cx="1832165" cy="204415"/>
          </a:xfrm>
          <a:prstGeom prst="rect">
            <a:avLst/>
          </a:prstGeom>
        </p:spPr>
      </p:pic>
      <p:pic>
        <p:nvPicPr>
          <p:cNvPr id="24" name="Picture 23" descr="A&#10;&#10;AI-generated content may be incorrect.">
            <a:extLst>
              <a:ext uri="{FF2B5EF4-FFF2-40B4-BE49-F238E27FC236}">
                <a16:creationId xmlns:a16="http://schemas.microsoft.com/office/drawing/2014/main" id="{E5085F7E-6097-5F87-23F9-80F9D978B8C6}"/>
              </a:ext>
            </a:extLst>
          </p:cNvPr>
          <p:cNvPicPr>
            <a:picLocks noChangeAspect="1"/>
          </p:cNvPicPr>
          <p:nvPr/>
        </p:nvPicPr>
        <p:blipFill>
          <a:blip r:embed="rId7"/>
          <a:stretch>
            <a:fillRect/>
          </a:stretch>
        </p:blipFill>
        <p:spPr>
          <a:xfrm>
            <a:off x="6729400" y="4242834"/>
            <a:ext cx="1832165" cy="204415"/>
          </a:xfrm>
          <a:prstGeom prst="rect">
            <a:avLst/>
          </a:prstGeom>
        </p:spPr>
      </p:pic>
      <p:pic>
        <p:nvPicPr>
          <p:cNvPr id="25" name="Picture 24" descr="The image displays a sequence of mathematical symbols, specifically a plus sign, a minus sign, a zero, and two more plus signs, arranged in a linear, sequential pattern.&#10;&#10;AI-generated content may be incorrect.">
            <a:extLst>
              <a:ext uri="{FF2B5EF4-FFF2-40B4-BE49-F238E27FC236}">
                <a16:creationId xmlns:a16="http://schemas.microsoft.com/office/drawing/2014/main" id="{D569770E-AE7B-3718-8735-FF0815B62E57}"/>
              </a:ext>
            </a:extLst>
          </p:cNvPr>
          <p:cNvPicPr>
            <a:picLocks noChangeAspect="1"/>
          </p:cNvPicPr>
          <p:nvPr/>
        </p:nvPicPr>
        <p:blipFill>
          <a:blip r:embed="rId8"/>
          <a:stretch>
            <a:fillRect/>
          </a:stretch>
        </p:blipFill>
        <p:spPr>
          <a:xfrm>
            <a:off x="4215433" y="4242834"/>
            <a:ext cx="1835950" cy="234699"/>
          </a:xfrm>
          <a:prstGeom prst="rect">
            <a:avLst/>
          </a:prstGeom>
        </p:spPr>
      </p:pic>
      <p:pic>
        <p:nvPicPr>
          <p:cNvPr id="26" name="Picture 25" descr="The image displays a sequence of mathematical symbols, specifically a plus sign, a minus sign, a zero, and two more plus signs, arranged in a linear, sequential pattern.&#10;&#10;AI-generated content may be incorrect.">
            <a:extLst>
              <a:ext uri="{FF2B5EF4-FFF2-40B4-BE49-F238E27FC236}">
                <a16:creationId xmlns:a16="http://schemas.microsoft.com/office/drawing/2014/main" id="{87D95C5D-E2DC-BBBC-3C90-915877A50F12}"/>
              </a:ext>
            </a:extLst>
          </p:cNvPr>
          <p:cNvPicPr>
            <a:picLocks noChangeAspect="1"/>
          </p:cNvPicPr>
          <p:nvPr/>
        </p:nvPicPr>
        <p:blipFill>
          <a:blip r:embed="rId8"/>
          <a:stretch>
            <a:fillRect/>
          </a:stretch>
        </p:blipFill>
        <p:spPr>
          <a:xfrm>
            <a:off x="6725612" y="4477533"/>
            <a:ext cx="1835950" cy="234699"/>
          </a:xfrm>
          <a:prstGeom prst="rect">
            <a:avLst/>
          </a:prstGeom>
        </p:spPr>
      </p:pic>
    </p:spTree>
    <p:extLst>
      <p:ext uri="{BB962C8B-B14F-4D97-AF65-F5344CB8AC3E}">
        <p14:creationId xmlns:p14="http://schemas.microsoft.com/office/powerpoint/2010/main" val="178910484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7FC8A0-764D-057B-36AE-4E5189CC6F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396A98-2CD2-04C0-91B9-945D4A7DCB26}"/>
              </a:ext>
            </a:extLst>
          </p:cNvPr>
          <p:cNvSpPr>
            <a:spLocks noGrp="1"/>
          </p:cNvSpPr>
          <p:nvPr>
            <p:ph type="title"/>
          </p:nvPr>
        </p:nvSpPr>
        <p:spPr>
          <a:xfrm>
            <a:off x="720000" y="312823"/>
            <a:ext cx="7704000" cy="572700"/>
          </a:xfrm>
        </p:spPr>
        <p:txBody>
          <a:bodyPr/>
          <a:lstStyle/>
          <a:p>
            <a:pPr algn="ctr"/>
            <a:r>
              <a:rPr lang="en-US" sz="2400" dirty="0"/>
              <a:t>We train six </a:t>
            </a:r>
            <a:r>
              <a:rPr lang="en-US" sz="2400" dirty="0" err="1"/>
              <a:t>Gamba</a:t>
            </a:r>
            <a:r>
              <a:rPr lang="en-US" sz="2400" dirty="0"/>
              <a:t> variants on the </a:t>
            </a:r>
            <a:br>
              <a:rPr lang="en-US" sz="2400" dirty="0"/>
            </a:br>
            <a:r>
              <a:rPr lang="en-US" sz="2400" dirty="0"/>
              <a:t>repeat-filtered human reference genome</a:t>
            </a:r>
          </a:p>
        </p:txBody>
      </p:sp>
      <p:pic>
        <p:nvPicPr>
          <p:cNvPr id="3" name="Picture 2" descr="G.&#10;&#10;AI-generated content may be incorrect.">
            <a:extLst>
              <a:ext uri="{FF2B5EF4-FFF2-40B4-BE49-F238E27FC236}">
                <a16:creationId xmlns:a16="http://schemas.microsoft.com/office/drawing/2014/main" id="{13E0F93D-2D82-8D8E-61D0-220F192E87E4}"/>
              </a:ext>
            </a:extLst>
          </p:cNvPr>
          <p:cNvPicPr>
            <a:picLocks noChangeAspect="1"/>
          </p:cNvPicPr>
          <p:nvPr/>
        </p:nvPicPr>
        <p:blipFill>
          <a:blip r:embed="rId3"/>
          <a:stretch>
            <a:fillRect/>
          </a:stretch>
        </p:blipFill>
        <p:spPr>
          <a:xfrm>
            <a:off x="1716610" y="2571750"/>
            <a:ext cx="2017652" cy="204415"/>
          </a:xfrm>
          <a:prstGeom prst="rect">
            <a:avLst/>
          </a:prstGeom>
        </p:spPr>
      </p:pic>
      <p:pic>
        <p:nvPicPr>
          <p:cNvPr id="4" name="Picture 3" descr="AR-gLM&#10;&#10;AI-generated content may be incorrect.">
            <a:extLst>
              <a:ext uri="{FF2B5EF4-FFF2-40B4-BE49-F238E27FC236}">
                <a16:creationId xmlns:a16="http://schemas.microsoft.com/office/drawing/2014/main" id="{5E1F8611-180D-8D4D-4245-D4B77078EC42}"/>
              </a:ext>
            </a:extLst>
          </p:cNvPr>
          <p:cNvPicPr>
            <a:picLocks noChangeAspect="1"/>
          </p:cNvPicPr>
          <p:nvPr/>
        </p:nvPicPr>
        <p:blipFill>
          <a:blip r:embed="rId4"/>
          <a:stretch>
            <a:fillRect/>
          </a:stretch>
        </p:blipFill>
        <p:spPr>
          <a:xfrm>
            <a:off x="1716610" y="1663238"/>
            <a:ext cx="1832165" cy="908512"/>
          </a:xfrm>
          <a:prstGeom prst="rect">
            <a:avLst/>
          </a:prstGeom>
        </p:spPr>
      </p:pic>
      <p:pic>
        <p:nvPicPr>
          <p:cNvPr id="5" name="Picture 4" descr="AR-gLM&#10;&#10;AI-generated content may be incorrect.">
            <a:extLst>
              <a:ext uri="{FF2B5EF4-FFF2-40B4-BE49-F238E27FC236}">
                <a16:creationId xmlns:a16="http://schemas.microsoft.com/office/drawing/2014/main" id="{A567ED09-CCA1-E2C0-255A-D8F3557E5F54}"/>
              </a:ext>
            </a:extLst>
          </p:cNvPr>
          <p:cNvPicPr>
            <a:picLocks noChangeAspect="1"/>
          </p:cNvPicPr>
          <p:nvPr/>
        </p:nvPicPr>
        <p:blipFill>
          <a:blip r:embed="rId4"/>
          <a:stretch>
            <a:fillRect/>
          </a:stretch>
        </p:blipFill>
        <p:spPr>
          <a:xfrm>
            <a:off x="4221112" y="1663238"/>
            <a:ext cx="1832165" cy="908512"/>
          </a:xfrm>
          <a:prstGeom prst="rect">
            <a:avLst/>
          </a:prstGeom>
        </p:spPr>
      </p:pic>
      <p:pic>
        <p:nvPicPr>
          <p:cNvPr id="6" name="Picture 5" descr="AR-gLM&#10;&#10;AI-generated content may be incorrect.">
            <a:extLst>
              <a:ext uri="{FF2B5EF4-FFF2-40B4-BE49-F238E27FC236}">
                <a16:creationId xmlns:a16="http://schemas.microsoft.com/office/drawing/2014/main" id="{8DED09A1-1D5E-629F-C2FA-94A8DD53C4B7}"/>
              </a:ext>
            </a:extLst>
          </p:cNvPr>
          <p:cNvPicPr>
            <a:picLocks noChangeAspect="1"/>
          </p:cNvPicPr>
          <p:nvPr/>
        </p:nvPicPr>
        <p:blipFill>
          <a:blip r:embed="rId4"/>
          <a:stretch>
            <a:fillRect/>
          </a:stretch>
        </p:blipFill>
        <p:spPr>
          <a:xfrm>
            <a:off x="6725614" y="1663238"/>
            <a:ext cx="1832165" cy="908512"/>
          </a:xfrm>
          <a:prstGeom prst="rect">
            <a:avLst/>
          </a:prstGeom>
        </p:spPr>
      </p:pic>
      <p:pic>
        <p:nvPicPr>
          <p:cNvPr id="7" name="Picture 6" descr="The image depicts a grid of evenly spaced horizontal lines, with a distinctive purple plus sign at the top right corner.&#10;&#10;AI-generated content may be incorrect.">
            <a:extLst>
              <a:ext uri="{FF2B5EF4-FFF2-40B4-BE49-F238E27FC236}">
                <a16:creationId xmlns:a16="http://schemas.microsoft.com/office/drawing/2014/main" id="{742CA68C-BAD8-16AD-423B-485EBF6511A6}"/>
              </a:ext>
            </a:extLst>
          </p:cNvPr>
          <p:cNvPicPr>
            <a:picLocks noChangeAspect="1"/>
          </p:cNvPicPr>
          <p:nvPr/>
        </p:nvPicPr>
        <p:blipFill>
          <a:blip r:embed="rId5"/>
          <a:stretch>
            <a:fillRect/>
          </a:stretch>
        </p:blipFill>
        <p:spPr>
          <a:xfrm>
            <a:off x="4215433" y="2556607"/>
            <a:ext cx="1843521" cy="234699"/>
          </a:xfrm>
          <a:prstGeom prst="rect">
            <a:avLst/>
          </a:prstGeom>
        </p:spPr>
      </p:pic>
      <p:pic>
        <p:nvPicPr>
          <p:cNvPr id="8" name="Picture 7" descr="G.&#10;&#10;AI-generated content may be incorrect.">
            <a:extLst>
              <a:ext uri="{FF2B5EF4-FFF2-40B4-BE49-F238E27FC236}">
                <a16:creationId xmlns:a16="http://schemas.microsoft.com/office/drawing/2014/main" id="{6A1E06BC-B66E-51B1-9529-F15C94C818F8}"/>
              </a:ext>
            </a:extLst>
          </p:cNvPr>
          <p:cNvPicPr>
            <a:picLocks noChangeAspect="1"/>
          </p:cNvPicPr>
          <p:nvPr/>
        </p:nvPicPr>
        <p:blipFill>
          <a:blip r:embed="rId3"/>
          <a:stretch>
            <a:fillRect/>
          </a:stretch>
        </p:blipFill>
        <p:spPr>
          <a:xfrm>
            <a:off x="6725612" y="2571748"/>
            <a:ext cx="2017652" cy="204415"/>
          </a:xfrm>
          <a:prstGeom prst="rect">
            <a:avLst/>
          </a:prstGeom>
        </p:spPr>
      </p:pic>
      <p:pic>
        <p:nvPicPr>
          <p:cNvPr id="9" name="Picture 8" descr="The image depicts a grid of evenly spaced horizontal lines, with a distinctive purple plus sign at the top right corner.&#10;&#10;AI-generated content may be incorrect.">
            <a:extLst>
              <a:ext uri="{FF2B5EF4-FFF2-40B4-BE49-F238E27FC236}">
                <a16:creationId xmlns:a16="http://schemas.microsoft.com/office/drawing/2014/main" id="{0AF8CA74-BD7D-9783-0774-10FD3FA10A37}"/>
              </a:ext>
            </a:extLst>
          </p:cNvPr>
          <p:cNvPicPr>
            <a:picLocks noChangeAspect="1"/>
          </p:cNvPicPr>
          <p:nvPr/>
        </p:nvPicPr>
        <p:blipFill>
          <a:blip r:embed="rId5"/>
          <a:stretch>
            <a:fillRect/>
          </a:stretch>
        </p:blipFill>
        <p:spPr>
          <a:xfrm>
            <a:off x="6719935" y="2791306"/>
            <a:ext cx="1843521" cy="234699"/>
          </a:xfrm>
          <a:prstGeom prst="rect">
            <a:avLst/>
          </a:prstGeom>
        </p:spPr>
      </p:pic>
      <p:pic>
        <p:nvPicPr>
          <p:cNvPr id="10" name="Picture 9" descr="The image depicts a segment of DNA sequence (A, C, T, G) and a label indicating a bidirectional gLM.&#10;&#10;AI-generated content may be incorrect.">
            <a:extLst>
              <a:ext uri="{FF2B5EF4-FFF2-40B4-BE49-F238E27FC236}">
                <a16:creationId xmlns:a16="http://schemas.microsoft.com/office/drawing/2014/main" id="{BE86DB28-A3B8-5C3C-AAB4-F7CC91ED63EA}"/>
              </a:ext>
            </a:extLst>
          </p:cNvPr>
          <p:cNvPicPr>
            <a:picLocks noChangeAspect="1"/>
          </p:cNvPicPr>
          <p:nvPr/>
        </p:nvPicPr>
        <p:blipFill>
          <a:blip r:embed="rId6"/>
          <a:stretch>
            <a:fillRect/>
          </a:stretch>
        </p:blipFill>
        <p:spPr>
          <a:xfrm>
            <a:off x="1720396" y="3338109"/>
            <a:ext cx="1828379" cy="904725"/>
          </a:xfrm>
          <a:prstGeom prst="rect">
            <a:avLst/>
          </a:prstGeom>
        </p:spPr>
      </p:pic>
      <p:pic>
        <p:nvPicPr>
          <p:cNvPr id="12" name="Picture 11" descr="The image depicts a segment of DNA sequence (A, C, T, G) and a label indicating a bidirectional gLM.&#10;&#10;AI-generated content may be incorrect.">
            <a:extLst>
              <a:ext uri="{FF2B5EF4-FFF2-40B4-BE49-F238E27FC236}">
                <a16:creationId xmlns:a16="http://schemas.microsoft.com/office/drawing/2014/main" id="{87F3F66E-21E0-1DF7-6242-A79F36E0BF89}"/>
              </a:ext>
            </a:extLst>
          </p:cNvPr>
          <p:cNvPicPr>
            <a:picLocks noChangeAspect="1"/>
          </p:cNvPicPr>
          <p:nvPr/>
        </p:nvPicPr>
        <p:blipFill>
          <a:blip r:embed="rId6"/>
          <a:stretch>
            <a:fillRect/>
          </a:stretch>
        </p:blipFill>
        <p:spPr>
          <a:xfrm>
            <a:off x="4224898" y="3338109"/>
            <a:ext cx="1828379" cy="904725"/>
          </a:xfrm>
          <a:prstGeom prst="rect">
            <a:avLst/>
          </a:prstGeom>
        </p:spPr>
      </p:pic>
      <p:pic>
        <p:nvPicPr>
          <p:cNvPr id="13" name="Picture 12" descr="The image depicts a segment of DNA sequence (A, C, T, G) and a label indicating a bidirectional gLM.&#10;&#10;AI-generated content may be incorrect.">
            <a:extLst>
              <a:ext uri="{FF2B5EF4-FFF2-40B4-BE49-F238E27FC236}">
                <a16:creationId xmlns:a16="http://schemas.microsoft.com/office/drawing/2014/main" id="{5DB49FD1-B931-1527-F3FC-BA9D695C9D13}"/>
              </a:ext>
            </a:extLst>
          </p:cNvPr>
          <p:cNvPicPr>
            <a:picLocks noChangeAspect="1"/>
          </p:cNvPicPr>
          <p:nvPr/>
        </p:nvPicPr>
        <p:blipFill>
          <a:blip r:embed="rId6"/>
          <a:stretch>
            <a:fillRect/>
          </a:stretch>
        </p:blipFill>
        <p:spPr>
          <a:xfrm>
            <a:off x="6729400" y="3338109"/>
            <a:ext cx="1828379" cy="904725"/>
          </a:xfrm>
          <a:prstGeom prst="rect">
            <a:avLst/>
          </a:prstGeom>
        </p:spPr>
      </p:pic>
      <p:sp>
        <p:nvSpPr>
          <p:cNvPr id="18" name="Text Placeholder 2">
            <a:extLst>
              <a:ext uri="{FF2B5EF4-FFF2-40B4-BE49-F238E27FC236}">
                <a16:creationId xmlns:a16="http://schemas.microsoft.com/office/drawing/2014/main" id="{1B6D6841-8CF3-E773-C07F-5629A25C0A47}"/>
              </a:ext>
            </a:extLst>
          </p:cNvPr>
          <p:cNvSpPr txBox="1">
            <a:spLocks/>
          </p:cNvSpPr>
          <p:nvPr/>
        </p:nvSpPr>
        <p:spPr>
          <a:xfrm>
            <a:off x="873763" y="1204069"/>
            <a:ext cx="3454902" cy="586179"/>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79400" algn="l" rtl="0">
              <a:lnSpc>
                <a:spcPct val="115000"/>
              </a:lnSpc>
              <a:spcBef>
                <a:spcPts val="0"/>
              </a:spcBef>
              <a:spcAft>
                <a:spcPts val="0"/>
              </a:spcAft>
              <a:buClr>
                <a:schemeClr val="dk1"/>
              </a:buClr>
              <a:buSzPts val="800"/>
              <a:buFont typeface="Hanken Grotesk"/>
              <a:buChar char="●"/>
              <a:defRPr sz="1400" b="0" i="0" u="none" strike="noStrike" cap="none">
                <a:solidFill>
                  <a:schemeClr val="dk1"/>
                </a:solidFill>
                <a:latin typeface="Hanken Grotesk"/>
                <a:ea typeface="Hanken Grotesk"/>
                <a:cs typeface="Hanken Grotesk"/>
                <a:sym typeface="Hanken Grotesk"/>
              </a:defRPr>
            </a:lvl1pPr>
            <a:lvl2pPr marL="914400" marR="0" lvl="1"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2pPr>
            <a:lvl3pPr marL="1371600" marR="0" lvl="2"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3pPr>
            <a:lvl4pPr marL="1828800" marR="0" lvl="3"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4pPr>
            <a:lvl5pPr marL="2286000" marR="0" lvl="4"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5pPr>
            <a:lvl6pPr marL="2743200" marR="0" lvl="5"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6pPr>
            <a:lvl7pPr marL="3200400" marR="0" lvl="6"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7pPr>
            <a:lvl8pPr marL="3657600" marR="0" lvl="7"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8pPr>
            <a:lvl9pPr marL="4114800" marR="0" lvl="8"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9pPr>
          </a:lstStyle>
          <a:p>
            <a:pPr marL="177800" indent="0" algn="ctr">
              <a:buFont typeface="Hanken Grotesk"/>
              <a:buNone/>
            </a:pPr>
            <a:r>
              <a:rPr lang="en-US" b="1" dirty="0"/>
              <a:t>Sequence only</a:t>
            </a:r>
          </a:p>
        </p:txBody>
      </p:sp>
      <p:sp>
        <p:nvSpPr>
          <p:cNvPr id="19" name="Text Placeholder 2">
            <a:extLst>
              <a:ext uri="{FF2B5EF4-FFF2-40B4-BE49-F238E27FC236}">
                <a16:creationId xmlns:a16="http://schemas.microsoft.com/office/drawing/2014/main" id="{1AFDC8CA-39D0-C9D7-ADED-BE277FB550B4}"/>
              </a:ext>
            </a:extLst>
          </p:cNvPr>
          <p:cNvSpPr txBox="1">
            <a:spLocks/>
          </p:cNvSpPr>
          <p:nvPr/>
        </p:nvSpPr>
        <p:spPr>
          <a:xfrm>
            <a:off x="3274498" y="1204069"/>
            <a:ext cx="3454902" cy="586179"/>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79400" algn="l" rtl="0">
              <a:lnSpc>
                <a:spcPct val="115000"/>
              </a:lnSpc>
              <a:spcBef>
                <a:spcPts val="0"/>
              </a:spcBef>
              <a:spcAft>
                <a:spcPts val="0"/>
              </a:spcAft>
              <a:buClr>
                <a:schemeClr val="dk1"/>
              </a:buClr>
              <a:buSzPts val="800"/>
              <a:buFont typeface="Hanken Grotesk"/>
              <a:buChar char="●"/>
              <a:defRPr sz="1400" b="0" i="0" u="none" strike="noStrike" cap="none">
                <a:solidFill>
                  <a:schemeClr val="dk1"/>
                </a:solidFill>
                <a:latin typeface="Hanken Grotesk"/>
                <a:ea typeface="Hanken Grotesk"/>
                <a:cs typeface="Hanken Grotesk"/>
                <a:sym typeface="Hanken Grotesk"/>
              </a:defRPr>
            </a:lvl1pPr>
            <a:lvl2pPr marL="914400" marR="0" lvl="1"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2pPr>
            <a:lvl3pPr marL="1371600" marR="0" lvl="2"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3pPr>
            <a:lvl4pPr marL="1828800" marR="0" lvl="3"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4pPr>
            <a:lvl5pPr marL="2286000" marR="0" lvl="4"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5pPr>
            <a:lvl6pPr marL="2743200" marR="0" lvl="5"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6pPr>
            <a:lvl7pPr marL="3200400" marR="0" lvl="6"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7pPr>
            <a:lvl8pPr marL="3657600" marR="0" lvl="7"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8pPr>
            <a:lvl9pPr marL="4114800" marR="0" lvl="8"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9pPr>
          </a:lstStyle>
          <a:p>
            <a:pPr marL="177800" indent="0" algn="ctr">
              <a:buFont typeface="Hanken Grotesk"/>
              <a:buNone/>
            </a:pPr>
            <a:r>
              <a:rPr lang="en-US" b="1" dirty="0"/>
              <a:t>Evolutionary rate only</a:t>
            </a:r>
          </a:p>
        </p:txBody>
      </p:sp>
      <p:sp>
        <p:nvSpPr>
          <p:cNvPr id="20" name="Text Placeholder 2">
            <a:extLst>
              <a:ext uri="{FF2B5EF4-FFF2-40B4-BE49-F238E27FC236}">
                <a16:creationId xmlns:a16="http://schemas.microsoft.com/office/drawing/2014/main" id="{D0EFED99-9C78-24C2-1A14-BD5F1B5D0CBE}"/>
              </a:ext>
            </a:extLst>
          </p:cNvPr>
          <p:cNvSpPr txBox="1">
            <a:spLocks/>
          </p:cNvSpPr>
          <p:nvPr/>
        </p:nvSpPr>
        <p:spPr>
          <a:xfrm>
            <a:off x="5820730" y="1191951"/>
            <a:ext cx="3454902" cy="586179"/>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79400" algn="l" rtl="0">
              <a:lnSpc>
                <a:spcPct val="115000"/>
              </a:lnSpc>
              <a:spcBef>
                <a:spcPts val="0"/>
              </a:spcBef>
              <a:spcAft>
                <a:spcPts val="0"/>
              </a:spcAft>
              <a:buClr>
                <a:schemeClr val="dk1"/>
              </a:buClr>
              <a:buSzPts val="800"/>
              <a:buFont typeface="Hanken Grotesk"/>
              <a:buChar char="●"/>
              <a:defRPr sz="1400" b="0" i="0" u="none" strike="noStrike" cap="none">
                <a:solidFill>
                  <a:schemeClr val="dk1"/>
                </a:solidFill>
                <a:latin typeface="Hanken Grotesk"/>
                <a:ea typeface="Hanken Grotesk"/>
                <a:cs typeface="Hanken Grotesk"/>
                <a:sym typeface="Hanken Grotesk"/>
              </a:defRPr>
            </a:lvl1pPr>
            <a:lvl2pPr marL="914400" marR="0" lvl="1"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2pPr>
            <a:lvl3pPr marL="1371600" marR="0" lvl="2"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3pPr>
            <a:lvl4pPr marL="1828800" marR="0" lvl="3"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4pPr>
            <a:lvl5pPr marL="2286000" marR="0" lvl="4"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5pPr>
            <a:lvl6pPr marL="2743200" marR="0" lvl="5"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6pPr>
            <a:lvl7pPr marL="3200400" marR="0" lvl="6"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7pPr>
            <a:lvl8pPr marL="3657600" marR="0" lvl="7"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8pPr>
            <a:lvl9pPr marL="4114800" marR="0" lvl="8"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9pPr>
          </a:lstStyle>
          <a:p>
            <a:pPr marL="177800" indent="0" algn="ctr">
              <a:buFont typeface="Hanken Grotesk"/>
              <a:buNone/>
            </a:pPr>
            <a:r>
              <a:rPr lang="en-US" b="1" dirty="0"/>
              <a:t>Both combined</a:t>
            </a:r>
          </a:p>
        </p:txBody>
      </p:sp>
      <p:sp>
        <p:nvSpPr>
          <p:cNvPr id="21" name="Text Placeholder 2">
            <a:extLst>
              <a:ext uri="{FF2B5EF4-FFF2-40B4-BE49-F238E27FC236}">
                <a16:creationId xmlns:a16="http://schemas.microsoft.com/office/drawing/2014/main" id="{22E0BA01-7E0D-C224-42E4-989EB2E10862}"/>
              </a:ext>
            </a:extLst>
          </p:cNvPr>
          <p:cNvSpPr txBox="1">
            <a:spLocks/>
          </p:cNvSpPr>
          <p:nvPr/>
        </p:nvSpPr>
        <p:spPr>
          <a:xfrm>
            <a:off x="-8002" y="1497158"/>
            <a:ext cx="1644722" cy="586179"/>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79400" algn="l" rtl="0">
              <a:lnSpc>
                <a:spcPct val="115000"/>
              </a:lnSpc>
              <a:spcBef>
                <a:spcPts val="0"/>
              </a:spcBef>
              <a:spcAft>
                <a:spcPts val="0"/>
              </a:spcAft>
              <a:buClr>
                <a:schemeClr val="dk1"/>
              </a:buClr>
              <a:buSzPts val="800"/>
              <a:buFont typeface="Hanken Grotesk"/>
              <a:buChar char="●"/>
              <a:defRPr sz="1400" b="0" i="0" u="none" strike="noStrike" cap="none">
                <a:solidFill>
                  <a:schemeClr val="dk1"/>
                </a:solidFill>
                <a:latin typeface="Hanken Grotesk"/>
                <a:ea typeface="Hanken Grotesk"/>
                <a:cs typeface="Hanken Grotesk"/>
                <a:sym typeface="Hanken Grotesk"/>
              </a:defRPr>
            </a:lvl1pPr>
            <a:lvl2pPr marL="914400" marR="0" lvl="1"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2pPr>
            <a:lvl3pPr marL="1371600" marR="0" lvl="2"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3pPr>
            <a:lvl4pPr marL="1828800" marR="0" lvl="3"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4pPr>
            <a:lvl5pPr marL="2286000" marR="0" lvl="4"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5pPr>
            <a:lvl6pPr marL="2743200" marR="0" lvl="5"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6pPr>
            <a:lvl7pPr marL="3200400" marR="0" lvl="6"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7pPr>
            <a:lvl8pPr marL="3657600" marR="0" lvl="7"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8pPr>
            <a:lvl9pPr marL="4114800" marR="0" lvl="8"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9pPr>
          </a:lstStyle>
          <a:p>
            <a:pPr marL="177800" indent="0" algn="ctr">
              <a:buFont typeface="Hanken Grotesk"/>
              <a:buNone/>
            </a:pPr>
            <a:r>
              <a:rPr lang="en-US" b="1" dirty="0"/>
              <a:t>AR-</a:t>
            </a:r>
            <a:r>
              <a:rPr lang="en-US" b="1" dirty="0" err="1"/>
              <a:t>Gamba</a:t>
            </a:r>
            <a:r>
              <a:rPr lang="en-US" b="1" dirty="0"/>
              <a:t> models: 66M parameter Jamba architecture</a:t>
            </a:r>
          </a:p>
        </p:txBody>
      </p:sp>
      <p:pic>
        <p:nvPicPr>
          <p:cNvPr id="23" name="Picture 22" descr="A&#10;&#10;AI-generated content may be incorrect.">
            <a:extLst>
              <a:ext uri="{FF2B5EF4-FFF2-40B4-BE49-F238E27FC236}">
                <a16:creationId xmlns:a16="http://schemas.microsoft.com/office/drawing/2014/main" id="{312312C5-C4CA-6C10-5EFE-083BAB204743}"/>
              </a:ext>
            </a:extLst>
          </p:cNvPr>
          <p:cNvPicPr>
            <a:picLocks noChangeAspect="1"/>
          </p:cNvPicPr>
          <p:nvPr/>
        </p:nvPicPr>
        <p:blipFill>
          <a:blip r:embed="rId7"/>
          <a:stretch>
            <a:fillRect/>
          </a:stretch>
        </p:blipFill>
        <p:spPr>
          <a:xfrm>
            <a:off x="1716609" y="4242834"/>
            <a:ext cx="1832165" cy="204415"/>
          </a:xfrm>
          <a:prstGeom prst="rect">
            <a:avLst/>
          </a:prstGeom>
        </p:spPr>
      </p:pic>
      <p:pic>
        <p:nvPicPr>
          <p:cNvPr id="24" name="Picture 23" descr="A&#10;&#10;AI-generated content may be incorrect.">
            <a:extLst>
              <a:ext uri="{FF2B5EF4-FFF2-40B4-BE49-F238E27FC236}">
                <a16:creationId xmlns:a16="http://schemas.microsoft.com/office/drawing/2014/main" id="{A6814933-AF45-AF6E-C113-1962571FC9C8}"/>
              </a:ext>
            </a:extLst>
          </p:cNvPr>
          <p:cNvPicPr>
            <a:picLocks noChangeAspect="1"/>
          </p:cNvPicPr>
          <p:nvPr/>
        </p:nvPicPr>
        <p:blipFill>
          <a:blip r:embed="rId7"/>
          <a:stretch>
            <a:fillRect/>
          </a:stretch>
        </p:blipFill>
        <p:spPr>
          <a:xfrm>
            <a:off x="6729400" y="4242834"/>
            <a:ext cx="1832165" cy="204415"/>
          </a:xfrm>
          <a:prstGeom prst="rect">
            <a:avLst/>
          </a:prstGeom>
        </p:spPr>
      </p:pic>
      <p:pic>
        <p:nvPicPr>
          <p:cNvPr id="25" name="Picture 24" descr="The image displays a sequence of mathematical symbols, specifically a plus sign, a minus sign, a zero, and two more plus signs, arranged in a linear, sequential pattern.&#10;&#10;AI-generated content may be incorrect.">
            <a:extLst>
              <a:ext uri="{FF2B5EF4-FFF2-40B4-BE49-F238E27FC236}">
                <a16:creationId xmlns:a16="http://schemas.microsoft.com/office/drawing/2014/main" id="{B657D847-A0A5-4EFD-CE5D-77903480219F}"/>
              </a:ext>
            </a:extLst>
          </p:cNvPr>
          <p:cNvPicPr>
            <a:picLocks noChangeAspect="1"/>
          </p:cNvPicPr>
          <p:nvPr/>
        </p:nvPicPr>
        <p:blipFill>
          <a:blip r:embed="rId8"/>
          <a:stretch>
            <a:fillRect/>
          </a:stretch>
        </p:blipFill>
        <p:spPr>
          <a:xfrm>
            <a:off x="4215433" y="4242834"/>
            <a:ext cx="1835950" cy="234699"/>
          </a:xfrm>
          <a:prstGeom prst="rect">
            <a:avLst/>
          </a:prstGeom>
        </p:spPr>
      </p:pic>
      <p:pic>
        <p:nvPicPr>
          <p:cNvPr id="26" name="Picture 25" descr="The image displays a sequence of mathematical symbols, specifically a plus sign, a minus sign, a zero, and two more plus signs, arranged in a linear, sequential pattern.&#10;&#10;AI-generated content may be incorrect.">
            <a:extLst>
              <a:ext uri="{FF2B5EF4-FFF2-40B4-BE49-F238E27FC236}">
                <a16:creationId xmlns:a16="http://schemas.microsoft.com/office/drawing/2014/main" id="{EDE290EF-729D-08D9-57A7-4EA79A7A159D}"/>
              </a:ext>
            </a:extLst>
          </p:cNvPr>
          <p:cNvPicPr>
            <a:picLocks noChangeAspect="1"/>
          </p:cNvPicPr>
          <p:nvPr/>
        </p:nvPicPr>
        <p:blipFill>
          <a:blip r:embed="rId8"/>
          <a:stretch>
            <a:fillRect/>
          </a:stretch>
        </p:blipFill>
        <p:spPr>
          <a:xfrm>
            <a:off x="6725612" y="4477533"/>
            <a:ext cx="1835950" cy="234699"/>
          </a:xfrm>
          <a:prstGeom prst="rect">
            <a:avLst/>
          </a:prstGeom>
        </p:spPr>
      </p:pic>
    </p:spTree>
    <p:extLst>
      <p:ext uri="{BB962C8B-B14F-4D97-AF65-F5344CB8AC3E}">
        <p14:creationId xmlns:p14="http://schemas.microsoft.com/office/powerpoint/2010/main" val="89265413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C31A76-BE2B-9991-25B7-DF49ACDC75C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4EA948D-2EDE-412C-891B-D35B0729F4A3}"/>
              </a:ext>
            </a:extLst>
          </p:cNvPr>
          <p:cNvSpPr>
            <a:spLocks noGrp="1"/>
          </p:cNvSpPr>
          <p:nvPr>
            <p:ph type="title"/>
          </p:nvPr>
        </p:nvSpPr>
        <p:spPr>
          <a:xfrm>
            <a:off x="720000" y="312823"/>
            <a:ext cx="7704000" cy="572700"/>
          </a:xfrm>
        </p:spPr>
        <p:txBody>
          <a:bodyPr/>
          <a:lstStyle/>
          <a:p>
            <a:pPr algn="ctr"/>
            <a:r>
              <a:rPr lang="en-US" sz="2400" dirty="0"/>
              <a:t>We train six </a:t>
            </a:r>
            <a:r>
              <a:rPr lang="en-US" sz="2400" dirty="0" err="1"/>
              <a:t>Gamba</a:t>
            </a:r>
            <a:r>
              <a:rPr lang="en-US" sz="2400" dirty="0"/>
              <a:t> variants on the </a:t>
            </a:r>
            <a:br>
              <a:rPr lang="en-US" sz="2400" dirty="0"/>
            </a:br>
            <a:r>
              <a:rPr lang="en-US" sz="2400" dirty="0"/>
              <a:t>repeat-filtered human reference genome</a:t>
            </a:r>
          </a:p>
        </p:txBody>
      </p:sp>
      <p:pic>
        <p:nvPicPr>
          <p:cNvPr id="3" name="Picture 2" descr="G.&#10;&#10;AI-generated content may be incorrect.">
            <a:extLst>
              <a:ext uri="{FF2B5EF4-FFF2-40B4-BE49-F238E27FC236}">
                <a16:creationId xmlns:a16="http://schemas.microsoft.com/office/drawing/2014/main" id="{FFA160FE-4C00-8510-8EF7-7D6DCFF2B89E}"/>
              </a:ext>
            </a:extLst>
          </p:cNvPr>
          <p:cNvPicPr>
            <a:picLocks noChangeAspect="1"/>
          </p:cNvPicPr>
          <p:nvPr/>
        </p:nvPicPr>
        <p:blipFill>
          <a:blip r:embed="rId3"/>
          <a:stretch>
            <a:fillRect/>
          </a:stretch>
        </p:blipFill>
        <p:spPr>
          <a:xfrm>
            <a:off x="1716610" y="2571750"/>
            <a:ext cx="2017652" cy="204415"/>
          </a:xfrm>
          <a:prstGeom prst="rect">
            <a:avLst/>
          </a:prstGeom>
        </p:spPr>
      </p:pic>
      <p:pic>
        <p:nvPicPr>
          <p:cNvPr id="4" name="Picture 3" descr="AR-gLM&#10;&#10;AI-generated content may be incorrect.">
            <a:extLst>
              <a:ext uri="{FF2B5EF4-FFF2-40B4-BE49-F238E27FC236}">
                <a16:creationId xmlns:a16="http://schemas.microsoft.com/office/drawing/2014/main" id="{0722C49B-5418-68C9-355A-677F36E40567}"/>
              </a:ext>
            </a:extLst>
          </p:cNvPr>
          <p:cNvPicPr>
            <a:picLocks noChangeAspect="1"/>
          </p:cNvPicPr>
          <p:nvPr/>
        </p:nvPicPr>
        <p:blipFill>
          <a:blip r:embed="rId4"/>
          <a:stretch>
            <a:fillRect/>
          </a:stretch>
        </p:blipFill>
        <p:spPr>
          <a:xfrm>
            <a:off x="1716610" y="1663238"/>
            <a:ext cx="1832165" cy="908512"/>
          </a:xfrm>
          <a:prstGeom prst="rect">
            <a:avLst/>
          </a:prstGeom>
        </p:spPr>
      </p:pic>
      <p:pic>
        <p:nvPicPr>
          <p:cNvPr id="5" name="Picture 4" descr="AR-gLM&#10;&#10;AI-generated content may be incorrect.">
            <a:extLst>
              <a:ext uri="{FF2B5EF4-FFF2-40B4-BE49-F238E27FC236}">
                <a16:creationId xmlns:a16="http://schemas.microsoft.com/office/drawing/2014/main" id="{D25416A0-F6D9-F5EF-F13F-6ED0E6915906}"/>
              </a:ext>
            </a:extLst>
          </p:cNvPr>
          <p:cNvPicPr>
            <a:picLocks noChangeAspect="1"/>
          </p:cNvPicPr>
          <p:nvPr/>
        </p:nvPicPr>
        <p:blipFill>
          <a:blip r:embed="rId4"/>
          <a:stretch>
            <a:fillRect/>
          </a:stretch>
        </p:blipFill>
        <p:spPr>
          <a:xfrm>
            <a:off x="4221112" y="1663238"/>
            <a:ext cx="1832165" cy="908512"/>
          </a:xfrm>
          <a:prstGeom prst="rect">
            <a:avLst/>
          </a:prstGeom>
        </p:spPr>
      </p:pic>
      <p:pic>
        <p:nvPicPr>
          <p:cNvPr id="6" name="Picture 5" descr="AR-gLM&#10;&#10;AI-generated content may be incorrect.">
            <a:extLst>
              <a:ext uri="{FF2B5EF4-FFF2-40B4-BE49-F238E27FC236}">
                <a16:creationId xmlns:a16="http://schemas.microsoft.com/office/drawing/2014/main" id="{893AEC86-8EAC-655F-9461-1B3787D12EC2}"/>
              </a:ext>
            </a:extLst>
          </p:cNvPr>
          <p:cNvPicPr>
            <a:picLocks noChangeAspect="1"/>
          </p:cNvPicPr>
          <p:nvPr/>
        </p:nvPicPr>
        <p:blipFill>
          <a:blip r:embed="rId4"/>
          <a:stretch>
            <a:fillRect/>
          </a:stretch>
        </p:blipFill>
        <p:spPr>
          <a:xfrm>
            <a:off x="6725614" y="1663238"/>
            <a:ext cx="1832165" cy="908512"/>
          </a:xfrm>
          <a:prstGeom prst="rect">
            <a:avLst/>
          </a:prstGeom>
        </p:spPr>
      </p:pic>
      <p:pic>
        <p:nvPicPr>
          <p:cNvPr id="7" name="Picture 6" descr="The image depicts a grid of evenly spaced horizontal lines, with a distinctive purple plus sign at the top right corner.&#10;&#10;AI-generated content may be incorrect.">
            <a:extLst>
              <a:ext uri="{FF2B5EF4-FFF2-40B4-BE49-F238E27FC236}">
                <a16:creationId xmlns:a16="http://schemas.microsoft.com/office/drawing/2014/main" id="{D7E3263A-614A-AC17-BABE-B88EDB1E4D60}"/>
              </a:ext>
            </a:extLst>
          </p:cNvPr>
          <p:cNvPicPr>
            <a:picLocks noChangeAspect="1"/>
          </p:cNvPicPr>
          <p:nvPr/>
        </p:nvPicPr>
        <p:blipFill>
          <a:blip r:embed="rId5"/>
          <a:stretch>
            <a:fillRect/>
          </a:stretch>
        </p:blipFill>
        <p:spPr>
          <a:xfrm>
            <a:off x="4215433" y="2556607"/>
            <a:ext cx="1843521" cy="234699"/>
          </a:xfrm>
          <a:prstGeom prst="rect">
            <a:avLst/>
          </a:prstGeom>
        </p:spPr>
      </p:pic>
      <p:pic>
        <p:nvPicPr>
          <p:cNvPr id="8" name="Picture 7" descr="G.&#10;&#10;AI-generated content may be incorrect.">
            <a:extLst>
              <a:ext uri="{FF2B5EF4-FFF2-40B4-BE49-F238E27FC236}">
                <a16:creationId xmlns:a16="http://schemas.microsoft.com/office/drawing/2014/main" id="{E57D0B60-FE7D-FE25-6E2C-B5485E5CEABB}"/>
              </a:ext>
            </a:extLst>
          </p:cNvPr>
          <p:cNvPicPr>
            <a:picLocks noChangeAspect="1"/>
          </p:cNvPicPr>
          <p:nvPr/>
        </p:nvPicPr>
        <p:blipFill>
          <a:blip r:embed="rId3"/>
          <a:stretch>
            <a:fillRect/>
          </a:stretch>
        </p:blipFill>
        <p:spPr>
          <a:xfrm>
            <a:off x="6725612" y="2571748"/>
            <a:ext cx="2017652" cy="204415"/>
          </a:xfrm>
          <a:prstGeom prst="rect">
            <a:avLst/>
          </a:prstGeom>
        </p:spPr>
      </p:pic>
      <p:pic>
        <p:nvPicPr>
          <p:cNvPr id="9" name="Picture 8" descr="The image depicts a grid of evenly spaced horizontal lines, with a distinctive purple plus sign at the top right corner.&#10;&#10;AI-generated content may be incorrect.">
            <a:extLst>
              <a:ext uri="{FF2B5EF4-FFF2-40B4-BE49-F238E27FC236}">
                <a16:creationId xmlns:a16="http://schemas.microsoft.com/office/drawing/2014/main" id="{BBCC158E-5B48-EC51-3C67-FC970E0FE319}"/>
              </a:ext>
            </a:extLst>
          </p:cNvPr>
          <p:cNvPicPr>
            <a:picLocks noChangeAspect="1"/>
          </p:cNvPicPr>
          <p:nvPr/>
        </p:nvPicPr>
        <p:blipFill>
          <a:blip r:embed="rId5"/>
          <a:stretch>
            <a:fillRect/>
          </a:stretch>
        </p:blipFill>
        <p:spPr>
          <a:xfrm>
            <a:off x="6719935" y="2791306"/>
            <a:ext cx="1843521" cy="234699"/>
          </a:xfrm>
          <a:prstGeom prst="rect">
            <a:avLst/>
          </a:prstGeom>
        </p:spPr>
      </p:pic>
      <p:pic>
        <p:nvPicPr>
          <p:cNvPr id="10" name="Picture 9" descr="The image depicts a segment of DNA sequence (A, C, T, G) and a label indicating a bidirectional gLM.&#10;&#10;AI-generated content may be incorrect.">
            <a:extLst>
              <a:ext uri="{FF2B5EF4-FFF2-40B4-BE49-F238E27FC236}">
                <a16:creationId xmlns:a16="http://schemas.microsoft.com/office/drawing/2014/main" id="{12F98737-CDF3-72F5-18D8-80281BACBF0F}"/>
              </a:ext>
            </a:extLst>
          </p:cNvPr>
          <p:cNvPicPr>
            <a:picLocks noChangeAspect="1"/>
          </p:cNvPicPr>
          <p:nvPr/>
        </p:nvPicPr>
        <p:blipFill>
          <a:blip r:embed="rId6"/>
          <a:stretch>
            <a:fillRect/>
          </a:stretch>
        </p:blipFill>
        <p:spPr>
          <a:xfrm>
            <a:off x="1720396" y="3338109"/>
            <a:ext cx="1828379" cy="904725"/>
          </a:xfrm>
          <a:prstGeom prst="rect">
            <a:avLst/>
          </a:prstGeom>
        </p:spPr>
      </p:pic>
      <p:pic>
        <p:nvPicPr>
          <p:cNvPr id="12" name="Picture 11" descr="The image depicts a segment of DNA sequence (A, C, T, G) and a label indicating a bidirectional gLM.&#10;&#10;AI-generated content may be incorrect.">
            <a:extLst>
              <a:ext uri="{FF2B5EF4-FFF2-40B4-BE49-F238E27FC236}">
                <a16:creationId xmlns:a16="http://schemas.microsoft.com/office/drawing/2014/main" id="{6C27335F-4ED1-4C2A-EC53-800ACC7CB121}"/>
              </a:ext>
            </a:extLst>
          </p:cNvPr>
          <p:cNvPicPr>
            <a:picLocks noChangeAspect="1"/>
          </p:cNvPicPr>
          <p:nvPr/>
        </p:nvPicPr>
        <p:blipFill>
          <a:blip r:embed="rId6"/>
          <a:stretch>
            <a:fillRect/>
          </a:stretch>
        </p:blipFill>
        <p:spPr>
          <a:xfrm>
            <a:off x="4224898" y="3338109"/>
            <a:ext cx="1828379" cy="904725"/>
          </a:xfrm>
          <a:prstGeom prst="rect">
            <a:avLst/>
          </a:prstGeom>
        </p:spPr>
      </p:pic>
      <p:pic>
        <p:nvPicPr>
          <p:cNvPr id="13" name="Picture 12" descr="The image depicts a segment of DNA sequence (A, C, T, G) and a label indicating a bidirectional gLM.&#10;&#10;AI-generated content may be incorrect.">
            <a:extLst>
              <a:ext uri="{FF2B5EF4-FFF2-40B4-BE49-F238E27FC236}">
                <a16:creationId xmlns:a16="http://schemas.microsoft.com/office/drawing/2014/main" id="{3466676E-9371-0DED-3B26-581110A1A0AD}"/>
              </a:ext>
            </a:extLst>
          </p:cNvPr>
          <p:cNvPicPr>
            <a:picLocks noChangeAspect="1"/>
          </p:cNvPicPr>
          <p:nvPr/>
        </p:nvPicPr>
        <p:blipFill>
          <a:blip r:embed="rId6"/>
          <a:stretch>
            <a:fillRect/>
          </a:stretch>
        </p:blipFill>
        <p:spPr>
          <a:xfrm>
            <a:off x="6729400" y="3338109"/>
            <a:ext cx="1828379" cy="904725"/>
          </a:xfrm>
          <a:prstGeom prst="rect">
            <a:avLst/>
          </a:prstGeom>
        </p:spPr>
      </p:pic>
      <p:sp>
        <p:nvSpPr>
          <p:cNvPr id="18" name="Text Placeholder 2">
            <a:extLst>
              <a:ext uri="{FF2B5EF4-FFF2-40B4-BE49-F238E27FC236}">
                <a16:creationId xmlns:a16="http://schemas.microsoft.com/office/drawing/2014/main" id="{7C3FB307-553A-9D9B-3FA3-1E12F0A4DF41}"/>
              </a:ext>
            </a:extLst>
          </p:cNvPr>
          <p:cNvSpPr txBox="1">
            <a:spLocks/>
          </p:cNvSpPr>
          <p:nvPr/>
        </p:nvSpPr>
        <p:spPr>
          <a:xfrm>
            <a:off x="873763" y="1204069"/>
            <a:ext cx="3454902" cy="586179"/>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79400" algn="l" rtl="0">
              <a:lnSpc>
                <a:spcPct val="115000"/>
              </a:lnSpc>
              <a:spcBef>
                <a:spcPts val="0"/>
              </a:spcBef>
              <a:spcAft>
                <a:spcPts val="0"/>
              </a:spcAft>
              <a:buClr>
                <a:schemeClr val="dk1"/>
              </a:buClr>
              <a:buSzPts val="800"/>
              <a:buFont typeface="Hanken Grotesk"/>
              <a:buChar char="●"/>
              <a:defRPr sz="1400" b="0" i="0" u="none" strike="noStrike" cap="none">
                <a:solidFill>
                  <a:schemeClr val="dk1"/>
                </a:solidFill>
                <a:latin typeface="Hanken Grotesk"/>
                <a:ea typeface="Hanken Grotesk"/>
                <a:cs typeface="Hanken Grotesk"/>
                <a:sym typeface="Hanken Grotesk"/>
              </a:defRPr>
            </a:lvl1pPr>
            <a:lvl2pPr marL="914400" marR="0" lvl="1"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2pPr>
            <a:lvl3pPr marL="1371600" marR="0" lvl="2"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3pPr>
            <a:lvl4pPr marL="1828800" marR="0" lvl="3"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4pPr>
            <a:lvl5pPr marL="2286000" marR="0" lvl="4"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5pPr>
            <a:lvl6pPr marL="2743200" marR="0" lvl="5"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6pPr>
            <a:lvl7pPr marL="3200400" marR="0" lvl="6"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7pPr>
            <a:lvl8pPr marL="3657600" marR="0" lvl="7"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8pPr>
            <a:lvl9pPr marL="4114800" marR="0" lvl="8"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9pPr>
          </a:lstStyle>
          <a:p>
            <a:pPr marL="177800" indent="0" algn="ctr">
              <a:buFont typeface="Hanken Grotesk"/>
              <a:buNone/>
            </a:pPr>
            <a:r>
              <a:rPr lang="en-US" b="1" dirty="0"/>
              <a:t>Sequence only</a:t>
            </a:r>
          </a:p>
        </p:txBody>
      </p:sp>
      <p:sp>
        <p:nvSpPr>
          <p:cNvPr id="19" name="Text Placeholder 2">
            <a:extLst>
              <a:ext uri="{FF2B5EF4-FFF2-40B4-BE49-F238E27FC236}">
                <a16:creationId xmlns:a16="http://schemas.microsoft.com/office/drawing/2014/main" id="{2F34DC09-7247-0F45-4691-BDE7757077D6}"/>
              </a:ext>
            </a:extLst>
          </p:cNvPr>
          <p:cNvSpPr txBox="1">
            <a:spLocks/>
          </p:cNvSpPr>
          <p:nvPr/>
        </p:nvSpPr>
        <p:spPr>
          <a:xfrm>
            <a:off x="3274498" y="1204069"/>
            <a:ext cx="3454902" cy="586179"/>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79400" algn="l" rtl="0">
              <a:lnSpc>
                <a:spcPct val="115000"/>
              </a:lnSpc>
              <a:spcBef>
                <a:spcPts val="0"/>
              </a:spcBef>
              <a:spcAft>
                <a:spcPts val="0"/>
              </a:spcAft>
              <a:buClr>
                <a:schemeClr val="dk1"/>
              </a:buClr>
              <a:buSzPts val="800"/>
              <a:buFont typeface="Hanken Grotesk"/>
              <a:buChar char="●"/>
              <a:defRPr sz="1400" b="0" i="0" u="none" strike="noStrike" cap="none">
                <a:solidFill>
                  <a:schemeClr val="dk1"/>
                </a:solidFill>
                <a:latin typeface="Hanken Grotesk"/>
                <a:ea typeface="Hanken Grotesk"/>
                <a:cs typeface="Hanken Grotesk"/>
                <a:sym typeface="Hanken Grotesk"/>
              </a:defRPr>
            </a:lvl1pPr>
            <a:lvl2pPr marL="914400" marR="0" lvl="1"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2pPr>
            <a:lvl3pPr marL="1371600" marR="0" lvl="2"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3pPr>
            <a:lvl4pPr marL="1828800" marR="0" lvl="3"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4pPr>
            <a:lvl5pPr marL="2286000" marR="0" lvl="4"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5pPr>
            <a:lvl6pPr marL="2743200" marR="0" lvl="5"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6pPr>
            <a:lvl7pPr marL="3200400" marR="0" lvl="6"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7pPr>
            <a:lvl8pPr marL="3657600" marR="0" lvl="7"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8pPr>
            <a:lvl9pPr marL="4114800" marR="0" lvl="8"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9pPr>
          </a:lstStyle>
          <a:p>
            <a:pPr marL="177800" indent="0" algn="ctr">
              <a:buFont typeface="Hanken Grotesk"/>
              <a:buNone/>
            </a:pPr>
            <a:r>
              <a:rPr lang="en-US" b="1" dirty="0"/>
              <a:t>Evolutionary rate only</a:t>
            </a:r>
          </a:p>
        </p:txBody>
      </p:sp>
      <p:sp>
        <p:nvSpPr>
          <p:cNvPr id="20" name="Text Placeholder 2">
            <a:extLst>
              <a:ext uri="{FF2B5EF4-FFF2-40B4-BE49-F238E27FC236}">
                <a16:creationId xmlns:a16="http://schemas.microsoft.com/office/drawing/2014/main" id="{499EB495-9987-ED22-097B-68F50F066CFE}"/>
              </a:ext>
            </a:extLst>
          </p:cNvPr>
          <p:cNvSpPr txBox="1">
            <a:spLocks/>
          </p:cNvSpPr>
          <p:nvPr/>
        </p:nvSpPr>
        <p:spPr>
          <a:xfrm>
            <a:off x="5820730" y="1191951"/>
            <a:ext cx="3454902" cy="586179"/>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79400" algn="l" rtl="0">
              <a:lnSpc>
                <a:spcPct val="115000"/>
              </a:lnSpc>
              <a:spcBef>
                <a:spcPts val="0"/>
              </a:spcBef>
              <a:spcAft>
                <a:spcPts val="0"/>
              </a:spcAft>
              <a:buClr>
                <a:schemeClr val="dk1"/>
              </a:buClr>
              <a:buSzPts val="800"/>
              <a:buFont typeface="Hanken Grotesk"/>
              <a:buChar char="●"/>
              <a:defRPr sz="1400" b="0" i="0" u="none" strike="noStrike" cap="none">
                <a:solidFill>
                  <a:schemeClr val="dk1"/>
                </a:solidFill>
                <a:latin typeface="Hanken Grotesk"/>
                <a:ea typeface="Hanken Grotesk"/>
                <a:cs typeface="Hanken Grotesk"/>
                <a:sym typeface="Hanken Grotesk"/>
              </a:defRPr>
            </a:lvl1pPr>
            <a:lvl2pPr marL="914400" marR="0" lvl="1"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2pPr>
            <a:lvl3pPr marL="1371600" marR="0" lvl="2"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3pPr>
            <a:lvl4pPr marL="1828800" marR="0" lvl="3"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4pPr>
            <a:lvl5pPr marL="2286000" marR="0" lvl="4"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5pPr>
            <a:lvl6pPr marL="2743200" marR="0" lvl="5"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6pPr>
            <a:lvl7pPr marL="3200400" marR="0" lvl="6"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7pPr>
            <a:lvl8pPr marL="3657600" marR="0" lvl="7"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8pPr>
            <a:lvl9pPr marL="4114800" marR="0" lvl="8"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9pPr>
          </a:lstStyle>
          <a:p>
            <a:pPr marL="177800" indent="0" algn="ctr">
              <a:buFont typeface="Hanken Grotesk"/>
              <a:buNone/>
            </a:pPr>
            <a:r>
              <a:rPr lang="en-US" b="1" dirty="0"/>
              <a:t>Both combined</a:t>
            </a:r>
          </a:p>
        </p:txBody>
      </p:sp>
      <p:sp>
        <p:nvSpPr>
          <p:cNvPr id="21" name="Text Placeholder 2">
            <a:extLst>
              <a:ext uri="{FF2B5EF4-FFF2-40B4-BE49-F238E27FC236}">
                <a16:creationId xmlns:a16="http://schemas.microsoft.com/office/drawing/2014/main" id="{B83F7F1F-73DE-D84F-BE29-51624791972B}"/>
              </a:ext>
            </a:extLst>
          </p:cNvPr>
          <p:cNvSpPr txBox="1">
            <a:spLocks/>
          </p:cNvSpPr>
          <p:nvPr/>
        </p:nvSpPr>
        <p:spPr>
          <a:xfrm>
            <a:off x="-8002" y="1497158"/>
            <a:ext cx="1644722" cy="586179"/>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79400" algn="l" rtl="0">
              <a:lnSpc>
                <a:spcPct val="115000"/>
              </a:lnSpc>
              <a:spcBef>
                <a:spcPts val="0"/>
              </a:spcBef>
              <a:spcAft>
                <a:spcPts val="0"/>
              </a:spcAft>
              <a:buClr>
                <a:schemeClr val="dk1"/>
              </a:buClr>
              <a:buSzPts val="800"/>
              <a:buFont typeface="Hanken Grotesk"/>
              <a:buChar char="●"/>
              <a:defRPr sz="1400" b="0" i="0" u="none" strike="noStrike" cap="none">
                <a:solidFill>
                  <a:schemeClr val="dk1"/>
                </a:solidFill>
                <a:latin typeface="Hanken Grotesk"/>
                <a:ea typeface="Hanken Grotesk"/>
                <a:cs typeface="Hanken Grotesk"/>
                <a:sym typeface="Hanken Grotesk"/>
              </a:defRPr>
            </a:lvl1pPr>
            <a:lvl2pPr marL="914400" marR="0" lvl="1"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2pPr>
            <a:lvl3pPr marL="1371600" marR="0" lvl="2"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3pPr>
            <a:lvl4pPr marL="1828800" marR="0" lvl="3"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4pPr>
            <a:lvl5pPr marL="2286000" marR="0" lvl="4"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5pPr>
            <a:lvl6pPr marL="2743200" marR="0" lvl="5"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6pPr>
            <a:lvl7pPr marL="3200400" marR="0" lvl="6"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7pPr>
            <a:lvl8pPr marL="3657600" marR="0" lvl="7"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8pPr>
            <a:lvl9pPr marL="4114800" marR="0" lvl="8"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9pPr>
          </a:lstStyle>
          <a:p>
            <a:pPr marL="177800" indent="0" algn="ctr">
              <a:buFont typeface="Hanken Grotesk"/>
              <a:buNone/>
            </a:pPr>
            <a:r>
              <a:rPr lang="en-US" b="1" dirty="0"/>
              <a:t>AR-</a:t>
            </a:r>
            <a:r>
              <a:rPr lang="en-US" b="1" dirty="0" err="1"/>
              <a:t>Gamba</a:t>
            </a:r>
            <a:r>
              <a:rPr lang="en-US" b="1" dirty="0"/>
              <a:t> models: 66M parameter Jamba architecture</a:t>
            </a:r>
          </a:p>
        </p:txBody>
      </p:sp>
      <p:sp>
        <p:nvSpPr>
          <p:cNvPr id="22" name="Text Placeholder 2">
            <a:extLst>
              <a:ext uri="{FF2B5EF4-FFF2-40B4-BE49-F238E27FC236}">
                <a16:creationId xmlns:a16="http://schemas.microsoft.com/office/drawing/2014/main" id="{59F7F5CF-4D7B-49E4-F8D0-92B4D2BFBBEA}"/>
              </a:ext>
            </a:extLst>
          </p:cNvPr>
          <p:cNvSpPr txBox="1">
            <a:spLocks/>
          </p:cNvSpPr>
          <p:nvPr/>
        </p:nvSpPr>
        <p:spPr>
          <a:xfrm>
            <a:off x="-8002" y="3204292"/>
            <a:ext cx="1644722" cy="586179"/>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79400" algn="l" rtl="0">
              <a:lnSpc>
                <a:spcPct val="115000"/>
              </a:lnSpc>
              <a:spcBef>
                <a:spcPts val="0"/>
              </a:spcBef>
              <a:spcAft>
                <a:spcPts val="0"/>
              </a:spcAft>
              <a:buClr>
                <a:schemeClr val="dk1"/>
              </a:buClr>
              <a:buSzPts val="800"/>
              <a:buFont typeface="Hanken Grotesk"/>
              <a:buChar char="●"/>
              <a:defRPr sz="1400" b="0" i="0" u="none" strike="noStrike" cap="none">
                <a:solidFill>
                  <a:schemeClr val="dk1"/>
                </a:solidFill>
                <a:latin typeface="Hanken Grotesk"/>
                <a:ea typeface="Hanken Grotesk"/>
                <a:cs typeface="Hanken Grotesk"/>
                <a:sym typeface="Hanken Grotesk"/>
              </a:defRPr>
            </a:lvl1pPr>
            <a:lvl2pPr marL="914400" marR="0" lvl="1"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2pPr>
            <a:lvl3pPr marL="1371600" marR="0" lvl="2"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3pPr>
            <a:lvl4pPr marL="1828800" marR="0" lvl="3"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4pPr>
            <a:lvl5pPr marL="2286000" marR="0" lvl="4"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5pPr>
            <a:lvl6pPr marL="2743200" marR="0" lvl="5"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6pPr>
            <a:lvl7pPr marL="3200400" marR="0" lvl="6"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7pPr>
            <a:lvl8pPr marL="3657600" marR="0" lvl="7"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8pPr>
            <a:lvl9pPr marL="4114800" marR="0" lvl="8"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9pPr>
          </a:lstStyle>
          <a:p>
            <a:pPr marL="177800" indent="0" algn="ctr">
              <a:buFont typeface="Hanken Grotesk"/>
              <a:buNone/>
            </a:pPr>
            <a:r>
              <a:rPr lang="en-US" b="1" dirty="0"/>
              <a:t>Bi-</a:t>
            </a:r>
            <a:r>
              <a:rPr lang="en-US" b="1" dirty="0" err="1"/>
              <a:t>Gamba</a:t>
            </a:r>
            <a:r>
              <a:rPr lang="en-US" b="1" dirty="0"/>
              <a:t> models: 4M parameter Caduceus architecture</a:t>
            </a:r>
          </a:p>
        </p:txBody>
      </p:sp>
      <p:pic>
        <p:nvPicPr>
          <p:cNvPr id="23" name="Picture 22" descr="A&#10;&#10;AI-generated content may be incorrect.">
            <a:extLst>
              <a:ext uri="{FF2B5EF4-FFF2-40B4-BE49-F238E27FC236}">
                <a16:creationId xmlns:a16="http://schemas.microsoft.com/office/drawing/2014/main" id="{3ED4B182-778E-6FE3-223D-C0CB7E9916C5}"/>
              </a:ext>
            </a:extLst>
          </p:cNvPr>
          <p:cNvPicPr>
            <a:picLocks noChangeAspect="1"/>
          </p:cNvPicPr>
          <p:nvPr/>
        </p:nvPicPr>
        <p:blipFill>
          <a:blip r:embed="rId7"/>
          <a:stretch>
            <a:fillRect/>
          </a:stretch>
        </p:blipFill>
        <p:spPr>
          <a:xfrm>
            <a:off x="1716609" y="4242834"/>
            <a:ext cx="1832165" cy="204415"/>
          </a:xfrm>
          <a:prstGeom prst="rect">
            <a:avLst/>
          </a:prstGeom>
        </p:spPr>
      </p:pic>
      <p:pic>
        <p:nvPicPr>
          <p:cNvPr id="24" name="Picture 23" descr="A&#10;&#10;AI-generated content may be incorrect.">
            <a:extLst>
              <a:ext uri="{FF2B5EF4-FFF2-40B4-BE49-F238E27FC236}">
                <a16:creationId xmlns:a16="http://schemas.microsoft.com/office/drawing/2014/main" id="{B62EB617-4E9B-EEE3-9A39-A4B7B14D6BA8}"/>
              </a:ext>
            </a:extLst>
          </p:cNvPr>
          <p:cNvPicPr>
            <a:picLocks noChangeAspect="1"/>
          </p:cNvPicPr>
          <p:nvPr/>
        </p:nvPicPr>
        <p:blipFill>
          <a:blip r:embed="rId7"/>
          <a:stretch>
            <a:fillRect/>
          </a:stretch>
        </p:blipFill>
        <p:spPr>
          <a:xfrm>
            <a:off x="6729400" y="4242834"/>
            <a:ext cx="1832165" cy="204415"/>
          </a:xfrm>
          <a:prstGeom prst="rect">
            <a:avLst/>
          </a:prstGeom>
        </p:spPr>
      </p:pic>
      <p:pic>
        <p:nvPicPr>
          <p:cNvPr id="25" name="Picture 24" descr="The image displays a sequence of mathematical symbols, specifically a plus sign, a minus sign, a zero, and two more plus signs, arranged in a linear, sequential pattern.&#10;&#10;AI-generated content may be incorrect.">
            <a:extLst>
              <a:ext uri="{FF2B5EF4-FFF2-40B4-BE49-F238E27FC236}">
                <a16:creationId xmlns:a16="http://schemas.microsoft.com/office/drawing/2014/main" id="{F4A34B56-75B7-DE87-E8CF-C503C80AC578}"/>
              </a:ext>
            </a:extLst>
          </p:cNvPr>
          <p:cNvPicPr>
            <a:picLocks noChangeAspect="1"/>
          </p:cNvPicPr>
          <p:nvPr/>
        </p:nvPicPr>
        <p:blipFill>
          <a:blip r:embed="rId8"/>
          <a:stretch>
            <a:fillRect/>
          </a:stretch>
        </p:blipFill>
        <p:spPr>
          <a:xfrm>
            <a:off x="4215433" y="4242834"/>
            <a:ext cx="1835950" cy="234699"/>
          </a:xfrm>
          <a:prstGeom prst="rect">
            <a:avLst/>
          </a:prstGeom>
        </p:spPr>
      </p:pic>
      <p:pic>
        <p:nvPicPr>
          <p:cNvPr id="26" name="Picture 25" descr="The image displays a sequence of mathematical symbols, specifically a plus sign, a minus sign, a zero, and two more plus signs, arranged in a linear, sequential pattern.&#10;&#10;AI-generated content may be incorrect.">
            <a:extLst>
              <a:ext uri="{FF2B5EF4-FFF2-40B4-BE49-F238E27FC236}">
                <a16:creationId xmlns:a16="http://schemas.microsoft.com/office/drawing/2014/main" id="{37284EC5-F78E-632F-E62A-CF8F09BC3204}"/>
              </a:ext>
            </a:extLst>
          </p:cNvPr>
          <p:cNvPicPr>
            <a:picLocks noChangeAspect="1"/>
          </p:cNvPicPr>
          <p:nvPr/>
        </p:nvPicPr>
        <p:blipFill>
          <a:blip r:embed="rId8"/>
          <a:stretch>
            <a:fillRect/>
          </a:stretch>
        </p:blipFill>
        <p:spPr>
          <a:xfrm>
            <a:off x="6725612" y="4477533"/>
            <a:ext cx="1835950" cy="234699"/>
          </a:xfrm>
          <a:prstGeom prst="rect">
            <a:avLst/>
          </a:prstGeom>
        </p:spPr>
      </p:pic>
    </p:spTree>
    <p:extLst>
      <p:ext uri="{BB962C8B-B14F-4D97-AF65-F5344CB8AC3E}">
        <p14:creationId xmlns:p14="http://schemas.microsoft.com/office/powerpoint/2010/main" val="414711555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160FE6-BA5F-CFC2-FAA1-95DC8E8538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9A4B974-C747-CEE2-3BA6-EE022FAD3857}"/>
              </a:ext>
            </a:extLst>
          </p:cNvPr>
          <p:cNvSpPr>
            <a:spLocks noGrp="1"/>
          </p:cNvSpPr>
          <p:nvPr>
            <p:ph type="title"/>
          </p:nvPr>
        </p:nvSpPr>
        <p:spPr>
          <a:xfrm>
            <a:off x="720000" y="312823"/>
            <a:ext cx="7704000" cy="572700"/>
          </a:xfrm>
        </p:spPr>
        <p:txBody>
          <a:bodyPr/>
          <a:lstStyle/>
          <a:p>
            <a:pPr algn="ctr"/>
            <a:r>
              <a:rPr lang="en-US" sz="2400" dirty="0"/>
              <a:t>We benchmark </a:t>
            </a:r>
            <a:r>
              <a:rPr lang="en-US" sz="2400" dirty="0" err="1"/>
              <a:t>Gamba</a:t>
            </a:r>
            <a:r>
              <a:rPr lang="en-US" sz="2400" dirty="0"/>
              <a:t> models on </a:t>
            </a:r>
            <a:br>
              <a:rPr lang="en-US" sz="2400" dirty="0"/>
            </a:br>
            <a:r>
              <a:rPr lang="en-US" sz="2400" dirty="0"/>
              <a:t>functional region classification</a:t>
            </a:r>
          </a:p>
        </p:txBody>
      </p:sp>
      <p:sp>
        <p:nvSpPr>
          <p:cNvPr id="23" name="Rectangle 22">
            <a:extLst>
              <a:ext uri="{FF2B5EF4-FFF2-40B4-BE49-F238E27FC236}">
                <a16:creationId xmlns:a16="http://schemas.microsoft.com/office/drawing/2014/main" id="{40D7F844-5E76-39F5-6802-A691CC6574D3}"/>
              </a:ext>
            </a:extLst>
          </p:cNvPr>
          <p:cNvSpPr/>
          <p:nvPr/>
        </p:nvSpPr>
        <p:spPr>
          <a:xfrm>
            <a:off x="1064733" y="2225405"/>
            <a:ext cx="7359267" cy="121186"/>
          </a:xfrm>
          <a:prstGeom prst="rect">
            <a:avLst/>
          </a:prstGeom>
          <a:solidFill>
            <a:srgbClr val="71DAFF"/>
          </a:solidFill>
          <a:ln>
            <a:solidFill>
              <a:srgbClr val="71DA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EFAA65A7-7EED-8FB4-ABC5-3A610B2BA151}"/>
              </a:ext>
            </a:extLst>
          </p:cNvPr>
          <p:cNvSpPr/>
          <p:nvPr/>
        </p:nvSpPr>
        <p:spPr>
          <a:xfrm>
            <a:off x="1350419" y="2225404"/>
            <a:ext cx="262658" cy="121186"/>
          </a:xfrm>
          <a:prstGeom prst="rect">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7C94862D-A47C-12B5-F7F7-6569FDB70DE9}"/>
              </a:ext>
            </a:extLst>
          </p:cNvPr>
          <p:cNvSpPr/>
          <p:nvPr/>
        </p:nvSpPr>
        <p:spPr>
          <a:xfrm>
            <a:off x="5494431" y="2225405"/>
            <a:ext cx="262658" cy="121186"/>
          </a:xfrm>
          <a:prstGeom prst="rect">
            <a:avLst/>
          </a:prstGeom>
          <a:solidFill>
            <a:srgbClr val="FFFF00"/>
          </a:solid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Rectangle 26">
            <a:extLst>
              <a:ext uri="{FF2B5EF4-FFF2-40B4-BE49-F238E27FC236}">
                <a16:creationId xmlns:a16="http://schemas.microsoft.com/office/drawing/2014/main" id="{C3837904-E753-6484-1B01-D163E27F3982}"/>
              </a:ext>
            </a:extLst>
          </p:cNvPr>
          <p:cNvSpPr/>
          <p:nvPr/>
        </p:nvSpPr>
        <p:spPr>
          <a:xfrm>
            <a:off x="5974708" y="2225404"/>
            <a:ext cx="262659" cy="121186"/>
          </a:xfrm>
          <a:prstGeom prst="rect">
            <a:avLst/>
          </a:prstGeom>
          <a:solidFill>
            <a:srgbClr val="7030A0"/>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 Placeholder 2">
            <a:extLst>
              <a:ext uri="{FF2B5EF4-FFF2-40B4-BE49-F238E27FC236}">
                <a16:creationId xmlns:a16="http://schemas.microsoft.com/office/drawing/2014/main" id="{9B2F33BB-2535-0007-BD27-1279237B3972}"/>
              </a:ext>
            </a:extLst>
          </p:cNvPr>
          <p:cNvSpPr txBox="1">
            <a:spLocks/>
          </p:cNvSpPr>
          <p:nvPr/>
        </p:nvSpPr>
        <p:spPr>
          <a:xfrm>
            <a:off x="739697" y="2412958"/>
            <a:ext cx="1380863" cy="40457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79400" algn="l" rtl="0">
              <a:lnSpc>
                <a:spcPct val="115000"/>
              </a:lnSpc>
              <a:spcBef>
                <a:spcPts val="0"/>
              </a:spcBef>
              <a:spcAft>
                <a:spcPts val="0"/>
              </a:spcAft>
              <a:buClr>
                <a:schemeClr val="dk1"/>
              </a:buClr>
              <a:buSzPts val="800"/>
              <a:buFont typeface="Hanken Grotesk"/>
              <a:buChar char="●"/>
              <a:defRPr sz="1400" b="0" i="0" u="none" strike="noStrike" cap="none">
                <a:solidFill>
                  <a:schemeClr val="dk1"/>
                </a:solidFill>
                <a:latin typeface="Hanken Grotesk"/>
                <a:ea typeface="Hanken Grotesk"/>
                <a:cs typeface="Hanken Grotesk"/>
                <a:sym typeface="Hanken Grotesk"/>
              </a:defRPr>
            </a:lvl1pPr>
            <a:lvl2pPr marL="914400" marR="0" lvl="1"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2pPr>
            <a:lvl3pPr marL="1371600" marR="0" lvl="2"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3pPr>
            <a:lvl4pPr marL="1828800" marR="0" lvl="3"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4pPr>
            <a:lvl5pPr marL="2286000" marR="0" lvl="4"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5pPr>
            <a:lvl6pPr marL="2743200" marR="0" lvl="5"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6pPr>
            <a:lvl7pPr marL="3200400" marR="0" lvl="6"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7pPr>
            <a:lvl8pPr marL="3657600" marR="0" lvl="7"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8pPr>
            <a:lvl9pPr marL="4114800" marR="0" lvl="8"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9pPr>
          </a:lstStyle>
          <a:p>
            <a:pPr marL="177800" indent="0" algn="ctr">
              <a:buFont typeface="Hanken Grotesk"/>
              <a:buNone/>
            </a:pPr>
            <a:r>
              <a:rPr lang="en-US" dirty="0"/>
              <a:t>Enhancer</a:t>
            </a:r>
          </a:p>
        </p:txBody>
      </p:sp>
      <p:sp>
        <p:nvSpPr>
          <p:cNvPr id="30" name="Text Placeholder 2">
            <a:extLst>
              <a:ext uri="{FF2B5EF4-FFF2-40B4-BE49-F238E27FC236}">
                <a16:creationId xmlns:a16="http://schemas.microsoft.com/office/drawing/2014/main" id="{B5E1D901-7721-575D-4422-2A2196B80DB6}"/>
              </a:ext>
            </a:extLst>
          </p:cNvPr>
          <p:cNvSpPr txBox="1">
            <a:spLocks/>
          </p:cNvSpPr>
          <p:nvPr/>
        </p:nvSpPr>
        <p:spPr>
          <a:xfrm>
            <a:off x="4935328" y="2412958"/>
            <a:ext cx="1380863" cy="40457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79400" algn="l" rtl="0">
              <a:lnSpc>
                <a:spcPct val="115000"/>
              </a:lnSpc>
              <a:spcBef>
                <a:spcPts val="0"/>
              </a:spcBef>
              <a:spcAft>
                <a:spcPts val="0"/>
              </a:spcAft>
              <a:buClr>
                <a:schemeClr val="dk1"/>
              </a:buClr>
              <a:buSzPts val="800"/>
              <a:buFont typeface="Hanken Grotesk"/>
              <a:buChar char="●"/>
              <a:defRPr sz="1400" b="0" i="0" u="none" strike="noStrike" cap="none">
                <a:solidFill>
                  <a:schemeClr val="dk1"/>
                </a:solidFill>
                <a:latin typeface="Hanken Grotesk"/>
                <a:ea typeface="Hanken Grotesk"/>
                <a:cs typeface="Hanken Grotesk"/>
                <a:sym typeface="Hanken Grotesk"/>
              </a:defRPr>
            </a:lvl1pPr>
            <a:lvl2pPr marL="914400" marR="0" lvl="1"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2pPr>
            <a:lvl3pPr marL="1371600" marR="0" lvl="2"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3pPr>
            <a:lvl4pPr marL="1828800" marR="0" lvl="3"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4pPr>
            <a:lvl5pPr marL="2286000" marR="0" lvl="4"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5pPr>
            <a:lvl6pPr marL="2743200" marR="0" lvl="5"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6pPr>
            <a:lvl7pPr marL="3200400" marR="0" lvl="6"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7pPr>
            <a:lvl8pPr marL="3657600" marR="0" lvl="7"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8pPr>
            <a:lvl9pPr marL="4114800" marR="0" lvl="8"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9pPr>
          </a:lstStyle>
          <a:p>
            <a:pPr marL="177800" indent="0" algn="ctr">
              <a:buFont typeface="Hanken Grotesk"/>
              <a:buNone/>
            </a:pPr>
            <a:r>
              <a:rPr lang="en-US" dirty="0"/>
              <a:t>Promoter</a:t>
            </a:r>
          </a:p>
        </p:txBody>
      </p:sp>
      <p:sp>
        <p:nvSpPr>
          <p:cNvPr id="32" name="Rectangle 31">
            <a:extLst>
              <a:ext uri="{FF2B5EF4-FFF2-40B4-BE49-F238E27FC236}">
                <a16:creationId xmlns:a16="http://schemas.microsoft.com/office/drawing/2014/main" id="{BCDE8A0F-5338-F368-C277-F06498C4C188}"/>
              </a:ext>
            </a:extLst>
          </p:cNvPr>
          <p:cNvSpPr/>
          <p:nvPr/>
        </p:nvSpPr>
        <p:spPr>
          <a:xfrm>
            <a:off x="2164460" y="2225404"/>
            <a:ext cx="262658" cy="121186"/>
          </a:xfrm>
          <a:prstGeom prst="rect">
            <a:avLst/>
          </a:prstGeom>
          <a:solidFill>
            <a:srgbClr val="EDAEAE"/>
          </a:solidFill>
          <a:ln>
            <a:solidFill>
              <a:srgbClr val="EDAEA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Text Placeholder 2">
            <a:extLst>
              <a:ext uri="{FF2B5EF4-FFF2-40B4-BE49-F238E27FC236}">
                <a16:creationId xmlns:a16="http://schemas.microsoft.com/office/drawing/2014/main" id="{F1359F7C-137E-795A-B940-A4172AEE53D3}"/>
              </a:ext>
            </a:extLst>
          </p:cNvPr>
          <p:cNvSpPr txBox="1">
            <a:spLocks/>
          </p:cNvSpPr>
          <p:nvPr/>
        </p:nvSpPr>
        <p:spPr>
          <a:xfrm>
            <a:off x="1542175" y="2412958"/>
            <a:ext cx="1380863" cy="40457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79400" algn="l" rtl="0">
              <a:lnSpc>
                <a:spcPct val="115000"/>
              </a:lnSpc>
              <a:spcBef>
                <a:spcPts val="0"/>
              </a:spcBef>
              <a:spcAft>
                <a:spcPts val="0"/>
              </a:spcAft>
              <a:buClr>
                <a:schemeClr val="dk1"/>
              </a:buClr>
              <a:buSzPts val="800"/>
              <a:buFont typeface="Hanken Grotesk"/>
              <a:buChar char="●"/>
              <a:defRPr sz="1400" b="0" i="0" u="none" strike="noStrike" cap="none">
                <a:solidFill>
                  <a:schemeClr val="dk1"/>
                </a:solidFill>
                <a:latin typeface="Hanken Grotesk"/>
                <a:ea typeface="Hanken Grotesk"/>
                <a:cs typeface="Hanken Grotesk"/>
                <a:sym typeface="Hanken Grotesk"/>
              </a:defRPr>
            </a:lvl1pPr>
            <a:lvl2pPr marL="914400" marR="0" lvl="1"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2pPr>
            <a:lvl3pPr marL="1371600" marR="0" lvl="2"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3pPr>
            <a:lvl4pPr marL="1828800" marR="0" lvl="3"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4pPr>
            <a:lvl5pPr marL="2286000" marR="0" lvl="4"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5pPr>
            <a:lvl6pPr marL="2743200" marR="0" lvl="5"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6pPr>
            <a:lvl7pPr marL="3200400" marR="0" lvl="6"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7pPr>
            <a:lvl8pPr marL="3657600" marR="0" lvl="7"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8pPr>
            <a:lvl9pPr marL="4114800" marR="0" lvl="8"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9pPr>
          </a:lstStyle>
          <a:p>
            <a:pPr marL="177800" indent="0" algn="ctr">
              <a:buFont typeface="Hanken Grotesk"/>
              <a:buNone/>
            </a:pPr>
            <a:r>
              <a:rPr lang="en-US" dirty="0"/>
              <a:t>UCNE</a:t>
            </a:r>
          </a:p>
        </p:txBody>
      </p:sp>
      <p:sp>
        <p:nvSpPr>
          <p:cNvPr id="34" name="Rectangle 33">
            <a:extLst>
              <a:ext uri="{FF2B5EF4-FFF2-40B4-BE49-F238E27FC236}">
                <a16:creationId xmlns:a16="http://schemas.microsoft.com/office/drawing/2014/main" id="{1E545565-B795-9571-6964-2A6B9B6C47B7}"/>
              </a:ext>
            </a:extLst>
          </p:cNvPr>
          <p:cNvSpPr/>
          <p:nvPr/>
        </p:nvSpPr>
        <p:spPr>
          <a:xfrm>
            <a:off x="2869641" y="2227425"/>
            <a:ext cx="963473" cy="119165"/>
          </a:xfrm>
          <a:prstGeom prst="rect">
            <a:avLst/>
          </a:prstGeom>
          <a:solidFill>
            <a:srgbClr val="002060"/>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Text Placeholder 2">
            <a:extLst>
              <a:ext uri="{FF2B5EF4-FFF2-40B4-BE49-F238E27FC236}">
                <a16:creationId xmlns:a16="http://schemas.microsoft.com/office/drawing/2014/main" id="{A6E53ADC-8441-DAB0-E155-BFF4B7D43F33}"/>
              </a:ext>
            </a:extLst>
          </p:cNvPr>
          <p:cNvSpPr txBox="1">
            <a:spLocks/>
          </p:cNvSpPr>
          <p:nvPr/>
        </p:nvSpPr>
        <p:spPr>
          <a:xfrm>
            <a:off x="2548319" y="2412957"/>
            <a:ext cx="1380863" cy="40457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79400" algn="l" rtl="0">
              <a:lnSpc>
                <a:spcPct val="115000"/>
              </a:lnSpc>
              <a:spcBef>
                <a:spcPts val="0"/>
              </a:spcBef>
              <a:spcAft>
                <a:spcPts val="0"/>
              </a:spcAft>
              <a:buClr>
                <a:schemeClr val="dk1"/>
              </a:buClr>
              <a:buSzPts val="800"/>
              <a:buFont typeface="Hanken Grotesk"/>
              <a:buChar char="●"/>
              <a:defRPr sz="1400" b="0" i="0" u="none" strike="noStrike" cap="none">
                <a:solidFill>
                  <a:schemeClr val="dk1"/>
                </a:solidFill>
                <a:latin typeface="Hanken Grotesk"/>
                <a:ea typeface="Hanken Grotesk"/>
                <a:cs typeface="Hanken Grotesk"/>
                <a:sym typeface="Hanken Grotesk"/>
              </a:defRPr>
            </a:lvl1pPr>
            <a:lvl2pPr marL="914400" marR="0" lvl="1"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2pPr>
            <a:lvl3pPr marL="1371600" marR="0" lvl="2"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3pPr>
            <a:lvl4pPr marL="1828800" marR="0" lvl="3"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4pPr>
            <a:lvl5pPr marL="2286000" marR="0" lvl="4"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5pPr>
            <a:lvl6pPr marL="2743200" marR="0" lvl="5"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6pPr>
            <a:lvl7pPr marL="3200400" marR="0" lvl="6"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7pPr>
            <a:lvl8pPr marL="3657600" marR="0" lvl="7"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8pPr>
            <a:lvl9pPr marL="4114800" marR="0" lvl="8"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9pPr>
          </a:lstStyle>
          <a:p>
            <a:pPr marL="177800" indent="0" algn="ctr">
              <a:buFont typeface="Hanken Grotesk"/>
              <a:buNone/>
            </a:pPr>
            <a:r>
              <a:rPr lang="en-US" dirty="0"/>
              <a:t>Repeat</a:t>
            </a:r>
          </a:p>
        </p:txBody>
      </p:sp>
      <p:sp>
        <p:nvSpPr>
          <p:cNvPr id="36" name="Rectangle 35">
            <a:extLst>
              <a:ext uri="{FF2B5EF4-FFF2-40B4-BE49-F238E27FC236}">
                <a16:creationId xmlns:a16="http://schemas.microsoft.com/office/drawing/2014/main" id="{7BE88F1E-0DBA-9F4C-0183-EBEC8BCB4017}"/>
              </a:ext>
            </a:extLst>
          </p:cNvPr>
          <p:cNvSpPr/>
          <p:nvPr/>
        </p:nvSpPr>
        <p:spPr>
          <a:xfrm>
            <a:off x="4772582" y="2225404"/>
            <a:ext cx="262658" cy="121186"/>
          </a:xfrm>
          <a:prstGeom prst="rect">
            <a:avLst/>
          </a:prstGeom>
          <a:solidFill>
            <a:srgbClr val="FFFF00"/>
          </a:solid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7" name="Text Placeholder 2">
            <a:extLst>
              <a:ext uri="{FF2B5EF4-FFF2-40B4-BE49-F238E27FC236}">
                <a16:creationId xmlns:a16="http://schemas.microsoft.com/office/drawing/2014/main" id="{692B5EBF-EFD6-2D10-A29F-E08EF207966C}"/>
              </a:ext>
            </a:extLst>
          </p:cNvPr>
          <p:cNvSpPr txBox="1">
            <a:spLocks/>
          </p:cNvSpPr>
          <p:nvPr/>
        </p:nvSpPr>
        <p:spPr>
          <a:xfrm>
            <a:off x="4132850" y="2412957"/>
            <a:ext cx="1380863" cy="40457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79400" algn="l" rtl="0">
              <a:lnSpc>
                <a:spcPct val="115000"/>
              </a:lnSpc>
              <a:spcBef>
                <a:spcPts val="0"/>
              </a:spcBef>
              <a:spcAft>
                <a:spcPts val="0"/>
              </a:spcAft>
              <a:buClr>
                <a:schemeClr val="dk1"/>
              </a:buClr>
              <a:buSzPts val="800"/>
              <a:buFont typeface="Hanken Grotesk"/>
              <a:buChar char="●"/>
              <a:defRPr sz="1400" b="0" i="0" u="none" strike="noStrike" cap="none">
                <a:solidFill>
                  <a:schemeClr val="dk1"/>
                </a:solidFill>
                <a:latin typeface="Hanken Grotesk"/>
                <a:ea typeface="Hanken Grotesk"/>
                <a:cs typeface="Hanken Grotesk"/>
                <a:sym typeface="Hanken Grotesk"/>
              </a:defRPr>
            </a:lvl1pPr>
            <a:lvl2pPr marL="914400" marR="0" lvl="1"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2pPr>
            <a:lvl3pPr marL="1371600" marR="0" lvl="2"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3pPr>
            <a:lvl4pPr marL="1828800" marR="0" lvl="3"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4pPr>
            <a:lvl5pPr marL="2286000" marR="0" lvl="4"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5pPr>
            <a:lvl6pPr marL="2743200" marR="0" lvl="5"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6pPr>
            <a:lvl7pPr marL="3200400" marR="0" lvl="6"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7pPr>
            <a:lvl8pPr marL="3657600" marR="0" lvl="7"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8pPr>
            <a:lvl9pPr marL="4114800" marR="0" lvl="8"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9pPr>
          </a:lstStyle>
          <a:p>
            <a:pPr marL="177800" indent="0" algn="ctr">
              <a:buFont typeface="Hanken Grotesk"/>
              <a:buNone/>
            </a:pPr>
            <a:r>
              <a:rPr lang="en-US" dirty="0"/>
              <a:t>2KB Upstream TSS</a:t>
            </a:r>
          </a:p>
        </p:txBody>
      </p:sp>
      <p:sp>
        <p:nvSpPr>
          <p:cNvPr id="38" name="Text Placeholder 2">
            <a:extLst>
              <a:ext uri="{FF2B5EF4-FFF2-40B4-BE49-F238E27FC236}">
                <a16:creationId xmlns:a16="http://schemas.microsoft.com/office/drawing/2014/main" id="{28A397FE-A05E-2092-3400-0545258C3793}"/>
              </a:ext>
            </a:extLst>
          </p:cNvPr>
          <p:cNvSpPr txBox="1">
            <a:spLocks/>
          </p:cNvSpPr>
          <p:nvPr/>
        </p:nvSpPr>
        <p:spPr>
          <a:xfrm>
            <a:off x="5335606" y="1754462"/>
            <a:ext cx="1380863" cy="40457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79400" algn="l" rtl="0">
              <a:lnSpc>
                <a:spcPct val="115000"/>
              </a:lnSpc>
              <a:spcBef>
                <a:spcPts val="0"/>
              </a:spcBef>
              <a:spcAft>
                <a:spcPts val="0"/>
              </a:spcAft>
              <a:buClr>
                <a:schemeClr val="dk1"/>
              </a:buClr>
              <a:buSzPts val="800"/>
              <a:buFont typeface="Hanken Grotesk"/>
              <a:buChar char="●"/>
              <a:defRPr sz="1400" b="0" i="0" u="none" strike="noStrike" cap="none">
                <a:solidFill>
                  <a:schemeClr val="dk1"/>
                </a:solidFill>
                <a:latin typeface="Hanken Grotesk"/>
                <a:ea typeface="Hanken Grotesk"/>
                <a:cs typeface="Hanken Grotesk"/>
                <a:sym typeface="Hanken Grotesk"/>
              </a:defRPr>
            </a:lvl1pPr>
            <a:lvl2pPr marL="914400" marR="0" lvl="1"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2pPr>
            <a:lvl3pPr marL="1371600" marR="0" lvl="2"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3pPr>
            <a:lvl4pPr marL="1828800" marR="0" lvl="3"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4pPr>
            <a:lvl5pPr marL="2286000" marR="0" lvl="4"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5pPr>
            <a:lvl6pPr marL="2743200" marR="0" lvl="5"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6pPr>
            <a:lvl7pPr marL="3200400" marR="0" lvl="6"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7pPr>
            <a:lvl8pPr marL="3657600" marR="0" lvl="7"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8pPr>
            <a:lvl9pPr marL="4114800" marR="0" lvl="8"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9pPr>
          </a:lstStyle>
          <a:p>
            <a:pPr marL="177800" indent="0" algn="ctr">
              <a:buFont typeface="Hanken Grotesk"/>
              <a:buNone/>
            </a:pPr>
            <a:r>
              <a:rPr lang="en-US" dirty="0"/>
              <a:t>5’ UTR</a:t>
            </a:r>
          </a:p>
        </p:txBody>
      </p:sp>
      <p:sp>
        <p:nvSpPr>
          <p:cNvPr id="39" name="Rectangle 38">
            <a:extLst>
              <a:ext uri="{FF2B5EF4-FFF2-40B4-BE49-F238E27FC236}">
                <a16:creationId xmlns:a16="http://schemas.microsoft.com/office/drawing/2014/main" id="{35AC5C26-6BD0-3E2D-73F2-5AB0B42327F6}"/>
              </a:ext>
            </a:extLst>
          </p:cNvPr>
          <p:cNvSpPr/>
          <p:nvPr/>
        </p:nvSpPr>
        <p:spPr>
          <a:xfrm>
            <a:off x="6237366" y="2225404"/>
            <a:ext cx="459191" cy="121186"/>
          </a:xfrm>
          <a:prstGeom prst="rect">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1923A992-B891-7128-247A-CD3263CF44C6}"/>
              </a:ext>
            </a:extLst>
          </p:cNvPr>
          <p:cNvSpPr/>
          <p:nvPr/>
        </p:nvSpPr>
        <p:spPr>
          <a:xfrm>
            <a:off x="6716469" y="2225404"/>
            <a:ext cx="263071" cy="121186"/>
          </a:xfrm>
          <a:prstGeom prst="rect">
            <a:avLst/>
          </a:prstGeom>
          <a:solidFill>
            <a:srgbClr val="92D050"/>
          </a:solidFill>
          <a:ln>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30FE57C0-BDDA-2143-3696-36EEC2BCB3D2}"/>
              </a:ext>
            </a:extLst>
          </p:cNvPr>
          <p:cNvSpPr/>
          <p:nvPr/>
        </p:nvSpPr>
        <p:spPr>
          <a:xfrm>
            <a:off x="6979540" y="2225404"/>
            <a:ext cx="561506" cy="121186"/>
          </a:xfrm>
          <a:prstGeom prst="rect">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a:extLst>
              <a:ext uri="{FF2B5EF4-FFF2-40B4-BE49-F238E27FC236}">
                <a16:creationId xmlns:a16="http://schemas.microsoft.com/office/drawing/2014/main" id="{70F3B1A3-1E89-709E-C00E-73CA447D40F4}"/>
              </a:ext>
            </a:extLst>
          </p:cNvPr>
          <p:cNvSpPr/>
          <p:nvPr/>
        </p:nvSpPr>
        <p:spPr>
          <a:xfrm>
            <a:off x="7541458" y="2225404"/>
            <a:ext cx="262659" cy="121186"/>
          </a:xfrm>
          <a:prstGeom prst="rect">
            <a:avLst/>
          </a:prstGeom>
          <a:solidFill>
            <a:srgbClr val="E0CDEF"/>
          </a:solidFill>
          <a:ln>
            <a:solidFill>
              <a:srgbClr val="E0CDE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Text Placeholder 2">
            <a:extLst>
              <a:ext uri="{FF2B5EF4-FFF2-40B4-BE49-F238E27FC236}">
                <a16:creationId xmlns:a16="http://schemas.microsoft.com/office/drawing/2014/main" id="{80BDB2D5-28BF-C5A7-C4BB-5EDDB60A6335}"/>
              </a:ext>
            </a:extLst>
          </p:cNvPr>
          <p:cNvSpPr txBox="1">
            <a:spLocks/>
          </p:cNvSpPr>
          <p:nvPr/>
        </p:nvSpPr>
        <p:spPr>
          <a:xfrm>
            <a:off x="6979540" y="1756251"/>
            <a:ext cx="1380863" cy="40457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79400" algn="l" rtl="0">
              <a:lnSpc>
                <a:spcPct val="115000"/>
              </a:lnSpc>
              <a:spcBef>
                <a:spcPts val="0"/>
              </a:spcBef>
              <a:spcAft>
                <a:spcPts val="0"/>
              </a:spcAft>
              <a:buClr>
                <a:schemeClr val="dk1"/>
              </a:buClr>
              <a:buSzPts val="800"/>
              <a:buFont typeface="Hanken Grotesk"/>
              <a:buChar char="●"/>
              <a:defRPr sz="1400" b="0" i="0" u="none" strike="noStrike" cap="none">
                <a:solidFill>
                  <a:schemeClr val="dk1"/>
                </a:solidFill>
                <a:latin typeface="Hanken Grotesk"/>
                <a:ea typeface="Hanken Grotesk"/>
                <a:cs typeface="Hanken Grotesk"/>
                <a:sym typeface="Hanken Grotesk"/>
              </a:defRPr>
            </a:lvl1pPr>
            <a:lvl2pPr marL="914400" marR="0" lvl="1"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2pPr>
            <a:lvl3pPr marL="1371600" marR="0" lvl="2"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3pPr>
            <a:lvl4pPr marL="1828800" marR="0" lvl="3"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4pPr>
            <a:lvl5pPr marL="2286000" marR="0" lvl="4"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5pPr>
            <a:lvl6pPr marL="2743200" marR="0" lvl="5"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6pPr>
            <a:lvl7pPr marL="3200400" marR="0" lvl="6"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7pPr>
            <a:lvl8pPr marL="3657600" marR="0" lvl="7"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8pPr>
            <a:lvl9pPr marL="4114800" marR="0" lvl="8"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9pPr>
          </a:lstStyle>
          <a:p>
            <a:pPr marL="177800" indent="0" algn="ctr">
              <a:buFont typeface="Hanken Grotesk"/>
              <a:buNone/>
            </a:pPr>
            <a:r>
              <a:rPr lang="en-US" dirty="0"/>
              <a:t>3’ UTR</a:t>
            </a:r>
          </a:p>
        </p:txBody>
      </p:sp>
      <p:sp>
        <p:nvSpPr>
          <p:cNvPr id="44" name="Text Placeholder 2">
            <a:extLst>
              <a:ext uri="{FF2B5EF4-FFF2-40B4-BE49-F238E27FC236}">
                <a16:creationId xmlns:a16="http://schemas.microsoft.com/office/drawing/2014/main" id="{26A2D135-3328-F33A-AE21-DCFCB28776D8}"/>
              </a:ext>
            </a:extLst>
          </p:cNvPr>
          <p:cNvSpPr txBox="1">
            <a:spLocks/>
          </p:cNvSpPr>
          <p:nvPr/>
        </p:nvSpPr>
        <p:spPr>
          <a:xfrm>
            <a:off x="6106037" y="1754461"/>
            <a:ext cx="1380863" cy="40457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79400" algn="l" rtl="0">
              <a:lnSpc>
                <a:spcPct val="115000"/>
              </a:lnSpc>
              <a:spcBef>
                <a:spcPts val="0"/>
              </a:spcBef>
              <a:spcAft>
                <a:spcPts val="0"/>
              </a:spcAft>
              <a:buClr>
                <a:schemeClr val="dk1"/>
              </a:buClr>
              <a:buSzPts val="800"/>
              <a:buFont typeface="Hanken Grotesk"/>
              <a:buChar char="●"/>
              <a:defRPr sz="1400" b="0" i="0" u="none" strike="noStrike" cap="none">
                <a:solidFill>
                  <a:schemeClr val="dk1"/>
                </a:solidFill>
                <a:latin typeface="Hanken Grotesk"/>
                <a:ea typeface="Hanken Grotesk"/>
                <a:cs typeface="Hanken Grotesk"/>
                <a:sym typeface="Hanken Grotesk"/>
              </a:defRPr>
            </a:lvl1pPr>
            <a:lvl2pPr marL="914400" marR="0" lvl="1"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2pPr>
            <a:lvl3pPr marL="1371600" marR="0" lvl="2"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3pPr>
            <a:lvl4pPr marL="1828800" marR="0" lvl="3"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4pPr>
            <a:lvl5pPr marL="2286000" marR="0" lvl="4"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5pPr>
            <a:lvl6pPr marL="2743200" marR="0" lvl="5"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6pPr>
            <a:lvl7pPr marL="3200400" marR="0" lvl="6"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7pPr>
            <a:lvl8pPr marL="3657600" marR="0" lvl="7"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8pPr>
            <a:lvl9pPr marL="4114800" marR="0" lvl="8"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9pPr>
          </a:lstStyle>
          <a:p>
            <a:pPr marL="177800" indent="0" algn="ctr">
              <a:buFont typeface="Hanken Grotesk"/>
              <a:buNone/>
            </a:pPr>
            <a:r>
              <a:rPr lang="en-US" dirty="0"/>
              <a:t>Exon</a:t>
            </a:r>
          </a:p>
        </p:txBody>
      </p:sp>
      <p:sp>
        <p:nvSpPr>
          <p:cNvPr id="45" name="Text Placeholder 2">
            <a:extLst>
              <a:ext uri="{FF2B5EF4-FFF2-40B4-BE49-F238E27FC236}">
                <a16:creationId xmlns:a16="http://schemas.microsoft.com/office/drawing/2014/main" id="{5ECEDA87-068E-2C2B-9901-F466E5BE489D}"/>
              </a:ext>
            </a:extLst>
          </p:cNvPr>
          <p:cNvSpPr txBox="1">
            <a:spLocks/>
          </p:cNvSpPr>
          <p:nvPr/>
        </p:nvSpPr>
        <p:spPr>
          <a:xfrm>
            <a:off x="6466961" y="2411169"/>
            <a:ext cx="1380863" cy="40457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79400" algn="l" rtl="0">
              <a:lnSpc>
                <a:spcPct val="115000"/>
              </a:lnSpc>
              <a:spcBef>
                <a:spcPts val="0"/>
              </a:spcBef>
              <a:spcAft>
                <a:spcPts val="0"/>
              </a:spcAft>
              <a:buClr>
                <a:schemeClr val="dk1"/>
              </a:buClr>
              <a:buSzPts val="800"/>
              <a:buFont typeface="Hanken Grotesk"/>
              <a:buChar char="●"/>
              <a:defRPr sz="1400" b="0" i="0" u="none" strike="noStrike" cap="none">
                <a:solidFill>
                  <a:schemeClr val="dk1"/>
                </a:solidFill>
                <a:latin typeface="Hanken Grotesk"/>
                <a:ea typeface="Hanken Grotesk"/>
                <a:cs typeface="Hanken Grotesk"/>
                <a:sym typeface="Hanken Grotesk"/>
              </a:defRPr>
            </a:lvl1pPr>
            <a:lvl2pPr marL="914400" marR="0" lvl="1"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2pPr>
            <a:lvl3pPr marL="1371600" marR="0" lvl="2"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3pPr>
            <a:lvl4pPr marL="1828800" marR="0" lvl="3"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4pPr>
            <a:lvl5pPr marL="2286000" marR="0" lvl="4"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5pPr>
            <a:lvl6pPr marL="2743200" marR="0" lvl="5"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6pPr>
            <a:lvl7pPr marL="3200400" marR="0" lvl="6"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7pPr>
            <a:lvl8pPr marL="3657600" marR="0" lvl="7"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8pPr>
            <a:lvl9pPr marL="4114800" marR="0" lvl="8"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9pPr>
          </a:lstStyle>
          <a:p>
            <a:pPr marL="177800" indent="0" algn="ctr">
              <a:buFont typeface="Hanken Grotesk"/>
              <a:buNone/>
            </a:pPr>
            <a:r>
              <a:rPr lang="en-US" dirty="0"/>
              <a:t>Intron</a:t>
            </a:r>
          </a:p>
        </p:txBody>
      </p:sp>
      <p:sp>
        <p:nvSpPr>
          <p:cNvPr id="46" name="Text Placeholder 2">
            <a:extLst>
              <a:ext uri="{FF2B5EF4-FFF2-40B4-BE49-F238E27FC236}">
                <a16:creationId xmlns:a16="http://schemas.microsoft.com/office/drawing/2014/main" id="{1D6AD59B-85D2-C272-E17D-36C06C90A8E5}"/>
              </a:ext>
            </a:extLst>
          </p:cNvPr>
          <p:cNvSpPr txBox="1">
            <a:spLocks/>
          </p:cNvSpPr>
          <p:nvPr/>
        </p:nvSpPr>
        <p:spPr>
          <a:xfrm>
            <a:off x="2069262" y="3496719"/>
            <a:ext cx="5005476" cy="586179"/>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79400" algn="l" rtl="0">
              <a:lnSpc>
                <a:spcPct val="115000"/>
              </a:lnSpc>
              <a:spcBef>
                <a:spcPts val="0"/>
              </a:spcBef>
              <a:spcAft>
                <a:spcPts val="0"/>
              </a:spcAft>
              <a:buClr>
                <a:schemeClr val="dk1"/>
              </a:buClr>
              <a:buSzPts val="800"/>
              <a:buFont typeface="Hanken Grotesk"/>
              <a:buChar char="●"/>
              <a:defRPr sz="1400" b="0" i="0" u="none" strike="noStrike" cap="none">
                <a:solidFill>
                  <a:schemeClr val="dk1"/>
                </a:solidFill>
                <a:latin typeface="Hanken Grotesk"/>
                <a:ea typeface="Hanken Grotesk"/>
                <a:cs typeface="Hanken Grotesk"/>
                <a:sym typeface="Hanken Grotesk"/>
              </a:defRPr>
            </a:lvl1pPr>
            <a:lvl2pPr marL="914400" marR="0" lvl="1"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2pPr>
            <a:lvl3pPr marL="1371600" marR="0" lvl="2"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3pPr>
            <a:lvl4pPr marL="1828800" marR="0" lvl="3"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4pPr>
            <a:lvl5pPr marL="2286000" marR="0" lvl="4"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5pPr>
            <a:lvl6pPr marL="2743200" marR="0" lvl="5"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6pPr>
            <a:lvl7pPr marL="3200400" marR="0" lvl="6"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7pPr>
            <a:lvl8pPr marL="3657600" marR="0" lvl="7"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8pPr>
            <a:lvl9pPr marL="4114800" marR="0" lvl="8"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9pPr>
          </a:lstStyle>
          <a:p>
            <a:pPr marL="177800" indent="0" algn="ctr">
              <a:buFont typeface="Hanken Grotesk"/>
              <a:buNone/>
            </a:pPr>
            <a:r>
              <a:rPr lang="en-US" b="1" dirty="0"/>
              <a:t>We make benchmarking more challenging by operating </a:t>
            </a:r>
            <a:r>
              <a:rPr lang="en-US" b="1" dirty="0">
                <a:solidFill>
                  <a:srgbClr val="C00000"/>
                </a:solidFill>
              </a:rPr>
              <a:t>zero-shot</a:t>
            </a:r>
            <a:r>
              <a:rPr lang="en-US" b="1" dirty="0"/>
              <a:t> and </a:t>
            </a:r>
            <a:r>
              <a:rPr lang="en-US" b="1" dirty="0">
                <a:solidFill>
                  <a:srgbClr val="C00000"/>
                </a:solidFill>
              </a:rPr>
              <a:t>evaluating under confounders</a:t>
            </a:r>
          </a:p>
        </p:txBody>
      </p:sp>
    </p:spTree>
    <p:extLst>
      <p:ext uri="{BB962C8B-B14F-4D97-AF65-F5344CB8AC3E}">
        <p14:creationId xmlns:p14="http://schemas.microsoft.com/office/powerpoint/2010/main" val="386701838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279F04-33DF-7710-FC60-B0A7224861B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CB584CF-DD3A-2DCB-AFB7-2380FBBED80B}"/>
              </a:ext>
            </a:extLst>
          </p:cNvPr>
          <p:cNvSpPr>
            <a:spLocks noGrp="1"/>
          </p:cNvSpPr>
          <p:nvPr>
            <p:ph type="title"/>
          </p:nvPr>
        </p:nvSpPr>
        <p:spPr>
          <a:xfrm>
            <a:off x="720000" y="312823"/>
            <a:ext cx="7704000" cy="572700"/>
          </a:xfrm>
        </p:spPr>
        <p:txBody>
          <a:bodyPr/>
          <a:lstStyle/>
          <a:p>
            <a:pPr algn="ctr"/>
            <a:r>
              <a:rPr lang="en-US" sz="2400" dirty="0"/>
              <a:t>Existing benchmarks select confounder </a:t>
            </a:r>
            <a:br>
              <a:rPr lang="en-US" sz="2400" dirty="0"/>
            </a:br>
            <a:r>
              <a:rPr lang="en-US" sz="2400" dirty="0"/>
              <a:t>sequences at random from the genome</a:t>
            </a:r>
          </a:p>
        </p:txBody>
      </p:sp>
      <p:sp>
        <p:nvSpPr>
          <p:cNvPr id="5" name="Rectangle 4">
            <a:extLst>
              <a:ext uri="{FF2B5EF4-FFF2-40B4-BE49-F238E27FC236}">
                <a16:creationId xmlns:a16="http://schemas.microsoft.com/office/drawing/2014/main" id="{1C46C0D2-CF3F-D86F-D143-3903ED4AAAD6}"/>
              </a:ext>
            </a:extLst>
          </p:cNvPr>
          <p:cNvSpPr/>
          <p:nvPr/>
        </p:nvSpPr>
        <p:spPr>
          <a:xfrm>
            <a:off x="1045036" y="1757188"/>
            <a:ext cx="7359267" cy="121186"/>
          </a:xfrm>
          <a:prstGeom prst="rect">
            <a:avLst/>
          </a:prstGeom>
          <a:solidFill>
            <a:srgbClr val="71DAFF"/>
          </a:solidFill>
          <a:ln>
            <a:solidFill>
              <a:srgbClr val="71DA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a:extLst>
              <a:ext uri="{FF2B5EF4-FFF2-40B4-BE49-F238E27FC236}">
                <a16:creationId xmlns:a16="http://schemas.microsoft.com/office/drawing/2014/main" id="{E8C8A54C-B499-6E1F-BBAF-3F217B0F672E}"/>
              </a:ext>
            </a:extLst>
          </p:cNvPr>
          <p:cNvSpPr/>
          <p:nvPr/>
        </p:nvSpPr>
        <p:spPr>
          <a:xfrm>
            <a:off x="1330722" y="1757187"/>
            <a:ext cx="262658" cy="121186"/>
          </a:xfrm>
          <a:prstGeom prst="rect">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a:extLst>
              <a:ext uri="{FF2B5EF4-FFF2-40B4-BE49-F238E27FC236}">
                <a16:creationId xmlns:a16="http://schemas.microsoft.com/office/drawing/2014/main" id="{E49CD88B-C480-6E9C-9266-990D6314D2F7}"/>
              </a:ext>
            </a:extLst>
          </p:cNvPr>
          <p:cNvSpPr/>
          <p:nvPr/>
        </p:nvSpPr>
        <p:spPr>
          <a:xfrm>
            <a:off x="5474734" y="1757188"/>
            <a:ext cx="262658" cy="121186"/>
          </a:xfrm>
          <a:prstGeom prst="rect">
            <a:avLst/>
          </a:prstGeom>
          <a:solidFill>
            <a:srgbClr val="FFFF00"/>
          </a:solid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5" name="Rectangle 44">
            <a:extLst>
              <a:ext uri="{FF2B5EF4-FFF2-40B4-BE49-F238E27FC236}">
                <a16:creationId xmlns:a16="http://schemas.microsoft.com/office/drawing/2014/main" id="{A58F3686-D0E0-ADC8-43D6-3C89018ADB35}"/>
              </a:ext>
            </a:extLst>
          </p:cNvPr>
          <p:cNvSpPr/>
          <p:nvPr/>
        </p:nvSpPr>
        <p:spPr>
          <a:xfrm>
            <a:off x="5955011" y="1757187"/>
            <a:ext cx="262659" cy="121186"/>
          </a:xfrm>
          <a:prstGeom prst="rect">
            <a:avLst/>
          </a:prstGeom>
          <a:solidFill>
            <a:srgbClr val="7030A0"/>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Text Placeholder 2">
            <a:extLst>
              <a:ext uri="{FF2B5EF4-FFF2-40B4-BE49-F238E27FC236}">
                <a16:creationId xmlns:a16="http://schemas.microsoft.com/office/drawing/2014/main" id="{6828BFD8-B9B5-8762-8308-D47BB1575CB2}"/>
              </a:ext>
            </a:extLst>
          </p:cNvPr>
          <p:cNvSpPr txBox="1">
            <a:spLocks/>
          </p:cNvSpPr>
          <p:nvPr/>
        </p:nvSpPr>
        <p:spPr>
          <a:xfrm>
            <a:off x="720000" y="1944741"/>
            <a:ext cx="1380863" cy="40457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79400" algn="l" rtl="0">
              <a:lnSpc>
                <a:spcPct val="115000"/>
              </a:lnSpc>
              <a:spcBef>
                <a:spcPts val="0"/>
              </a:spcBef>
              <a:spcAft>
                <a:spcPts val="0"/>
              </a:spcAft>
              <a:buClr>
                <a:schemeClr val="dk1"/>
              </a:buClr>
              <a:buSzPts val="800"/>
              <a:buFont typeface="Hanken Grotesk"/>
              <a:buChar char="●"/>
              <a:defRPr sz="1400" b="0" i="0" u="none" strike="noStrike" cap="none">
                <a:solidFill>
                  <a:schemeClr val="dk1"/>
                </a:solidFill>
                <a:latin typeface="Hanken Grotesk"/>
                <a:ea typeface="Hanken Grotesk"/>
                <a:cs typeface="Hanken Grotesk"/>
                <a:sym typeface="Hanken Grotesk"/>
              </a:defRPr>
            </a:lvl1pPr>
            <a:lvl2pPr marL="914400" marR="0" lvl="1"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2pPr>
            <a:lvl3pPr marL="1371600" marR="0" lvl="2"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3pPr>
            <a:lvl4pPr marL="1828800" marR="0" lvl="3"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4pPr>
            <a:lvl5pPr marL="2286000" marR="0" lvl="4"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5pPr>
            <a:lvl6pPr marL="2743200" marR="0" lvl="5"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6pPr>
            <a:lvl7pPr marL="3200400" marR="0" lvl="6"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7pPr>
            <a:lvl8pPr marL="3657600" marR="0" lvl="7"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8pPr>
            <a:lvl9pPr marL="4114800" marR="0" lvl="8"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9pPr>
          </a:lstStyle>
          <a:p>
            <a:pPr marL="177800" indent="0" algn="ctr">
              <a:buFont typeface="Hanken Grotesk"/>
              <a:buNone/>
            </a:pPr>
            <a:r>
              <a:rPr lang="en-US" dirty="0"/>
              <a:t>Enhancer</a:t>
            </a:r>
          </a:p>
        </p:txBody>
      </p:sp>
      <p:sp>
        <p:nvSpPr>
          <p:cNvPr id="47" name="Text Placeholder 2">
            <a:extLst>
              <a:ext uri="{FF2B5EF4-FFF2-40B4-BE49-F238E27FC236}">
                <a16:creationId xmlns:a16="http://schemas.microsoft.com/office/drawing/2014/main" id="{E21DC97C-D532-CEA3-6561-D59F274E1F7F}"/>
              </a:ext>
            </a:extLst>
          </p:cNvPr>
          <p:cNvSpPr txBox="1">
            <a:spLocks/>
          </p:cNvSpPr>
          <p:nvPr/>
        </p:nvSpPr>
        <p:spPr>
          <a:xfrm>
            <a:off x="4915631" y="1944741"/>
            <a:ext cx="1380863" cy="40457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79400" algn="l" rtl="0">
              <a:lnSpc>
                <a:spcPct val="115000"/>
              </a:lnSpc>
              <a:spcBef>
                <a:spcPts val="0"/>
              </a:spcBef>
              <a:spcAft>
                <a:spcPts val="0"/>
              </a:spcAft>
              <a:buClr>
                <a:schemeClr val="dk1"/>
              </a:buClr>
              <a:buSzPts val="800"/>
              <a:buFont typeface="Hanken Grotesk"/>
              <a:buChar char="●"/>
              <a:defRPr sz="1400" b="0" i="0" u="none" strike="noStrike" cap="none">
                <a:solidFill>
                  <a:schemeClr val="dk1"/>
                </a:solidFill>
                <a:latin typeface="Hanken Grotesk"/>
                <a:ea typeface="Hanken Grotesk"/>
                <a:cs typeface="Hanken Grotesk"/>
                <a:sym typeface="Hanken Grotesk"/>
              </a:defRPr>
            </a:lvl1pPr>
            <a:lvl2pPr marL="914400" marR="0" lvl="1"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2pPr>
            <a:lvl3pPr marL="1371600" marR="0" lvl="2"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3pPr>
            <a:lvl4pPr marL="1828800" marR="0" lvl="3"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4pPr>
            <a:lvl5pPr marL="2286000" marR="0" lvl="4"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5pPr>
            <a:lvl6pPr marL="2743200" marR="0" lvl="5"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6pPr>
            <a:lvl7pPr marL="3200400" marR="0" lvl="6"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7pPr>
            <a:lvl8pPr marL="3657600" marR="0" lvl="7"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8pPr>
            <a:lvl9pPr marL="4114800" marR="0" lvl="8"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9pPr>
          </a:lstStyle>
          <a:p>
            <a:pPr marL="177800" indent="0" algn="ctr">
              <a:buFont typeface="Hanken Grotesk"/>
              <a:buNone/>
            </a:pPr>
            <a:r>
              <a:rPr lang="en-US" dirty="0"/>
              <a:t>Promoter</a:t>
            </a:r>
          </a:p>
        </p:txBody>
      </p:sp>
      <p:sp>
        <p:nvSpPr>
          <p:cNvPr id="48" name="Rectangle 47">
            <a:extLst>
              <a:ext uri="{FF2B5EF4-FFF2-40B4-BE49-F238E27FC236}">
                <a16:creationId xmlns:a16="http://schemas.microsoft.com/office/drawing/2014/main" id="{6FAA4081-668E-C230-76EE-DC3EB1A03AFA}"/>
              </a:ext>
            </a:extLst>
          </p:cNvPr>
          <p:cNvSpPr/>
          <p:nvPr/>
        </p:nvSpPr>
        <p:spPr>
          <a:xfrm>
            <a:off x="2144763" y="1757187"/>
            <a:ext cx="262658" cy="121186"/>
          </a:xfrm>
          <a:prstGeom prst="rect">
            <a:avLst/>
          </a:prstGeom>
          <a:solidFill>
            <a:srgbClr val="EDAEAE"/>
          </a:solidFill>
          <a:ln>
            <a:solidFill>
              <a:srgbClr val="EDAEA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Text Placeholder 2">
            <a:extLst>
              <a:ext uri="{FF2B5EF4-FFF2-40B4-BE49-F238E27FC236}">
                <a16:creationId xmlns:a16="http://schemas.microsoft.com/office/drawing/2014/main" id="{E03BEEF0-EAC2-CEDF-FF51-44E3E7B1C4EB}"/>
              </a:ext>
            </a:extLst>
          </p:cNvPr>
          <p:cNvSpPr txBox="1">
            <a:spLocks/>
          </p:cNvSpPr>
          <p:nvPr/>
        </p:nvSpPr>
        <p:spPr>
          <a:xfrm>
            <a:off x="1522478" y="1944741"/>
            <a:ext cx="1380863" cy="40457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79400" algn="l" rtl="0">
              <a:lnSpc>
                <a:spcPct val="115000"/>
              </a:lnSpc>
              <a:spcBef>
                <a:spcPts val="0"/>
              </a:spcBef>
              <a:spcAft>
                <a:spcPts val="0"/>
              </a:spcAft>
              <a:buClr>
                <a:schemeClr val="dk1"/>
              </a:buClr>
              <a:buSzPts val="800"/>
              <a:buFont typeface="Hanken Grotesk"/>
              <a:buChar char="●"/>
              <a:defRPr sz="1400" b="0" i="0" u="none" strike="noStrike" cap="none">
                <a:solidFill>
                  <a:schemeClr val="dk1"/>
                </a:solidFill>
                <a:latin typeface="Hanken Grotesk"/>
                <a:ea typeface="Hanken Grotesk"/>
                <a:cs typeface="Hanken Grotesk"/>
                <a:sym typeface="Hanken Grotesk"/>
              </a:defRPr>
            </a:lvl1pPr>
            <a:lvl2pPr marL="914400" marR="0" lvl="1"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2pPr>
            <a:lvl3pPr marL="1371600" marR="0" lvl="2"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3pPr>
            <a:lvl4pPr marL="1828800" marR="0" lvl="3"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4pPr>
            <a:lvl5pPr marL="2286000" marR="0" lvl="4"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5pPr>
            <a:lvl6pPr marL="2743200" marR="0" lvl="5"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6pPr>
            <a:lvl7pPr marL="3200400" marR="0" lvl="6"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7pPr>
            <a:lvl8pPr marL="3657600" marR="0" lvl="7"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8pPr>
            <a:lvl9pPr marL="4114800" marR="0" lvl="8"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9pPr>
          </a:lstStyle>
          <a:p>
            <a:pPr marL="177800" indent="0" algn="ctr">
              <a:buFont typeface="Hanken Grotesk"/>
              <a:buNone/>
            </a:pPr>
            <a:r>
              <a:rPr lang="en-US" dirty="0"/>
              <a:t>UCNE</a:t>
            </a:r>
          </a:p>
        </p:txBody>
      </p:sp>
      <p:sp>
        <p:nvSpPr>
          <p:cNvPr id="50" name="Rectangle 49">
            <a:extLst>
              <a:ext uri="{FF2B5EF4-FFF2-40B4-BE49-F238E27FC236}">
                <a16:creationId xmlns:a16="http://schemas.microsoft.com/office/drawing/2014/main" id="{749CFD0D-C5C0-6651-055A-36DD4D5A394D}"/>
              </a:ext>
            </a:extLst>
          </p:cNvPr>
          <p:cNvSpPr/>
          <p:nvPr/>
        </p:nvSpPr>
        <p:spPr>
          <a:xfrm>
            <a:off x="2849944" y="1759208"/>
            <a:ext cx="963473" cy="119165"/>
          </a:xfrm>
          <a:prstGeom prst="rect">
            <a:avLst/>
          </a:prstGeom>
          <a:solidFill>
            <a:srgbClr val="002060"/>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Text Placeholder 2">
            <a:extLst>
              <a:ext uri="{FF2B5EF4-FFF2-40B4-BE49-F238E27FC236}">
                <a16:creationId xmlns:a16="http://schemas.microsoft.com/office/drawing/2014/main" id="{C5DB3697-3EB4-7D4E-3732-25DF62115C1A}"/>
              </a:ext>
            </a:extLst>
          </p:cNvPr>
          <p:cNvSpPr txBox="1">
            <a:spLocks/>
          </p:cNvSpPr>
          <p:nvPr/>
        </p:nvSpPr>
        <p:spPr>
          <a:xfrm>
            <a:off x="2528622" y="1944740"/>
            <a:ext cx="1380863" cy="40457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79400" algn="l" rtl="0">
              <a:lnSpc>
                <a:spcPct val="115000"/>
              </a:lnSpc>
              <a:spcBef>
                <a:spcPts val="0"/>
              </a:spcBef>
              <a:spcAft>
                <a:spcPts val="0"/>
              </a:spcAft>
              <a:buClr>
                <a:schemeClr val="dk1"/>
              </a:buClr>
              <a:buSzPts val="800"/>
              <a:buFont typeface="Hanken Grotesk"/>
              <a:buChar char="●"/>
              <a:defRPr sz="1400" b="0" i="0" u="none" strike="noStrike" cap="none">
                <a:solidFill>
                  <a:schemeClr val="dk1"/>
                </a:solidFill>
                <a:latin typeface="Hanken Grotesk"/>
                <a:ea typeface="Hanken Grotesk"/>
                <a:cs typeface="Hanken Grotesk"/>
                <a:sym typeface="Hanken Grotesk"/>
              </a:defRPr>
            </a:lvl1pPr>
            <a:lvl2pPr marL="914400" marR="0" lvl="1"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2pPr>
            <a:lvl3pPr marL="1371600" marR="0" lvl="2"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3pPr>
            <a:lvl4pPr marL="1828800" marR="0" lvl="3"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4pPr>
            <a:lvl5pPr marL="2286000" marR="0" lvl="4"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5pPr>
            <a:lvl6pPr marL="2743200" marR="0" lvl="5"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6pPr>
            <a:lvl7pPr marL="3200400" marR="0" lvl="6"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7pPr>
            <a:lvl8pPr marL="3657600" marR="0" lvl="7"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8pPr>
            <a:lvl9pPr marL="4114800" marR="0" lvl="8"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9pPr>
          </a:lstStyle>
          <a:p>
            <a:pPr marL="177800" indent="0" algn="ctr">
              <a:buFont typeface="Hanken Grotesk"/>
              <a:buNone/>
            </a:pPr>
            <a:r>
              <a:rPr lang="en-US" dirty="0"/>
              <a:t>Repeat</a:t>
            </a:r>
          </a:p>
        </p:txBody>
      </p:sp>
      <p:sp>
        <p:nvSpPr>
          <p:cNvPr id="52" name="Rectangle 51">
            <a:extLst>
              <a:ext uri="{FF2B5EF4-FFF2-40B4-BE49-F238E27FC236}">
                <a16:creationId xmlns:a16="http://schemas.microsoft.com/office/drawing/2014/main" id="{B053DF3C-735D-9525-58DC-C19659A3E692}"/>
              </a:ext>
            </a:extLst>
          </p:cNvPr>
          <p:cNvSpPr/>
          <p:nvPr/>
        </p:nvSpPr>
        <p:spPr>
          <a:xfrm>
            <a:off x="4752885" y="1757187"/>
            <a:ext cx="262658" cy="121186"/>
          </a:xfrm>
          <a:prstGeom prst="rect">
            <a:avLst/>
          </a:prstGeom>
          <a:solidFill>
            <a:srgbClr val="FFFF00"/>
          </a:solid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3" name="Text Placeholder 2">
            <a:extLst>
              <a:ext uri="{FF2B5EF4-FFF2-40B4-BE49-F238E27FC236}">
                <a16:creationId xmlns:a16="http://schemas.microsoft.com/office/drawing/2014/main" id="{3B674C79-65D1-9ACA-A41D-59ED45B213B7}"/>
              </a:ext>
            </a:extLst>
          </p:cNvPr>
          <p:cNvSpPr txBox="1">
            <a:spLocks/>
          </p:cNvSpPr>
          <p:nvPr/>
        </p:nvSpPr>
        <p:spPr>
          <a:xfrm>
            <a:off x="4113153" y="1944740"/>
            <a:ext cx="1380863" cy="40457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79400" algn="l" rtl="0">
              <a:lnSpc>
                <a:spcPct val="115000"/>
              </a:lnSpc>
              <a:spcBef>
                <a:spcPts val="0"/>
              </a:spcBef>
              <a:spcAft>
                <a:spcPts val="0"/>
              </a:spcAft>
              <a:buClr>
                <a:schemeClr val="dk1"/>
              </a:buClr>
              <a:buSzPts val="800"/>
              <a:buFont typeface="Hanken Grotesk"/>
              <a:buChar char="●"/>
              <a:defRPr sz="1400" b="0" i="0" u="none" strike="noStrike" cap="none">
                <a:solidFill>
                  <a:schemeClr val="dk1"/>
                </a:solidFill>
                <a:latin typeface="Hanken Grotesk"/>
                <a:ea typeface="Hanken Grotesk"/>
                <a:cs typeface="Hanken Grotesk"/>
                <a:sym typeface="Hanken Grotesk"/>
              </a:defRPr>
            </a:lvl1pPr>
            <a:lvl2pPr marL="914400" marR="0" lvl="1"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2pPr>
            <a:lvl3pPr marL="1371600" marR="0" lvl="2"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3pPr>
            <a:lvl4pPr marL="1828800" marR="0" lvl="3"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4pPr>
            <a:lvl5pPr marL="2286000" marR="0" lvl="4"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5pPr>
            <a:lvl6pPr marL="2743200" marR="0" lvl="5"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6pPr>
            <a:lvl7pPr marL="3200400" marR="0" lvl="6"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7pPr>
            <a:lvl8pPr marL="3657600" marR="0" lvl="7"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8pPr>
            <a:lvl9pPr marL="4114800" marR="0" lvl="8"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9pPr>
          </a:lstStyle>
          <a:p>
            <a:pPr marL="177800" indent="0" algn="ctr">
              <a:buFont typeface="Hanken Grotesk"/>
              <a:buNone/>
            </a:pPr>
            <a:r>
              <a:rPr lang="en-US" dirty="0"/>
              <a:t>2KB Upstream TSS</a:t>
            </a:r>
          </a:p>
        </p:txBody>
      </p:sp>
      <p:sp>
        <p:nvSpPr>
          <p:cNvPr id="54" name="Text Placeholder 2">
            <a:extLst>
              <a:ext uri="{FF2B5EF4-FFF2-40B4-BE49-F238E27FC236}">
                <a16:creationId xmlns:a16="http://schemas.microsoft.com/office/drawing/2014/main" id="{2B5C0C39-D0BA-53E9-4D7E-4228849135F8}"/>
              </a:ext>
            </a:extLst>
          </p:cNvPr>
          <p:cNvSpPr txBox="1">
            <a:spLocks/>
          </p:cNvSpPr>
          <p:nvPr/>
        </p:nvSpPr>
        <p:spPr>
          <a:xfrm>
            <a:off x="5315909" y="1286245"/>
            <a:ext cx="1380863" cy="40457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79400" algn="l" rtl="0">
              <a:lnSpc>
                <a:spcPct val="115000"/>
              </a:lnSpc>
              <a:spcBef>
                <a:spcPts val="0"/>
              </a:spcBef>
              <a:spcAft>
                <a:spcPts val="0"/>
              </a:spcAft>
              <a:buClr>
                <a:schemeClr val="dk1"/>
              </a:buClr>
              <a:buSzPts val="800"/>
              <a:buFont typeface="Hanken Grotesk"/>
              <a:buChar char="●"/>
              <a:defRPr sz="1400" b="0" i="0" u="none" strike="noStrike" cap="none">
                <a:solidFill>
                  <a:schemeClr val="dk1"/>
                </a:solidFill>
                <a:latin typeface="Hanken Grotesk"/>
                <a:ea typeface="Hanken Grotesk"/>
                <a:cs typeface="Hanken Grotesk"/>
                <a:sym typeface="Hanken Grotesk"/>
              </a:defRPr>
            </a:lvl1pPr>
            <a:lvl2pPr marL="914400" marR="0" lvl="1"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2pPr>
            <a:lvl3pPr marL="1371600" marR="0" lvl="2"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3pPr>
            <a:lvl4pPr marL="1828800" marR="0" lvl="3"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4pPr>
            <a:lvl5pPr marL="2286000" marR="0" lvl="4"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5pPr>
            <a:lvl6pPr marL="2743200" marR="0" lvl="5"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6pPr>
            <a:lvl7pPr marL="3200400" marR="0" lvl="6"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7pPr>
            <a:lvl8pPr marL="3657600" marR="0" lvl="7"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8pPr>
            <a:lvl9pPr marL="4114800" marR="0" lvl="8"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9pPr>
          </a:lstStyle>
          <a:p>
            <a:pPr marL="177800" indent="0" algn="ctr">
              <a:buFont typeface="Hanken Grotesk"/>
              <a:buNone/>
            </a:pPr>
            <a:r>
              <a:rPr lang="en-US" dirty="0"/>
              <a:t>5’ UTR</a:t>
            </a:r>
          </a:p>
        </p:txBody>
      </p:sp>
      <p:sp>
        <p:nvSpPr>
          <p:cNvPr id="55" name="Rectangle 54">
            <a:extLst>
              <a:ext uri="{FF2B5EF4-FFF2-40B4-BE49-F238E27FC236}">
                <a16:creationId xmlns:a16="http://schemas.microsoft.com/office/drawing/2014/main" id="{D8B89C4C-8C82-CC32-788A-B608C1652715}"/>
              </a:ext>
            </a:extLst>
          </p:cNvPr>
          <p:cNvSpPr/>
          <p:nvPr/>
        </p:nvSpPr>
        <p:spPr>
          <a:xfrm>
            <a:off x="6217669" y="1757187"/>
            <a:ext cx="459191" cy="121186"/>
          </a:xfrm>
          <a:prstGeom prst="rect">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Rectangle 55">
            <a:extLst>
              <a:ext uri="{FF2B5EF4-FFF2-40B4-BE49-F238E27FC236}">
                <a16:creationId xmlns:a16="http://schemas.microsoft.com/office/drawing/2014/main" id="{B26B5CA8-1BE0-DF27-329A-1A1C530DEA64}"/>
              </a:ext>
            </a:extLst>
          </p:cNvPr>
          <p:cNvSpPr/>
          <p:nvPr/>
        </p:nvSpPr>
        <p:spPr>
          <a:xfrm>
            <a:off x="6696772" y="1757187"/>
            <a:ext cx="263071" cy="121186"/>
          </a:xfrm>
          <a:prstGeom prst="rect">
            <a:avLst/>
          </a:prstGeom>
          <a:solidFill>
            <a:srgbClr val="92D050"/>
          </a:solidFill>
          <a:ln>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Rectangle 56">
            <a:extLst>
              <a:ext uri="{FF2B5EF4-FFF2-40B4-BE49-F238E27FC236}">
                <a16:creationId xmlns:a16="http://schemas.microsoft.com/office/drawing/2014/main" id="{34FBBFF6-7CF5-1831-7884-A0DDF1B0A432}"/>
              </a:ext>
            </a:extLst>
          </p:cNvPr>
          <p:cNvSpPr/>
          <p:nvPr/>
        </p:nvSpPr>
        <p:spPr>
          <a:xfrm>
            <a:off x="6959843" y="1757187"/>
            <a:ext cx="561506" cy="121186"/>
          </a:xfrm>
          <a:prstGeom prst="rect">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Rectangle 57">
            <a:extLst>
              <a:ext uri="{FF2B5EF4-FFF2-40B4-BE49-F238E27FC236}">
                <a16:creationId xmlns:a16="http://schemas.microsoft.com/office/drawing/2014/main" id="{37B71D0C-6120-70CA-086C-104EA7AC9E5E}"/>
              </a:ext>
            </a:extLst>
          </p:cNvPr>
          <p:cNvSpPr/>
          <p:nvPr/>
        </p:nvSpPr>
        <p:spPr>
          <a:xfrm>
            <a:off x="7521761" y="1757187"/>
            <a:ext cx="262659" cy="121186"/>
          </a:xfrm>
          <a:prstGeom prst="rect">
            <a:avLst/>
          </a:prstGeom>
          <a:solidFill>
            <a:srgbClr val="E0CDEF"/>
          </a:solidFill>
          <a:ln>
            <a:solidFill>
              <a:srgbClr val="E0CDE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Text Placeholder 2">
            <a:extLst>
              <a:ext uri="{FF2B5EF4-FFF2-40B4-BE49-F238E27FC236}">
                <a16:creationId xmlns:a16="http://schemas.microsoft.com/office/drawing/2014/main" id="{9EB39F7F-0DD9-D436-4081-D7F992F5FB81}"/>
              </a:ext>
            </a:extLst>
          </p:cNvPr>
          <p:cNvSpPr txBox="1">
            <a:spLocks/>
          </p:cNvSpPr>
          <p:nvPr/>
        </p:nvSpPr>
        <p:spPr>
          <a:xfrm>
            <a:off x="6959843" y="1288034"/>
            <a:ext cx="1380863" cy="40457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79400" algn="l" rtl="0">
              <a:lnSpc>
                <a:spcPct val="115000"/>
              </a:lnSpc>
              <a:spcBef>
                <a:spcPts val="0"/>
              </a:spcBef>
              <a:spcAft>
                <a:spcPts val="0"/>
              </a:spcAft>
              <a:buClr>
                <a:schemeClr val="dk1"/>
              </a:buClr>
              <a:buSzPts val="800"/>
              <a:buFont typeface="Hanken Grotesk"/>
              <a:buChar char="●"/>
              <a:defRPr sz="1400" b="0" i="0" u="none" strike="noStrike" cap="none">
                <a:solidFill>
                  <a:schemeClr val="dk1"/>
                </a:solidFill>
                <a:latin typeface="Hanken Grotesk"/>
                <a:ea typeface="Hanken Grotesk"/>
                <a:cs typeface="Hanken Grotesk"/>
                <a:sym typeface="Hanken Grotesk"/>
              </a:defRPr>
            </a:lvl1pPr>
            <a:lvl2pPr marL="914400" marR="0" lvl="1"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2pPr>
            <a:lvl3pPr marL="1371600" marR="0" lvl="2"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3pPr>
            <a:lvl4pPr marL="1828800" marR="0" lvl="3"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4pPr>
            <a:lvl5pPr marL="2286000" marR="0" lvl="4"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5pPr>
            <a:lvl6pPr marL="2743200" marR="0" lvl="5"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6pPr>
            <a:lvl7pPr marL="3200400" marR="0" lvl="6"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7pPr>
            <a:lvl8pPr marL="3657600" marR="0" lvl="7"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8pPr>
            <a:lvl9pPr marL="4114800" marR="0" lvl="8"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9pPr>
          </a:lstStyle>
          <a:p>
            <a:pPr marL="177800" indent="0" algn="ctr">
              <a:buFont typeface="Hanken Grotesk"/>
              <a:buNone/>
            </a:pPr>
            <a:r>
              <a:rPr lang="en-US" dirty="0"/>
              <a:t>3’ UTR</a:t>
            </a:r>
          </a:p>
        </p:txBody>
      </p:sp>
      <p:sp>
        <p:nvSpPr>
          <p:cNvPr id="60" name="Text Placeholder 2">
            <a:extLst>
              <a:ext uri="{FF2B5EF4-FFF2-40B4-BE49-F238E27FC236}">
                <a16:creationId xmlns:a16="http://schemas.microsoft.com/office/drawing/2014/main" id="{6C0B83CF-0935-C961-F362-13FBADAF6204}"/>
              </a:ext>
            </a:extLst>
          </p:cNvPr>
          <p:cNvSpPr txBox="1">
            <a:spLocks/>
          </p:cNvSpPr>
          <p:nvPr/>
        </p:nvSpPr>
        <p:spPr>
          <a:xfrm>
            <a:off x="6086340" y="1286244"/>
            <a:ext cx="1380863" cy="40457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79400" algn="l" rtl="0">
              <a:lnSpc>
                <a:spcPct val="115000"/>
              </a:lnSpc>
              <a:spcBef>
                <a:spcPts val="0"/>
              </a:spcBef>
              <a:spcAft>
                <a:spcPts val="0"/>
              </a:spcAft>
              <a:buClr>
                <a:schemeClr val="dk1"/>
              </a:buClr>
              <a:buSzPts val="800"/>
              <a:buFont typeface="Hanken Grotesk"/>
              <a:buChar char="●"/>
              <a:defRPr sz="1400" b="0" i="0" u="none" strike="noStrike" cap="none">
                <a:solidFill>
                  <a:schemeClr val="dk1"/>
                </a:solidFill>
                <a:latin typeface="Hanken Grotesk"/>
                <a:ea typeface="Hanken Grotesk"/>
                <a:cs typeface="Hanken Grotesk"/>
                <a:sym typeface="Hanken Grotesk"/>
              </a:defRPr>
            </a:lvl1pPr>
            <a:lvl2pPr marL="914400" marR="0" lvl="1"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2pPr>
            <a:lvl3pPr marL="1371600" marR="0" lvl="2"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3pPr>
            <a:lvl4pPr marL="1828800" marR="0" lvl="3"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4pPr>
            <a:lvl5pPr marL="2286000" marR="0" lvl="4"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5pPr>
            <a:lvl6pPr marL="2743200" marR="0" lvl="5"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6pPr>
            <a:lvl7pPr marL="3200400" marR="0" lvl="6"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7pPr>
            <a:lvl8pPr marL="3657600" marR="0" lvl="7"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8pPr>
            <a:lvl9pPr marL="4114800" marR="0" lvl="8"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9pPr>
          </a:lstStyle>
          <a:p>
            <a:pPr marL="177800" indent="0" algn="ctr">
              <a:buFont typeface="Hanken Grotesk"/>
              <a:buNone/>
            </a:pPr>
            <a:r>
              <a:rPr lang="en-US" dirty="0"/>
              <a:t>Exon</a:t>
            </a:r>
          </a:p>
        </p:txBody>
      </p:sp>
      <p:sp>
        <p:nvSpPr>
          <p:cNvPr id="61" name="Text Placeholder 2">
            <a:extLst>
              <a:ext uri="{FF2B5EF4-FFF2-40B4-BE49-F238E27FC236}">
                <a16:creationId xmlns:a16="http://schemas.microsoft.com/office/drawing/2014/main" id="{1C4C87AD-DC0D-62FC-49D0-5ADF7939BC33}"/>
              </a:ext>
            </a:extLst>
          </p:cNvPr>
          <p:cNvSpPr txBox="1">
            <a:spLocks/>
          </p:cNvSpPr>
          <p:nvPr/>
        </p:nvSpPr>
        <p:spPr>
          <a:xfrm>
            <a:off x="6447264" y="1942952"/>
            <a:ext cx="1380863" cy="40457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79400" algn="l" rtl="0">
              <a:lnSpc>
                <a:spcPct val="115000"/>
              </a:lnSpc>
              <a:spcBef>
                <a:spcPts val="0"/>
              </a:spcBef>
              <a:spcAft>
                <a:spcPts val="0"/>
              </a:spcAft>
              <a:buClr>
                <a:schemeClr val="dk1"/>
              </a:buClr>
              <a:buSzPts val="800"/>
              <a:buFont typeface="Hanken Grotesk"/>
              <a:buChar char="●"/>
              <a:defRPr sz="1400" b="0" i="0" u="none" strike="noStrike" cap="none">
                <a:solidFill>
                  <a:schemeClr val="dk1"/>
                </a:solidFill>
                <a:latin typeface="Hanken Grotesk"/>
                <a:ea typeface="Hanken Grotesk"/>
                <a:cs typeface="Hanken Grotesk"/>
                <a:sym typeface="Hanken Grotesk"/>
              </a:defRPr>
            </a:lvl1pPr>
            <a:lvl2pPr marL="914400" marR="0" lvl="1"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2pPr>
            <a:lvl3pPr marL="1371600" marR="0" lvl="2"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3pPr>
            <a:lvl4pPr marL="1828800" marR="0" lvl="3"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4pPr>
            <a:lvl5pPr marL="2286000" marR="0" lvl="4"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5pPr>
            <a:lvl6pPr marL="2743200" marR="0" lvl="5"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6pPr>
            <a:lvl7pPr marL="3200400" marR="0" lvl="6"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7pPr>
            <a:lvl8pPr marL="3657600" marR="0" lvl="7"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8pPr>
            <a:lvl9pPr marL="4114800" marR="0" lvl="8"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9pPr>
          </a:lstStyle>
          <a:p>
            <a:pPr marL="177800" indent="0" algn="ctr">
              <a:buFont typeface="Hanken Grotesk"/>
              <a:buNone/>
            </a:pPr>
            <a:r>
              <a:rPr lang="en-US" dirty="0"/>
              <a:t>Intron</a:t>
            </a:r>
          </a:p>
        </p:txBody>
      </p:sp>
      <p:sp>
        <p:nvSpPr>
          <p:cNvPr id="62" name="Rectangle 61">
            <a:extLst>
              <a:ext uri="{FF2B5EF4-FFF2-40B4-BE49-F238E27FC236}">
                <a16:creationId xmlns:a16="http://schemas.microsoft.com/office/drawing/2014/main" id="{B414C0C0-7510-A047-8012-4F3BFC8E7500}"/>
              </a:ext>
            </a:extLst>
          </p:cNvPr>
          <p:cNvSpPr/>
          <p:nvPr/>
        </p:nvSpPr>
        <p:spPr>
          <a:xfrm>
            <a:off x="1330722" y="3016782"/>
            <a:ext cx="262658" cy="121186"/>
          </a:xfrm>
          <a:prstGeom prst="rect">
            <a:avLst/>
          </a:prstGeom>
          <a:solidFill>
            <a:schemeClr val="tx2"/>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Rectangle 62">
            <a:extLst>
              <a:ext uri="{FF2B5EF4-FFF2-40B4-BE49-F238E27FC236}">
                <a16:creationId xmlns:a16="http://schemas.microsoft.com/office/drawing/2014/main" id="{E7FC1BEC-E862-8AFC-C33D-9AAF6904BE90}"/>
              </a:ext>
            </a:extLst>
          </p:cNvPr>
          <p:cNvSpPr/>
          <p:nvPr/>
        </p:nvSpPr>
        <p:spPr>
          <a:xfrm>
            <a:off x="2144763" y="3016782"/>
            <a:ext cx="262658" cy="121186"/>
          </a:xfrm>
          <a:prstGeom prst="rect">
            <a:avLst/>
          </a:prstGeom>
          <a:solidFill>
            <a:schemeClr val="tx2"/>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Rectangle 63">
            <a:extLst>
              <a:ext uri="{FF2B5EF4-FFF2-40B4-BE49-F238E27FC236}">
                <a16:creationId xmlns:a16="http://schemas.microsoft.com/office/drawing/2014/main" id="{BED7DBE0-664F-09A9-33E4-304A1D073812}"/>
              </a:ext>
            </a:extLst>
          </p:cNvPr>
          <p:cNvSpPr/>
          <p:nvPr/>
        </p:nvSpPr>
        <p:spPr>
          <a:xfrm>
            <a:off x="2849943" y="3016782"/>
            <a:ext cx="963473" cy="121186"/>
          </a:xfrm>
          <a:prstGeom prst="rect">
            <a:avLst/>
          </a:prstGeom>
          <a:solidFill>
            <a:schemeClr val="tx2"/>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Rectangle 64">
            <a:extLst>
              <a:ext uri="{FF2B5EF4-FFF2-40B4-BE49-F238E27FC236}">
                <a16:creationId xmlns:a16="http://schemas.microsoft.com/office/drawing/2014/main" id="{3B190137-D5DF-FB7B-48EB-9127856F2F84}"/>
              </a:ext>
            </a:extLst>
          </p:cNvPr>
          <p:cNvSpPr/>
          <p:nvPr/>
        </p:nvSpPr>
        <p:spPr>
          <a:xfrm>
            <a:off x="4752885" y="3016782"/>
            <a:ext cx="262658" cy="121186"/>
          </a:xfrm>
          <a:prstGeom prst="rect">
            <a:avLst/>
          </a:prstGeom>
          <a:solidFill>
            <a:schemeClr val="tx2"/>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Rectangle 65">
            <a:extLst>
              <a:ext uri="{FF2B5EF4-FFF2-40B4-BE49-F238E27FC236}">
                <a16:creationId xmlns:a16="http://schemas.microsoft.com/office/drawing/2014/main" id="{17760B3D-DF83-B49F-3CE5-435B5E8DEC87}"/>
              </a:ext>
            </a:extLst>
          </p:cNvPr>
          <p:cNvSpPr/>
          <p:nvPr/>
        </p:nvSpPr>
        <p:spPr>
          <a:xfrm>
            <a:off x="5494016" y="3016782"/>
            <a:ext cx="262658" cy="121186"/>
          </a:xfrm>
          <a:prstGeom prst="rect">
            <a:avLst/>
          </a:prstGeom>
          <a:solidFill>
            <a:schemeClr val="tx2"/>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Rectangle 66">
            <a:extLst>
              <a:ext uri="{FF2B5EF4-FFF2-40B4-BE49-F238E27FC236}">
                <a16:creationId xmlns:a16="http://schemas.microsoft.com/office/drawing/2014/main" id="{93D0C753-8665-61B3-F082-51F91D5C6A14}"/>
              </a:ext>
            </a:extLst>
          </p:cNvPr>
          <p:cNvSpPr/>
          <p:nvPr/>
        </p:nvSpPr>
        <p:spPr>
          <a:xfrm>
            <a:off x="5955011" y="3016782"/>
            <a:ext cx="262658" cy="121186"/>
          </a:xfrm>
          <a:prstGeom prst="rect">
            <a:avLst/>
          </a:prstGeom>
          <a:solidFill>
            <a:schemeClr val="tx2"/>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Rectangle 67">
            <a:extLst>
              <a:ext uri="{FF2B5EF4-FFF2-40B4-BE49-F238E27FC236}">
                <a16:creationId xmlns:a16="http://schemas.microsoft.com/office/drawing/2014/main" id="{5AFA785C-A419-9FAB-B9A4-F80CC9F51FA7}"/>
              </a:ext>
            </a:extLst>
          </p:cNvPr>
          <p:cNvSpPr/>
          <p:nvPr/>
        </p:nvSpPr>
        <p:spPr>
          <a:xfrm>
            <a:off x="6217668" y="3218255"/>
            <a:ext cx="459191" cy="121186"/>
          </a:xfrm>
          <a:prstGeom prst="rect">
            <a:avLst/>
          </a:prstGeom>
          <a:solidFill>
            <a:schemeClr val="tx2"/>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Rectangle 68">
            <a:extLst>
              <a:ext uri="{FF2B5EF4-FFF2-40B4-BE49-F238E27FC236}">
                <a16:creationId xmlns:a16="http://schemas.microsoft.com/office/drawing/2014/main" id="{35B6CA49-D6DF-E2A5-D764-26F6DFE234EE}"/>
              </a:ext>
            </a:extLst>
          </p:cNvPr>
          <p:cNvSpPr/>
          <p:nvPr/>
        </p:nvSpPr>
        <p:spPr>
          <a:xfrm>
            <a:off x="6696773" y="3016782"/>
            <a:ext cx="262658" cy="121186"/>
          </a:xfrm>
          <a:prstGeom prst="rect">
            <a:avLst/>
          </a:prstGeom>
          <a:solidFill>
            <a:schemeClr val="tx2"/>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Rectangle 70">
            <a:extLst>
              <a:ext uri="{FF2B5EF4-FFF2-40B4-BE49-F238E27FC236}">
                <a16:creationId xmlns:a16="http://schemas.microsoft.com/office/drawing/2014/main" id="{0175F869-18C4-2B0D-3293-F6F2A9DBAD21}"/>
              </a:ext>
            </a:extLst>
          </p:cNvPr>
          <p:cNvSpPr/>
          <p:nvPr/>
        </p:nvSpPr>
        <p:spPr>
          <a:xfrm>
            <a:off x="6966628" y="3218255"/>
            <a:ext cx="500575" cy="121186"/>
          </a:xfrm>
          <a:prstGeom prst="rect">
            <a:avLst/>
          </a:prstGeom>
          <a:solidFill>
            <a:schemeClr val="tx2"/>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Rectangle 71">
            <a:extLst>
              <a:ext uri="{FF2B5EF4-FFF2-40B4-BE49-F238E27FC236}">
                <a16:creationId xmlns:a16="http://schemas.microsoft.com/office/drawing/2014/main" id="{959A5504-2683-800E-CA83-F73CEFA303DA}"/>
              </a:ext>
            </a:extLst>
          </p:cNvPr>
          <p:cNvSpPr/>
          <p:nvPr/>
        </p:nvSpPr>
        <p:spPr>
          <a:xfrm>
            <a:off x="7518945" y="3022804"/>
            <a:ext cx="262658" cy="121186"/>
          </a:xfrm>
          <a:prstGeom prst="rect">
            <a:avLst/>
          </a:prstGeom>
          <a:solidFill>
            <a:schemeClr val="tx2"/>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4" name="Straight Arrow Connector 73">
            <a:extLst>
              <a:ext uri="{FF2B5EF4-FFF2-40B4-BE49-F238E27FC236}">
                <a16:creationId xmlns:a16="http://schemas.microsoft.com/office/drawing/2014/main" id="{A7C9D47D-F9EA-B7CD-871F-ED8A9C50D2D0}"/>
              </a:ext>
            </a:extLst>
          </p:cNvPr>
          <p:cNvCxnSpPr>
            <a:cxnSpLocks/>
          </p:cNvCxnSpPr>
          <p:nvPr/>
        </p:nvCxnSpPr>
        <p:spPr>
          <a:xfrm>
            <a:off x="1467696" y="2347527"/>
            <a:ext cx="0" cy="544401"/>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cxnSp>
        <p:nvCxnSpPr>
          <p:cNvPr id="76" name="Straight Arrow Connector 75">
            <a:extLst>
              <a:ext uri="{FF2B5EF4-FFF2-40B4-BE49-F238E27FC236}">
                <a16:creationId xmlns:a16="http://schemas.microsoft.com/office/drawing/2014/main" id="{F3E59F9C-FD8D-3F04-69F5-0177990526C1}"/>
              </a:ext>
            </a:extLst>
          </p:cNvPr>
          <p:cNvCxnSpPr>
            <a:cxnSpLocks/>
          </p:cNvCxnSpPr>
          <p:nvPr/>
        </p:nvCxnSpPr>
        <p:spPr>
          <a:xfrm>
            <a:off x="2276092" y="2347526"/>
            <a:ext cx="0" cy="544401"/>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cxnSp>
        <p:nvCxnSpPr>
          <p:cNvPr id="77" name="Straight Arrow Connector 76">
            <a:extLst>
              <a:ext uri="{FF2B5EF4-FFF2-40B4-BE49-F238E27FC236}">
                <a16:creationId xmlns:a16="http://schemas.microsoft.com/office/drawing/2014/main" id="{12345E1D-8FC9-87F2-842C-BC3E5FE76733}"/>
              </a:ext>
            </a:extLst>
          </p:cNvPr>
          <p:cNvCxnSpPr>
            <a:cxnSpLocks/>
          </p:cNvCxnSpPr>
          <p:nvPr/>
        </p:nvCxnSpPr>
        <p:spPr>
          <a:xfrm>
            <a:off x="3326787" y="2347526"/>
            <a:ext cx="0" cy="544401"/>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cxnSp>
        <p:nvCxnSpPr>
          <p:cNvPr id="78" name="Straight Arrow Connector 77">
            <a:extLst>
              <a:ext uri="{FF2B5EF4-FFF2-40B4-BE49-F238E27FC236}">
                <a16:creationId xmlns:a16="http://schemas.microsoft.com/office/drawing/2014/main" id="{88E75DE2-ED49-FFA3-50B9-B4E25B75AB73}"/>
              </a:ext>
            </a:extLst>
          </p:cNvPr>
          <p:cNvCxnSpPr>
            <a:cxnSpLocks/>
          </p:cNvCxnSpPr>
          <p:nvPr/>
        </p:nvCxnSpPr>
        <p:spPr>
          <a:xfrm>
            <a:off x="4915631" y="2754217"/>
            <a:ext cx="0" cy="190959"/>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cxnSp>
        <p:nvCxnSpPr>
          <p:cNvPr id="81" name="Straight Arrow Connector 80">
            <a:extLst>
              <a:ext uri="{FF2B5EF4-FFF2-40B4-BE49-F238E27FC236}">
                <a16:creationId xmlns:a16="http://schemas.microsoft.com/office/drawing/2014/main" id="{790A0478-81F9-8CD8-0CAE-77E0A0F33BB0}"/>
              </a:ext>
            </a:extLst>
          </p:cNvPr>
          <p:cNvCxnSpPr>
            <a:cxnSpLocks/>
          </p:cNvCxnSpPr>
          <p:nvPr/>
        </p:nvCxnSpPr>
        <p:spPr>
          <a:xfrm>
            <a:off x="5606062" y="2332386"/>
            <a:ext cx="0" cy="544401"/>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cxnSp>
        <p:nvCxnSpPr>
          <p:cNvPr id="82" name="Straight Arrow Connector 81">
            <a:extLst>
              <a:ext uri="{FF2B5EF4-FFF2-40B4-BE49-F238E27FC236}">
                <a16:creationId xmlns:a16="http://schemas.microsoft.com/office/drawing/2014/main" id="{F27E7247-E321-F94A-35D5-49D4F82CDFE5}"/>
              </a:ext>
            </a:extLst>
          </p:cNvPr>
          <p:cNvCxnSpPr>
            <a:cxnSpLocks/>
          </p:cNvCxnSpPr>
          <p:nvPr/>
        </p:nvCxnSpPr>
        <p:spPr>
          <a:xfrm>
            <a:off x="6086340" y="2332385"/>
            <a:ext cx="0" cy="544401"/>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cxnSp>
        <p:nvCxnSpPr>
          <p:cNvPr id="83" name="Straight Arrow Connector 82">
            <a:extLst>
              <a:ext uri="{FF2B5EF4-FFF2-40B4-BE49-F238E27FC236}">
                <a16:creationId xmlns:a16="http://schemas.microsoft.com/office/drawing/2014/main" id="{E1146303-261A-C8B8-522B-31DA7214C908}"/>
              </a:ext>
            </a:extLst>
          </p:cNvPr>
          <p:cNvCxnSpPr>
            <a:cxnSpLocks/>
          </p:cNvCxnSpPr>
          <p:nvPr/>
        </p:nvCxnSpPr>
        <p:spPr>
          <a:xfrm>
            <a:off x="6447263" y="2347526"/>
            <a:ext cx="0" cy="729849"/>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cxnSp>
        <p:nvCxnSpPr>
          <p:cNvPr id="85" name="Straight Arrow Connector 84">
            <a:extLst>
              <a:ext uri="{FF2B5EF4-FFF2-40B4-BE49-F238E27FC236}">
                <a16:creationId xmlns:a16="http://schemas.microsoft.com/office/drawing/2014/main" id="{18E5268F-3001-63B6-3417-453E9D1DEF48}"/>
              </a:ext>
            </a:extLst>
          </p:cNvPr>
          <p:cNvCxnSpPr>
            <a:cxnSpLocks/>
          </p:cNvCxnSpPr>
          <p:nvPr/>
        </p:nvCxnSpPr>
        <p:spPr>
          <a:xfrm>
            <a:off x="6828102" y="2362912"/>
            <a:ext cx="0" cy="544401"/>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cxnSp>
        <p:nvCxnSpPr>
          <p:cNvPr id="86" name="Straight Arrow Connector 85">
            <a:extLst>
              <a:ext uri="{FF2B5EF4-FFF2-40B4-BE49-F238E27FC236}">
                <a16:creationId xmlns:a16="http://schemas.microsoft.com/office/drawing/2014/main" id="{441EF32B-B291-21E4-08CF-0E058F7BF365}"/>
              </a:ext>
            </a:extLst>
          </p:cNvPr>
          <p:cNvCxnSpPr>
            <a:cxnSpLocks/>
          </p:cNvCxnSpPr>
          <p:nvPr/>
        </p:nvCxnSpPr>
        <p:spPr>
          <a:xfrm>
            <a:off x="7212023" y="2362913"/>
            <a:ext cx="4892" cy="714462"/>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cxnSp>
        <p:nvCxnSpPr>
          <p:cNvPr id="88" name="Straight Arrow Connector 87">
            <a:extLst>
              <a:ext uri="{FF2B5EF4-FFF2-40B4-BE49-F238E27FC236}">
                <a16:creationId xmlns:a16="http://schemas.microsoft.com/office/drawing/2014/main" id="{7F5F3A32-59F9-56F1-F83F-CEA7E61FB902}"/>
              </a:ext>
            </a:extLst>
          </p:cNvPr>
          <p:cNvCxnSpPr>
            <a:cxnSpLocks/>
          </p:cNvCxnSpPr>
          <p:nvPr/>
        </p:nvCxnSpPr>
        <p:spPr>
          <a:xfrm>
            <a:off x="7650274" y="2362911"/>
            <a:ext cx="0" cy="544401"/>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sp>
        <p:nvSpPr>
          <p:cNvPr id="89" name="Text Placeholder 2">
            <a:extLst>
              <a:ext uri="{FF2B5EF4-FFF2-40B4-BE49-F238E27FC236}">
                <a16:creationId xmlns:a16="http://schemas.microsoft.com/office/drawing/2014/main" id="{996EEE84-13D3-FFB0-0122-7067F24E2DDD}"/>
              </a:ext>
            </a:extLst>
          </p:cNvPr>
          <p:cNvSpPr txBox="1">
            <a:spLocks/>
          </p:cNvSpPr>
          <p:nvPr/>
        </p:nvSpPr>
        <p:spPr>
          <a:xfrm>
            <a:off x="2744264" y="3400859"/>
            <a:ext cx="3655472" cy="40457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79400" algn="l" rtl="0">
              <a:lnSpc>
                <a:spcPct val="115000"/>
              </a:lnSpc>
              <a:spcBef>
                <a:spcPts val="0"/>
              </a:spcBef>
              <a:spcAft>
                <a:spcPts val="0"/>
              </a:spcAft>
              <a:buClr>
                <a:schemeClr val="dk1"/>
              </a:buClr>
              <a:buSzPts val="800"/>
              <a:buFont typeface="Hanken Grotesk"/>
              <a:buChar char="●"/>
              <a:defRPr sz="1400" b="0" i="0" u="none" strike="noStrike" cap="none">
                <a:solidFill>
                  <a:schemeClr val="dk1"/>
                </a:solidFill>
                <a:latin typeface="Hanken Grotesk"/>
                <a:ea typeface="Hanken Grotesk"/>
                <a:cs typeface="Hanken Grotesk"/>
                <a:sym typeface="Hanken Grotesk"/>
              </a:defRPr>
            </a:lvl1pPr>
            <a:lvl2pPr marL="914400" marR="0" lvl="1"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2pPr>
            <a:lvl3pPr marL="1371600" marR="0" lvl="2"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3pPr>
            <a:lvl4pPr marL="1828800" marR="0" lvl="3"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4pPr>
            <a:lvl5pPr marL="2286000" marR="0" lvl="4"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5pPr>
            <a:lvl6pPr marL="2743200" marR="0" lvl="5"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6pPr>
            <a:lvl7pPr marL="3200400" marR="0" lvl="6"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7pPr>
            <a:lvl8pPr marL="3657600" marR="0" lvl="7"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8pPr>
            <a:lvl9pPr marL="4114800" marR="0" lvl="8"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9pPr>
          </a:lstStyle>
          <a:p>
            <a:pPr marL="177800" indent="0" algn="ctr">
              <a:buFont typeface="Hanken Grotesk"/>
              <a:buNone/>
            </a:pPr>
            <a:r>
              <a:rPr lang="en-US" dirty="0"/>
              <a:t>Randomly sampled regions</a:t>
            </a:r>
          </a:p>
        </p:txBody>
      </p:sp>
      <p:cxnSp>
        <p:nvCxnSpPr>
          <p:cNvPr id="91" name="Straight Arrow Connector 90">
            <a:extLst>
              <a:ext uri="{FF2B5EF4-FFF2-40B4-BE49-F238E27FC236}">
                <a16:creationId xmlns:a16="http://schemas.microsoft.com/office/drawing/2014/main" id="{F0A75019-C876-151C-E60E-C32A635FEAE7}"/>
              </a:ext>
            </a:extLst>
          </p:cNvPr>
          <p:cNvCxnSpPr/>
          <p:nvPr/>
        </p:nvCxnSpPr>
        <p:spPr>
          <a:xfrm flipH="1">
            <a:off x="1330722" y="3603146"/>
            <a:ext cx="217815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92" name="Straight Arrow Connector 91">
            <a:extLst>
              <a:ext uri="{FF2B5EF4-FFF2-40B4-BE49-F238E27FC236}">
                <a16:creationId xmlns:a16="http://schemas.microsoft.com/office/drawing/2014/main" id="{FD8748C2-5E3F-503A-88CF-630783CCFD5B}"/>
              </a:ext>
            </a:extLst>
          </p:cNvPr>
          <p:cNvCxnSpPr>
            <a:cxnSpLocks/>
          </p:cNvCxnSpPr>
          <p:nvPr/>
        </p:nvCxnSpPr>
        <p:spPr>
          <a:xfrm>
            <a:off x="5818260" y="3603146"/>
            <a:ext cx="217815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17409259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8236F3-3F67-F23D-0817-09813953D87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63EF97-142F-D537-2BC9-14734F567B27}"/>
              </a:ext>
            </a:extLst>
          </p:cNvPr>
          <p:cNvSpPr>
            <a:spLocks noGrp="1"/>
          </p:cNvSpPr>
          <p:nvPr>
            <p:ph type="title"/>
          </p:nvPr>
        </p:nvSpPr>
        <p:spPr>
          <a:xfrm>
            <a:off x="720000" y="312823"/>
            <a:ext cx="7704000" cy="572700"/>
          </a:xfrm>
        </p:spPr>
        <p:txBody>
          <a:bodyPr/>
          <a:lstStyle/>
          <a:p>
            <a:pPr algn="ctr"/>
            <a:r>
              <a:rPr lang="en-US" sz="2400" dirty="0"/>
              <a:t>Existing benchmarks select confounder </a:t>
            </a:r>
            <a:br>
              <a:rPr lang="en-US" sz="2400" dirty="0"/>
            </a:br>
            <a:r>
              <a:rPr lang="en-US" sz="2400" dirty="0"/>
              <a:t>sequences at random from the genome</a:t>
            </a:r>
          </a:p>
        </p:txBody>
      </p:sp>
      <p:sp>
        <p:nvSpPr>
          <p:cNvPr id="5" name="Rectangle 4">
            <a:extLst>
              <a:ext uri="{FF2B5EF4-FFF2-40B4-BE49-F238E27FC236}">
                <a16:creationId xmlns:a16="http://schemas.microsoft.com/office/drawing/2014/main" id="{8AC5DF83-6F99-7B69-64A9-F339B9DA6E8C}"/>
              </a:ext>
            </a:extLst>
          </p:cNvPr>
          <p:cNvSpPr/>
          <p:nvPr/>
        </p:nvSpPr>
        <p:spPr>
          <a:xfrm>
            <a:off x="1045036" y="1757188"/>
            <a:ext cx="7359267" cy="121186"/>
          </a:xfrm>
          <a:prstGeom prst="rect">
            <a:avLst/>
          </a:prstGeom>
          <a:solidFill>
            <a:srgbClr val="71DAFF"/>
          </a:solidFill>
          <a:ln>
            <a:solidFill>
              <a:srgbClr val="71DA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a:extLst>
              <a:ext uri="{FF2B5EF4-FFF2-40B4-BE49-F238E27FC236}">
                <a16:creationId xmlns:a16="http://schemas.microsoft.com/office/drawing/2014/main" id="{F43B3DAD-A282-DFA4-B1BF-56334A829515}"/>
              </a:ext>
            </a:extLst>
          </p:cNvPr>
          <p:cNvSpPr/>
          <p:nvPr/>
        </p:nvSpPr>
        <p:spPr>
          <a:xfrm>
            <a:off x="1330722" y="1757187"/>
            <a:ext cx="262658" cy="121186"/>
          </a:xfrm>
          <a:prstGeom prst="rect">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a:extLst>
              <a:ext uri="{FF2B5EF4-FFF2-40B4-BE49-F238E27FC236}">
                <a16:creationId xmlns:a16="http://schemas.microsoft.com/office/drawing/2014/main" id="{39339F65-381D-05F1-D8D6-5C471C06BEA5}"/>
              </a:ext>
            </a:extLst>
          </p:cNvPr>
          <p:cNvSpPr/>
          <p:nvPr/>
        </p:nvSpPr>
        <p:spPr>
          <a:xfrm>
            <a:off x="5474734" y="1757188"/>
            <a:ext cx="262658" cy="121186"/>
          </a:xfrm>
          <a:prstGeom prst="rect">
            <a:avLst/>
          </a:prstGeom>
          <a:solidFill>
            <a:srgbClr val="FFFF00"/>
          </a:solid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5" name="Rectangle 44">
            <a:extLst>
              <a:ext uri="{FF2B5EF4-FFF2-40B4-BE49-F238E27FC236}">
                <a16:creationId xmlns:a16="http://schemas.microsoft.com/office/drawing/2014/main" id="{44C747D0-8307-6768-CB61-817AEB0696CF}"/>
              </a:ext>
            </a:extLst>
          </p:cNvPr>
          <p:cNvSpPr/>
          <p:nvPr/>
        </p:nvSpPr>
        <p:spPr>
          <a:xfrm>
            <a:off x="5955011" y="1757187"/>
            <a:ext cx="262659" cy="121186"/>
          </a:xfrm>
          <a:prstGeom prst="rect">
            <a:avLst/>
          </a:prstGeom>
          <a:solidFill>
            <a:srgbClr val="7030A0"/>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Text Placeholder 2">
            <a:extLst>
              <a:ext uri="{FF2B5EF4-FFF2-40B4-BE49-F238E27FC236}">
                <a16:creationId xmlns:a16="http://schemas.microsoft.com/office/drawing/2014/main" id="{3A47DD6C-E346-71A3-FA3A-B8425F3F7A36}"/>
              </a:ext>
            </a:extLst>
          </p:cNvPr>
          <p:cNvSpPr txBox="1">
            <a:spLocks/>
          </p:cNvSpPr>
          <p:nvPr/>
        </p:nvSpPr>
        <p:spPr>
          <a:xfrm>
            <a:off x="720000" y="1944741"/>
            <a:ext cx="1380863" cy="40457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79400" algn="l" rtl="0">
              <a:lnSpc>
                <a:spcPct val="115000"/>
              </a:lnSpc>
              <a:spcBef>
                <a:spcPts val="0"/>
              </a:spcBef>
              <a:spcAft>
                <a:spcPts val="0"/>
              </a:spcAft>
              <a:buClr>
                <a:schemeClr val="dk1"/>
              </a:buClr>
              <a:buSzPts val="800"/>
              <a:buFont typeface="Hanken Grotesk"/>
              <a:buChar char="●"/>
              <a:defRPr sz="1400" b="0" i="0" u="none" strike="noStrike" cap="none">
                <a:solidFill>
                  <a:schemeClr val="dk1"/>
                </a:solidFill>
                <a:latin typeface="Hanken Grotesk"/>
                <a:ea typeface="Hanken Grotesk"/>
                <a:cs typeface="Hanken Grotesk"/>
                <a:sym typeface="Hanken Grotesk"/>
              </a:defRPr>
            </a:lvl1pPr>
            <a:lvl2pPr marL="914400" marR="0" lvl="1"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2pPr>
            <a:lvl3pPr marL="1371600" marR="0" lvl="2"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3pPr>
            <a:lvl4pPr marL="1828800" marR="0" lvl="3"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4pPr>
            <a:lvl5pPr marL="2286000" marR="0" lvl="4"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5pPr>
            <a:lvl6pPr marL="2743200" marR="0" lvl="5"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6pPr>
            <a:lvl7pPr marL="3200400" marR="0" lvl="6"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7pPr>
            <a:lvl8pPr marL="3657600" marR="0" lvl="7"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8pPr>
            <a:lvl9pPr marL="4114800" marR="0" lvl="8"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9pPr>
          </a:lstStyle>
          <a:p>
            <a:pPr marL="177800" indent="0" algn="ctr">
              <a:buFont typeface="Hanken Grotesk"/>
              <a:buNone/>
            </a:pPr>
            <a:r>
              <a:rPr lang="en-US" dirty="0"/>
              <a:t>Enhancer</a:t>
            </a:r>
          </a:p>
        </p:txBody>
      </p:sp>
      <p:sp>
        <p:nvSpPr>
          <p:cNvPr id="47" name="Text Placeholder 2">
            <a:extLst>
              <a:ext uri="{FF2B5EF4-FFF2-40B4-BE49-F238E27FC236}">
                <a16:creationId xmlns:a16="http://schemas.microsoft.com/office/drawing/2014/main" id="{E32C2D7E-1B87-473D-5CA5-74DA857B8B22}"/>
              </a:ext>
            </a:extLst>
          </p:cNvPr>
          <p:cNvSpPr txBox="1">
            <a:spLocks/>
          </p:cNvSpPr>
          <p:nvPr/>
        </p:nvSpPr>
        <p:spPr>
          <a:xfrm>
            <a:off x="4915631" y="1944741"/>
            <a:ext cx="1380863" cy="40457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79400" algn="l" rtl="0">
              <a:lnSpc>
                <a:spcPct val="115000"/>
              </a:lnSpc>
              <a:spcBef>
                <a:spcPts val="0"/>
              </a:spcBef>
              <a:spcAft>
                <a:spcPts val="0"/>
              </a:spcAft>
              <a:buClr>
                <a:schemeClr val="dk1"/>
              </a:buClr>
              <a:buSzPts val="800"/>
              <a:buFont typeface="Hanken Grotesk"/>
              <a:buChar char="●"/>
              <a:defRPr sz="1400" b="0" i="0" u="none" strike="noStrike" cap="none">
                <a:solidFill>
                  <a:schemeClr val="dk1"/>
                </a:solidFill>
                <a:latin typeface="Hanken Grotesk"/>
                <a:ea typeface="Hanken Grotesk"/>
                <a:cs typeface="Hanken Grotesk"/>
                <a:sym typeface="Hanken Grotesk"/>
              </a:defRPr>
            </a:lvl1pPr>
            <a:lvl2pPr marL="914400" marR="0" lvl="1"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2pPr>
            <a:lvl3pPr marL="1371600" marR="0" lvl="2"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3pPr>
            <a:lvl4pPr marL="1828800" marR="0" lvl="3"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4pPr>
            <a:lvl5pPr marL="2286000" marR="0" lvl="4"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5pPr>
            <a:lvl6pPr marL="2743200" marR="0" lvl="5"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6pPr>
            <a:lvl7pPr marL="3200400" marR="0" lvl="6"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7pPr>
            <a:lvl8pPr marL="3657600" marR="0" lvl="7"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8pPr>
            <a:lvl9pPr marL="4114800" marR="0" lvl="8"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9pPr>
          </a:lstStyle>
          <a:p>
            <a:pPr marL="177800" indent="0" algn="ctr">
              <a:buFont typeface="Hanken Grotesk"/>
              <a:buNone/>
            </a:pPr>
            <a:r>
              <a:rPr lang="en-US" dirty="0"/>
              <a:t>Promoter</a:t>
            </a:r>
          </a:p>
        </p:txBody>
      </p:sp>
      <p:sp>
        <p:nvSpPr>
          <p:cNvPr id="48" name="Rectangle 47">
            <a:extLst>
              <a:ext uri="{FF2B5EF4-FFF2-40B4-BE49-F238E27FC236}">
                <a16:creationId xmlns:a16="http://schemas.microsoft.com/office/drawing/2014/main" id="{5227F791-A1D8-D531-5E97-3244AC2EBC87}"/>
              </a:ext>
            </a:extLst>
          </p:cNvPr>
          <p:cNvSpPr/>
          <p:nvPr/>
        </p:nvSpPr>
        <p:spPr>
          <a:xfrm>
            <a:off x="2144763" y="1757187"/>
            <a:ext cx="262658" cy="121186"/>
          </a:xfrm>
          <a:prstGeom prst="rect">
            <a:avLst/>
          </a:prstGeom>
          <a:solidFill>
            <a:srgbClr val="EDAEAE"/>
          </a:solidFill>
          <a:ln>
            <a:solidFill>
              <a:srgbClr val="EDAEA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Text Placeholder 2">
            <a:extLst>
              <a:ext uri="{FF2B5EF4-FFF2-40B4-BE49-F238E27FC236}">
                <a16:creationId xmlns:a16="http://schemas.microsoft.com/office/drawing/2014/main" id="{C2D35135-FBFF-C1E1-C56E-38FBBC426C18}"/>
              </a:ext>
            </a:extLst>
          </p:cNvPr>
          <p:cNvSpPr txBox="1">
            <a:spLocks/>
          </p:cNvSpPr>
          <p:nvPr/>
        </p:nvSpPr>
        <p:spPr>
          <a:xfrm>
            <a:off x="1522478" y="1944741"/>
            <a:ext cx="1380863" cy="40457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79400" algn="l" rtl="0">
              <a:lnSpc>
                <a:spcPct val="115000"/>
              </a:lnSpc>
              <a:spcBef>
                <a:spcPts val="0"/>
              </a:spcBef>
              <a:spcAft>
                <a:spcPts val="0"/>
              </a:spcAft>
              <a:buClr>
                <a:schemeClr val="dk1"/>
              </a:buClr>
              <a:buSzPts val="800"/>
              <a:buFont typeface="Hanken Grotesk"/>
              <a:buChar char="●"/>
              <a:defRPr sz="1400" b="0" i="0" u="none" strike="noStrike" cap="none">
                <a:solidFill>
                  <a:schemeClr val="dk1"/>
                </a:solidFill>
                <a:latin typeface="Hanken Grotesk"/>
                <a:ea typeface="Hanken Grotesk"/>
                <a:cs typeface="Hanken Grotesk"/>
                <a:sym typeface="Hanken Grotesk"/>
              </a:defRPr>
            </a:lvl1pPr>
            <a:lvl2pPr marL="914400" marR="0" lvl="1"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2pPr>
            <a:lvl3pPr marL="1371600" marR="0" lvl="2"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3pPr>
            <a:lvl4pPr marL="1828800" marR="0" lvl="3"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4pPr>
            <a:lvl5pPr marL="2286000" marR="0" lvl="4"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5pPr>
            <a:lvl6pPr marL="2743200" marR="0" lvl="5"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6pPr>
            <a:lvl7pPr marL="3200400" marR="0" lvl="6"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7pPr>
            <a:lvl8pPr marL="3657600" marR="0" lvl="7"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8pPr>
            <a:lvl9pPr marL="4114800" marR="0" lvl="8"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9pPr>
          </a:lstStyle>
          <a:p>
            <a:pPr marL="177800" indent="0" algn="ctr">
              <a:buFont typeface="Hanken Grotesk"/>
              <a:buNone/>
            </a:pPr>
            <a:r>
              <a:rPr lang="en-US" dirty="0"/>
              <a:t>UCNE</a:t>
            </a:r>
          </a:p>
        </p:txBody>
      </p:sp>
      <p:sp>
        <p:nvSpPr>
          <p:cNvPr id="50" name="Rectangle 49">
            <a:extLst>
              <a:ext uri="{FF2B5EF4-FFF2-40B4-BE49-F238E27FC236}">
                <a16:creationId xmlns:a16="http://schemas.microsoft.com/office/drawing/2014/main" id="{BDE2D5B3-822E-7018-D341-02D81D5C6A59}"/>
              </a:ext>
            </a:extLst>
          </p:cNvPr>
          <p:cNvSpPr/>
          <p:nvPr/>
        </p:nvSpPr>
        <p:spPr>
          <a:xfrm>
            <a:off x="2849944" y="1759208"/>
            <a:ext cx="963473" cy="119165"/>
          </a:xfrm>
          <a:prstGeom prst="rect">
            <a:avLst/>
          </a:prstGeom>
          <a:solidFill>
            <a:srgbClr val="002060"/>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Text Placeholder 2">
            <a:extLst>
              <a:ext uri="{FF2B5EF4-FFF2-40B4-BE49-F238E27FC236}">
                <a16:creationId xmlns:a16="http://schemas.microsoft.com/office/drawing/2014/main" id="{BB8B5878-855C-CE6C-5CE7-BB5A0BF52C25}"/>
              </a:ext>
            </a:extLst>
          </p:cNvPr>
          <p:cNvSpPr txBox="1">
            <a:spLocks/>
          </p:cNvSpPr>
          <p:nvPr/>
        </p:nvSpPr>
        <p:spPr>
          <a:xfrm>
            <a:off x="2528622" y="1944740"/>
            <a:ext cx="1380863" cy="40457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79400" algn="l" rtl="0">
              <a:lnSpc>
                <a:spcPct val="115000"/>
              </a:lnSpc>
              <a:spcBef>
                <a:spcPts val="0"/>
              </a:spcBef>
              <a:spcAft>
                <a:spcPts val="0"/>
              </a:spcAft>
              <a:buClr>
                <a:schemeClr val="dk1"/>
              </a:buClr>
              <a:buSzPts val="800"/>
              <a:buFont typeface="Hanken Grotesk"/>
              <a:buChar char="●"/>
              <a:defRPr sz="1400" b="0" i="0" u="none" strike="noStrike" cap="none">
                <a:solidFill>
                  <a:schemeClr val="dk1"/>
                </a:solidFill>
                <a:latin typeface="Hanken Grotesk"/>
                <a:ea typeface="Hanken Grotesk"/>
                <a:cs typeface="Hanken Grotesk"/>
                <a:sym typeface="Hanken Grotesk"/>
              </a:defRPr>
            </a:lvl1pPr>
            <a:lvl2pPr marL="914400" marR="0" lvl="1"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2pPr>
            <a:lvl3pPr marL="1371600" marR="0" lvl="2"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3pPr>
            <a:lvl4pPr marL="1828800" marR="0" lvl="3"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4pPr>
            <a:lvl5pPr marL="2286000" marR="0" lvl="4"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5pPr>
            <a:lvl6pPr marL="2743200" marR="0" lvl="5"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6pPr>
            <a:lvl7pPr marL="3200400" marR="0" lvl="6"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7pPr>
            <a:lvl8pPr marL="3657600" marR="0" lvl="7"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8pPr>
            <a:lvl9pPr marL="4114800" marR="0" lvl="8"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9pPr>
          </a:lstStyle>
          <a:p>
            <a:pPr marL="177800" indent="0" algn="ctr">
              <a:buFont typeface="Hanken Grotesk"/>
              <a:buNone/>
            </a:pPr>
            <a:r>
              <a:rPr lang="en-US" dirty="0"/>
              <a:t>Repeat</a:t>
            </a:r>
          </a:p>
        </p:txBody>
      </p:sp>
      <p:sp>
        <p:nvSpPr>
          <p:cNvPr id="52" name="Rectangle 51">
            <a:extLst>
              <a:ext uri="{FF2B5EF4-FFF2-40B4-BE49-F238E27FC236}">
                <a16:creationId xmlns:a16="http://schemas.microsoft.com/office/drawing/2014/main" id="{3128EB3C-8E6E-8202-8417-5F4B8C455349}"/>
              </a:ext>
            </a:extLst>
          </p:cNvPr>
          <p:cNvSpPr/>
          <p:nvPr/>
        </p:nvSpPr>
        <p:spPr>
          <a:xfrm>
            <a:off x="4752885" y="1757187"/>
            <a:ext cx="262658" cy="121186"/>
          </a:xfrm>
          <a:prstGeom prst="rect">
            <a:avLst/>
          </a:prstGeom>
          <a:solidFill>
            <a:srgbClr val="FFFF00"/>
          </a:solid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3" name="Text Placeholder 2">
            <a:extLst>
              <a:ext uri="{FF2B5EF4-FFF2-40B4-BE49-F238E27FC236}">
                <a16:creationId xmlns:a16="http://schemas.microsoft.com/office/drawing/2014/main" id="{3353FEDA-4F39-4A69-8371-924A92E9C08A}"/>
              </a:ext>
            </a:extLst>
          </p:cNvPr>
          <p:cNvSpPr txBox="1">
            <a:spLocks/>
          </p:cNvSpPr>
          <p:nvPr/>
        </p:nvSpPr>
        <p:spPr>
          <a:xfrm>
            <a:off x="4113153" y="1944740"/>
            <a:ext cx="1380863" cy="40457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79400" algn="l" rtl="0">
              <a:lnSpc>
                <a:spcPct val="115000"/>
              </a:lnSpc>
              <a:spcBef>
                <a:spcPts val="0"/>
              </a:spcBef>
              <a:spcAft>
                <a:spcPts val="0"/>
              </a:spcAft>
              <a:buClr>
                <a:schemeClr val="dk1"/>
              </a:buClr>
              <a:buSzPts val="800"/>
              <a:buFont typeface="Hanken Grotesk"/>
              <a:buChar char="●"/>
              <a:defRPr sz="1400" b="0" i="0" u="none" strike="noStrike" cap="none">
                <a:solidFill>
                  <a:schemeClr val="dk1"/>
                </a:solidFill>
                <a:latin typeface="Hanken Grotesk"/>
                <a:ea typeface="Hanken Grotesk"/>
                <a:cs typeface="Hanken Grotesk"/>
                <a:sym typeface="Hanken Grotesk"/>
              </a:defRPr>
            </a:lvl1pPr>
            <a:lvl2pPr marL="914400" marR="0" lvl="1"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2pPr>
            <a:lvl3pPr marL="1371600" marR="0" lvl="2"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3pPr>
            <a:lvl4pPr marL="1828800" marR="0" lvl="3"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4pPr>
            <a:lvl5pPr marL="2286000" marR="0" lvl="4"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5pPr>
            <a:lvl6pPr marL="2743200" marR="0" lvl="5"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6pPr>
            <a:lvl7pPr marL="3200400" marR="0" lvl="6"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7pPr>
            <a:lvl8pPr marL="3657600" marR="0" lvl="7"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8pPr>
            <a:lvl9pPr marL="4114800" marR="0" lvl="8"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9pPr>
          </a:lstStyle>
          <a:p>
            <a:pPr marL="177800" indent="0" algn="ctr">
              <a:buFont typeface="Hanken Grotesk"/>
              <a:buNone/>
            </a:pPr>
            <a:r>
              <a:rPr lang="en-US" dirty="0"/>
              <a:t>2KB Upstream TSS</a:t>
            </a:r>
          </a:p>
        </p:txBody>
      </p:sp>
      <p:sp>
        <p:nvSpPr>
          <p:cNvPr id="54" name="Text Placeholder 2">
            <a:extLst>
              <a:ext uri="{FF2B5EF4-FFF2-40B4-BE49-F238E27FC236}">
                <a16:creationId xmlns:a16="http://schemas.microsoft.com/office/drawing/2014/main" id="{738CCB48-E237-CD44-AF93-1AC3B3CAAD49}"/>
              </a:ext>
            </a:extLst>
          </p:cNvPr>
          <p:cNvSpPr txBox="1">
            <a:spLocks/>
          </p:cNvSpPr>
          <p:nvPr/>
        </p:nvSpPr>
        <p:spPr>
          <a:xfrm>
            <a:off x="5315909" y="1286245"/>
            <a:ext cx="1380863" cy="40457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79400" algn="l" rtl="0">
              <a:lnSpc>
                <a:spcPct val="115000"/>
              </a:lnSpc>
              <a:spcBef>
                <a:spcPts val="0"/>
              </a:spcBef>
              <a:spcAft>
                <a:spcPts val="0"/>
              </a:spcAft>
              <a:buClr>
                <a:schemeClr val="dk1"/>
              </a:buClr>
              <a:buSzPts val="800"/>
              <a:buFont typeface="Hanken Grotesk"/>
              <a:buChar char="●"/>
              <a:defRPr sz="1400" b="0" i="0" u="none" strike="noStrike" cap="none">
                <a:solidFill>
                  <a:schemeClr val="dk1"/>
                </a:solidFill>
                <a:latin typeface="Hanken Grotesk"/>
                <a:ea typeface="Hanken Grotesk"/>
                <a:cs typeface="Hanken Grotesk"/>
                <a:sym typeface="Hanken Grotesk"/>
              </a:defRPr>
            </a:lvl1pPr>
            <a:lvl2pPr marL="914400" marR="0" lvl="1"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2pPr>
            <a:lvl3pPr marL="1371600" marR="0" lvl="2"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3pPr>
            <a:lvl4pPr marL="1828800" marR="0" lvl="3"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4pPr>
            <a:lvl5pPr marL="2286000" marR="0" lvl="4"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5pPr>
            <a:lvl6pPr marL="2743200" marR="0" lvl="5"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6pPr>
            <a:lvl7pPr marL="3200400" marR="0" lvl="6"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7pPr>
            <a:lvl8pPr marL="3657600" marR="0" lvl="7"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8pPr>
            <a:lvl9pPr marL="4114800" marR="0" lvl="8"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9pPr>
          </a:lstStyle>
          <a:p>
            <a:pPr marL="177800" indent="0" algn="ctr">
              <a:buFont typeface="Hanken Grotesk"/>
              <a:buNone/>
            </a:pPr>
            <a:r>
              <a:rPr lang="en-US" dirty="0"/>
              <a:t>5’ UTR</a:t>
            </a:r>
          </a:p>
        </p:txBody>
      </p:sp>
      <p:sp>
        <p:nvSpPr>
          <p:cNvPr id="55" name="Rectangle 54">
            <a:extLst>
              <a:ext uri="{FF2B5EF4-FFF2-40B4-BE49-F238E27FC236}">
                <a16:creationId xmlns:a16="http://schemas.microsoft.com/office/drawing/2014/main" id="{A7AF4686-F77C-A06B-297A-AD3CD704C764}"/>
              </a:ext>
            </a:extLst>
          </p:cNvPr>
          <p:cNvSpPr/>
          <p:nvPr/>
        </p:nvSpPr>
        <p:spPr>
          <a:xfrm>
            <a:off x="6217669" y="1757187"/>
            <a:ext cx="459191" cy="121186"/>
          </a:xfrm>
          <a:prstGeom prst="rect">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Rectangle 55">
            <a:extLst>
              <a:ext uri="{FF2B5EF4-FFF2-40B4-BE49-F238E27FC236}">
                <a16:creationId xmlns:a16="http://schemas.microsoft.com/office/drawing/2014/main" id="{277C89CC-67B1-90C0-F595-0CD899EF0D11}"/>
              </a:ext>
            </a:extLst>
          </p:cNvPr>
          <p:cNvSpPr/>
          <p:nvPr/>
        </p:nvSpPr>
        <p:spPr>
          <a:xfrm>
            <a:off x="6696772" y="1757187"/>
            <a:ext cx="263071" cy="121186"/>
          </a:xfrm>
          <a:prstGeom prst="rect">
            <a:avLst/>
          </a:prstGeom>
          <a:solidFill>
            <a:srgbClr val="92D050"/>
          </a:solidFill>
          <a:ln>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Rectangle 56">
            <a:extLst>
              <a:ext uri="{FF2B5EF4-FFF2-40B4-BE49-F238E27FC236}">
                <a16:creationId xmlns:a16="http://schemas.microsoft.com/office/drawing/2014/main" id="{5F744AFE-7328-C35C-BCB7-BCC048BDCB63}"/>
              </a:ext>
            </a:extLst>
          </p:cNvPr>
          <p:cNvSpPr/>
          <p:nvPr/>
        </p:nvSpPr>
        <p:spPr>
          <a:xfrm>
            <a:off x="6959843" y="1757187"/>
            <a:ext cx="561506" cy="121186"/>
          </a:xfrm>
          <a:prstGeom prst="rect">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Rectangle 57">
            <a:extLst>
              <a:ext uri="{FF2B5EF4-FFF2-40B4-BE49-F238E27FC236}">
                <a16:creationId xmlns:a16="http://schemas.microsoft.com/office/drawing/2014/main" id="{0EE46FA7-3B6B-4470-BC1B-276DC66400F7}"/>
              </a:ext>
            </a:extLst>
          </p:cNvPr>
          <p:cNvSpPr/>
          <p:nvPr/>
        </p:nvSpPr>
        <p:spPr>
          <a:xfrm>
            <a:off x="7521761" y="1757187"/>
            <a:ext cx="262659" cy="121186"/>
          </a:xfrm>
          <a:prstGeom prst="rect">
            <a:avLst/>
          </a:prstGeom>
          <a:solidFill>
            <a:srgbClr val="E0CDEF"/>
          </a:solidFill>
          <a:ln>
            <a:solidFill>
              <a:srgbClr val="E0CDE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Text Placeholder 2">
            <a:extLst>
              <a:ext uri="{FF2B5EF4-FFF2-40B4-BE49-F238E27FC236}">
                <a16:creationId xmlns:a16="http://schemas.microsoft.com/office/drawing/2014/main" id="{E856C43A-9003-2ADF-D913-8C3F15C6E052}"/>
              </a:ext>
            </a:extLst>
          </p:cNvPr>
          <p:cNvSpPr txBox="1">
            <a:spLocks/>
          </p:cNvSpPr>
          <p:nvPr/>
        </p:nvSpPr>
        <p:spPr>
          <a:xfrm>
            <a:off x="6959843" y="1288034"/>
            <a:ext cx="1380863" cy="40457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79400" algn="l" rtl="0">
              <a:lnSpc>
                <a:spcPct val="115000"/>
              </a:lnSpc>
              <a:spcBef>
                <a:spcPts val="0"/>
              </a:spcBef>
              <a:spcAft>
                <a:spcPts val="0"/>
              </a:spcAft>
              <a:buClr>
                <a:schemeClr val="dk1"/>
              </a:buClr>
              <a:buSzPts val="800"/>
              <a:buFont typeface="Hanken Grotesk"/>
              <a:buChar char="●"/>
              <a:defRPr sz="1400" b="0" i="0" u="none" strike="noStrike" cap="none">
                <a:solidFill>
                  <a:schemeClr val="dk1"/>
                </a:solidFill>
                <a:latin typeface="Hanken Grotesk"/>
                <a:ea typeface="Hanken Grotesk"/>
                <a:cs typeface="Hanken Grotesk"/>
                <a:sym typeface="Hanken Grotesk"/>
              </a:defRPr>
            </a:lvl1pPr>
            <a:lvl2pPr marL="914400" marR="0" lvl="1"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2pPr>
            <a:lvl3pPr marL="1371600" marR="0" lvl="2"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3pPr>
            <a:lvl4pPr marL="1828800" marR="0" lvl="3"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4pPr>
            <a:lvl5pPr marL="2286000" marR="0" lvl="4"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5pPr>
            <a:lvl6pPr marL="2743200" marR="0" lvl="5"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6pPr>
            <a:lvl7pPr marL="3200400" marR="0" lvl="6"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7pPr>
            <a:lvl8pPr marL="3657600" marR="0" lvl="7"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8pPr>
            <a:lvl9pPr marL="4114800" marR="0" lvl="8"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9pPr>
          </a:lstStyle>
          <a:p>
            <a:pPr marL="177800" indent="0" algn="ctr">
              <a:buFont typeface="Hanken Grotesk"/>
              <a:buNone/>
            </a:pPr>
            <a:r>
              <a:rPr lang="en-US" dirty="0"/>
              <a:t>3’ UTR</a:t>
            </a:r>
          </a:p>
        </p:txBody>
      </p:sp>
      <p:sp>
        <p:nvSpPr>
          <p:cNvPr id="60" name="Text Placeholder 2">
            <a:extLst>
              <a:ext uri="{FF2B5EF4-FFF2-40B4-BE49-F238E27FC236}">
                <a16:creationId xmlns:a16="http://schemas.microsoft.com/office/drawing/2014/main" id="{3C79F701-8685-2752-36FA-81A30D4C1B7D}"/>
              </a:ext>
            </a:extLst>
          </p:cNvPr>
          <p:cNvSpPr txBox="1">
            <a:spLocks/>
          </p:cNvSpPr>
          <p:nvPr/>
        </p:nvSpPr>
        <p:spPr>
          <a:xfrm>
            <a:off x="6086340" y="1286244"/>
            <a:ext cx="1380863" cy="40457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79400" algn="l" rtl="0">
              <a:lnSpc>
                <a:spcPct val="115000"/>
              </a:lnSpc>
              <a:spcBef>
                <a:spcPts val="0"/>
              </a:spcBef>
              <a:spcAft>
                <a:spcPts val="0"/>
              </a:spcAft>
              <a:buClr>
                <a:schemeClr val="dk1"/>
              </a:buClr>
              <a:buSzPts val="800"/>
              <a:buFont typeface="Hanken Grotesk"/>
              <a:buChar char="●"/>
              <a:defRPr sz="1400" b="0" i="0" u="none" strike="noStrike" cap="none">
                <a:solidFill>
                  <a:schemeClr val="dk1"/>
                </a:solidFill>
                <a:latin typeface="Hanken Grotesk"/>
                <a:ea typeface="Hanken Grotesk"/>
                <a:cs typeface="Hanken Grotesk"/>
                <a:sym typeface="Hanken Grotesk"/>
              </a:defRPr>
            </a:lvl1pPr>
            <a:lvl2pPr marL="914400" marR="0" lvl="1"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2pPr>
            <a:lvl3pPr marL="1371600" marR="0" lvl="2"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3pPr>
            <a:lvl4pPr marL="1828800" marR="0" lvl="3"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4pPr>
            <a:lvl5pPr marL="2286000" marR="0" lvl="4"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5pPr>
            <a:lvl6pPr marL="2743200" marR="0" lvl="5"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6pPr>
            <a:lvl7pPr marL="3200400" marR="0" lvl="6"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7pPr>
            <a:lvl8pPr marL="3657600" marR="0" lvl="7"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8pPr>
            <a:lvl9pPr marL="4114800" marR="0" lvl="8"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9pPr>
          </a:lstStyle>
          <a:p>
            <a:pPr marL="177800" indent="0" algn="ctr">
              <a:buFont typeface="Hanken Grotesk"/>
              <a:buNone/>
            </a:pPr>
            <a:r>
              <a:rPr lang="en-US" dirty="0"/>
              <a:t>Exon</a:t>
            </a:r>
          </a:p>
        </p:txBody>
      </p:sp>
      <p:sp>
        <p:nvSpPr>
          <p:cNvPr id="61" name="Text Placeholder 2">
            <a:extLst>
              <a:ext uri="{FF2B5EF4-FFF2-40B4-BE49-F238E27FC236}">
                <a16:creationId xmlns:a16="http://schemas.microsoft.com/office/drawing/2014/main" id="{00F0EC71-DEAB-0B36-59B8-C9F3A8171FCE}"/>
              </a:ext>
            </a:extLst>
          </p:cNvPr>
          <p:cNvSpPr txBox="1">
            <a:spLocks/>
          </p:cNvSpPr>
          <p:nvPr/>
        </p:nvSpPr>
        <p:spPr>
          <a:xfrm>
            <a:off x="6447264" y="1942952"/>
            <a:ext cx="1380863" cy="40457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79400" algn="l" rtl="0">
              <a:lnSpc>
                <a:spcPct val="115000"/>
              </a:lnSpc>
              <a:spcBef>
                <a:spcPts val="0"/>
              </a:spcBef>
              <a:spcAft>
                <a:spcPts val="0"/>
              </a:spcAft>
              <a:buClr>
                <a:schemeClr val="dk1"/>
              </a:buClr>
              <a:buSzPts val="800"/>
              <a:buFont typeface="Hanken Grotesk"/>
              <a:buChar char="●"/>
              <a:defRPr sz="1400" b="0" i="0" u="none" strike="noStrike" cap="none">
                <a:solidFill>
                  <a:schemeClr val="dk1"/>
                </a:solidFill>
                <a:latin typeface="Hanken Grotesk"/>
                <a:ea typeface="Hanken Grotesk"/>
                <a:cs typeface="Hanken Grotesk"/>
                <a:sym typeface="Hanken Grotesk"/>
              </a:defRPr>
            </a:lvl1pPr>
            <a:lvl2pPr marL="914400" marR="0" lvl="1"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2pPr>
            <a:lvl3pPr marL="1371600" marR="0" lvl="2"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3pPr>
            <a:lvl4pPr marL="1828800" marR="0" lvl="3"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4pPr>
            <a:lvl5pPr marL="2286000" marR="0" lvl="4"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5pPr>
            <a:lvl6pPr marL="2743200" marR="0" lvl="5"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6pPr>
            <a:lvl7pPr marL="3200400" marR="0" lvl="6"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7pPr>
            <a:lvl8pPr marL="3657600" marR="0" lvl="7"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8pPr>
            <a:lvl9pPr marL="4114800" marR="0" lvl="8"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9pPr>
          </a:lstStyle>
          <a:p>
            <a:pPr marL="177800" indent="0" algn="ctr">
              <a:buFont typeface="Hanken Grotesk"/>
              <a:buNone/>
            </a:pPr>
            <a:r>
              <a:rPr lang="en-US" dirty="0"/>
              <a:t>Intron</a:t>
            </a:r>
          </a:p>
        </p:txBody>
      </p:sp>
      <p:sp>
        <p:nvSpPr>
          <p:cNvPr id="62" name="Rectangle 61">
            <a:extLst>
              <a:ext uri="{FF2B5EF4-FFF2-40B4-BE49-F238E27FC236}">
                <a16:creationId xmlns:a16="http://schemas.microsoft.com/office/drawing/2014/main" id="{F1488223-0F48-E2A7-EDDA-4116B4AD6203}"/>
              </a:ext>
            </a:extLst>
          </p:cNvPr>
          <p:cNvSpPr/>
          <p:nvPr/>
        </p:nvSpPr>
        <p:spPr>
          <a:xfrm>
            <a:off x="1330722" y="3016782"/>
            <a:ext cx="262658" cy="121186"/>
          </a:xfrm>
          <a:prstGeom prst="rect">
            <a:avLst/>
          </a:prstGeom>
          <a:solidFill>
            <a:schemeClr val="tx2"/>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Rectangle 62">
            <a:extLst>
              <a:ext uri="{FF2B5EF4-FFF2-40B4-BE49-F238E27FC236}">
                <a16:creationId xmlns:a16="http://schemas.microsoft.com/office/drawing/2014/main" id="{13B94980-A4C1-6B3A-AC0E-01350958DE01}"/>
              </a:ext>
            </a:extLst>
          </p:cNvPr>
          <p:cNvSpPr/>
          <p:nvPr/>
        </p:nvSpPr>
        <p:spPr>
          <a:xfrm>
            <a:off x="2144763" y="3016782"/>
            <a:ext cx="262658" cy="121186"/>
          </a:xfrm>
          <a:prstGeom prst="rect">
            <a:avLst/>
          </a:prstGeom>
          <a:solidFill>
            <a:schemeClr val="tx2"/>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Rectangle 63">
            <a:extLst>
              <a:ext uri="{FF2B5EF4-FFF2-40B4-BE49-F238E27FC236}">
                <a16:creationId xmlns:a16="http://schemas.microsoft.com/office/drawing/2014/main" id="{0E050ABB-3E9C-E406-1C96-FBBE3A660C91}"/>
              </a:ext>
            </a:extLst>
          </p:cNvPr>
          <p:cNvSpPr/>
          <p:nvPr/>
        </p:nvSpPr>
        <p:spPr>
          <a:xfrm>
            <a:off x="2849943" y="3016782"/>
            <a:ext cx="963473" cy="121186"/>
          </a:xfrm>
          <a:prstGeom prst="rect">
            <a:avLst/>
          </a:prstGeom>
          <a:solidFill>
            <a:schemeClr val="tx2"/>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Rectangle 64">
            <a:extLst>
              <a:ext uri="{FF2B5EF4-FFF2-40B4-BE49-F238E27FC236}">
                <a16:creationId xmlns:a16="http://schemas.microsoft.com/office/drawing/2014/main" id="{87E778A0-31A7-9F06-3EDA-1D860E1FD315}"/>
              </a:ext>
            </a:extLst>
          </p:cNvPr>
          <p:cNvSpPr/>
          <p:nvPr/>
        </p:nvSpPr>
        <p:spPr>
          <a:xfrm>
            <a:off x="4752885" y="3016782"/>
            <a:ext cx="262658" cy="121186"/>
          </a:xfrm>
          <a:prstGeom prst="rect">
            <a:avLst/>
          </a:prstGeom>
          <a:solidFill>
            <a:schemeClr val="tx2"/>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Rectangle 65">
            <a:extLst>
              <a:ext uri="{FF2B5EF4-FFF2-40B4-BE49-F238E27FC236}">
                <a16:creationId xmlns:a16="http://schemas.microsoft.com/office/drawing/2014/main" id="{41C9DF15-0E63-81F9-6608-0643D2488CEC}"/>
              </a:ext>
            </a:extLst>
          </p:cNvPr>
          <p:cNvSpPr/>
          <p:nvPr/>
        </p:nvSpPr>
        <p:spPr>
          <a:xfrm>
            <a:off x="5494016" y="3016782"/>
            <a:ext cx="262658" cy="121186"/>
          </a:xfrm>
          <a:prstGeom prst="rect">
            <a:avLst/>
          </a:prstGeom>
          <a:solidFill>
            <a:schemeClr val="tx2"/>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Rectangle 66">
            <a:extLst>
              <a:ext uri="{FF2B5EF4-FFF2-40B4-BE49-F238E27FC236}">
                <a16:creationId xmlns:a16="http://schemas.microsoft.com/office/drawing/2014/main" id="{3A500810-0994-1C4C-F69D-546DAF3F2ABB}"/>
              </a:ext>
            </a:extLst>
          </p:cNvPr>
          <p:cNvSpPr/>
          <p:nvPr/>
        </p:nvSpPr>
        <p:spPr>
          <a:xfrm>
            <a:off x="5955011" y="3016782"/>
            <a:ext cx="262658" cy="121186"/>
          </a:xfrm>
          <a:prstGeom prst="rect">
            <a:avLst/>
          </a:prstGeom>
          <a:solidFill>
            <a:schemeClr val="tx2"/>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Rectangle 67">
            <a:extLst>
              <a:ext uri="{FF2B5EF4-FFF2-40B4-BE49-F238E27FC236}">
                <a16:creationId xmlns:a16="http://schemas.microsoft.com/office/drawing/2014/main" id="{109FD528-402F-7D0D-2F8E-72231FDDEB6A}"/>
              </a:ext>
            </a:extLst>
          </p:cNvPr>
          <p:cNvSpPr/>
          <p:nvPr/>
        </p:nvSpPr>
        <p:spPr>
          <a:xfrm>
            <a:off x="6217668" y="3218255"/>
            <a:ext cx="459191" cy="121186"/>
          </a:xfrm>
          <a:prstGeom prst="rect">
            <a:avLst/>
          </a:prstGeom>
          <a:solidFill>
            <a:schemeClr val="tx2"/>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Rectangle 68">
            <a:extLst>
              <a:ext uri="{FF2B5EF4-FFF2-40B4-BE49-F238E27FC236}">
                <a16:creationId xmlns:a16="http://schemas.microsoft.com/office/drawing/2014/main" id="{529D9409-545C-1ECC-5ECA-D585E6886913}"/>
              </a:ext>
            </a:extLst>
          </p:cNvPr>
          <p:cNvSpPr/>
          <p:nvPr/>
        </p:nvSpPr>
        <p:spPr>
          <a:xfrm>
            <a:off x="6696773" y="3016782"/>
            <a:ext cx="262658" cy="121186"/>
          </a:xfrm>
          <a:prstGeom prst="rect">
            <a:avLst/>
          </a:prstGeom>
          <a:solidFill>
            <a:schemeClr val="tx2"/>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Rectangle 70">
            <a:extLst>
              <a:ext uri="{FF2B5EF4-FFF2-40B4-BE49-F238E27FC236}">
                <a16:creationId xmlns:a16="http://schemas.microsoft.com/office/drawing/2014/main" id="{651CF131-309C-6609-41CA-B25CAD0E8D94}"/>
              </a:ext>
            </a:extLst>
          </p:cNvPr>
          <p:cNvSpPr/>
          <p:nvPr/>
        </p:nvSpPr>
        <p:spPr>
          <a:xfrm>
            <a:off x="6966628" y="3218255"/>
            <a:ext cx="500575" cy="121186"/>
          </a:xfrm>
          <a:prstGeom prst="rect">
            <a:avLst/>
          </a:prstGeom>
          <a:solidFill>
            <a:schemeClr val="tx2"/>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Rectangle 71">
            <a:extLst>
              <a:ext uri="{FF2B5EF4-FFF2-40B4-BE49-F238E27FC236}">
                <a16:creationId xmlns:a16="http://schemas.microsoft.com/office/drawing/2014/main" id="{46A3E4DB-A6DA-819D-F2AE-8303A69FA376}"/>
              </a:ext>
            </a:extLst>
          </p:cNvPr>
          <p:cNvSpPr/>
          <p:nvPr/>
        </p:nvSpPr>
        <p:spPr>
          <a:xfrm>
            <a:off x="7518945" y="3022804"/>
            <a:ext cx="262658" cy="121186"/>
          </a:xfrm>
          <a:prstGeom prst="rect">
            <a:avLst/>
          </a:prstGeom>
          <a:solidFill>
            <a:schemeClr val="tx2"/>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4" name="Straight Arrow Connector 73">
            <a:extLst>
              <a:ext uri="{FF2B5EF4-FFF2-40B4-BE49-F238E27FC236}">
                <a16:creationId xmlns:a16="http://schemas.microsoft.com/office/drawing/2014/main" id="{5414820F-41B6-3BC5-CABA-4C47E7EA3F5A}"/>
              </a:ext>
            </a:extLst>
          </p:cNvPr>
          <p:cNvCxnSpPr>
            <a:cxnSpLocks/>
          </p:cNvCxnSpPr>
          <p:nvPr/>
        </p:nvCxnSpPr>
        <p:spPr>
          <a:xfrm>
            <a:off x="1467696" y="2347527"/>
            <a:ext cx="0" cy="544401"/>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cxnSp>
        <p:nvCxnSpPr>
          <p:cNvPr id="76" name="Straight Arrow Connector 75">
            <a:extLst>
              <a:ext uri="{FF2B5EF4-FFF2-40B4-BE49-F238E27FC236}">
                <a16:creationId xmlns:a16="http://schemas.microsoft.com/office/drawing/2014/main" id="{B4A7DE6D-BC50-D40C-09A3-0861A921881C}"/>
              </a:ext>
            </a:extLst>
          </p:cNvPr>
          <p:cNvCxnSpPr>
            <a:cxnSpLocks/>
          </p:cNvCxnSpPr>
          <p:nvPr/>
        </p:nvCxnSpPr>
        <p:spPr>
          <a:xfrm>
            <a:off x="2276092" y="2347526"/>
            <a:ext cx="0" cy="544401"/>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cxnSp>
        <p:nvCxnSpPr>
          <p:cNvPr id="77" name="Straight Arrow Connector 76">
            <a:extLst>
              <a:ext uri="{FF2B5EF4-FFF2-40B4-BE49-F238E27FC236}">
                <a16:creationId xmlns:a16="http://schemas.microsoft.com/office/drawing/2014/main" id="{346AD14B-5C0D-4196-570D-0BD5FB94826F}"/>
              </a:ext>
            </a:extLst>
          </p:cNvPr>
          <p:cNvCxnSpPr>
            <a:cxnSpLocks/>
          </p:cNvCxnSpPr>
          <p:nvPr/>
        </p:nvCxnSpPr>
        <p:spPr>
          <a:xfrm>
            <a:off x="3326787" y="2347526"/>
            <a:ext cx="0" cy="544401"/>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cxnSp>
        <p:nvCxnSpPr>
          <p:cNvPr id="78" name="Straight Arrow Connector 77">
            <a:extLst>
              <a:ext uri="{FF2B5EF4-FFF2-40B4-BE49-F238E27FC236}">
                <a16:creationId xmlns:a16="http://schemas.microsoft.com/office/drawing/2014/main" id="{109FBDC3-AE6B-A72C-E340-F3200ABB555C}"/>
              </a:ext>
            </a:extLst>
          </p:cNvPr>
          <p:cNvCxnSpPr>
            <a:cxnSpLocks/>
          </p:cNvCxnSpPr>
          <p:nvPr/>
        </p:nvCxnSpPr>
        <p:spPr>
          <a:xfrm>
            <a:off x="4915631" y="2754217"/>
            <a:ext cx="0" cy="190959"/>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cxnSp>
        <p:nvCxnSpPr>
          <p:cNvPr id="81" name="Straight Arrow Connector 80">
            <a:extLst>
              <a:ext uri="{FF2B5EF4-FFF2-40B4-BE49-F238E27FC236}">
                <a16:creationId xmlns:a16="http://schemas.microsoft.com/office/drawing/2014/main" id="{CA50309D-0CA4-5007-0256-7163CA686B7D}"/>
              </a:ext>
            </a:extLst>
          </p:cNvPr>
          <p:cNvCxnSpPr>
            <a:cxnSpLocks/>
          </p:cNvCxnSpPr>
          <p:nvPr/>
        </p:nvCxnSpPr>
        <p:spPr>
          <a:xfrm>
            <a:off x="5606062" y="2332386"/>
            <a:ext cx="0" cy="544401"/>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cxnSp>
        <p:nvCxnSpPr>
          <p:cNvPr id="82" name="Straight Arrow Connector 81">
            <a:extLst>
              <a:ext uri="{FF2B5EF4-FFF2-40B4-BE49-F238E27FC236}">
                <a16:creationId xmlns:a16="http://schemas.microsoft.com/office/drawing/2014/main" id="{28DB3D74-0E62-1F42-C6E7-008F6EC1C443}"/>
              </a:ext>
            </a:extLst>
          </p:cNvPr>
          <p:cNvCxnSpPr>
            <a:cxnSpLocks/>
          </p:cNvCxnSpPr>
          <p:nvPr/>
        </p:nvCxnSpPr>
        <p:spPr>
          <a:xfrm>
            <a:off x="6086340" y="2332385"/>
            <a:ext cx="0" cy="544401"/>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cxnSp>
        <p:nvCxnSpPr>
          <p:cNvPr id="83" name="Straight Arrow Connector 82">
            <a:extLst>
              <a:ext uri="{FF2B5EF4-FFF2-40B4-BE49-F238E27FC236}">
                <a16:creationId xmlns:a16="http://schemas.microsoft.com/office/drawing/2014/main" id="{E4FB38DF-1128-3FD2-951D-6B183A7A3872}"/>
              </a:ext>
            </a:extLst>
          </p:cNvPr>
          <p:cNvCxnSpPr>
            <a:cxnSpLocks/>
          </p:cNvCxnSpPr>
          <p:nvPr/>
        </p:nvCxnSpPr>
        <p:spPr>
          <a:xfrm>
            <a:off x="6447263" y="2347526"/>
            <a:ext cx="0" cy="729849"/>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cxnSp>
        <p:nvCxnSpPr>
          <p:cNvPr id="85" name="Straight Arrow Connector 84">
            <a:extLst>
              <a:ext uri="{FF2B5EF4-FFF2-40B4-BE49-F238E27FC236}">
                <a16:creationId xmlns:a16="http://schemas.microsoft.com/office/drawing/2014/main" id="{A8D20C96-DA1A-222A-FD57-850C2352DBE3}"/>
              </a:ext>
            </a:extLst>
          </p:cNvPr>
          <p:cNvCxnSpPr>
            <a:cxnSpLocks/>
          </p:cNvCxnSpPr>
          <p:nvPr/>
        </p:nvCxnSpPr>
        <p:spPr>
          <a:xfrm>
            <a:off x="6828102" y="2362912"/>
            <a:ext cx="0" cy="544401"/>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cxnSp>
        <p:nvCxnSpPr>
          <p:cNvPr id="86" name="Straight Arrow Connector 85">
            <a:extLst>
              <a:ext uri="{FF2B5EF4-FFF2-40B4-BE49-F238E27FC236}">
                <a16:creationId xmlns:a16="http://schemas.microsoft.com/office/drawing/2014/main" id="{BB5F2E07-D21E-8C51-2390-1B60AB9D2178}"/>
              </a:ext>
            </a:extLst>
          </p:cNvPr>
          <p:cNvCxnSpPr>
            <a:cxnSpLocks/>
          </p:cNvCxnSpPr>
          <p:nvPr/>
        </p:nvCxnSpPr>
        <p:spPr>
          <a:xfrm>
            <a:off x="7212023" y="2362913"/>
            <a:ext cx="4892" cy="714462"/>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cxnSp>
        <p:nvCxnSpPr>
          <p:cNvPr id="88" name="Straight Arrow Connector 87">
            <a:extLst>
              <a:ext uri="{FF2B5EF4-FFF2-40B4-BE49-F238E27FC236}">
                <a16:creationId xmlns:a16="http://schemas.microsoft.com/office/drawing/2014/main" id="{2C6EFBEB-BDBB-F090-08F0-A53A2A68F2E6}"/>
              </a:ext>
            </a:extLst>
          </p:cNvPr>
          <p:cNvCxnSpPr>
            <a:cxnSpLocks/>
          </p:cNvCxnSpPr>
          <p:nvPr/>
        </p:nvCxnSpPr>
        <p:spPr>
          <a:xfrm>
            <a:off x="7650274" y="2362911"/>
            <a:ext cx="0" cy="544401"/>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sp>
        <p:nvSpPr>
          <p:cNvPr id="89" name="Text Placeholder 2">
            <a:extLst>
              <a:ext uri="{FF2B5EF4-FFF2-40B4-BE49-F238E27FC236}">
                <a16:creationId xmlns:a16="http://schemas.microsoft.com/office/drawing/2014/main" id="{957CEF0F-6D64-EFDA-CF83-BD45A02685F9}"/>
              </a:ext>
            </a:extLst>
          </p:cNvPr>
          <p:cNvSpPr txBox="1">
            <a:spLocks/>
          </p:cNvSpPr>
          <p:nvPr/>
        </p:nvSpPr>
        <p:spPr>
          <a:xfrm>
            <a:off x="2744264" y="3400859"/>
            <a:ext cx="3655472" cy="40457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79400" algn="l" rtl="0">
              <a:lnSpc>
                <a:spcPct val="115000"/>
              </a:lnSpc>
              <a:spcBef>
                <a:spcPts val="0"/>
              </a:spcBef>
              <a:spcAft>
                <a:spcPts val="0"/>
              </a:spcAft>
              <a:buClr>
                <a:schemeClr val="dk1"/>
              </a:buClr>
              <a:buSzPts val="800"/>
              <a:buFont typeface="Hanken Grotesk"/>
              <a:buChar char="●"/>
              <a:defRPr sz="1400" b="0" i="0" u="none" strike="noStrike" cap="none">
                <a:solidFill>
                  <a:schemeClr val="dk1"/>
                </a:solidFill>
                <a:latin typeface="Hanken Grotesk"/>
                <a:ea typeface="Hanken Grotesk"/>
                <a:cs typeface="Hanken Grotesk"/>
                <a:sym typeface="Hanken Grotesk"/>
              </a:defRPr>
            </a:lvl1pPr>
            <a:lvl2pPr marL="914400" marR="0" lvl="1"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2pPr>
            <a:lvl3pPr marL="1371600" marR="0" lvl="2"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3pPr>
            <a:lvl4pPr marL="1828800" marR="0" lvl="3"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4pPr>
            <a:lvl5pPr marL="2286000" marR="0" lvl="4"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5pPr>
            <a:lvl6pPr marL="2743200" marR="0" lvl="5"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6pPr>
            <a:lvl7pPr marL="3200400" marR="0" lvl="6"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7pPr>
            <a:lvl8pPr marL="3657600" marR="0" lvl="7"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8pPr>
            <a:lvl9pPr marL="4114800" marR="0" lvl="8"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9pPr>
          </a:lstStyle>
          <a:p>
            <a:pPr marL="177800" indent="0" algn="ctr">
              <a:buFont typeface="Hanken Grotesk"/>
              <a:buNone/>
            </a:pPr>
            <a:r>
              <a:rPr lang="en-US" dirty="0"/>
              <a:t>Randomly sampled regions</a:t>
            </a:r>
          </a:p>
        </p:txBody>
      </p:sp>
      <p:cxnSp>
        <p:nvCxnSpPr>
          <p:cNvPr id="91" name="Straight Arrow Connector 90">
            <a:extLst>
              <a:ext uri="{FF2B5EF4-FFF2-40B4-BE49-F238E27FC236}">
                <a16:creationId xmlns:a16="http://schemas.microsoft.com/office/drawing/2014/main" id="{7CDECAAC-72F6-9BAF-D2B8-10B0D80FB0B1}"/>
              </a:ext>
            </a:extLst>
          </p:cNvPr>
          <p:cNvCxnSpPr/>
          <p:nvPr/>
        </p:nvCxnSpPr>
        <p:spPr>
          <a:xfrm flipH="1">
            <a:off x="1330722" y="3603146"/>
            <a:ext cx="217815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92" name="Straight Arrow Connector 91">
            <a:extLst>
              <a:ext uri="{FF2B5EF4-FFF2-40B4-BE49-F238E27FC236}">
                <a16:creationId xmlns:a16="http://schemas.microsoft.com/office/drawing/2014/main" id="{21F766B6-6270-098A-DCF1-12A45B0CF197}"/>
              </a:ext>
            </a:extLst>
          </p:cNvPr>
          <p:cNvCxnSpPr>
            <a:cxnSpLocks/>
          </p:cNvCxnSpPr>
          <p:nvPr/>
        </p:nvCxnSpPr>
        <p:spPr>
          <a:xfrm>
            <a:off x="5818260" y="3603146"/>
            <a:ext cx="217815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 name="Text Placeholder 2">
            <a:extLst>
              <a:ext uri="{FF2B5EF4-FFF2-40B4-BE49-F238E27FC236}">
                <a16:creationId xmlns:a16="http://schemas.microsoft.com/office/drawing/2014/main" id="{6DD83018-A8E4-4443-6DE5-A81DEF22F3B4}"/>
              </a:ext>
            </a:extLst>
          </p:cNvPr>
          <p:cNvSpPr txBox="1">
            <a:spLocks/>
          </p:cNvSpPr>
          <p:nvPr/>
        </p:nvSpPr>
        <p:spPr>
          <a:xfrm>
            <a:off x="1177432" y="3820846"/>
            <a:ext cx="6789135" cy="40457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79400" algn="l" rtl="0">
              <a:lnSpc>
                <a:spcPct val="115000"/>
              </a:lnSpc>
              <a:spcBef>
                <a:spcPts val="0"/>
              </a:spcBef>
              <a:spcAft>
                <a:spcPts val="0"/>
              </a:spcAft>
              <a:buClr>
                <a:schemeClr val="dk1"/>
              </a:buClr>
              <a:buSzPts val="800"/>
              <a:buFont typeface="Hanken Grotesk"/>
              <a:buChar char="●"/>
              <a:defRPr sz="1400" b="0" i="0" u="none" strike="noStrike" cap="none">
                <a:solidFill>
                  <a:schemeClr val="dk1"/>
                </a:solidFill>
                <a:latin typeface="Hanken Grotesk"/>
                <a:ea typeface="Hanken Grotesk"/>
                <a:cs typeface="Hanken Grotesk"/>
                <a:sym typeface="Hanken Grotesk"/>
              </a:defRPr>
            </a:lvl1pPr>
            <a:lvl2pPr marL="914400" marR="0" lvl="1"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2pPr>
            <a:lvl3pPr marL="1371600" marR="0" lvl="2"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3pPr>
            <a:lvl4pPr marL="1828800" marR="0" lvl="3"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4pPr>
            <a:lvl5pPr marL="2286000" marR="0" lvl="4"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5pPr>
            <a:lvl6pPr marL="2743200" marR="0" lvl="5"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6pPr>
            <a:lvl7pPr marL="3200400" marR="0" lvl="6"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7pPr>
            <a:lvl8pPr marL="3657600" marR="0" lvl="7"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8pPr>
            <a:lvl9pPr marL="4114800" marR="0" lvl="8"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9pPr>
          </a:lstStyle>
          <a:p>
            <a:pPr marL="177800" indent="0" algn="ctr">
              <a:buFont typeface="Hanken Grotesk"/>
              <a:buNone/>
            </a:pPr>
            <a:r>
              <a:rPr lang="en-US" b="1" u="sng" dirty="0"/>
              <a:t>Problems</a:t>
            </a:r>
          </a:p>
          <a:p>
            <a:pPr algn="ctr"/>
            <a:r>
              <a:rPr lang="en-US" dirty="0"/>
              <a:t>This turns every task </a:t>
            </a:r>
            <a:r>
              <a:rPr lang="en-US"/>
              <a:t>into mostly </a:t>
            </a:r>
            <a:r>
              <a:rPr lang="en-US" dirty="0"/>
              <a:t>separating functional elements vs repeats!</a:t>
            </a:r>
          </a:p>
          <a:p>
            <a:pPr algn="ctr"/>
            <a:r>
              <a:rPr lang="en-US" dirty="0"/>
              <a:t>Ignores local sequence biases like GC composition </a:t>
            </a:r>
          </a:p>
        </p:txBody>
      </p:sp>
    </p:spTree>
    <p:extLst>
      <p:ext uri="{BB962C8B-B14F-4D97-AF65-F5344CB8AC3E}">
        <p14:creationId xmlns:p14="http://schemas.microsoft.com/office/powerpoint/2010/main" val="356969910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4BD325-C033-3D53-AD81-189F35680ED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F01EE2-55D1-A6A3-EDDF-9F9CFD01A7DC}"/>
              </a:ext>
            </a:extLst>
          </p:cNvPr>
          <p:cNvSpPr>
            <a:spLocks noGrp="1"/>
          </p:cNvSpPr>
          <p:nvPr>
            <p:ph type="title"/>
          </p:nvPr>
        </p:nvSpPr>
        <p:spPr>
          <a:xfrm>
            <a:off x="720000" y="312823"/>
            <a:ext cx="7704000" cy="572700"/>
          </a:xfrm>
        </p:spPr>
        <p:txBody>
          <a:bodyPr/>
          <a:lstStyle/>
          <a:p>
            <a:pPr algn="ctr"/>
            <a:r>
              <a:rPr lang="en-US" sz="2400" dirty="0"/>
              <a:t>We design benchmark four settings under increasing levels of confounders</a:t>
            </a:r>
          </a:p>
        </p:txBody>
      </p:sp>
      <p:sp>
        <p:nvSpPr>
          <p:cNvPr id="5" name="Rectangle 4">
            <a:extLst>
              <a:ext uri="{FF2B5EF4-FFF2-40B4-BE49-F238E27FC236}">
                <a16:creationId xmlns:a16="http://schemas.microsoft.com/office/drawing/2014/main" id="{03801FA6-DC89-F110-CB09-97BFB998B340}"/>
              </a:ext>
            </a:extLst>
          </p:cNvPr>
          <p:cNvSpPr/>
          <p:nvPr/>
        </p:nvSpPr>
        <p:spPr>
          <a:xfrm>
            <a:off x="1045036" y="1757188"/>
            <a:ext cx="7359267" cy="121186"/>
          </a:xfrm>
          <a:prstGeom prst="rect">
            <a:avLst/>
          </a:prstGeom>
          <a:solidFill>
            <a:srgbClr val="71DAFF"/>
          </a:solidFill>
          <a:ln>
            <a:solidFill>
              <a:srgbClr val="71DA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a:extLst>
              <a:ext uri="{FF2B5EF4-FFF2-40B4-BE49-F238E27FC236}">
                <a16:creationId xmlns:a16="http://schemas.microsoft.com/office/drawing/2014/main" id="{ED21498A-A978-7CBB-3CC7-968E0B585E0E}"/>
              </a:ext>
            </a:extLst>
          </p:cNvPr>
          <p:cNvSpPr/>
          <p:nvPr/>
        </p:nvSpPr>
        <p:spPr>
          <a:xfrm>
            <a:off x="1330722" y="1757187"/>
            <a:ext cx="262658" cy="121186"/>
          </a:xfrm>
          <a:prstGeom prst="rect">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a:extLst>
              <a:ext uri="{FF2B5EF4-FFF2-40B4-BE49-F238E27FC236}">
                <a16:creationId xmlns:a16="http://schemas.microsoft.com/office/drawing/2014/main" id="{0206D335-0783-044F-F576-A238234FE48E}"/>
              </a:ext>
            </a:extLst>
          </p:cNvPr>
          <p:cNvSpPr/>
          <p:nvPr/>
        </p:nvSpPr>
        <p:spPr>
          <a:xfrm>
            <a:off x="5474734" y="1757188"/>
            <a:ext cx="262658" cy="121186"/>
          </a:xfrm>
          <a:prstGeom prst="rect">
            <a:avLst/>
          </a:prstGeom>
          <a:solidFill>
            <a:srgbClr val="FFFF00"/>
          </a:solid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5" name="Rectangle 44">
            <a:extLst>
              <a:ext uri="{FF2B5EF4-FFF2-40B4-BE49-F238E27FC236}">
                <a16:creationId xmlns:a16="http://schemas.microsoft.com/office/drawing/2014/main" id="{93DF1231-D5EF-131C-84FE-91525A3D178F}"/>
              </a:ext>
            </a:extLst>
          </p:cNvPr>
          <p:cNvSpPr/>
          <p:nvPr/>
        </p:nvSpPr>
        <p:spPr>
          <a:xfrm>
            <a:off x="5955011" y="1757187"/>
            <a:ext cx="262659" cy="121186"/>
          </a:xfrm>
          <a:prstGeom prst="rect">
            <a:avLst/>
          </a:prstGeom>
          <a:solidFill>
            <a:srgbClr val="7030A0"/>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Text Placeholder 2">
            <a:extLst>
              <a:ext uri="{FF2B5EF4-FFF2-40B4-BE49-F238E27FC236}">
                <a16:creationId xmlns:a16="http://schemas.microsoft.com/office/drawing/2014/main" id="{B1CBC12B-65EB-F282-0985-E160CE223A4A}"/>
              </a:ext>
            </a:extLst>
          </p:cNvPr>
          <p:cNvSpPr txBox="1">
            <a:spLocks/>
          </p:cNvSpPr>
          <p:nvPr/>
        </p:nvSpPr>
        <p:spPr>
          <a:xfrm>
            <a:off x="720000" y="1944741"/>
            <a:ext cx="1380863" cy="40457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79400" algn="l" rtl="0">
              <a:lnSpc>
                <a:spcPct val="115000"/>
              </a:lnSpc>
              <a:spcBef>
                <a:spcPts val="0"/>
              </a:spcBef>
              <a:spcAft>
                <a:spcPts val="0"/>
              </a:spcAft>
              <a:buClr>
                <a:schemeClr val="dk1"/>
              </a:buClr>
              <a:buSzPts val="800"/>
              <a:buFont typeface="Hanken Grotesk"/>
              <a:buChar char="●"/>
              <a:defRPr sz="1400" b="0" i="0" u="none" strike="noStrike" cap="none">
                <a:solidFill>
                  <a:schemeClr val="dk1"/>
                </a:solidFill>
                <a:latin typeface="Hanken Grotesk"/>
                <a:ea typeface="Hanken Grotesk"/>
                <a:cs typeface="Hanken Grotesk"/>
                <a:sym typeface="Hanken Grotesk"/>
              </a:defRPr>
            </a:lvl1pPr>
            <a:lvl2pPr marL="914400" marR="0" lvl="1"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2pPr>
            <a:lvl3pPr marL="1371600" marR="0" lvl="2"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3pPr>
            <a:lvl4pPr marL="1828800" marR="0" lvl="3"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4pPr>
            <a:lvl5pPr marL="2286000" marR="0" lvl="4"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5pPr>
            <a:lvl6pPr marL="2743200" marR="0" lvl="5"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6pPr>
            <a:lvl7pPr marL="3200400" marR="0" lvl="6"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7pPr>
            <a:lvl8pPr marL="3657600" marR="0" lvl="7"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8pPr>
            <a:lvl9pPr marL="4114800" marR="0" lvl="8"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9pPr>
          </a:lstStyle>
          <a:p>
            <a:pPr marL="177800" indent="0" algn="ctr">
              <a:buFont typeface="Hanken Grotesk"/>
              <a:buNone/>
            </a:pPr>
            <a:r>
              <a:rPr lang="en-US" dirty="0"/>
              <a:t>Enhancer</a:t>
            </a:r>
          </a:p>
        </p:txBody>
      </p:sp>
      <p:sp>
        <p:nvSpPr>
          <p:cNvPr id="47" name="Text Placeholder 2">
            <a:extLst>
              <a:ext uri="{FF2B5EF4-FFF2-40B4-BE49-F238E27FC236}">
                <a16:creationId xmlns:a16="http://schemas.microsoft.com/office/drawing/2014/main" id="{E88EF0E1-75F4-C350-1F5C-F715359673B2}"/>
              </a:ext>
            </a:extLst>
          </p:cNvPr>
          <p:cNvSpPr txBox="1">
            <a:spLocks/>
          </p:cNvSpPr>
          <p:nvPr/>
        </p:nvSpPr>
        <p:spPr>
          <a:xfrm>
            <a:off x="4915631" y="1944741"/>
            <a:ext cx="1380863" cy="40457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79400" algn="l" rtl="0">
              <a:lnSpc>
                <a:spcPct val="115000"/>
              </a:lnSpc>
              <a:spcBef>
                <a:spcPts val="0"/>
              </a:spcBef>
              <a:spcAft>
                <a:spcPts val="0"/>
              </a:spcAft>
              <a:buClr>
                <a:schemeClr val="dk1"/>
              </a:buClr>
              <a:buSzPts val="800"/>
              <a:buFont typeface="Hanken Grotesk"/>
              <a:buChar char="●"/>
              <a:defRPr sz="1400" b="0" i="0" u="none" strike="noStrike" cap="none">
                <a:solidFill>
                  <a:schemeClr val="dk1"/>
                </a:solidFill>
                <a:latin typeface="Hanken Grotesk"/>
                <a:ea typeface="Hanken Grotesk"/>
                <a:cs typeface="Hanken Grotesk"/>
                <a:sym typeface="Hanken Grotesk"/>
              </a:defRPr>
            </a:lvl1pPr>
            <a:lvl2pPr marL="914400" marR="0" lvl="1"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2pPr>
            <a:lvl3pPr marL="1371600" marR="0" lvl="2"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3pPr>
            <a:lvl4pPr marL="1828800" marR="0" lvl="3"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4pPr>
            <a:lvl5pPr marL="2286000" marR="0" lvl="4"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5pPr>
            <a:lvl6pPr marL="2743200" marR="0" lvl="5"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6pPr>
            <a:lvl7pPr marL="3200400" marR="0" lvl="6"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7pPr>
            <a:lvl8pPr marL="3657600" marR="0" lvl="7"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8pPr>
            <a:lvl9pPr marL="4114800" marR="0" lvl="8"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9pPr>
          </a:lstStyle>
          <a:p>
            <a:pPr marL="177800" indent="0" algn="ctr">
              <a:buFont typeface="Hanken Grotesk"/>
              <a:buNone/>
            </a:pPr>
            <a:r>
              <a:rPr lang="en-US" dirty="0"/>
              <a:t>Promoter</a:t>
            </a:r>
          </a:p>
        </p:txBody>
      </p:sp>
      <p:sp>
        <p:nvSpPr>
          <p:cNvPr id="48" name="Rectangle 47">
            <a:extLst>
              <a:ext uri="{FF2B5EF4-FFF2-40B4-BE49-F238E27FC236}">
                <a16:creationId xmlns:a16="http://schemas.microsoft.com/office/drawing/2014/main" id="{F156FE55-02D3-27BC-C234-88A0837DEBFD}"/>
              </a:ext>
            </a:extLst>
          </p:cNvPr>
          <p:cNvSpPr/>
          <p:nvPr/>
        </p:nvSpPr>
        <p:spPr>
          <a:xfrm>
            <a:off x="2144763" y="1757187"/>
            <a:ext cx="262658" cy="121186"/>
          </a:xfrm>
          <a:prstGeom prst="rect">
            <a:avLst/>
          </a:prstGeom>
          <a:solidFill>
            <a:srgbClr val="EDAEAE"/>
          </a:solidFill>
          <a:ln>
            <a:solidFill>
              <a:srgbClr val="EDAEA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Text Placeholder 2">
            <a:extLst>
              <a:ext uri="{FF2B5EF4-FFF2-40B4-BE49-F238E27FC236}">
                <a16:creationId xmlns:a16="http://schemas.microsoft.com/office/drawing/2014/main" id="{FD9067B7-1CA3-89A0-B839-6ABCA46486ED}"/>
              </a:ext>
            </a:extLst>
          </p:cNvPr>
          <p:cNvSpPr txBox="1">
            <a:spLocks/>
          </p:cNvSpPr>
          <p:nvPr/>
        </p:nvSpPr>
        <p:spPr>
          <a:xfrm>
            <a:off x="1522478" y="1944741"/>
            <a:ext cx="1380863" cy="40457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79400" algn="l" rtl="0">
              <a:lnSpc>
                <a:spcPct val="115000"/>
              </a:lnSpc>
              <a:spcBef>
                <a:spcPts val="0"/>
              </a:spcBef>
              <a:spcAft>
                <a:spcPts val="0"/>
              </a:spcAft>
              <a:buClr>
                <a:schemeClr val="dk1"/>
              </a:buClr>
              <a:buSzPts val="800"/>
              <a:buFont typeface="Hanken Grotesk"/>
              <a:buChar char="●"/>
              <a:defRPr sz="1400" b="0" i="0" u="none" strike="noStrike" cap="none">
                <a:solidFill>
                  <a:schemeClr val="dk1"/>
                </a:solidFill>
                <a:latin typeface="Hanken Grotesk"/>
                <a:ea typeface="Hanken Grotesk"/>
                <a:cs typeface="Hanken Grotesk"/>
                <a:sym typeface="Hanken Grotesk"/>
              </a:defRPr>
            </a:lvl1pPr>
            <a:lvl2pPr marL="914400" marR="0" lvl="1"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2pPr>
            <a:lvl3pPr marL="1371600" marR="0" lvl="2"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3pPr>
            <a:lvl4pPr marL="1828800" marR="0" lvl="3"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4pPr>
            <a:lvl5pPr marL="2286000" marR="0" lvl="4"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5pPr>
            <a:lvl6pPr marL="2743200" marR="0" lvl="5"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6pPr>
            <a:lvl7pPr marL="3200400" marR="0" lvl="6"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7pPr>
            <a:lvl8pPr marL="3657600" marR="0" lvl="7"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8pPr>
            <a:lvl9pPr marL="4114800" marR="0" lvl="8"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9pPr>
          </a:lstStyle>
          <a:p>
            <a:pPr marL="177800" indent="0" algn="ctr">
              <a:buFont typeface="Hanken Grotesk"/>
              <a:buNone/>
            </a:pPr>
            <a:r>
              <a:rPr lang="en-US" dirty="0"/>
              <a:t>UCNE</a:t>
            </a:r>
          </a:p>
        </p:txBody>
      </p:sp>
      <p:sp>
        <p:nvSpPr>
          <p:cNvPr id="50" name="Rectangle 49">
            <a:extLst>
              <a:ext uri="{FF2B5EF4-FFF2-40B4-BE49-F238E27FC236}">
                <a16:creationId xmlns:a16="http://schemas.microsoft.com/office/drawing/2014/main" id="{01BCA61A-721D-C4C6-0502-F6F2A8FAF5B0}"/>
              </a:ext>
            </a:extLst>
          </p:cNvPr>
          <p:cNvSpPr/>
          <p:nvPr/>
        </p:nvSpPr>
        <p:spPr>
          <a:xfrm>
            <a:off x="2849944" y="1759208"/>
            <a:ext cx="963473" cy="119165"/>
          </a:xfrm>
          <a:prstGeom prst="rect">
            <a:avLst/>
          </a:prstGeom>
          <a:solidFill>
            <a:srgbClr val="002060"/>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Text Placeholder 2">
            <a:extLst>
              <a:ext uri="{FF2B5EF4-FFF2-40B4-BE49-F238E27FC236}">
                <a16:creationId xmlns:a16="http://schemas.microsoft.com/office/drawing/2014/main" id="{BAE970E2-ED07-86AD-EC4C-0B840B6A0B44}"/>
              </a:ext>
            </a:extLst>
          </p:cNvPr>
          <p:cNvSpPr txBox="1">
            <a:spLocks/>
          </p:cNvSpPr>
          <p:nvPr/>
        </p:nvSpPr>
        <p:spPr>
          <a:xfrm>
            <a:off x="2528622" y="1944740"/>
            <a:ext cx="1380863" cy="40457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79400" algn="l" rtl="0">
              <a:lnSpc>
                <a:spcPct val="115000"/>
              </a:lnSpc>
              <a:spcBef>
                <a:spcPts val="0"/>
              </a:spcBef>
              <a:spcAft>
                <a:spcPts val="0"/>
              </a:spcAft>
              <a:buClr>
                <a:schemeClr val="dk1"/>
              </a:buClr>
              <a:buSzPts val="800"/>
              <a:buFont typeface="Hanken Grotesk"/>
              <a:buChar char="●"/>
              <a:defRPr sz="1400" b="0" i="0" u="none" strike="noStrike" cap="none">
                <a:solidFill>
                  <a:schemeClr val="dk1"/>
                </a:solidFill>
                <a:latin typeface="Hanken Grotesk"/>
                <a:ea typeface="Hanken Grotesk"/>
                <a:cs typeface="Hanken Grotesk"/>
                <a:sym typeface="Hanken Grotesk"/>
              </a:defRPr>
            </a:lvl1pPr>
            <a:lvl2pPr marL="914400" marR="0" lvl="1"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2pPr>
            <a:lvl3pPr marL="1371600" marR="0" lvl="2"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3pPr>
            <a:lvl4pPr marL="1828800" marR="0" lvl="3"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4pPr>
            <a:lvl5pPr marL="2286000" marR="0" lvl="4"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5pPr>
            <a:lvl6pPr marL="2743200" marR="0" lvl="5"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6pPr>
            <a:lvl7pPr marL="3200400" marR="0" lvl="6"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7pPr>
            <a:lvl8pPr marL="3657600" marR="0" lvl="7"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8pPr>
            <a:lvl9pPr marL="4114800" marR="0" lvl="8"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9pPr>
          </a:lstStyle>
          <a:p>
            <a:pPr marL="177800" indent="0" algn="ctr">
              <a:buFont typeface="Hanken Grotesk"/>
              <a:buNone/>
            </a:pPr>
            <a:r>
              <a:rPr lang="en-US" dirty="0"/>
              <a:t>Repeat</a:t>
            </a:r>
          </a:p>
        </p:txBody>
      </p:sp>
      <p:sp>
        <p:nvSpPr>
          <p:cNvPr id="52" name="Rectangle 51">
            <a:extLst>
              <a:ext uri="{FF2B5EF4-FFF2-40B4-BE49-F238E27FC236}">
                <a16:creationId xmlns:a16="http://schemas.microsoft.com/office/drawing/2014/main" id="{E8989CF0-4AB2-E096-E95C-C4091EA9C7D4}"/>
              </a:ext>
            </a:extLst>
          </p:cNvPr>
          <p:cNvSpPr/>
          <p:nvPr/>
        </p:nvSpPr>
        <p:spPr>
          <a:xfrm>
            <a:off x="4752885" y="1757187"/>
            <a:ext cx="262658" cy="121186"/>
          </a:xfrm>
          <a:prstGeom prst="rect">
            <a:avLst/>
          </a:prstGeom>
          <a:solidFill>
            <a:srgbClr val="FFFF00"/>
          </a:solid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3" name="Text Placeholder 2">
            <a:extLst>
              <a:ext uri="{FF2B5EF4-FFF2-40B4-BE49-F238E27FC236}">
                <a16:creationId xmlns:a16="http://schemas.microsoft.com/office/drawing/2014/main" id="{BA5D226D-A8A4-FEC2-381B-854D83740E24}"/>
              </a:ext>
            </a:extLst>
          </p:cNvPr>
          <p:cNvSpPr txBox="1">
            <a:spLocks/>
          </p:cNvSpPr>
          <p:nvPr/>
        </p:nvSpPr>
        <p:spPr>
          <a:xfrm>
            <a:off x="4113153" y="1944740"/>
            <a:ext cx="1380863" cy="40457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79400" algn="l" rtl="0">
              <a:lnSpc>
                <a:spcPct val="115000"/>
              </a:lnSpc>
              <a:spcBef>
                <a:spcPts val="0"/>
              </a:spcBef>
              <a:spcAft>
                <a:spcPts val="0"/>
              </a:spcAft>
              <a:buClr>
                <a:schemeClr val="dk1"/>
              </a:buClr>
              <a:buSzPts val="800"/>
              <a:buFont typeface="Hanken Grotesk"/>
              <a:buChar char="●"/>
              <a:defRPr sz="1400" b="0" i="0" u="none" strike="noStrike" cap="none">
                <a:solidFill>
                  <a:schemeClr val="dk1"/>
                </a:solidFill>
                <a:latin typeface="Hanken Grotesk"/>
                <a:ea typeface="Hanken Grotesk"/>
                <a:cs typeface="Hanken Grotesk"/>
                <a:sym typeface="Hanken Grotesk"/>
              </a:defRPr>
            </a:lvl1pPr>
            <a:lvl2pPr marL="914400" marR="0" lvl="1"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2pPr>
            <a:lvl3pPr marL="1371600" marR="0" lvl="2"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3pPr>
            <a:lvl4pPr marL="1828800" marR="0" lvl="3"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4pPr>
            <a:lvl5pPr marL="2286000" marR="0" lvl="4"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5pPr>
            <a:lvl6pPr marL="2743200" marR="0" lvl="5"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6pPr>
            <a:lvl7pPr marL="3200400" marR="0" lvl="6"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7pPr>
            <a:lvl8pPr marL="3657600" marR="0" lvl="7"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8pPr>
            <a:lvl9pPr marL="4114800" marR="0" lvl="8"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9pPr>
          </a:lstStyle>
          <a:p>
            <a:pPr marL="177800" indent="0" algn="ctr">
              <a:buFont typeface="Hanken Grotesk"/>
              <a:buNone/>
            </a:pPr>
            <a:r>
              <a:rPr lang="en-US" dirty="0"/>
              <a:t>2KB Upstream TSS</a:t>
            </a:r>
          </a:p>
        </p:txBody>
      </p:sp>
      <p:sp>
        <p:nvSpPr>
          <p:cNvPr id="54" name="Text Placeholder 2">
            <a:extLst>
              <a:ext uri="{FF2B5EF4-FFF2-40B4-BE49-F238E27FC236}">
                <a16:creationId xmlns:a16="http://schemas.microsoft.com/office/drawing/2014/main" id="{0D88C29B-9E56-DC4D-F090-64510D29BBB3}"/>
              </a:ext>
            </a:extLst>
          </p:cNvPr>
          <p:cNvSpPr txBox="1">
            <a:spLocks/>
          </p:cNvSpPr>
          <p:nvPr/>
        </p:nvSpPr>
        <p:spPr>
          <a:xfrm>
            <a:off x="5315909" y="1286245"/>
            <a:ext cx="1380863" cy="40457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79400" algn="l" rtl="0">
              <a:lnSpc>
                <a:spcPct val="115000"/>
              </a:lnSpc>
              <a:spcBef>
                <a:spcPts val="0"/>
              </a:spcBef>
              <a:spcAft>
                <a:spcPts val="0"/>
              </a:spcAft>
              <a:buClr>
                <a:schemeClr val="dk1"/>
              </a:buClr>
              <a:buSzPts val="800"/>
              <a:buFont typeface="Hanken Grotesk"/>
              <a:buChar char="●"/>
              <a:defRPr sz="1400" b="0" i="0" u="none" strike="noStrike" cap="none">
                <a:solidFill>
                  <a:schemeClr val="dk1"/>
                </a:solidFill>
                <a:latin typeface="Hanken Grotesk"/>
                <a:ea typeface="Hanken Grotesk"/>
                <a:cs typeface="Hanken Grotesk"/>
                <a:sym typeface="Hanken Grotesk"/>
              </a:defRPr>
            </a:lvl1pPr>
            <a:lvl2pPr marL="914400" marR="0" lvl="1"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2pPr>
            <a:lvl3pPr marL="1371600" marR="0" lvl="2"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3pPr>
            <a:lvl4pPr marL="1828800" marR="0" lvl="3"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4pPr>
            <a:lvl5pPr marL="2286000" marR="0" lvl="4"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5pPr>
            <a:lvl6pPr marL="2743200" marR="0" lvl="5"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6pPr>
            <a:lvl7pPr marL="3200400" marR="0" lvl="6"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7pPr>
            <a:lvl8pPr marL="3657600" marR="0" lvl="7"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8pPr>
            <a:lvl9pPr marL="4114800" marR="0" lvl="8"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9pPr>
          </a:lstStyle>
          <a:p>
            <a:pPr marL="177800" indent="0" algn="ctr">
              <a:buFont typeface="Hanken Grotesk"/>
              <a:buNone/>
            </a:pPr>
            <a:r>
              <a:rPr lang="en-US" dirty="0"/>
              <a:t>5’ UTR</a:t>
            </a:r>
          </a:p>
        </p:txBody>
      </p:sp>
      <p:sp>
        <p:nvSpPr>
          <p:cNvPr id="55" name="Rectangle 54">
            <a:extLst>
              <a:ext uri="{FF2B5EF4-FFF2-40B4-BE49-F238E27FC236}">
                <a16:creationId xmlns:a16="http://schemas.microsoft.com/office/drawing/2014/main" id="{5C185000-076B-F8A3-D5CD-A0D7B8A832DA}"/>
              </a:ext>
            </a:extLst>
          </p:cNvPr>
          <p:cNvSpPr/>
          <p:nvPr/>
        </p:nvSpPr>
        <p:spPr>
          <a:xfrm>
            <a:off x="6217669" y="1757187"/>
            <a:ext cx="459191" cy="121186"/>
          </a:xfrm>
          <a:prstGeom prst="rect">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Rectangle 55">
            <a:extLst>
              <a:ext uri="{FF2B5EF4-FFF2-40B4-BE49-F238E27FC236}">
                <a16:creationId xmlns:a16="http://schemas.microsoft.com/office/drawing/2014/main" id="{614C4D9C-0027-8E5E-34FA-CDB293B4B33C}"/>
              </a:ext>
            </a:extLst>
          </p:cNvPr>
          <p:cNvSpPr/>
          <p:nvPr/>
        </p:nvSpPr>
        <p:spPr>
          <a:xfrm>
            <a:off x="6696772" y="1757187"/>
            <a:ext cx="263071" cy="121186"/>
          </a:xfrm>
          <a:prstGeom prst="rect">
            <a:avLst/>
          </a:prstGeom>
          <a:solidFill>
            <a:srgbClr val="92D050"/>
          </a:solidFill>
          <a:ln>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Rectangle 56">
            <a:extLst>
              <a:ext uri="{FF2B5EF4-FFF2-40B4-BE49-F238E27FC236}">
                <a16:creationId xmlns:a16="http://schemas.microsoft.com/office/drawing/2014/main" id="{A96A827E-C8C7-D9D7-9981-FEA780005426}"/>
              </a:ext>
            </a:extLst>
          </p:cNvPr>
          <p:cNvSpPr/>
          <p:nvPr/>
        </p:nvSpPr>
        <p:spPr>
          <a:xfrm>
            <a:off x="6959843" y="1757187"/>
            <a:ext cx="561506" cy="121186"/>
          </a:xfrm>
          <a:prstGeom prst="rect">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Rectangle 57">
            <a:extLst>
              <a:ext uri="{FF2B5EF4-FFF2-40B4-BE49-F238E27FC236}">
                <a16:creationId xmlns:a16="http://schemas.microsoft.com/office/drawing/2014/main" id="{E78E7269-A9F9-64B9-5649-FD798EBA1330}"/>
              </a:ext>
            </a:extLst>
          </p:cNvPr>
          <p:cNvSpPr/>
          <p:nvPr/>
        </p:nvSpPr>
        <p:spPr>
          <a:xfrm>
            <a:off x="7521761" y="1757187"/>
            <a:ext cx="262659" cy="121186"/>
          </a:xfrm>
          <a:prstGeom prst="rect">
            <a:avLst/>
          </a:prstGeom>
          <a:solidFill>
            <a:srgbClr val="E0CDEF"/>
          </a:solidFill>
          <a:ln>
            <a:solidFill>
              <a:srgbClr val="E0CDE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Text Placeholder 2">
            <a:extLst>
              <a:ext uri="{FF2B5EF4-FFF2-40B4-BE49-F238E27FC236}">
                <a16:creationId xmlns:a16="http://schemas.microsoft.com/office/drawing/2014/main" id="{1F8D0FA4-825E-D057-91AA-217EC095BF47}"/>
              </a:ext>
            </a:extLst>
          </p:cNvPr>
          <p:cNvSpPr txBox="1">
            <a:spLocks/>
          </p:cNvSpPr>
          <p:nvPr/>
        </p:nvSpPr>
        <p:spPr>
          <a:xfrm>
            <a:off x="6959843" y="1288034"/>
            <a:ext cx="1380863" cy="40457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79400" algn="l" rtl="0">
              <a:lnSpc>
                <a:spcPct val="115000"/>
              </a:lnSpc>
              <a:spcBef>
                <a:spcPts val="0"/>
              </a:spcBef>
              <a:spcAft>
                <a:spcPts val="0"/>
              </a:spcAft>
              <a:buClr>
                <a:schemeClr val="dk1"/>
              </a:buClr>
              <a:buSzPts val="800"/>
              <a:buFont typeface="Hanken Grotesk"/>
              <a:buChar char="●"/>
              <a:defRPr sz="1400" b="0" i="0" u="none" strike="noStrike" cap="none">
                <a:solidFill>
                  <a:schemeClr val="dk1"/>
                </a:solidFill>
                <a:latin typeface="Hanken Grotesk"/>
                <a:ea typeface="Hanken Grotesk"/>
                <a:cs typeface="Hanken Grotesk"/>
                <a:sym typeface="Hanken Grotesk"/>
              </a:defRPr>
            </a:lvl1pPr>
            <a:lvl2pPr marL="914400" marR="0" lvl="1"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2pPr>
            <a:lvl3pPr marL="1371600" marR="0" lvl="2"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3pPr>
            <a:lvl4pPr marL="1828800" marR="0" lvl="3"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4pPr>
            <a:lvl5pPr marL="2286000" marR="0" lvl="4"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5pPr>
            <a:lvl6pPr marL="2743200" marR="0" lvl="5"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6pPr>
            <a:lvl7pPr marL="3200400" marR="0" lvl="6"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7pPr>
            <a:lvl8pPr marL="3657600" marR="0" lvl="7"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8pPr>
            <a:lvl9pPr marL="4114800" marR="0" lvl="8"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9pPr>
          </a:lstStyle>
          <a:p>
            <a:pPr marL="177800" indent="0" algn="ctr">
              <a:buFont typeface="Hanken Grotesk"/>
              <a:buNone/>
            </a:pPr>
            <a:r>
              <a:rPr lang="en-US" dirty="0"/>
              <a:t>3’ UTR</a:t>
            </a:r>
          </a:p>
        </p:txBody>
      </p:sp>
      <p:sp>
        <p:nvSpPr>
          <p:cNvPr id="60" name="Text Placeholder 2">
            <a:extLst>
              <a:ext uri="{FF2B5EF4-FFF2-40B4-BE49-F238E27FC236}">
                <a16:creationId xmlns:a16="http://schemas.microsoft.com/office/drawing/2014/main" id="{04337A70-DB72-43E8-D5B1-BCF8F50B5AEF}"/>
              </a:ext>
            </a:extLst>
          </p:cNvPr>
          <p:cNvSpPr txBox="1">
            <a:spLocks/>
          </p:cNvSpPr>
          <p:nvPr/>
        </p:nvSpPr>
        <p:spPr>
          <a:xfrm>
            <a:off x="6086340" y="1286244"/>
            <a:ext cx="1380863" cy="40457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79400" algn="l" rtl="0">
              <a:lnSpc>
                <a:spcPct val="115000"/>
              </a:lnSpc>
              <a:spcBef>
                <a:spcPts val="0"/>
              </a:spcBef>
              <a:spcAft>
                <a:spcPts val="0"/>
              </a:spcAft>
              <a:buClr>
                <a:schemeClr val="dk1"/>
              </a:buClr>
              <a:buSzPts val="800"/>
              <a:buFont typeface="Hanken Grotesk"/>
              <a:buChar char="●"/>
              <a:defRPr sz="1400" b="0" i="0" u="none" strike="noStrike" cap="none">
                <a:solidFill>
                  <a:schemeClr val="dk1"/>
                </a:solidFill>
                <a:latin typeface="Hanken Grotesk"/>
                <a:ea typeface="Hanken Grotesk"/>
                <a:cs typeface="Hanken Grotesk"/>
                <a:sym typeface="Hanken Grotesk"/>
              </a:defRPr>
            </a:lvl1pPr>
            <a:lvl2pPr marL="914400" marR="0" lvl="1"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2pPr>
            <a:lvl3pPr marL="1371600" marR="0" lvl="2"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3pPr>
            <a:lvl4pPr marL="1828800" marR="0" lvl="3"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4pPr>
            <a:lvl5pPr marL="2286000" marR="0" lvl="4"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5pPr>
            <a:lvl6pPr marL="2743200" marR="0" lvl="5"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6pPr>
            <a:lvl7pPr marL="3200400" marR="0" lvl="6"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7pPr>
            <a:lvl8pPr marL="3657600" marR="0" lvl="7"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8pPr>
            <a:lvl9pPr marL="4114800" marR="0" lvl="8"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9pPr>
          </a:lstStyle>
          <a:p>
            <a:pPr marL="177800" indent="0" algn="ctr">
              <a:buFont typeface="Hanken Grotesk"/>
              <a:buNone/>
            </a:pPr>
            <a:r>
              <a:rPr lang="en-US" dirty="0"/>
              <a:t>Exon</a:t>
            </a:r>
          </a:p>
        </p:txBody>
      </p:sp>
      <p:sp>
        <p:nvSpPr>
          <p:cNvPr id="61" name="Text Placeholder 2">
            <a:extLst>
              <a:ext uri="{FF2B5EF4-FFF2-40B4-BE49-F238E27FC236}">
                <a16:creationId xmlns:a16="http://schemas.microsoft.com/office/drawing/2014/main" id="{7A052E57-012D-69B7-835D-243DBDD4CA15}"/>
              </a:ext>
            </a:extLst>
          </p:cNvPr>
          <p:cNvSpPr txBox="1">
            <a:spLocks/>
          </p:cNvSpPr>
          <p:nvPr/>
        </p:nvSpPr>
        <p:spPr>
          <a:xfrm>
            <a:off x="6447264" y="1942952"/>
            <a:ext cx="1380863" cy="40457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79400" algn="l" rtl="0">
              <a:lnSpc>
                <a:spcPct val="115000"/>
              </a:lnSpc>
              <a:spcBef>
                <a:spcPts val="0"/>
              </a:spcBef>
              <a:spcAft>
                <a:spcPts val="0"/>
              </a:spcAft>
              <a:buClr>
                <a:schemeClr val="dk1"/>
              </a:buClr>
              <a:buSzPts val="800"/>
              <a:buFont typeface="Hanken Grotesk"/>
              <a:buChar char="●"/>
              <a:defRPr sz="1400" b="0" i="0" u="none" strike="noStrike" cap="none">
                <a:solidFill>
                  <a:schemeClr val="dk1"/>
                </a:solidFill>
                <a:latin typeface="Hanken Grotesk"/>
                <a:ea typeface="Hanken Grotesk"/>
                <a:cs typeface="Hanken Grotesk"/>
                <a:sym typeface="Hanken Grotesk"/>
              </a:defRPr>
            </a:lvl1pPr>
            <a:lvl2pPr marL="914400" marR="0" lvl="1"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2pPr>
            <a:lvl3pPr marL="1371600" marR="0" lvl="2"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3pPr>
            <a:lvl4pPr marL="1828800" marR="0" lvl="3"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4pPr>
            <a:lvl5pPr marL="2286000" marR="0" lvl="4"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5pPr>
            <a:lvl6pPr marL="2743200" marR="0" lvl="5"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6pPr>
            <a:lvl7pPr marL="3200400" marR="0" lvl="6"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7pPr>
            <a:lvl8pPr marL="3657600" marR="0" lvl="7"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8pPr>
            <a:lvl9pPr marL="4114800" marR="0" lvl="8"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9pPr>
          </a:lstStyle>
          <a:p>
            <a:pPr marL="177800" indent="0" algn="ctr">
              <a:buFont typeface="Hanken Grotesk"/>
              <a:buNone/>
            </a:pPr>
            <a:r>
              <a:rPr lang="en-US" dirty="0"/>
              <a:t>Intron</a:t>
            </a:r>
          </a:p>
        </p:txBody>
      </p:sp>
      <p:sp>
        <p:nvSpPr>
          <p:cNvPr id="62" name="Rectangle 61">
            <a:extLst>
              <a:ext uri="{FF2B5EF4-FFF2-40B4-BE49-F238E27FC236}">
                <a16:creationId xmlns:a16="http://schemas.microsoft.com/office/drawing/2014/main" id="{63B437F1-A438-C046-E3B5-8DEBED6D5B59}"/>
              </a:ext>
            </a:extLst>
          </p:cNvPr>
          <p:cNvSpPr/>
          <p:nvPr/>
        </p:nvSpPr>
        <p:spPr>
          <a:xfrm>
            <a:off x="1330722" y="3016782"/>
            <a:ext cx="262658" cy="121186"/>
          </a:xfrm>
          <a:prstGeom prst="rect">
            <a:avLst/>
          </a:prstGeom>
          <a:solidFill>
            <a:schemeClr val="tx2"/>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Rectangle 62">
            <a:extLst>
              <a:ext uri="{FF2B5EF4-FFF2-40B4-BE49-F238E27FC236}">
                <a16:creationId xmlns:a16="http://schemas.microsoft.com/office/drawing/2014/main" id="{3386E789-244B-4CEF-8EBE-1EE8FFA42746}"/>
              </a:ext>
            </a:extLst>
          </p:cNvPr>
          <p:cNvSpPr/>
          <p:nvPr/>
        </p:nvSpPr>
        <p:spPr>
          <a:xfrm>
            <a:off x="2144763" y="3016782"/>
            <a:ext cx="262658" cy="121186"/>
          </a:xfrm>
          <a:prstGeom prst="rect">
            <a:avLst/>
          </a:prstGeom>
          <a:solidFill>
            <a:schemeClr val="tx2"/>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Rectangle 63">
            <a:extLst>
              <a:ext uri="{FF2B5EF4-FFF2-40B4-BE49-F238E27FC236}">
                <a16:creationId xmlns:a16="http://schemas.microsoft.com/office/drawing/2014/main" id="{73339D0F-654A-7841-BF28-0E748A196CCD}"/>
              </a:ext>
            </a:extLst>
          </p:cNvPr>
          <p:cNvSpPr/>
          <p:nvPr/>
        </p:nvSpPr>
        <p:spPr>
          <a:xfrm>
            <a:off x="2849943" y="3016782"/>
            <a:ext cx="963473" cy="121186"/>
          </a:xfrm>
          <a:prstGeom prst="rect">
            <a:avLst/>
          </a:prstGeom>
          <a:solidFill>
            <a:schemeClr val="tx2"/>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Rectangle 64">
            <a:extLst>
              <a:ext uri="{FF2B5EF4-FFF2-40B4-BE49-F238E27FC236}">
                <a16:creationId xmlns:a16="http://schemas.microsoft.com/office/drawing/2014/main" id="{3A78DC17-DB2B-CA6B-1B74-7278DC09306E}"/>
              </a:ext>
            </a:extLst>
          </p:cNvPr>
          <p:cNvSpPr/>
          <p:nvPr/>
        </p:nvSpPr>
        <p:spPr>
          <a:xfrm>
            <a:off x="4752885" y="3016782"/>
            <a:ext cx="262658" cy="121186"/>
          </a:xfrm>
          <a:prstGeom prst="rect">
            <a:avLst/>
          </a:prstGeom>
          <a:solidFill>
            <a:schemeClr val="tx2"/>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Rectangle 65">
            <a:extLst>
              <a:ext uri="{FF2B5EF4-FFF2-40B4-BE49-F238E27FC236}">
                <a16:creationId xmlns:a16="http://schemas.microsoft.com/office/drawing/2014/main" id="{7AA70D99-3BB9-2198-95CC-76798361C907}"/>
              </a:ext>
            </a:extLst>
          </p:cNvPr>
          <p:cNvSpPr/>
          <p:nvPr/>
        </p:nvSpPr>
        <p:spPr>
          <a:xfrm>
            <a:off x="5494016" y="3016782"/>
            <a:ext cx="262658" cy="121186"/>
          </a:xfrm>
          <a:prstGeom prst="rect">
            <a:avLst/>
          </a:prstGeom>
          <a:solidFill>
            <a:schemeClr val="tx2"/>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Rectangle 66">
            <a:extLst>
              <a:ext uri="{FF2B5EF4-FFF2-40B4-BE49-F238E27FC236}">
                <a16:creationId xmlns:a16="http://schemas.microsoft.com/office/drawing/2014/main" id="{16C4B041-AC59-916C-DE5B-0C7996D1356E}"/>
              </a:ext>
            </a:extLst>
          </p:cNvPr>
          <p:cNvSpPr/>
          <p:nvPr/>
        </p:nvSpPr>
        <p:spPr>
          <a:xfrm>
            <a:off x="5955011" y="3016782"/>
            <a:ext cx="262658" cy="121186"/>
          </a:xfrm>
          <a:prstGeom prst="rect">
            <a:avLst/>
          </a:prstGeom>
          <a:solidFill>
            <a:schemeClr val="tx2"/>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Rectangle 67">
            <a:extLst>
              <a:ext uri="{FF2B5EF4-FFF2-40B4-BE49-F238E27FC236}">
                <a16:creationId xmlns:a16="http://schemas.microsoft.com/office/drawing/2014/main" id="{DF69BF61-9E28-D740-FA72-6EEB51F91790}"/>
              </a:ext>
            </a:extLst>
          </p:cNvPr>
          <p:cNvSpPr/>
          <p:nvPr/>
        </p:nvSpPr>
        <p:spPr>
          <a:xfrm>
            <a:off x="6217668" y="3218255"/>
            <a:ext cx="459191" cy="121186"/>
          </a:xfrm>
          <a:prstGeom prst="rect">
            <a:avLst/>
          </a:prstGeom>
          <a:solidFill>
            <a:schemeClr val="tx2"/>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Rectangle 68">
            <a:extLst>
              <a:ext uri="{FF2B5EF4-FFF2-40B4-BE49-F238E27FC236}">
                <a16:creationId xmlns:a16="http://schemas.microsoft.com/office/drawing/2014/main" id="{7474EEFA-21F7-EF19-8508-EEC94FF415D0}"/>
              </a:ext>
            </a:extLst>
          </p:cNvPr>
          <p:cNvSpPr/>
          <p:nvPr/>
        </p:nvSpPr>
        <p:spPr>
          <a:xfrm>
            <a:off x="6696773" y="3016782"/>
            <a:ext cx="262658" cy="121186"/>
          </a:xfrm>
          <a:prstGeom prst="rect">
            <a:avLst/>
          </a:prstGeom>
          <a:solidFill>
            <a:schemeClr val="tx2"/>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Rectangle 70">
            <a:extLst>
              <a:ext uri="{FF2B5EF4-FFF2-40B4-BE49-F238E27FC236}">
                <a16:creationId xmlns:a16="http://schemas.microsoft.com/office/drawing/2014/main" id="{121093B3-C860-5FEB-0308-DD8671CB6473}"/>
              </a:ext>
            </a:extLst>
          </p:cNvPr>
          <p:cNvSpPr/>
          <p:nvPr/>
        </p:nvSpPr>
        <p:spPr>
          <a:xfrm>
            <a:off x="6966628" y="3218255"/>
            <a:ext cx="500575" cy="121186"/>
          </a:xfrm>
          <a:prstGeom prst="rect">
            <a:avLst/>
          </a:prstGeom>
          <a:solidFill>
            <a:schemeClr val="tx2"/>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Rectangle 71">
            <a:extLst>
              <a:ext uri="{FF2B5EF4-FFF2-40B4-BE49-F238E27FC236}">
                <a16:creationId xmlns:a16="http://schemas.microsoft.com/office/drawing/2014/main" id="{F2D38B50-30C9-A2DD-F44C-6C3725554FFC}"/>
              </a:ext>
            </a:extLst>
          </p:cNvPr>
          <p:cNvSpPr/>
          <p:nvPr/>
        </p:nvSpPr>
        <p:spPr>
          <a:xfrm>
            <a:off x="7518945" y="3022804"/>
            <a:ext cx="262658" cy="121186"/>
          </a:xfrm>
          <a:prstGeom prst="rect">
            <a:avLst/>
          </a:prstGeom>
          <a:solidFill>
            <a:schemeClr val="tx2"/>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4" name="Straight Arrow Connector 73">
            <a:extLst>
              <a:ext uri="{FF2B5EF4-FFF2-40B4-BE49-F238E27FC236}">
                <a16:creationId xmlns:a16="http://schemas.microsoft.com/office/drawing/2014/main" id="{A85EC918-E8C8-1D28-41B5-1E3BF901CCF3}"/>
              </a:ext>
            </a:extLst>
          </p:cNvPr>
          <p:cNvCxnSpPr>
            <a:cxnSpLocks/>
          </p:cNvCxnSpPr>
          <p:nvPr/>
        </p:nvCxnSpPr>
        <p:spPr>
          <a:xfrm>
            <a:off x="1467696" y="2347527"/>
            <a:ext cx="0" cy="544401"/>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cxnSp>
        <p:nvCxnSpPr>
          <p:cNvPr id="76" name="Straight Arrow Connector 75">
            <a:extLst>
              <a:ext uri="{FF2B5EF4-FFF2-40B4-BE49-F238E27FC236}">
                <a16:creationId xmlns:a16="http://schemas.microsoft.com/office/drawing/2014/main" id="{3E3AEB0B-EF4D-8E60-D893-3D770E742EB4}"/>
              </a:ext>
            </a:extLst>
          </p:cNvPr>
          <p:cNvCxnSpPr>
            <a:cxnSpLocks/>
          </p:cNvCxnSpPr>
          <p:nvPr/>
        </p:nvCxnSpPr>
        <p:spPr>
          <a:xfrm>
            <a:off x="2276092" y="2347526"/>
            <a:ext cx="0" cy="544401"/>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cxnSp>
        <p:nvCxnSpPr>
          <p:cNvPr id="77" name="Straight Arrow Connector 76">
            <a:extLst>
              <a:ext uri="{FF2B5EF4-FFF2-40B4-BE49-F238E27FC236}">
                <a16:creationId xmlns:a16="http://schemas.microsoft.com/office/drawing/2014/main" id="{12439C48-FA0B-FA0C-8994-1C9C31705B6D}"/>
              </a:ext>
            </a:extLst>
          </p:cNvPr>
          <p:cNvCxnSpPr>
            <a:cxnSpLocks/>
          </p:cNvCxnSpPr>
          <p:nvPr/>
        </p:nvCxnSpPr>
        <p:spPr>
          <a:xfrm>
            <a:off x="3326787" y="2347526"/>
            <a:ext cx="0" cy="544401"/>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cxnSp>
        <p:nvCxnSpPr>
          <p:cNvPr id="78" name="Straight Arrow Connector 77">
            <a:extLst>
              <a:ext uri="{FF2B5EF4-FFF2-40B4-BE49-F238E27FC236}">
                <a16:creationId xmlns:a16="http://schemas.microsoft.com/office/drawing/2014/main" id="{2AB6AF80-56AB-CDCF-18B1-4F7577BDBC21}"/>
              </a:ext>
            </a:extLst>
          </p:cNvPr>
          <p:cNvCxnSpPr>
            <a:cxnSpLocks/>
          </p:cNvCxnSpPr>
          <p:nvPr/>
        </p:nvCxnSpPr>
        <p:spPr>
          <a:xfrm>
            <a:off x="4915631" y="2754217"/>
            <a:ext cx="0" cy="190959"/>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cxnSp>
        <p:nvCxnSpPr>
          <p:cNvPr id="81" name="Straight Arrow Connector 80">
            <a:extLst>
              <a:ext uri="{FF2B5EF4-FFF2-40B4-BE49-F238E27FC236}">
                <a16:creationId xmlns:a16="http://schemas.microsoft.com/office/drawing/2014/main" id="{1BB95BCD-063C-8675-06AD-2F5890499CFD}"/>
              </a:ext>
            </a:extLst>
          </p:cNvPr>
          <p:cNvCxnSpPr>
            <a:cxnSpLocks/>
          </p:cNvCxnSpPr>
          <p:nvPr/>
        </p:nvCxnSpPr>
        <p:spPr>
          <a:xfrm>
            <a:off x="5606062" y="2332386"/>
            <a:ext cx="0" cy="544401"/>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cxnSp>
        <p:nvCxnSpPr>
          <p:cNvPr id="82" name="Straight Arrow Connector 81">
            <a:extLst>
              <a:ext uri="{FF2B5EF4-FFF2-40B4-BE49-F238E27FC236}">
                <a16:creationId xmlns:a16="http://schemas.microsoft.com/office/drawing/2014/main" id="{3BCF5C0D-6F43-051A-EC6D-208CF610D4DB}"/>
              </a:ext>
            </a:extLst>
          </p:cNvPr>
          <p:cNvCxnSpPr>
            <a:cxnSpLocks/>
          </p:cNvCxnSpPr>
          <p:nvPr/>
        </p:nvCxnSpPr>
        <p:spPr>
          <a:xfrm>
            <a:off x="6086340" y="2332385"/>
            <a:ext cx="0" cy="544401"/>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cxnSp>
        <p:nvCxnSpPr>
          <p:cNvPr id="83" name="Straight Arrow Connector 82">
            <a:extLst>
              <a:ext uri="{FF2B5EF4-FFF2-40B4-BE49-F238E27FC236}">
                <a16:creationId xmlns:a16="http://schemas.microsoft.com/office/drawing/2014/main" id="{5D3BA083-5F65-1208-A881-DB343DF17A6A}"/>
              </a:ext>
            </a:extLst>
          </p:cNvPr>
          <p:cNvCxnSpPr>
            <a:cxnSpLocks/>
          </p:cNvCxnSpPr>
          <p:nvPr/>
        </p:nvCxnSpPr>
        <p:spPr>
          <a:xfrm>
            <a:off x="6447263" y="2347526"/>
            <a:ext cx="0" cy="729849"/>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cxnSp>
        <p:nvCxnSpPr>
          <p:cNvPr id="85" name="Straight Arrow Connector 84">
            <a:extLst>
              <a:ext uri="{FF2B5EF4-FFF2-40B4-BE49-F238E27FC236}">
                <a16:creationId xmlns:a16="http://schemas.microsoft.com/office/drawing/2014/main" id="{D0BF02E9-18DC-4BEA-A6EF-FF2E4F5E6252}"/>
              </a:ext>
            </a:extLst>
          </p:cNvPr>
          <p:cNvCxnSpPr>
            <a:cxnSpLocks/>
          </p:cNvCxnSpPr>
          <p:nvPr/>
        </p:nvCxnSpPr>
        <p:spPr>
          <a:xfrm>
            <a:off x="6828102" y="2362912"/>
            <a:ext cx="0" cy="544401"/>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cxnSp>
        <p:nvCxnSpPr>
          <p:cNvPr id="86" name="Straight Arrow Connector 85">
            <a:extLst>
              <a:ext uri="{FF2B5EF4-FFF2-40B4-BE49-F238E27FC236}">
                <a16:creationId xmlns:a16="http://schemas.microsoft.com/office/drawing/2014/main" id="{E56118ED-6603-6D09-22B4-4EC4C752AFBF}"/>
              </a:ext>
            </a:extLst>
          </p:cNvPr>
          <p:cNvCxnSpPr>
            <a:cxnSpLocks/>
          </p:cNvCxnSpPr>
          <p:nvPr/>
        </p:nvCxnSpPr>
        <p:spPr>
          <a:xfrm>
            <a:off x="7212023" y="2362913"/>
            <a:ext cx="4892" cy="714462"/>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cxnSp>
        <p:nvCxnSpPr>
          <p:cNvPr id="88" name="Straight Arrow Connector 87">
            <a:extLst>
              <a:ext uri="{FF2B5EF4-FFF2-40B4-BE49-F238E27FC236}">
                <a16:creationId xmlns:a16="http://schemas.microsoft.com/office/drawing/2014/main" id="{21B14CF4-3A12-50CC-A8F7-98F0161D1C57}"/>
              </a:ext>
            </a:extLst>
          </p:cNvPr>
          <p:cNvCxnSpPr>
            <a:cxnSpLocks/>
          </p:cNvCxnSpPr>
          <p:nvPr/>
        </p:nvCxnSpPr>
        <p:spPr>
          <a:xfrm>
            <a:off x="7650274" y="2362911"/>
            <a:ext cx="0" cy="544401"/>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sp>
        <p:nvSpPr>
          <p:cNvPr id="89" name="Text Placeholder 2">
            <a:extLst>
              <a:ext uri="{FF2B5EF4-FFF2-40B4-BE49-F238E27FC236}">
                <a16:creationId xmlns:a16="http://schemas.microsoft.com/office/drawing/2014/main" id="{A671F955-9022-C07A-FC17-51B57FC97B4B}"/>
              </a:ext>
            </a:extLst>
          </p:cNvPr>
          <p:cNvSpPr txBox="1">
            <a:spLocks/>
          </p:cNvSpPr>
          <p:nvPr/>
        </p:nvSpPr>
        <p:spPr>
          <a:xfrm>
            <a:off x="2744264" y="3400859"/>
            <a:ext cx="3655472" cy="40457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79400" algn="l" rtl="0">
              <a:lnSpc>
                <a:spcPct val="115000"/>
              </a:lnSpc>
              <a:spcBef>
                <a:spcPts val="0"/>
              </a:spcBef>
              <a:spcAft>
                <a:spcPts val="0"/>
              </a:spcAft>
              <a:buClr>
                <a:schemeClr val="dk1"/>
              </a:buClr>
              <a:buSzPts val="800"/>
              <a:buFont typeface="Hanken Grotesk"/>
              <a:buChar char="●"/>
              <a:defRPr sz="1400" b="0" i="0" u="none" strike="noStrike" cap="none">
                <a:solidFill>
                  <a:schemeClr val="dk1"/>
                </a:solidFill>
                <a:latin typeface="Hanken Grotesk"/>
                <a:ea typeface="Hanken Grotesk"/>
                <a:cs typeface="Hanken Grotesk"/>
                <a:sym typeface="Hanken Grotesk"/>
              </a:defRPr>
            </a:lvl1pPr>
            <a:lvl2pPr marL="914400" marR="0" lvl="1"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2pPr>
            <a:lvl3pPr marL="1371600" marR="0" lvl="2"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3pPr>
            <a:lvl4pPr marL="1828800" marR="0" lvl="3"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4pPr>
            <a:lvl5pPr marL="2286000" marR="0" lvl="4"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5pPr>
            <a:lvl6pPr marL="2743200" marR="0" lvl="5"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6pPr>
            <a:lvl7pPr marL="3200400" marR="0" lvl="6"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7pPr>
            <a:lvl8pPr marL="3657600" marR="0" lvl="7"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8pPr>
            <a:lvl9pPr marL="4114800" marR="0" lvl="8"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9pPr>
          </a:lstStyle>
          <a:p>
            <a:pPr marL="177800" indent="0" algn="ctr">
              <a:buFont typeface="Hanken Grotesk"/>
              <a:buNone/>
            </a:pPr>
            <a:r>
              <a:rPr lang="en-US" dirty="0"/>
              <a:t>Randomly sampled regions</a:t>
            </a:r>
          </a:p>
        </p:txBody>
      </p:sp>
      <p:cxnSp>
        <p:nvCxnSpPr>
          <p:cNvPr id="91" name="Straight Arrow Connector 90">
            <a:extLst>
              <a:ext uri="{FF2B5EF4-FFF2-40B4-BE49-F238E27FC236}">
                <a16:creationId xmlns:a16="http://schemas.microsoft.com/office/drawing/2014/main" id="{FD7657AB-EF8B-C680-693C-DA25995FA550}"/>
              </a:ext>
            </a:extLst>
          </p:cNvPr>
          <p:cNvCxnSpPr/>
          <p:nvPr/>
        </p:nvCxnSpPr>
        <p:spPr>
          <a:xfrm flipH="1">
            <a:off x="1330722" y="3603146"/>
            <a:ext cx="217815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92" name="Straight Arrow Connector 91">
            <a:extLst>
              <a:ext uri="{FF2B5EF4-FFF2-40B4-BE49-F238E27FC236}">
                <a16:creationId xmlns:a16="http://schemas.microsoft.com/office/drawing/2014/main" id="{91A10C26-198C-C6F3-D937-7204C703293C}"/>
              </a:ext>
            </a:extLst>
          </p:cNvPr>
          <p:cNvCxnSpPr>
            <a:cxnSpLocks/>
          </p:cNvCxnSpPr>
          <p:nvPr/>
        </p:nvCxnSpPr>
        <p:spPr>
          <a:xfrm>
            <a:off x="5818260" y="3603146"/>
            <a:ext cx="217815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 name="Oval 3">
            <a:extLst>
              <a:ext uri="{FF2B5EF4-FFF2-40B4-BE49-F238E27FC236}">
                <a16:creationId xmlns:a16="http://schemas.microsoft.com/office/drawing/2014/main" id="{3E4AD628-BBB7-CEB1-3FDE-37AFAF15AF34}"/>
              </a:ext>
            </a:extLst>
          </p:cNvPr>
          <p:cNvSpPr/>
          <p:nvPr/>
        </p:nvSpPr>
        <p:spPr>
          <a:xfrm>
            <a:off x="404634" y="1615492"/>
            <a:ext cx="456354" cy="404576"/>
          </a:xfrm>
          <a:prstGeom prst="ellipse">
            <a:avLst/>
          </a:prstGeom>
          <a:solidFill>
            <a:srgbClr val="F4E6AA"/>
          </a:solidFill>
          <a:ln>
            <a:solidFill>
              <a:srgbClr val="F4E6A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bg1">
                    <a:lumMod val="10000"/>
                  </a:schemeClr>
                </a:solidFill>
              </a:rPr>
              <a:t>1</a:t>
            </a:r>
          </a:p>
        </p:txBody>
      </p:sp>
    </p:spTree>
    <p:extLst>
      <p:ext uri="{BB962C8B-B14F-4D97-AF65-F5344CB8AC3E}">
        <p14:creationId xmlns:p14="http://schemas.microsoft.com/office/powerpoint/2010/main" val="87148337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3B484F-9583-0D6E-1396-966938E0266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C95D17-0674-AC2B-9461-7F8EDD3B41D6}"/>
              </a:ext>
            </a:extLst>
          </p:cNvPr>
          <p:cNvSpPr>
            <a:spLocks noGrp="1"/>
          </p:cNvSpPr>
          <p:nvPr>
            <p:ph type="title"/>
          </p:nvPr>
        </p:nvSpPr>
        <p:spPr>
          <a:xfrm>
            <a:off x="720000" y="312823"/>
            <a:ext cx="7704000" cy="572700"/>
          </a:xfrm>
        </p:spPr>
        <p:txBody>
          <a:bodyPr/>
          <a:lstStyle/>
          <a:p>
            <a:pPr algn="ctr"/>
            <a:r>
              <a:rPr lang="en-US" sz="2400" dirty="0"/>
              <a:t>We design benchmark four settings under increasing levels of confounders</a:t>
            </a:r>
          </a:p>
        </p:txBody>
      </p:sp>
      <p:sp>
        <p:nvSpPr>
          <p:cNvPr id="5" name="Rectangle 4">
            <a:extLst>
              <a:ext uri="{FF2B5EF4-FFF2-40B4-BE49-F238E27FC236}">
                <a16:creationId xmlns:a16="http://schemas.microsoft.com/office/drawing/2014/main" id="{B92199A8-D548-D22E-DFB6-AF42EE80977F}"/>
              </a:ext>
            </a:extLst>
          </p:cNvPr>
          <p:cNvSpPr/>
          <p:nvPr/>
        </p:nvSpPr>
        <p:spPr>
          <a:xfrm>
            <a:off x="1064732" y="2123901"/>
            <a:ext cx="7359267" cy="121186"/>
          </a:xfrm>
          <a:prstGeom prst="rect">
            <a:avLst/>
          </a:prstGeom>
          <a:solidFill>
            <a:srgbClr val="71DAFF"/>
          </a:solidFill>
          <a:ln>
            <a:solidFill>
              <a:srgbClr val="71DA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a:extLst>
              <a:ext uri="{FF2B5EF4-FFF2-40B4-BE49-F238E27FC236}">
                <a16:creationId xmlns:a16="http://schemas.microsoft.com/office/drawing/2014/main" id="{D1FF4E3D-485A-5D00-7D05-83B4030D5A17}"/>
              </a:ext>
            </a:extLst>
          </p:cNvPr>
          <p:cNvSpPr/>
          <p:nvPr/>
        </p:nvSpPr>
        <p:spPr>
          <a:xfrm>
            <a:off x="1350418" y="2123900"/>
            <a:ext cx="262658" cy="121186"/>
          </a:xfrm>
          <a:prstGeom prst="rect">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a:extLst>
              <a:ext uri="{FF2B5EF4-FFF2-40B4-BE49-F238E27FC236}">
                <a16:creationId xmlns:a16="http://schemas.microsoft.com/office/drawing/2014/main" id="{41FBA554-142C-7E96-53A5-5934160E1088}"/>
              </a:ext>
            </a:extLst>
          </p:cNvPr>
          <p:cNvSpPr/>
          <p:nvPr/>
        </p:nvSpPr>
        <p:spPr>
          <a:xfrm>
            <a:off x="5494430" y="2123901"/>
            <a:ext cx="262658" cy="121186"/>
          </a:xfrm>
          <a:prstGeom prst="rect">
            <a:avLst/>
          </a:prstGeom>
          <a:solidFill>
            <a:srgbClr val="FFFF00"/>
          </a:solid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5" name="Rectangle 44">
            <a:extLst>
              <a:ext uri="{FF2B5EF4-FFF2-40B4-BE49-F238E27FC236}">
                <a16:creationId xmlns:a16="http://schemas.microsoft.com/office/drawing/2014/main" id="{0E7899FB-EED0-3024-FFE1-12FD20896B94}"/>
              </a:ext>
            </a:extLst>
          </p:cNvPr>
          <p:cNvSpPr/>
          <p:nvPr/>
        </p:nvSpPr>
        <p:spPr>
          <a:xfrm>
            <a:off x="5974707" y="2123900"/>
            <a:ext cx="262659" cy="121186"/>
          </a:xfrm>
          <a:prstGeom prst="rect">
            <a:avLst/>
          </a:prstGeom>
          <a:solidFill>
            <a:srgbClr val="7030A0"/>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a:extLst>
              <a:ext uri="{FF2B5EF4-FFF2-40B4-BE49-F238E27FC236}">
                <a16:creationId xmlns:a16="http://schemas.microsoft.com/office/drawing/2014/main" id="{3DE172B0-1E3F-ACDB-EAE6-FD9222B8CCCF}"/>
              </a:ext>
            </a:extLst>
          </p:cNvPr>
          <p:cNvSpPr/>
          <p:nvPr/>
        </p:nvSpPr>
        <p:spPr>
          <a:xfrm>
            <a:off x="2164459" y="2123900"/>
            <a:ext cx="262658" cy="121186"/>
          </a:xfrm>
          <a:prstGeom prst="rect">
            <a:avLst/>
          </a:prstGeom>
          <a:solidFill>
            <a:srgbClr val="EDAEAE"/>
          </a:solidFill>
          <a:ln>
            <a:solidFill>
              <a:srgbClr val="EDAEA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Rectangle 49">
            <a:extLst>
              <a:ext uri="{FF2B5EF4-FFF2-40B4-BE49-F238E27FC236}">
                <a16:creationId xmlns:a16="http://schemas.microsoft.com/office/drawing/2014/main" id="{5EFB4D08-F9B7-12F4-A659-E9ED0F0C9E01}"/>
              </a:ext>
            </a:extLst>
          </p:cNvPr>
          <p:cNvSpPr/>
          <p:nvPr/>
        </p:nvSpPr>
        <p:spPr>
          <a:xfrm>
            <a:off x="2869640" y="2125921"/>
            <a:ext cx="963473" cy="119165"/>
          </a:xfrm>
          <a:prstGeom prst="rect">
            <a:avLst/>
          </a:prstGeom>
          <a:solidFill>
            <a:srgbClr val="002060"/>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ectangle 51">
            <a:extLst>
              <a:ext uri="{FF2B5EF4-FFF2-40B4-BE49-F238E27FC236}">
                <a16:creationId xmlns:a16="http://schemas.microsoft.com/office/drawing/2014/main" id="{124E9D03-89BD-AA6B-DA06-EC247AB2EFA7}"/>
              </a:ext>
            </a:extLst>
          </p:cNvPr>
          <p:cNvSpPr/>
          <p:nvPr/>
        </p:nvSpPr>
        <p:spPr>
          <a:xfrm>
            <a:off x="4772581" y="2123900"/>
            <a:ext cx="262658" cy="121186"/>
          </a:xfrm>
          <a:prstGeom prst="rect">
            <a:avLst/>
          </a:prstGeom>
          <a:solidFill>
            <a:srgbClr val="FFFF00"/>
          </a:solid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5" name="Rectangle 54">
            <a:extLst>
              <a:ext uri="{FF2B5EF4-FFF2-40B4-BE49-F238E27FC236}">
                <a16:creationId xmlns:a16="http://schemas.microsoft.com/office/drawing/2014/main" id="{2607C008-46EA-7376-E35C-7575B46B92A4}"/>
              </a:ext>
            </a:extLst>
          </p:cNvPr>
          <p:cNvSpPr/>
          <p:nvPr/>
        </p:nvSpPr>
        <p:spPr>
          <a:xfrm>
            <a:off x="6237365" y="2123900"/>
            <a:ext cx="459191" cy="121186"/>
          </a:xfrm>
          <a:prstGeom prst="rect">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Rectangle 55">
            <a:extLst>
              <a:ext uri="{FF2B5EF4-FFF2-40B4-BE49-F238E27FC236}">
                <a16:creationId xmlns:a16="http://schemas.microsoft.com/office/drawing/2014/main" id="{D697D753-8903-DDF7-7A5E-6732CD2D31F5}"/>
              </a:ext>
            </a:extLst>
          </p:cNvPr>
          <p:cNvSpPr/>
          <p:nvPr/>
        </p:nvSpPr>
        <p:spPr>
          <a:xfrm>
            <a:off x="6716468" y="2123900"/>
            <a:ext cx="263071" cy="121186"/>
          </a:xfrm>
          <a:prstGeom prst="rect">
            <a:avLst/>
          </a:prstGeom>
          <a:solidFill>
            <a:srgbClr val="92D050"/>
          </a:solidFill>
          <a:ln>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Rectangle 56">
            <a:extLst>
              <a:ext uri="{FF2B5EF4-FFF2-40B4-BE49-F238E27FC236}">
                <a16:creationId xmlns:a16="http://schemas.microsoft.com/office/drawing/2014/main" id="{632400BD-BCF7-E860-2960-3DDD52D6F042}"/>
              </a:ext>
            </a:extLst>
          </p:cNvPr>
          <p:cNvSpPr/>
          <p:nvPr/>
        </p:nvSpPr>
        <p:spPr>
          <a:xfrm>
            <a:off x="6979539" y="2123900"/>
            <a:ext cx="561506" cy="121186"/>
          </a:xfrm>
          <a:prstGeom prst="rect">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Rectangle 57">
            <a:extLst>
              <a:ext uri="{FF2B5EF4-FFF2-40B4-BE49-F238E27FC236}">
                <a16:creationId xmlns:a16="http://schemas.microsoft.com/office/drawing/2014/main" id="{579AAC2E-2D8E-E897-8F65-65B1126E0250}"/>
              </a:ext>
            </a:extLst>
          </p:cNvPr>
          <p:cNvSpPr/>
          <p:nvPr/>
        </p:nvSpPr>
        <p:spPr>
          <a:xfrm>
            <a:off x="7541457" y="2123900"/>
            <a:ext cx="262659" cy="121186"/>
          </a:xfrm>
          <a:prstGeom prst="rect">
            <a:avLst/>
          </a:prstGeom>
          <a:solidFill>
            <a:srgbClr val="E0CDEF"/>
          </a:solidFill>
          <a:ln>
            <a:solidFill>
              <a:srgbClr val="E0CDE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Oval 3">
            <a:extLst>
              <a:ext uri="{FF2B5EF4-FFF2-40B4-BE49-F238E27FC236}">
                <a16:creationId xmlns:a16="http://schemas.microsoft.com/office/drawing/2014/main" id="{87475C58-C8FC-4A87-6B25-BCFD6EB30541}"/>
              </a:ext>
            </a:extLst>
          </p:cNvPr>
          <p:cNvSpPr/>
          <p:nvPr/>
        </p:nvSpPr>
        <p:spPr>
          <a:xfrm>
            <a:off x="424330" y="1982205"/>
            <a:ext cx="456354" cy="404576"/>
          </a:xfrm>
          <a:prstGeom prst="ellipse">
            <a:avLst/>
          </a:prstGeom>
          <a:solidFill>
            <a:srgbClr val="F4E6AA"/>
          </a:solidFill>
          <a:ln>
            <a:solidFill>
              <a:srgbClr val="F4E6A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bg1">
                    <a:lumMod val="10000"/>
                  </a:schemeClr>
                </a:solidFill>
              </a:rPr>
              <a:t>2</a:t>
            </a:r>
          </a:p>
        </p:txBody>
      </p:sp>
      <p:sp>
        <p:nvSpPr>
          <p:cNvPr id="8" name="Arc 7">
            <a:extLst>
              <a:ext uri="{FF2B5EF4-FFF2-40B4-BE49-F238E27FC236}">
                <a16:creationId xmlns:a16="http://schemas.microsoft.com/office/drawing/2014/main" id="{6907457F-BD2E-02F3-CE0A-6D3781EE5297}"/>
              </a:ext>
            </a:extLst>
          </p:cNvPr>
          <p:cNvSpPr/>
          <p:nvPr/>
        </p:nvSpPr>
        <p:spPr>
          <a:xfrm rot="19131173">
            <a:off x="1088750" y="1838325"/>
            <a:ext cx="1447800" cy="1338263"/>
          </a:xfrm>
          <a:prstGeom prst="arc">
            <a:avLst/>
          </a:prstGeom>
          <a:ln w="28575">
            <a:headEnd type="arrow" w="med" len="med"/>
            <a:tailEnd type="arrow"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9" name="Arc 8">
            <a:extLst>
              <a:ext uri="{FF2B5EF4-FFF2-40B4-BE49-F238E27FC236}">
                <a16:creationId xmlns:a16="http://schemas.microsoft.com/office/drawing/2014/main" id="{73AB5E4D-E611-4445-8FAF-CFAE0C938B96}"/>
              </a:ext>
            </a:extLst>
          </p:cNvPr>
          <p:cNvSpPr/>
          <p:nvPr/>
        </p:nvSpPr>
        <p:spPr>
          <a:xfrm rot="19131173">
            <a:off x="2080666" y="1815521"/>
            <a:ext cx="1581508" cy="1478598"/>
          </a:xfrm>
          <a:prstGeom prst="arc">
            <a:avLst/>
          </a:prstGeom>
          <a:ln w="28575">
            <a:headEnd type="arrow" w="med" len="med"/>
            <a:tailEnd type="arrow"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10" name="Arc 9">
            <a:extLst>
              <a:ext uri="{FF2B5EF4-FFF2-40B4-BE49-F238E27FC236}">
                <a16:creationId xmlns:a16="http://schemas.microsoft.com/office/drawing/2014/main" id="{D4480CB8-C4D2-353C-A81D-18F2ABAB53E1}"/>
              </a:ext>
            </a:extLst>
          </p:cNvPr>
          <p:cNvSpPr/>
          <p:nvPr/>
        </p:nvSpPr>
        <p:spPr>
          <a:xfrm rot="19131173">
            <a:off x="3114457" y="1752754"/>
            <a:ext cx="2130322" cy="2043702"/>
          </a:xfrm>
          <a:prstGeom prst="arc">
            <a:avLst/>
          </a:prstGeom>
          <a:ln w="28575">
            <a:headEnd type="arrow" w="med" len="med"/>
            <a:tailEnd type="arrow"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11" name="Arc 10">
            <a:extLst>
              <a:ext uri="{FF2B5EF4-FFF2-40B4-BE49-F238E27FC236}">
                <a16:creationId xmlns:a16="http://schemas.microsoft.com/office/drawing/2014/main" id="{3839C02E-84A4-9005-5A7D-B9364416A741}"/>
              </a:ext>
            </a:extLst>
          </p:cNvPr>
          <p:cNvSpPr/>
          <p:nvPr/>
        </p:nvSpPr>
        <p:spPr>
          <a:xfrm rot="19131173">
            <a:off x="1177554" y="1752755"/>
            <a:ext cx="2130322" cy="2043702"/>
          </a:xfrm>
          <a:prstGeom prst="arc">
            <a:avLst/>
          </a:prstGeom>
          <a:ln w="28575">
            <a:headEnd type="arrow" w="med" len="med"/>
            <a:tailEnd type="arrow"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12" name="Arc 11">
            <a:extLst>
              <a:ext uri="{FF2B5EF4-FFF2-40B4-BE49-F238E27FC236}">
                <a16:creationId xmlns:a16="http://schemas.microsoft.com/office/drawing/2014/main" id="{B26F3C36-83EB-CE84-9D58-9BAE73854C2A}"/>
              </a:ext>
            </a:extLst>
          </p:cNvPr>
          <p:cNvSpPr/>
          <p:nvPr/>
        </p:nvSpPr>
        <p:spPr>
          <a:xfrm rot="19131173">
            <a:off x="5711454" y="1766867"/>
            <a:ext cx="2130322" cy="2043702"/>
          </a:xfrm>
          <a:prstGeom prst="arc">
            <a:avLst/>
          </a:prstGeom>
          <a:ln w="28575">
            <a:headEnd type="arrow" w="med" len="med"/>
            <a:tailEnd type="arrow"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13" name="Arc 12">
            <a:extLst>
              <a:ext uri="{FF2B5EF4-FFF2-40B4-BE49-F238E27FC236}">
                <a16:creationId xmlns:a16="http://schemas.microsoft.com/office/drawing/2014/main" id="{CF4E6F59-F85B-983D-0A4E-E337ECD53E5C}"/>
              </a:ext>
            </a:extLst>
          </p:cNvPr>
          <p:cNvSpPr/>
          <p:nvPr/>
        </p:nvSpPr>
        <p:spPr>
          <a:xfrm rot="19131173">
            <a:off x="2825031" y="1598751"/>
            <a:ext cx="4299112" cy="3817615"/>
          </a:xfrm>
          <a:prstGeom prst="arc">
            <a:avLst/>
          </a:prstGeom>
          <a:ln w="28575">
            <a:headEnd type="arrow" w="med" len="med"/>
            <a:tailEnd type="arrow"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14" name="Arc 13">
            <a:extLst>
              <a:ext uri="{FF2B5EF4-FFF2-40B4-BE49-F238E27FC236}">
                <a16:creationId xmlns:a16="http://schemas.microsoft.com/office/drawing/2014/main" id="{52BDA707-D0AE-527C-626B-2E0D7D5CCD2A}"/>
              </a:ext>
            </a:extLst>
          </p:cNvPr>
          <p:cNvSpPr/>
          <p:nvPr/>
        </p:nvSpPr>
        <p:spPr>
          <a:xfrm rot="19131173">
            <a:off x="4399396" y="1601864"/>
            <a:ext cx="3337161" cy="3195444"/>
          </a:xfrm>
          <a:prstGeom prst="arc">
            <a:avLst/>
          </a:prstGeom>
          <a:ln w="28575">
            <a:headEnd type="arrow" w="med" len="med"/>
            <a:tailEnd type="arrow"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15" name="Text Placeholder 2">
            <a:extLst>
              <a:ext uri="{FF2B5EF4-FFF2-40B4-BE49-F238E27FC236}">
                <a16:creationId xmlns:a16="http://schemas.microsoft.com/office/drawing/2014/main" id="{B49E5372-EB2E-6B12-4D7A-74D5B1C0A21F}"/>
              </a:ext>
            </a:extLst>
          </p:cNvPr>
          <p:cNvSpPr txBox="1">
            <a:spLocks/>
          </p:cNvSpPr>
          <p:nvPr/>
        </p:nvSpPr>
        <p:spPr>
          <a:xfrm>
            <a:off x="2469514" y="2418627"/>
            <a:ext cx="4610227" cy="40457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79400" algn="l" rtl="0">
              <a:lnSpc>
                <a:spcPct val="115000"/>
              </a:lnSpc>
              <a:spcBef>
                <a:spcPts val="0"/>
              </a:spcBef>
              <a:spcAft>
                <a:spcPts val="0"/>
              </a:spcAft>
              <a:buClr>
                <a:schemeClr val="dk1"/>
              </a:buClr>
              <a:buSzPts val="800"/>
              <a:buFont typeface="Hanken Grotesk"/>
              <a:buChar char="●"/>
              <a:defRPr sz="1400" b="0" i="0" u="none" strike="noStrike" cap="none">
                <a:solidFill>
                  <a:schemeClr val="dk1"/>
                </a:solidFill>
                <a:latin typeface="Hanken Grotesk"/>
                <a:ea typeface="Hanken Grotesk"/>
                <a:cs typeface="Hanken Grotesk"/>
                <a:sym typeface="Hanken Grotesk"/>
              </a:defRPr>
            </a:lvl1pPr>
            <a:lvl2pPr marL="914400" marR="0" lvl="1"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2pPr>
            <a:lvl3pPr marL="1371600" marR="0" lvl="2"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3pPr>
            <a:lvl4pPr marL="1828800" marR="0" lvl="3"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4pPr>
            <a:lvl5pPr marL="2286000" marR="0" lvl="4"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5pPr>
            <a:lvl6pPr marL="2743200" marR="0" lvl="5"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6pPr>
            <a:lvl7pPr marL="3200400" marR="0" lvl="6"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7pPr>
            <a:lvl8pPr marL="3657600" marR="0" lvl="7"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8pPr>
            <a:lvl9pPr marL="4114800" marR="0" lvl="8"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9pPr>
          </a:lstStyle>
          <a:p>
            <a:pPr marL="177800" indent="0" algn="ctr">
              <a:buFont typeface="Hanken Grotesk"/>
              <a:buNone/>
            </a:pPr>
            <a:r>
              <a:rPr lang="en-US" dirty="0"/>
              <a:t>Separating functional regions from each other</a:t>
            </a:r>
          </a:p>
        </p:txBody>
      </p:sp>
    </p:spTree>
    <p:extLst>
      <p:ext uri="{BB962C8B-B14F-4D97-AF65-F5344CB8AC3E}">
        <p14:creationId xmlns:p14="http://schemas.microsoft.com/office/powerpoint/2010/main" val="38765291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3511FB-1BCC-D8C0-2019-C8F72EA8B34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6ADD9E4-80E1-DEB9-4BB9-057441963E34}"/>
              </a:ext>
            </a:extLst>
          </p:cNvPr>
          <p:cNvSpPr>
            <a:spLocks noGrp="1"/>
          </p:cNvSpPr>
          <p:nvPr>
            <p:ph type="title"/>
          </p:nvPr>
        </p:nvSpPr>
        <p:spPr>
          <a:xfrm>
            <a:off x="720000" y="312823"/>
            <a:ext cx="7704000" cy="572700"/>
          </a:xfrm>
        </p:spPr>
        <p:txBody>
          <a:bodyPr/>
          <a:lstStyle/>
          <a:p>
            <a:pPr algn="ctr"/>
            <a:r>
              <a:rPr lang="en-US" sz="2400" dirty="0"/>
              <a:t>We design benchmark four settings under increasing levels of confounders</a:t>
            </a:r>
          </a:p>
        </p:txBody>
      </p:sp>
      <p:sp>
        <p:nvSpPr>
          <p:cNvPr id="5" name="Rectangle 4">
            <a:extLst>
              <a:ext uri="{FF2B5EF4-FFF2-40B4-BE49-F238E27FC236}">
                <a16:creationId xmlns:a16="http://schemas.microsoft.com/office/drawing/2014/main" id="{8A3C1A6D-F39F-E4AB-FBE8-A548A288A7BF}"/>
              </a:ext>
            </a:extLst>
          </p:cNvPr>
          <p:cNvSpPr/>
          <p:nvPr/>
        </p:nvSpPr>
        <p:spPr>
          <a:xfrm>
            <a:off x="1064732" y="2123901"/>
            <a:ext cx="7359267" cy="121186"/>
          </a:xfrm>
          <a:prstGeom prst="rect">
            <a:avLst/>
          </a:prstGeom>
          <a:solidFill>
            <a:srgbClr val="71DAFF"/>
          </a:solidFill>
          <a:ln>
            <a:solidFill>
              <a:srgbClr val="71DA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a:extLst>
              <a:ext uri="{FF2B5EF4-FFF2-40B4-BE49-F238E27FC236}">
                <a16:creationId xmlns:a16="http://schemas.microsoft.com/office/drawing/2014/main" id="{ECF4434D-9C6E-9A9B-9C50-3EA767D31216}"/>
              </a:ext>
            </a:extLst>
          </p:cNvPr>
          <p:cNvSpPr/>
          <p:nvPr/>
        </p:nvSpPr>
        <p:spPr>
          <a:xfrm>
            <a:off x="1350418" y="2123900"/>
            <a:ext cx="262658" cy="121186"/>
          </a:xfrm>
          <a:prstGeom prst="rect">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a:extLst>
              <a:ext uri="{FF2B5EF4-FFF2-40B4-BE49-F238E27FC236}">
                <a16:creationId xmlns:a16="http://schemas.microsoft.com/office/drawing/2014/main" id="{3699F4F0-EB54-E7C1-8C46-8C51F7AEC264}"/>
              </a:ext>
            </a:extLst>
          </p:cNvPr>
          <p:cNvSpPr/>
          <p:nvPr/>
        </p:nvSpPr>
        <p:spPr>
          <a:xfrm>
            <a:off x="5494430" y="2123901"/>
            <a:ext cx="262658" cy="121186"/>
          </a:xfrm>
          <a:prstGeom prst="rect">
            <a:avLst/>
          </a:prstGeom>
          <a:solidFill>
            <a:srgbClr val="FFFF00"/>
          </a:solid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5" name="Rectangle 44">
            <a:extLst>
              <a:ext uri="{FF2B5EF4-FFF2-40B4-BE49-F238E27FC236}">
                <a16:creationId xmlns:a16="http://schemas.microsoft.com/office/drawing/2014/main" id="{13300989-8CAA-BBFB-BD1A-0D7975E89868}"/>
              </a:ext>
            </a:extLst>
          </p:cNvPr>
          <p:cNvSpPr/>
          <p:nvPr/>
        </p:nvSpPr>
        <p:spPr>
          <a:xfrm>
            <a:off x="5974707" y="2123900"/>
            <a:ext cx="262659" cy="121186"/>
          </a:xfrm>
          <a:prstGeom prst="rect">
            <a:avLst/>
          </a:prstGeom>
          <a:solidFill>
            <a:srgbClr val="7030A0"/>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a:extLst>
              <a:ext uri="{FF2B5EF4-FFF2-40B4-BE49-F238E27FC236}">
                <a16:creationId xmlns:a16="http://schemas.microsoft.com/office/drawing/2014/main" id="{7F313C37-27E4-7BB6-0708-418CA5727B02}"/>
              </a:ext>
            </a:extLst>
          </p:cNvPr>
          <p:cNvSpPr/>
          <p:nvPr/>
        </p:nvSpPr>
        <p:spPr>
          <a:xfrm>
            <a:off x="2164459" y="2123900"/>
            <a:ext cx="262658" cy="121186"/>
          </a:xfrm>
          <a:prstGeom prst="rect">
            <a:avLst/>
          </a:prstGeom>
          <a:solidFill>
            <a:srgbClr val="EDAEAE"/>
          </a:solidFill>
          <a:ln>
            <a:solidFill>
              <a:srgbClr val="EDAEA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Rectangle 49">
            <a:extLst>
              <a:ext uri="{FF2B5EF4-FFF2-40B4-BE49-F238E27FC236}">
                <a16:creationId xmlns:a16="http://schemas.microsoft.com/office/drawing/2014/main" id="{A5777CD3-2366-671C-1E3D-A0933C875EC1}"/>
              </a:ext>
            </a:extLst>
          </p:cNvPr>
          <p:cNvSpPr/>
          <p:nvPr/>
        </p:nvSpPr>
        <p:spPr>
          <a:xfrm>
            <a:off x="2869640" y="2125921"/>
            <a:ext cx="963473" cy="119165"/>
          </a:xfrm>
          <a:prstGeom prst="rect">
            <a:avLst/>
          </a:prstGeom>
          <a:solidFill>
            <a:srgbClr val="002060"/>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ectangle 51">
            <a:extLst>
              <a:ext uri="{FF2B5EF4-FFF2-40B4-BE49-F238E27FC236}">
                <a16:creationId xmlns:a16="http://schemas.microsoft.com/office/drawing/2014/main" id="{FD179AC3-D39F-994A-880E-BAA236CC1381}"/>
              </a:ext>
            </a:extLst>
          </p:cNvPr>
          <p:cNvSpPr/>
          <p:nvPr/>
        </p:nvSpPr>
        <p:spPr>
          <a:xfrm>
            <a:off x="4772581" y="2123900"/>
            <a:ext cx="262658" cy="121186"/>
          </a:xfrm>
          <a:prstGeom prst="rect">
            <a:avLst/>
          </a:prstGeom>
          <a:solidFill>
            <a:srgbClr val="FFFF00"/>
          </a:solid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5" name="Rectangle 54">
            <a:extLst>
              <a:ext uri="{FF2B5EF4-FFF2-40B4-BE49-F238E27FC236}">
                <a16:creationId xmlns:a16="http://schemas.microsoft.com/office/drawing/2014/main" id="{B0F7FB89-1172-9266-034C-1E6518690CB8}"/>
              </a:ext>
            </a:extLst>
          </p:cNvPr>
          <p:cNvSpPr/>
          <p:nvPr/>
        </p:nvSpPr>
        <p:spPr>
          <a:xfrm>
            <a:off x="6237365" y="2123900"/>
            <a:ext cx="459191" cy="121186"/>
          </a:xfrm>
          <a:prstGeom prst="rect">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Rectangle 55">
            <a:extLst>
              <a:ext uri="{FF2B5EF4-FFF2-40B4-BE49-F238E27FC236}">
                <a16:creationId xmlns:a16="http://schemas.microsoft.com/office/drawing/2014/main" id="{B6B9AE36-2F3B-64CD-FA41-1DB4B96002A5}"/>
              </a:ext>
            </a:extLst>
          </p:cNvPr>
          <p:cNvSpPr/>
          <p:nvPr/>
        </p:nvSpPr>
        <p:spPr>
          <a:xfrm>
            <a:off x="6716468" y="2123900"/>
            <a:ext cx="263071" cy="121186"/>
          </a:xfrm>
          <a:prstGeom prst="rect">
            <a:avLst/>
          </a:prstGeom>
          <a:solidFill>
            <a:srgbClr val="92D050"/>
          </a:solidFill>
          <a:ln>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Rectangle 56">
            <a:extLst>
              <a:ext uri="{FF2B5EF4-FFF2-40B4-BE49-F238E27FC236}">
                <a16:creationId xmlns:a16="http://schemas.microsoft.com/office/drawing/2014/main" id="{279FD890-11E5-98AF-5E2E-5248F2FE1B09}"/>
              </a:ext>
            </a:extLst>
          </p:cNvPr>
          <p:cNvSpPr/>
          <p:nvPr/>
        </p:nvSpPr>
        <p:spPr>
          <a:xfrm>
            <a:off x="6979539" y="2123900"/>
            <a:ext cx="561506" cy="121186"/>
          </a:xfrm>
          <a:prstGeom prst="rect">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Rectangle 57">
            <a:extLst>
              <a:ext uri="{FF2B5EF4-FFF2-40B4-BE49-F238E27FC236}">
                <a16:creationId xmlns:a16="http://schemas.microsoft.com/office/drawing/2014/main" id="{D9CCE20E-1C6E-6050-ABEB-0B036BA7A787}"/>
              </a:ext>
            </a:extLst>
          </p:cNvPr>
          <p:cNvSpPr/>
          <p:nvPr/>
        </p:nvSpPr>
        <p:spPr>
          <a:xfrm>
            <a:off x="7541457" y="2123900"/>
            <a:ext cx="262659" cy="121186"/>
          </a:xfrm>
          <a:prstGeom prst="rect">
            <a:avLst/>
          </a:prstGeom>
          <a:solidFill>
            <a:srgbClr val="E0CDEF"/>
          </a:solidFill>
          <a:ln>
            <a:solidFill>
              <a:srgbClr val="E0CDE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Oval 3">
            <a:extLst>
              <a:ext uri="{FF2B5EF4-FFF2-40B4-BE49-F238E27FC236}">
                <a16:creationId xmlns:a16="http://schemas.microsoft.com/office/drawing/2014/main" id="{F6189AA4-9220-FC42-D3FC-9283B2CBE477}"/>
              </a:ext>
            </a:extLst>
          </p:cNvPr>
          <p:cNvSpPr/>
          <p:nvPr/>
        </p:nvSpPr>
        <p:spPr>
          <a:xfrm>
            <a:off x="424330" y="1982205"/>
            <a:ext cx="456354" cy="404576"/>
          </a:xfrm>
          <a:prstGeom prst="ellipse">
            <a:avLst/>
          </a:prstGeom>
          <a:solidFill>
            <a:srgbClr val="F4E6AA"/>
          </a:solidFill>
          <a:ln>
            <a:solidFill>
              <a:srgbClr val="F4E6A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bg1">
                    <a:lumMod val="10000"/>
                  </a:schemeClr>
                </a:solidFill>
              </a:rPr>
              <a:t>2</a:t>
            </a:r>
          </a:p>
        </p:txBody>
      </p:sp>
      <p:sp>
        <p:nvSpPr>
          <p:cNvPr id="8" name="Arc 7">
            <a:extLst>
              <a:ext uri="{FF2B5EF4-FFF2-40B4-BE49-F238E27FC236}">
                <a16:creationId xmlns:a16="http://schemas.microsoft.com/office/drawing/2014/main" id="{46E1CA2B-8B62-4C69-94E9-E674C4F39BFA}"/>
              </a:ext>
            </a:extLst>
          </p:cNvPr>
          <p:cNvSpPr/>
          <p:nvPr/>
        </p:nvSpPr>
        <p:spPr>
          <a:xfrm rot="19131173">
            <a:off x="1088750" y="1838325"/>
            <a:ext cx="1447800" cy="1338263"/>
          </a:xfrm>
          <a:prstGeom prst="arc">
            <a:avLst/>
          </a:prstGeom>
          <a:ln w="28575">
            <a:headEnd type="arrow" w="med" len="med"/>
            <a:tailEnd type="arrow"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9" name="Arc 8">
            <a:extLst>
              <a:ext uri="{FF2B5EF4-FFF2-40B4-BE49-F238E27FC236}">
                <a16:creationId xmlns:a16="http://schemas.microsoft.com/office/drawing/2014/main" id="{0AB26BBC-7B55-C1C7-D8F6-29EDD270F3B0}"/>
              </a:ext>
            </a:extLst>
          </p:cNvPr>
          <p:cNvSpPr/>
          <p:nvPr/>
        </p:nvSpPr>
        <p:spPr>
          <a:xfrm rot="19131173">
            <a:off x="2080666" y="1815521"/>
            <a:ext cx="1581508" cy="1478598"/>
          </a:xfrm>
          <a:prstGeom prst="arc">
            <a:avLst/>
          </a:prstGeom>
          <a:ln w="28575">
            <a:headEnd type="arrow" w="med" len="med"/>
            <a:tailEnd type="arrow"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10" name="Arc 9">
            <a:extLst>
              <a:ext uri="{FF2B5EF4-FFF2-40B4-BE49-F238E27FC236}">
                <a16:creationId xmlns:a16="http://schemas.microsoft.com/office/drawing/2014/main" id="{20E40B70-B022-39E6-2C5D-C60858CEF808}"/>
              </a:ext>
            </a:extLst>
          </p:cNvPr>
          <p:cNvSpPr/>
          <p:nvPr/>
        </p:nvSpPr>
        <p:spPr>
          <a:xfrm rot="19131173">
            <a:off x="3114457" y="1752754"/>
            <a:ext cx="2130322" cy="2043702"/>
          </a:xfrm>
          <a:prstGeom prst="arc">
            <a:avLst/>
          </a:prstGeom>
          <a:ln w="28575">
            <a:headEnd type="arrow" w="med" len="med"/>
            <a:tailEnd type="arrow"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11" name="Arc 10">
            <a:extLst>
              <a:ext uri="{FF2B5EF4-FFF2-40B4-BE49-F238E27FC236}">
                <a16:creationId xmlns:a16="http://schemas.microsoft.com/office/drawing/2014/main" id="{17FF5C6A-D2F1-F197-05B2-12771CC09A7C}"/>
              </a:ext>
            </a:extLst>
          </p:cNvPr>
          <p:cNvSpPr/>
          <p:nvPr/>
        </p:nvSpPr>
        <p:spPr>
          <a:xfrm rot="19131173">
            <a:off x="1177554" y="1752755"/>
            <a:ext cx="2130322" cy="2043702"/>
          </a:xfrm>
          <a:prstGeom prst="arc">
            <a:avLst/>
          </a:prstGeom>
          <a:ln w="28575">
            <a:headEnd type="arrow" w="med" len="med"/>
            <a:tailEnd type="arrow"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12" name="Arc 11">
            <a:extLst>
              <a:ext uri="{FF2B5EF4-FFF2-40B4-BE49-F238E27FC236}">
                <a16:creationId xmlns:a16="http://schemas.microsoft.com/office/drawing/2014/main" id="{3D071E34-42A3-25D9-E630-37F81B38C366}"/>
              </a:ext>
            </a:extLst>
          </p:cNvPr>
          <p:cNvSpPr/>
          <p:nvPr/>
        </p:nvSpPr>
        <p:spPr>
          <a:xfrm rot="19131173">
            <a:off x="5711454" y="1766867"/>
            <a:ext cx="2130322" cy="2043702"/>
          </a:xfrm>
          <a:prstGeom prst="arc">
            <a:avLst/>
          </a:prstGeom>
          <a:ln w="28575">
            <a:headEnd type="arrow" w="med" len="med"/>
            <a:tailEnd type="arrow"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13" name="Arc 12">
            <a:extLst>
              <a:ext uri="{FF2B5EF4-FFF2-40B4-BE49-F238E27FC236}">
                <a16:creationId xmlns:a16="http://schemas.microsoft.com/office/drawing/2014/main" id="{BA9E7032-E836-E1DE-244F-2082FA4D7296}"/>
              </a:ext>
            </a:extLst>
          </p:cNvPr>
          <p:cNvSpPr/>
          <p:nvPr/>
        </p:nvSpPr>
        <p:spPr>
          <a:xfrm rot="19131173">
            <a:off x="2825031" y="1598751"/>
            <a:ext cx="4299112" cy="3817615"/>
          </a:xfrm>
          <a:prstGeom prst="arc">
            <a:avLst/>
          </a:prstGeom>
          <a:ln w="28575">
            <a:headEnd type="arrow" w="med" len="med"/>
            <a:tailEnd type="arrow"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14" name="Arc 13">
            <a:extLst>
              <a:ext uri="{FF2B5EF4-FFF2-40B4-BE49-F238E27FC236}">
                <a16:creationId xmlns:a16="http://schemas.microsoft.com/office/drawing/2014/main" id="{C2C7ABD2-9B7A-7B65-324F-39A8C7D9FD9A}"/>
              </a:ext>
            </a:extLst>
          </p:cNvPr>
          <p:cNvSpPr/>
          <p:nvPr/>
        </p:nvSpPr>
        <p:spPr>
          <a:xfrm rot="19131173">
            <a:off x="4399396" y="1601864"/>
            <a:ext cx="3337161" cy="3195444"/>
          </a:xfrm>
          <a:prstGeom prst="arc">
            <a:avLst/>
          </a:prstGeom>
          <a:ln w="28575">
            <a:headEnd type="arrow" w="med" len="med"/>
            <a:tailEnd type="arrow"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15" name="Text Placeholder 2">
            <a:extLst>
              <a:ext uri="{FF2B5EF4-FFF2-40B4-BE49-F238E27FC236}">
                <a16:creationId xmlns:a16="http://schemas.microsoft.com/office/drawing/2014/main" id="{5875D044-9BAD-9EEA-4353-44D17F879B73}"/>
              </a:ext>
            </a:extLst>
          </p:cNvPr>
          <p:cNvSpPr txBox="1">
            <a:spLocks/>
          </p:cNvSpPr>
          <p:nvPr/>
        </p:nvSpPr>
        <p:spPr>
          <a:xfrm>
            <a:off x="2469514" y="2418627"/>
            <a:ext cx="4610227" cy="40457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79400" algn="l" rtl="0">
              <a:lnSpc>
                <a:spcPct val="115000"/>
              </a:lnSpc>
              <a:spcBef>
                <a:spcPts val="0"/>
              </a:spcBef>
              <a:spcAft>
                <a:spcPts val="0"/>
              </a:spcAft>
              <a:buClr>
                <a:schemeClr val="dk1"/>
              </a:buClr>
              <a:buSzPts val="800"/>
              <a:buFont typeface="Hanken Grotesk"/>
              <a:buChar char="●"/>
              <a:defRPr sz="1400" b="0" i="0" u="none" strike="noStrike" cap="none">
                <a:solidFill>
                  <a:schemeClr val="dk1"/>
                </a:solidFill>
                <a:latin typeface="Hanken Grotesk"/>
                <a:ea typeface="Hanken Grotesk"/>
                <a:cs typeface="Hanken Grotesk"/>
                <a:sym typeface="Hanken Grotesk"/>
              </a:defRPr>
            </a:lvl1pPr>
            <a:lvl2pPr marL="914400" marR="0" lvl="1"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2pPr>
            <a:lvl3pPr marL="1371600" marR="0" lvl="2"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3pPr>
            <a:lvl4pPr marL="1828800" marR="0" lvl="3"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4pPr>
            <a:lvl5pPr marL="2286000" marR="0" lvl="4"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5pPr>
            <a:lvl6pPr marL="2743200" marR="0" lvl="5"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6pPr>
            <a:lvl7pPr marL="3200400" marR="0" lvl="6"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7pPr>
            <a:lvl8pPr marL="3657600" marR="0" lvl="7"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8pPr>
            <a:lvl9pPr marL="4114800" marR="0" lvl="8"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9pPr>
          </a:lstStyle>
          <a:p>
            <a:pPr marL="177800" indent="0" algn="ctr">
              <a:buFont typeface="Hanken Grotesk"/>
              <a:buNone/>
            </a:pPr>
            <a:r>
              <a:rPr lang="en-US" dirty="0"/>
              <a:t>Separating functional regions from each other</a:t>
            </a:r>
          </a:p>
        </p:txBody>
      </p:sp>
      <p:sp>
        <p:nvSpPr>
          <p:cNvPr id="51" name="Rectangle 50">
            <a:extLst>
              <a:ext uri="{FF2B5EF4-FFF2-40B4-BE49-F238E27FC236}">
                <a16:creationId xmlns:a16="http://schemas.microsoft.com/office/drawing/2014/main" id="{7C6342FC-2062-3FC8-6401-5A9EE64B9A10}"/>
              </a:ext>
            </a:extLst>
          </p:cNvPr>
          <p:cNvSpPr/>
          <p:nvPr/>
        </p:nvSpPr>
        <p:spPr>
          <a:xfrm>
            <a:off x="1016481" y="3713200"/>
            <a:ext cx="7359267" cy="121186"/>
          </a:xfrm>
          <a:prstGeom prst="rect">
            <a:avLst/>
          </a:prstGeom>
          <a:solidFill>
            <a:srgbClr val="71DAFF"/>
          </a:solidFill>
          <a:ln>
            <a:solidFill>
              <a:srgbClr val="71DA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Rectangle 52">
            <a:extLst>
              <a:ext uri="{FF2B5EF4-FFF2-40B4-BE49-F238E27FC236}">
                <a16:creationId xmlns:a16="http://schemas.microsoft.com/office/drawing/2014/main" id="{DC403AF4-8F65-D786-ED95-5C3372831A5D}"/>
              </a:ext>
            </a:extLst>
          </p:cNvPr>
          <p:cNvSpPr/>
          <p:nvPr/>
        </p:nvSpPr>
        <p:spPr>
          <a:xfrm>
            <a:off x="1302167" y="3713199"/>
            <a:ext cx="262658" cy="121186"/>
          </a:xfrm>
          <a:prstGeom prst="rect">
            <a:avLst/>
          </a:prstGeom>
          <a:noFill/>
          <a:ln>
            <a:solidFill>
              <a:srgbClr val="C0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Rectangle 53">
            <a:extLst>
              <a:ext uri="{FF2B5EF4-FFF2-40B4-BE49-F238E27FC236}">
                <a16:creationId xmlns:a16="http://schemas.microsoft.com/office/drawing/2014/main" id="{793513B1-0560-5E68-93F4-6DBC1A62395D}"/>
              </a:ext>
            </a:extLst>
          </p:cNvPr>
          <p:cNvSpPr/>
          <p:nvPr/>
        </p:nvSpPr>
        <p:spPr>
          <a:xfrm>
            <a:off x="5446179" y="3713200"/>
            <a:ext cx="262658" cy="121186"/>
          </a:xfrm>
          <a:prstGeom prst="rect">
            <a:avLst/>
          </a:prstGeom>
          <a:noFill/>
          <a:ln>
            <a:solidFill>
              <a:srgbClr val="FFFF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9" name="Rectangle 58">
            <a:extLst>
              <a:ext uri="{FF2B5EF4-FFF2-40B4-BE49-F238E27FC236}">
                <a16:creationId xmlns:a16="http://schemas.microsoft.com/office/drawing/2014/main" id="{303B9630-94E7-1174-6C42-80B9A33BE781}"/>
              </a:ext>
            </a:extLst>
          </p:cNvPr>
          <p:cNvSpPr/>
          <p:nvPr/>
        </p:nvSpPr>
        <p:spPr>
          <a:xfrm>
            <a:off x="5926456" y="3713199"/>
            <a:ext cx="236341" cy="121186"/>
          </a:xfrm>
          <a:prstGeom prst="rect">
            <a:avLst/>
          </a:prstGeom>
          <a:noFill/>
          <a:ln>
            <a:solidFill>
              <a:srgbClr val="7030A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Rectangle 59">
            <a:extLst>
              <a:ext uri="{FF2B5EF4-FFF2-40B4-BE49-F238E27FC236}">
                <a16:creationId xmlns:a16="http://schemas.microsoft.com/office/drawing/2014/main" id="{55894F46-97C8-E723-6E84-EA35406D3061}"/>
              </a:ext>
            </a:extLst>
          </p:cNvPr>
          <p:cNvSpPr/>
          <p:nvPr/>
        </p:nvSpPr>
        <p:spPr>
          <a:xfrm>
            <a:off x="2116208" y="3713199"/>
            <a:ext cx="262658" cy="121186"/>
          </a:xfrm>
          <a:prstGeom prst="rect">
            <a:avLst/>
          </a:prstGeom>
          <a:noFill/>
          <a:ln>
            <a:solidFill>
              <a:srgbClr val="EDAEAE"/>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Rectangle 60">
            <a:extLst>
              <a:ext uri="{FF2B5EF4-FFF2-40B4-BE49-F238E27FC236}">
                <a16:creationId xmlns:a16="http://schemas.microsoft.com/office/drawing/2014/main" id="{91BA3E0B-DD00-1C12-CDD8-AE2C3B592802}"/>
              </a:ext>
            </a:extLst>
          </p:cNvPr>
          <p:cNvSpPr/>
          <p:nvPr/>
        </p:nvSpPr>
        <p:spPr>
          <a:xfrm>
            <a:off x="2821389" y="3715220"/>
            <a:ext cx="963473" cy="119165"/>
          </a:xfrm>
          <a:prstGeom prst="rect">
            <a:avLst/>
          </a:prstGeom>
          <a:noFill/>
          <a:ln>
            <a:solidFill>
              <a:srgbClr val="00206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noFill/>
            </a:endParaRPr>
          </a:p>
        </p:txBody>
      </p:sp>
      <p:sp>
        <p:nvSpPr>
          <p:cNvPr id="62" name="Rectangle 61">
            <a:extLst>
              <a:ext uri="{FF2B5EF4-FFF2-40B4-BE49-F238E27FC236}">
                <a16:creationId xmlns:a16="http://schemas.microsoft.com/office/drawing/2014/main" id="{55111167-EEC8-592E-7855-8F50AA3777E6}"/>
              </a:ext>
            </a:extLst>
          </p:cNvPr>
          <p:cNvSpPr/>
          <p:nvPr/>
        </p:nvSpPr>
        <p:spPr>
          <a:xfrm>
            <a:off x="4724330" y="3713199"/>
            <a:ext cx="262658" cy="121186"/>
          </a:xfrm>
          <a:prstGeom prst="rect">
            <a:avLst/>
          </a:prstGeom>
          <a:noFill/>
          <a:ln>
            <a:solidFill>
              <a:srgbClr val="FFFF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3" name="Rectangle 62">
            <a:extLst>
              <a:ext uri="{FF2B5EF4-FFF2-40B4-BE49-F238E27FC236}">
                <a16:creationId xmlns:a16="http://schemas.microsoft.com/office/drawing/2014/main" id="{E2679831-AC59-C548-2C7F-4B82FAED2264}"/>
              </a:ext>
            </a:extLst>
          </p:cNvPr>
          <p:cNvSpPr/>
          <p:nvPr/>
        </p:nvSpPr>
        <p:spPr>
          <a:xfrm>
            <a:off x="6189114" y="3713199"/>
            <a:ext cx="459191" cy="121186"/>
          </a:xfrm>
          <a:prstGeom prst="rect">
            <a:avLst/>
          </a:prstGeom>
          <a:noFill/>
          <a:ln>
            <a:solidFill>
              <a:srgbClr val="00B05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Rectangle 63">
            <a:extLst>
              <a:ext uri="{FF2B5EF4-FFF2-40B4-BE49-F238E27FC236}">
                <a16:creationId xmlns:a16="http://schemas.microsoft.com/office/drawing/2014/main" id="{F8E4A0DA-6E21-AB69-1772-8F83CE937E20}"/>
              </a:ext>
            </a:extLst>
          </p:cNvPr>
          <p:cNvSpPr/>
          <p:nvPr/>
        </p:nvSpPr>
        <p:spPr>
          <a:xfrm>
            <a:off x="6674622" y="3713199"/>
            <a:ext cx="240596" cy="121186"/>
          </a:xfrm>
          <a:prstGeom prst="rect">
            <a:avLst/>
          </a:prstGeom>
          <a:noFill/>
          <a:ln>
            <a:solidFill>
              <a:srgbClr val="92D05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Rectangle 65">
            <a:extLst>
              <a:ext uri="{FF2B5EF4-FFF2-40B4-BE49-F238E27FC236}">
                <a16:creationId xmlns:a16="http://schemas.microsoft.com/office/drawing/2014/main" id="{98C8D18D-CDF5-7B60-5062-5ECCD6AB6F45}"/>
              </a:ext>
            </a:extLst>
          </p:cNvPr>
          <p:cNvSpPr/>
          <p:nvPr/>
        </p:nvSpPr>
        <p:spPr>
          <a:xfrm>
            <a:off x="7516540" y="3713199"/>
            <a:ext cx="239325" cy="121186"/>
          </a:xfrm>
          <a:prstGeom prst="rect">
            <a:avLst/>
          </a:prstGeom>
          <a:noFill/>
          <a:ln>
            <a:solidFill>
              <a:srgbClr val="E0CDEF"/>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Oval 66">
            <a:extLst>
              <a:ext uri="{FF2B5EF4-FFF2-40B4-BE49-F238E27FC236}">
                <a16:creationId xmlns:a16="http://schemas.microsoft.com/office/drawing/2014/main" id="{403F0E06-3DDB-E51F-8F71-FA925620DDDB}"/>
              </a:ext>
            </a:extLst>
          </p:cNvPr>
          <p:cNvSpPr/>
          <p:nvPr/>
        </p:nvSpPr>
        <p:spPr>
          <a:xfrm>
            <a:off x="376079" y="3571504"/>
            <a:ext cx="456354" cy="404576"/>
          </a:xfrm>
          <a:prstGeom prst="ellipse">
            <a:avLst/>
          </a:prstGeom>
          <a:solidFill>
            <a:srgbClr val="F4E6AA"/>
          </a:solidFill>
          <a:ln>
            <a:solidFill>
              <a:srgbClr val="F4E6A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bg1">
                    <a:lumMod val="10000"/>
                  </a:schemeClr>
                </a:solidFill>
              </a:rPr>
              <a:t>3</a:t>
            </a:r>
          </a:p>
        </p:txBody>
      </p:sp>
      <p:sp>
        <p:nvSpPr>
          <p:cNvPr id="68" name="Arc 67">
            <a:extLst>
              <a:ext uri="{FF2B5EF4-FFF2-40B4-BE49-F238E27FC236}">
                <a16:creationId xmlns:a16="http://schemas.microsoft.com/office/drawing/2014/main" id="{1C2CACDB-DFAD-086F-9358-5B96664BEDDC}"/>
              </a:ext>
            </a:extLst>
          </p:cNvPr>
          <p:cNvSpPr/>
          <p:nvPr/>
        </p:nvSpPr>
        <p:spPr>
          <a:xfrm rot="19131173">
            <a:off x="1040499" y="3427624"/>
            <a:ext cx="1447800" cy="1338263"/>
          </a:xfrm>
          <a:prstGeom prst="arc">
            <a:avLst/>
          </a:prstGeom>
          <a:ln w="28575">
            <a:headEnd type="arrow" w="med" len="med"/>
            <a:tailEnd type="arrow"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69" name="Arc 68">
            <a:extLst>
              <a:ext uri="{FF2B5EF4-FFF2-40B4-BE49-F238E27FC236}">
                <a16:creationId xmlns:a16="http://schemas.microsoft.com/office/drawing/2014/main" id="{4730531C-F713-27CF-2A3A-5BB739EE8953}"/>
              </a:ext>
            </a:extLst>
          </p:cNvPr>
          <p:cNvSpPr/>
          <p:nvPr/>
        </p:nvSpPr>
        <p:spPr>
          <a:xfrm rot="19131173">
            <a:off x="2032415" y="3404820"/>
            <a:ext cx="1581508" cy="1478598"/>
          </a:xfrm>
          <a:prstGeom prst="arc">
            <a:avLst/>
          </a:prstGeom>
          <a:ln w="28575">
            <a:headEnd type="arrow" w="med" len="med"/>
            <a:tailEnd type="arrow"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70" name="Arc 69">
            <a:extLst>
              <a:ext uri="{FF2B5EF4-FFF2-40B4-BE49-F238E27FC236}">
                <a16:creationId xmlns:a16="http://schemas.microsoft.com/office/drawing/2014/main" id="{D9E69899-5BBE-9526-B853-5EAB7F14D524}"/>
              </a:ext>
            </a:extLst>
          </p:cNvPr>
          <p:cNvSpPr/>
          <p:nvPr/>
        </p:nvSpPr>
        <p:spPr>
          <a:xfrm rot="19131173">
            <a:off x="3066206" y="3342053"/>
            <a:ext cx="2130322" cy="2043702"/>
          </a:xfrm>
          <a:prstGeom prst="arc">
            <a:avLst/>
          </a:prstGeom>
          <a:ln w="28575">
            <a:headEnd type="arrow" w="med" len="med"/>
            <a:tailEnd type="arrow"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71" name="Arc 70">
            <a:extLst>
              <a:ext uri="{FF2B5EF4-FFF2-40B4-BE49-F238E27FC236}">
                <a16:creationId xmlns:a16="http://schemas.microsoft.com/office/drawing/2014/main" id="{0CDC2F00-75B6-2D3B-ED5F-E61816FCE75D}"/>
              </a:ext>
            </a:extLst>
          </p:cNvPr>
          <p:cNvSpPr/>
          <p:nvPr/>
        </p:nvSpPr>
        <p:spPr>
          <a:xfrm rot="19131173">
            <a:off x="1129303" y="3342054"/>
            <a:ext cx="2130322" cy="2043702"/>
          </a:xfrm>
          <a:prstGeom prst="arc">
            <a:avLst/>
          </a:prstGeom>
          <a:ln w="28575">
            <a:headEnd type="arrow" w="med" len="med"/>
            <a:tailEnd type="arrow"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72" name="Arc 71">
            <a:extLst>
              <a:ext uri="{FF2B5EF4-FFF2-40B4-BE49-F238E27FC236}">
                <a16:creationId xmlns:a16="http://schemas.microsoft.com/office/drawing/2014/main" id="{294825A5-61A6-3DEE-0F0F-12CBCEE11728}"/>
              </a:ext>
            </a:extLst>
          </p:cNvPr>
          <p:cNvSpPr/>
          <p:nvPr/>
        </p:nvSpPr>
        <p:spPr>
          <a:xfrm rot="19131173">
            <a:off x="5663203" y="3356166"/>
            <a:ext cx="2130322" cy="2043702"/>
          </a:xfrm>
          <a:prstGeom prst="arc">
            <a:avLst/>
          </a:prstGeom>
          <a:ln w="28575">
            <a:headEnd type="arrow" w="med" len="med"/>
            <a:tailEnd type="arrow"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73" name="Arc 72">
            <a:extLst>
              <a:ext uri="{FF2B5EF4-FFF2-40B4-BE49-F238E27FC236}">
                <a16:creationId xmlns:a16="http://schemas.microsoft.com/office/drawing/2014/main" id="{4489906E-70D0-91F7-93E1-5939BBFF4830}"/>
              </a:ext>
            </a:extLst>
          </p:cNvPr>
          <p:cNvSpPr/>
          <p:nvPr/>
        </p:nvSpPr>
        <p:spPr>
          <a:xfrm rot="19131173">
            <a:off x="2776780" y="3188050"/>
            <a:ext cx="4299112" cy="3817615"/>
          </a:xfrm>
          <a:prstGeom prst="arc">
            <a:avLst/>
          </a:prstGeom>
          <a:ln w="28575">
            <a:headEnd type="arrow" w="med" len="med"/>
            <a:tailEnd type="arrow"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74" name="Arc 73">
            <a:extLst>
              <a:ext uri="{FF2B5EF4-FFF2-40B4-BE49-F238E27FC236}">
                <a16:creationId xmlns:a16="http://schemas.microsoft.com/office/drawing/2014/main" id="{92B9F4BD-CBB3-D567-4DE4-E8A591397FEC}"/>
              </a:ext>
            </a:extLst>
          </p:cNvPr>
          <p:cNvSpPr/>
          <p:nvPr/>
        </p:nvSpPr>
        <p:spPr>
          <a:xfrm rot="19131173">
            <a:off x="4351145" y="3191163"/>
            <a:ext cx="3337161" cy="3195444"/>
          </a:xfrm>
          <a:prstGeom prst="arc">
            <a:avLst/>
          </a:prstGeom>
          <a:ln w="28575">
            <a:headEnd type="arrow" w="med" len="med"/>
            <a:tailEnd type="arrow"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75" name="Text Placeholder 2">
            <a:extLst>
              <a:ext uri="{FF2B5EF4-FFF2-40B4-BE49-F238E27FC236}">
                <a16:creationId xmlns:a16="http://schemas.microsoft.com/office/drawing/2014/main" id="{9B0E410E-DA86-71A0-DA70-F70F71F5D016}"/>
              </a:ext>
            </a:extLst>
          </p:cNvPr>
          <p:cNvSpPr txBox="1">
            <a:spLocks/>
          </p:cNvSpPr>
          <p:nvPr/>
        </p:nvSpPr>
        <p:spPr>
          <a:xfrm>
            <a:off x="1849993" y="4042666"/>
            <a:ext cx="6025802" cy="40457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79400" algn="l" rtl="0">
              <a:lnSpc>
                <a:spcPct val="115000"/>
              </a:lnSpc>
              <a:spcBef>
                <a:spcPts val="0"/>
              </a:spcBef>
              <a:spcAft>
                <a:spcPts val="0"/>
              </a:spcAft>
              <a:buClr>
                <a:schemeClr val="dk1"/>
              </a:buClr>
              <a:buSzPts val="800"/>
              <a:buFont typeface="Hanken Grotesk"/>
              <a:buChar char="●"/>
              <a:defRPr sz="1400" b="0" i="0" u="none" strike="noStrike" cap="none">
                <a:solidFill>
                  <a:schemeClr val="dk1"/>
                </a:solidFill>
                <a:latin typeface="Hanken Grotesk"/>
                <a:ea typeface="Hanken Grotesk"/>
                <a:cs typeface="Hanken Grotesk"/>
                <a:sym typeface="Hanken Grotesk"/>
              </a:defRPr>
            </a:lvl1pPr>
            <a:lvl2pPr marL="914400" marR="0" lvl="1"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2pPr>
            <a:lvl3pPr marL="1371600" marR="0" lvl="2"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3pPr>
            <a:lvl4pPr marL="1828800" marR="0" lvl="3"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4pPr>
            <a:lvl5pPr marL="2286000" marR="0" lvl="4"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5pPr>
            <a:lvl6pPr marL="2743200" marR="0" lvl="5"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6pPr>
            <a:lvl7pPr marL="3200400" marR="0" lvl="6"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7pPr>
            <a:lvl8pPr marL="3657600" marR="0" lvl="7"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8pPr>
            <a:lvl9pPr marL="4114800" marR="0" lvl="8"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9pPr>
          </a:lstStyle>
          <a:p>
            <a:pPr marL="177800" indent="0" algn="ctr">
              <a:buFont typeface="Hanken Grotesk"/>
              <a:buNone/>
            </a:pPr>
            <a:r>
              <a:rPr lang="en-US" dirty="0"/>
              <a:t>Separating </a:t>
            </a:r>
            <a:r>
              <a:rPr lang="en-US" b="1" dirty="0"/>
              <a:t>length-standardized </a:t>
            </a:r>
            <a:r>
              <a:rPr lang="en-US" dirty="0"/>
              <a:t>functional regions from each other</a:t>
            </a:r>
          </a:p>
        </p:txBody>
      </p:sp>
      <p:sp>
        <p:nvSpPr>
          <p:cNvPr id="76" name="Rectangle 75">
            <a:extLst>
              <a:ext uri="{FF2B5EF4-FFF2-40B4-BE49-F238E27FC236}">
                <a16:creationId xmlns:a16="http://schemas.microsoft.com/office/drawing/2014/main" id="{731CDDF2-065A-26B2-1FC2-2683F87F94FA}"/>
              </a:ext>
            </a:extLst>
          </p:cNvPr>
          <p:cNvSpPr/>
          <p:nvPr/>
        </p:nvSpPr>
        <p:spPr>
          <a:xfrm>
            <a:off x="3192485" y="3715220"/>
            <a:ext cx="182915" cy="119165"/>
          </a:xfrm>
          <a:prstGeom prst="rect">
            <a:avLst/>
          </a:prstGeom>
          <a:solidFill>
            <a:srgbClr val="002060"/>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Rectangle 64">
            <a:extLst>
              <a:ext uri="{FF2B5EF4-FFF2-40B4-BE49-F238E27FC236}">
                <a16:creationId xmlns:a16="http://schemas.microsoft.com/office/drawing/2014/main" id="{2F9386F2-3B14-13E3-BDFB-D5D1F9E4A817}"/>
              </a:ext>
            </a:extLst>
          </p:cNvPr>
          <p:cNvSpPr/>
          <p:nvPr/>
        </p:nvSpPr>
        <p:spPr>
          <a:xfrm>
            <a:off x="6931288" y="3713199"/>
            <a:ext cx="561506" cy="121186"/>
          </a:xfrm>
          <a:prstGeom prst="rect">
            <a:avLst/>
          </a:prstGeom>
          <a:noFill/>
          <a:ln>
            <a:solidFill>
              <a:srgbClr val="00B05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Rectangle 76">
            <a:extLst>
              <a:ext uri="{FF2B5EF4-FFF2-40B4-BE49-F238E27FC236}">
                <a16:creationId xmlns:a16="http://schemas.microsoft.com/office/drawing/2014/main" id="{99F71A01-1FD8-E02E-7435-ED8D8A380816}"/>
              </a:ext>
            </a:extLst>
          </p:cNvPr>
          <p:cNvSpPr/>
          <p:nvPr/>
        </p:nvSpPr>
        <p:spPr>
          <a:xfrm>
            <a:off x="6335810" y="3713199"/>
            <a:ext cx="125680" cy="121186"/>
          </a:xfrm>
          <a:prstGeom prst="rect">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Rectangle 77">
            <a:extLst>
              <a:ext uri="{FF2B5EF4-FFF2-40B4-BE49-F238E27FC236}">
                <a16:creationId xmlns:a16="http://schemas.microsoft.com/office/drawing/2014/main" id="{91CD9BA7-E0A9-C883-7D9C-422571FF4114}"/>
              </a:ext>
            </a:extLst>
          </p:cNvPr>
          <p:cNvSpPr/>
          <p:nvPr/>
        </p:nvSpPr>
        <p:spPr>
          <a:xfrm>
            <a:off x="7015248" y="3713199"/>
            <a:ext cx="104731" cy="121186"/>
          </a:xfrm>
          <a:prstGeom prst="rect">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78">
            <a:extLst>
              <a:ext uri="{FF2B5EF4-FFF2-40B4-BE49-F238E27FC236}">
                <a16:creationId xmlns:a16="http://schemas.microsoft.com/office/drawing/2014/main" id="{5A0DC6EE-348F-719C-D16F-962672054AED}"/>
              </a:ext>
            </a:extLst>
          </p:cNvPr>
          <p:cNvSpPr/>
          <p:nvPr/>
        </p:nvSpPr>
        <p:spPr>
          <a:xfrm>
            <a:off x="1349300" y="3713199"/>
            <a:ext cx="178698" cy="121186"/>
          </a:xfrm>
          <a:prstGeom prst="rect">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Rectangle 79">
            <a:extLst>
              <a:ext uri="{FF2B5EF4-FFF2-40B4-BE49-F238E27FC236}">
                <a16:creationId xmlns:a16="http://schemas.microsoft.com/office/drawing/2014/main" id="{41C8B05F-0BFA-6ECB-28CE-52340C91C67F}"/>
              </a:ext>
            </a:extLst>
          </p:cNvPr>
          <p:cNvSpPr/>
          <p:nvPr/>
        </p:nvSpPr>
        <p:spPr>
          <a:xfrm>
            <a:off x="2186197" y="3719193"/>
            <a:ext cx="182915" cy="121186"/>
          </a:xfrm>
          <a:prstGeom prst="rect">
            <a:avLst/>
          </a:prstGeom>
          <a:solidFill>
            <a:srgbClr val="EDAEAE"/>
          </a:solidFill>
          <a:ln>
            <a:solidFill>
              <a:srgbClr val="EDAEA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Rectangle 80">
            <a:extLst>
              <a:ext uri="{FF2B5EF4-FFF2-40B4-BE49-F238E27FC236}">
                <a16:creationId xmlns:a16="http://schemas.microsoft.com/office/drawing/2014/main" id="{B0D8F639-46E5-2116-F243-3CD28C606FFC}"/>
              </a:ext>
            </a:extLst>
          </p:cNvPr>
          <p:cNvSpPr/>
          <p:nvPr/>
        </p:nvSpPr>
        <p:spPr>
          <a:xfrm>
            <a:off x="4779664" y="3707206"/>
            <a:ext cx="166461" cy="121186"/>
          </a:xfrm>
          <a:prstGeom prst="rect">
            <a:avLst/>
          </a:prstGeom>
          <a:solidFill>
            <a:srgbClr val="FFFF00"/>
          </a:solid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2" name="Rectangle 81">
            <a:extLst>
              <a:ext uri="{FF2B5EF4-FFF2-40B4-BE49-F238E27FC236}">
                <a16:creationId xmlns:a16="http://schemas.microsoft.com/office/drawing/2014/main" id="{BA94311C-BBB3-8F3C-194A-640ADEA46101}"/>
              </a:ext>
            </a:extLst>
          </p:cNvPr>
          <p:cNvSpPr/>
          <p:nvPr/>
        </p:nvSpPr>
        <p:spPr>
          <a:xfrm>
            <a:off x="5474120" y="3715220"/>
            <a:ext cx="166461" cy="121186"/>
          </a:xfrm>
          <a:prstGeom prst="rect">
            <a:avLst/>
          </a:prstGeom>
          <a:solidFill>
            <a:srgbClr val="FFFF00"/>
          </a:solid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3" name="Rectangle 82">
            <a:extLst>
              <a:ext uri="{FF2B5EF4-FFF2-40B4-BE49-F238E27FC236}">
                <a16:creationId xmlns:a16="http://schemas.microsoft.com/office/drawing/2014/main" id="{038A1E89-CAB1-29C2-8BEB-588B74D65984}"/>
              </a:ext>
            </a:extLst>
          </p:cNvPr>
          <p:cNvSpPr/>
          <p:nvPr/>
        </p:nvSpPr>
        <p:spPr>
          <a:xfrm>
            <a:off x="6024750" y="3715220"/>
            <a:ext cx="127945" cy="121186"/>
          </a:xfrm>
          <a:prstGeom prst="rect">
            <a:avLst/>
          </a:prstGeom>
          <a:solidFill>
            <a:srgbClr val="7030A0"/>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 name="Rectangle 83">
            <a:extLst>
              <a:ext uri="{FF2B5EF4-FFF2-40B4-BE49-F238E27FC236}">
                <a16:creationId xmlns:a16="http://schemas.microsoft.com/office/drawing/2014/main" id="{AE9DB341-C370-3A90-D482-36BBBA0F9928}"/>
              </a:ext>
            </a:extLst>
          </p:cNvPr>
          <p:cNvSpPr/>
          <p:nvPr/>
        </p:nvSpPr>
        <p:spPr>
          <a:xfrm>
            <a:off x="6742232" y="3715220"/>
            <a:ext cx="111200" cy="121186"/>
          </a:xfrm>
          <a:prstGeom prst="rect">
            <a:avLst/>
          </a:prstGeom>
          <a:solidFill>
            <a:srgbClr val="92D050"/>
          </a:solidFill>
          <a:ln>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Rectangle 84">
            <a:extLst>
              <a:ext uri="{FF2B5EF4-FFF2-40B4-BE49-F238E27FC236}">
                <a16:creationId xmlns:a16="http://schemas.microsoft.com/office/drawing/2014/main" id="{ABD2CDA5-8FDA-4CED-57D2-758C213A3F99}"/>
              </a:ext>
            </a:extLst>
          </p:cNvPr>
          <p:cNvSpPr/>
          <p:nvPr/>
        </p:nvSpPr>
        <p:spPr>
          <a:xfrm>
            <a:off x="7631735" y="3714209"/>
            <a:ext cx="130326" cy="121186"/>
          </a:xfrm>
          <a:prstGeom prst="rect">
            <a:avLst/>
          </a:prstGeom>
          <a:solidFill>
            <a:srgbClr val="E0CDEF"/>
          </a:solidFill>
          <a:ln>
            <a:solidFill>
              <a:srgbClr val="E0CDE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0126782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D5947E-4599-7830-36F2-282ED81AB3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4726B0-1BC7-FBAD-D34A-8F3599D4C3E6}"/>
              </a:ext>
            </a:extLst>
          </p:cNvPr>
          <p:cNvSpPr>
            <a:spLocks noGrp="1"/>
          </p:cNvSpPr>
          <p:nvPr>
            <p:ph type="title"/>
          </p:nvPr>
        </p:nvSpPr>
        <p:spPr>
          <a:xfrm>
            <a:off x="720000" y="312823"/>
            <a:ext cx="7704000" cy="572700"/>
          </a:xfrm>
        </p:spPr>
        <p:txBody>
          <a:bodyPr/>
          <a:lstStyle/>
          <a:p>
            <a:pPr algn="ctr"/>
            <a:r>
              <a:rPr lang="en-US" sz="2400" dirty="0"/>
              <a:t>We design benchmark four settings under increasing levels of confounders</a:t>
            </a:r>
          </a:p>
        </p:txBody>
      </p:sp>
      <p:sp>
        <p:nvSpPr>
          <p:cNvPr id="5" name="Rectangle 4">
            <a:extLst>
              <a:ext uri="{FF2B5EF4-FFF2-40B4-BE49-F238E27FC236}">
                <a16:creationId xmlns:a16="http://schemas.microsoft.com/office/drawing/2014/main" id="{34F0D5E9-0129-97C9-F329-0D4BBE3A28F3}"/>
              </a:ext>
            </a:extLst>
          </p:cNvPr>
          <p:cNvSpPr/>
          <p:nvPr/>
        </p:nvSpPr>
        <p:spPr>
          <a:xfrm>
            <a:off x="1064732" y="2581101"/>
            <a:ext cx="7359267" cy="121186"/>
          </a:xfrm>
          <a:prstGeom prst="rect">
            <a:avLst/>
          </a:prstGeom>
          <a:solidFill>
            <a:srgbClr val="71DAFF"/>
          </a:solidFill>
          <a:ln>
            <a:solidFill>
              <a:srgbClr val="71DA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a:extLst>
              <a:ext uri="{FF2B5EF4-FFF2-40B4-BE49-F238E27FC236}">
                <a16:creationId xmlns:a16="http://schemas.microsoft.com/office/drawing/2014/main" id="{EB63BCA1-5F82-DABD-FD0B-05CDC0C39048}"/>
              </a:ext>
            </a:extLst>
          </p:cNvPr>
          <p:cNvSpPr/>
          <p:nvPr/>
        </p:nvSpPr>
        <p:spPr>
          <a:xfrm>
            <a:off x="1350418" y="2581100"/>
            <a:ext cx="262658" cy="121186"/>
          </a:xfrm>
          <a:prstGeom prst="rect">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a:extLst>
              <a:ext uri="{FF2B5EF4-FFF2-40B4-BE49-F238E27FC236}">
                <a16:creationId xmlns:a16="http://schemas.microsoft.com/office/drawing/2014/main" id="{0A1E7BAD-E616-546C-8B44-426DF6105077}"/>
              </a:ext>
            </a:extLst>
          </p:cNvPr>
          <p:cNvSpPr/>
          <p:nvPr/>
        </p:nvSpPr>
        <p:spPr>
          <a:xfrm>
            <a:off x="5494430" y="2581101"/>
            <a:ext cx="262658" cy="121186"/>
          </a:xfrm>
          <a:prstGeom prst="rect">
            <a:avLst/>
          </a:prstGeom>
          <a:solidFill>
            <a:srgbClr val="FFFF00"/>
          </a:solid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5" name="Rectangle 44">
            <a:extLst>
              <a:ext uri="{FF2B5EF4-FFF2-40B4-BE49-F238E27FC236}">
                <a16:creationId xmlns:a16="http://schemas.microsoft.com/office/drawing/2014/main" id="{243A4C44-BCB7-B5C1-377B-A64DD469EAC1}"/>
              </a:ext>
            </a:extLst>
          </p:cNvPr>
          <p:cNvSpPr/>
          <p:nvPr/>
        </p:nvSpPr>
        <p:spPr>
          <a:xfrm>
            <a:off x="5974707" y="2581100"/>
            <a:ext cx="262659" cy="121186"/>
          </a:xfrm>
          <a:prstGeom prst="rect">
            <a:avLst/>
          </a:prstGeom>
          <a:solidFill>
            <a:srgbClr val="7030A0"/>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a:extLst>
              <a:ext uri="{FF2B5EF4-FFF2-40B4-BE49-F238E27FC236}">
                <a16:creationId xmlns:a16="http://schemas.microsoft.com/office/drawing/2014/main" id="{BAA96F7F-14C0-7AFD-0E85-67913AD1EAA7}"/>
              </a:ext>
            </a:extLst>
          </p:cNvPr>
          <p:cNvSpPr/>
          <p:nvPr/>
        </p:nvSpPr>
        <p:spPr>
          <a:xfrm>
            <a:off x="2164459" y="2581100"/>
            <a:ext cx="262658" cy="121186"/>
          </a:xfrm>
          <a:prstGeom prst="rect">
            <a:avLst/>
          </a:prstGeom>
          <a:solidFill>
            <a:srgbClr val="EDAEAE"/>
          </a:solidFill>
          <a:ln>
            <a:solidFill>
              <a:srgbClr val="EDAEA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Rectangle 49">
            <a:extLst>
              <a:ext uri="{FF2B5EF4-FFF2-40B4-BE49-F238E27FC236}">
                <a16:creationId xmlns:a16="http://schemas.microsoft.com/office/drawing/2014/main" id="{D68DDA58-AF2A-16C3-CA27-1200167259D6}"/>
              </a:ext>
            </a:extLst>
          </p:cNvPr>
          <p:cNvSpPr/>
          <p:nvPr/>
        </p:nvSpPr>
        <p:spPr>
          <a:xfrm>
            <a:off x="2869640" y="2583121"/>
            <a:ext cx="963473" cy="119165"/>
          </a:xfrm>
          <a:prstGeom prst="rect">
            <a:avLst/>
          </a:prstGeom>
          <a:solidFill>
            <a:srgbClr val="002060"/>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ectangle 51">
            <a:extLst>
              <a:ext uri="{FF2B5EF4-FFF2-40B4-BE49-F238E27FC236}">
                <a16:creationId xmlns:a16="http://schemas.microsoft.com/office/drawing/2014/main" id="{A6824470-672D-9948-9AFA-C658C5498A9C}"/>
              </a:ext>
            </a:extLst>
          </p:cNvPr>
          <p:cNvSpPr/>
          <p:nvPr/>
        </p:nvSpPr>
        <p:spPr>
          <a:xfrm>
            <a:off x="4772581" y="2581100"/>
            <a:ext cx="262658" cy="121186"/>
          </a:xfrm>
          <a:prstGeom prst="rect">
            <a:avLst/>
          </a:prstGeom>
          <a:solidFill>
            <a:srgbClr val="FFFF00"/>
          </a:solid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5" name="Rectangle 54">
            <a:extLst>
              <a:ext uri="{FF2B5EF4-FFF2-40B4-BE49-F238E27FC236}">
                <a16:creationId xmlns:a16="http://schemas.microsoft.com/office/drawing/2014/main" id="{543392F6-B555-87DF-0D08-0332C991D9EA}"/>
              </a:ext>
            </a:extLst>
          </p:cNvPr>
          <p:cNvSpPr/>
          <p:nvPr/>
        </p:nvSpPr>
        <p:spPr>
          <a:xfrm>
            <a:off x="6237365" y="2581100"/>
            <a:ext cx="459191" cy="121186"/>
          </a:xfrm>
          <a:prstGeom prst="rect">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Rectangle 55">
            <a:extLst>
              <a:ext uri="{FF2B5EF4-FFF2-40B4-BE49-F238E27FC236}">
                <a16:creationId xmlns:a16="http://schemas.microsoft.com/office/drawing/2014/main" id="{737ACB24-C2F8-CBBF-2913-602C8B098BC6}"/>
              </a:ext>
            </a:extLst>
          </p:cNvPr>
          <p:cNvSpPr/>
          <p:nvPr/>
        </p:nvSpPr>
        <p:spPr>
          <a:xfrm>
            <a:off x="6716468" y="2581100"/>
            <a:ext cx="263071" cy="121186"/>
          </a:xfrm>
          <a:prstGeom prst="rect">
            <a:avLst/>
          </a:prstGeom>
          <a:solidFill>
            <a:srgbClr val="92D050"/>
          </a:solidFill>
          <a:ln>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Rectangle 56">
            <a:extLst>
              <a:ext uri="{FF2B5EF4-FFF2-40B4-BE49-F238E27FC236}">
                <a16:creationId xmlns:a16="http://schemas.microsoft.com/office/drawing/2014/main" id="{D7E2667D-B9E2-474E-0029-4E5FFB46C84C}"/>
              </a:ext>
            </a:extLst>
          </p:cNvPr>
          <p:cNvSpPr/>
          <p:nvPr/>
        </p:nvSpPr>
        <p:spPr>
          <a:xfrm>
            <a:off x="6979539" y="2581100"/>
            <a:ext cx="561506" cy="121186"/>
          </a:xfrm>
          <a:prstGeom prst="rect">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Rectangle 57">
            <a:extLst>
              <a:ext uri="{FF2B5EF4-FFF2-40B4-BE49-F238E27FC236}">
                <a16:creationId xmlns:a16="http://schemas.microsoft.com/office/drawing/2014/main" id="{AA283868-A6EC-871A-07E4-7C42AD01987A}"/>
              </a:ext>
            </a:extLst>
          </p:cNvPr>
          <p:cNvSpPr/>
          <p:nvPr/>
        </p:nvSpPr>
        <p:spPr>
          <a:xfrm>
            <a:off x="7541457" y="2581100"/>
            <a:ext cx="262659" cy="121186"/>
          </a:xfrm>
          <a:prstGeom prst="rect">
            <a:avLst/>
          </a:prstGeom>
          <a:solidFill>
            <a:srgbClr val="E0CDEF"/>
          </a:solidFill>
          <a:ln>
            <a:solidFill>
              <a:srgbClr val="E0CDE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Oval 3">
            <a:extLst>
              <a:ext uri="{FF2B5EF4-FFF2-40B4-BE49-F238E27FC236}">
                <a16:creationId xmlns:a16="http://schemas.microsoft.com/office/drawing/2014/main" id="{6C423275-9681-F827-4AE9-175BBF0A4078}"/>
              </a:ext>
            </a:extLst>
          </p:cNvPr>
          <p:cNvSpPr/>
          <p:nvPr/>
        </p:nvSpPr>
        <p:spPr>
          <a:xfrm>
            <a:off x="424330" y="2439405"/>
            <a:ext cx="456354" cy="404576"/>
          </a:xfrm>
          <a:prstGeom prst="ellipse">
            <a:avLst/>
          </a:prstGeom>
          <a:solidFill>
            <a:srgbClr val="F4E6AA"/>
          </a:solidFill>
          <a:ln>
            <a:solidFill>
              <a:srgbClr val="F4E6A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bg1">
                    <a:lumMod val="10000"/>
                  </a:schemeClr>
                </a:solidFill>
              </a:rPr>
              <a:t>4</a:t>
            </a:r>
          </a:p>
        </p:txBody>
      </p:sp>
      <p:sp>
        <p:nvSpPr>
          <p:cNvPr id="11" name="Arc 10">
            <a:extLst>
              <a:ext uri="{FF2B5EF4-FFF2-40B4-BE49-F238E27FC236}">
                <a16:creationId xmlns:a16="http://schemas.microsoft.com/office/drawing/2014/main" id="{277DB130-D8F4-8D06-98A9-F03F8A73F8C0}"/>
              </a:ext>
            </a:extLst>
          </p:cNvPr>
          <p:cNvSpPr/>
          <p:nvPr/>
        </p:nvSpPr>
        <p:spPr>
          <a:xfrm rot="19131173">
            <a:off x="1578245" y="2431965"/>
            <a:ext cx="887636" cy="824031"/>
          </a:xfrm>
          <a:prstGeom prst="arc">
            <a:avLst/>
          </a:prstGeom>
          <a:ln w="28575">
            <a:headEnd type="arrow" w="med" len="med"/>
            <a:tailEnd type="arrow"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15" name="Text Placeholder 2">
            <a:extLst>
              <a:ext uri="{FF2B5EF4-FFF2-40B4-BE49-F238E27FC236}">
                <a16:creationId xmlns:a16="http://schemas.microsoft.com/office/drawing/2014/main" id="{744F6119-ECAF-8049-A920-5A63DF3D6A0F}"/>
              </a:ext>
            </a:extLst>
          </p:cNvPr>
          <p:cNvSpPr txBox="1">
            <a:spLocks/>
          </p:cNvSpPr>
          <p:nvPr/>
        </p:nvSpPr>
        <p:spPr>
          <a:xfrm>
            <a:off x="2469514" y="2875827"/>
            <a:ext cx="4610227" cy="40457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79400" algn="l" rtl="0">
              <a:lnSpc>
                <a:spcPct val="115000"/>
              </a:lnSpc>
              <a:spcBef>
                <a:spcPts val="0"/>
              </a:spcBef>
              <a:spcAft>
                <a:spcPts val="0"/>
              </a:spcAft>
              <a:buClr>
                <a:schemeClr val="dk1"/>
              </a:buClr>
              <a:buSzPts val="800"/>
              <a:buFont typeface="Hanken Grotesk"/>
              <a:buChar char="●"/>
              <a:defRPr sz="1400" b="0" i="0" u="none" strike="noStrike" cap="none">
                <a:solidFill>
                  <a:schemeClr val="dk1"/>
                </a:solidFill>
                <a:latin typeface="Hanken Grotesk"/>
                <a:ea typeface="Hanken Grotesk"/>
                <a:cs typeface="Hanken Grotesk"/>
                <a:sym typeface="Hanken Grotesk"/>
              </a:defRPr>
            </a:lvl1pPr>
            <a:lvl2pPr marL="914400" marR="0" lvl="1"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2pPr>
            <a:lvl3pPr marL="1371600" marR="0" lvl="2"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3pPr>
            <a:lvl4pPr marL="1828800" marR="0" lvl="3"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4pPr>
            <a:lvl5pPr marL="2286000" marR="0" lvl="4"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5pPr>
            <a:lvl6pPr marL="2743200" marR="0" lvl="5"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6pPr>
            <a:lvl7pPr marL="3200400" marR="0" lvl="6"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7pPr>
            <a:lvl8pPr marL="3657600" marR="0" lvl="7"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8pPr>
            <a:lvl9pPr marL="4114800" marR="0" lvl="8"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9pPr>
          </a:lstStyle>
          <a:p>
            <a:pPr marL="177800" indent="0" algn="ctr">
              <a:buFont typeface="Hanken Grotesk"/>
              <a:buNone/>
            </a:pPr>
            <a:r>
              <a:rPr lang="en-US" dirty="0"/>
              <a:t>Separating functional regions from 2KB upstream regions (of a different functional class)</a:t>
            </a:r>
          </a:p>
        </p:txBody>
      </p:sp>
      <p:sp>
        <p:nvSpPr>
          <p:cNvPr id="3" name="Arc 2">
            <a:extLst>
              <a:ext uri="{FF2B5EF4-FFF2-40B4-BE49-F238E27FC236}">
                <a16:creationId xmlns:a16="http://schemas.microsoft.com/office/drawing/2014/main" id="{243385F7-04AE-EC88-CBF9-055BF0A868D6}"/>
              </a:ext>
            </a:extLst>
          </p:cNvPr>
          <p:cNvSpPr/>
          <p:nvPr/>
        </p:nvSpPr>
        <p:spPr>
          <a:xfrm rot="19131173">
            <a:off x="2502712" y="2431966"/>
            <a:ext cx="887636" cy="824031"/>
          </a:xfrm>
          <a:prstGeom prst="arc">
            <a:avLst/>
          </a:prstGeom>
          <a:ln w="28575">
            <a:headEnd type="arrow" w="med" len="med"/>
            <a:tailEnd type="arrow"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6" name="Arc 5">
            <a:extLst>
              <a:ext uri="{FF2B5EF4-FFF2-40B4-BE49-F238E27FC236}">
                <a16:creationId xmlns:a16="http://schemas.microsoft.com/office/drawing/2014/main" id="{DEDF8A68-2123-8338-0848-E4B579ED7EA5}"/>
              </a:ext>
            </a:extLst>
          </p:cNvPr>
          <p:cNvSpPr/>
          <p:nvPr/>
        </p:nvSpPr>
        <p:spPr>
          <a:xfrm rot="19131173">
            <a:off x="4164029" y="2431965"/>
            <a:ext cx="887636" cy="824031"/>
          </a:xfrm>
          <a:prstGeom prst="arc">
            <a:avLst/>
          </a:prstGeom>
          <a:ln w="28575">
            <a:headEnd type="arrow" w="med" len="med"/>
            <a:tailEnd type="arrow"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dirty="0"/>
          </a:p>
        </p:txBody>
      </p:sp>
      <p:sp>
        <p:nvSpPr>
          <p:cNvPr id="7" name="Arc 6">
            <a:extLst>
              <a:ext uri="{FF2B5EF4-FFF2-40B4-BE49-F238E27FC236}">
                <a16:creationId xmlns:a16="http://schemas.microsoft.com/office/drawing/2014/main" id="{512A3620-B6CD-3CF0-50BB-9E912F30869C}"/>
              </a:ext>
            </a:extLst>
          </p:cNvPr>
          <p:cNvSpPr/>
          <p:nvPr/>
        </p:nvSpPr>
        <p:spPr>
          <a:xfrm rot="19131173">
            <a:off x="4892871" y="2422264"/>
            <a:ext cx="887636" cy="824031"/>
          </a:xfrm>
          <a:prstGeom prst="arc">
            <a:avLst/>
          </a:prstGeom>
          <a:ln w="28575">
            <a:headEnd type="arrow" w="med" len="med"/>
            <a:tailEnd type="arrow"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dirty="0"/>
          </a:p>
        </p:txBody>
      </p:sp>
      <p:sp>
        <p:nvSpPr>
          <p:cNvPr id="16" name="Arc 15">
            <a:extLst>
              <a:ext uri="{FF2B5EF4-FFF2-40B4-BE49-F238E27FC236}">
                <a16:creationId xmlns:a16="http://schemas.microsoft.com/office/drawing/2014/main" id="{EA9258A2-4B52-0486-60F7-9E8DBE111D2F}"/>
              </a:ext>
            </a:extLst>
          </p:cNvPr>
          <p:cNvSpPr/>
          <p:nvPr/>
        </p:nvSpPr>
        <p:spPr>
          <a:xfrm rot="19131173">
            <a:off x="5394559" y="2200014"/>
            <a:ext cx="887636" cy="824031"/>
          </a:xfrm>
          <a:prstGeom prst="arc">
            <a:avLst/>
          </a:prstGeom>
          <a:ln w="28575">
            <a:headEnd type="arrow" w="med" len="med"/>
            <a:tailEnd type="arrow"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dirty="0"/>
          </a:p>
        </p:txBody>
      </p:sp>
      <p:sp>
        <p:nvSpPr>
          <p:cNvPr id="17" name="Arc 16">
            <a:extLst>
              <a:ext uri="{FF2B5EF4-FFF2-40B4-BE49-F238E27FC236}">
                <a16:creationId xmlns:a16="http://schemas.microsoft.com/office/drawing/2014/main" id="{60D795AC-68E3-4519-10D8-FF2EC3F6C425}"/>
              </a:ext>
            </a:extLst>
          </p:cNvPr>
          <p:cNvSpPr/>
          <p:nvPr/>
        </p:nvSpPr>
        <p:spPr>
          <a:xfrm rot="19131173">
            <a:off x="5662218" y="2422263"/>
            <a:ext cx="887636" cy="824031"/>
          </a:xfrm>
          <a:prstGeom prst="arc">
            <a:avLst/>
          </a:prstGeom>
          <a:ln w="28575">
            <a:headEnd type="arrow" w="med" len="med"/>
            <a:tailEnd type="arrow"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dirty="0"/>
          </a:p>
        </p:txBody>
      </p:sp>
      <p:sp>
        <p:nvSpPr>
          <p:cNvPr id="18" name="Arc 17">
            <a:extLst>
              <a:ext uri="{FF2B5EF4-FFF2-40B4-BE49-F238E27FC236}">
                <a16:creationId xmlns:a16="http://schemas.microsoft.com/office/drawing/2014/main" id="{52D01B38-A812-570E-2BFC-C71A67DBB581}"/>
              </a:ext>
            </a:extLst>
          </p:cNvPr>
          <p:cNvSpPr/>
          <p:nvPr/>
        </p:nvSpPr>
        <p:spPr>
          <a:xfrm rot="19131173">
            <a:off x="6071815" y="2229677"/>
            <a:ext cx="887636" cy="824031"/>
          </a:xfrm>
          <a:prstGeom prst="arc">
            <a:avLst/>
          </a:prstGeom>
          <a:ln w="28575">
            <a:headEnd type="arrow" w="med" len="med"/>
            <a:tailEnd type="arrow"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dirty="0"/>
          </a:p>
        </p:txBody>
      </p:sp>
      <p:sp>
        <p:nvSpPr>
          <p:cNvPr id="19" name="Arc 18">
            <a:extLst>
              <a:ext uri="{FF2B5EF4-FFF2-40B4-BE49-F238E27FC236}">
                <a16:creationId xmlns:a16="http://schemas.microsoft.com/office/drawing/2014/main" id="{D4BBDA2B-E67A-2BBD-5831-2E89B609823B}"/>
              </a:ext>
            </a:extLst>
          </p:cNvPr>
          <p:cNvSpPr/>
          <p:nvPr/>
        </p:nvSpPr>
        <p:spPr>
          <a:xfrm rot="19131173">
            <a:off x="6923494" y="2391602"/>
            <a:ext cx="887636" cy="824031"/>
          </a:xfrm>
          <a:prstGeom prst="arc">
            <a:avLst/>
          </a:prstGeom>
          <a:ln w="28575">
            <a:headEnd type="arrow" w="med" len="med"/>
            <a:tailEnd type="arrow"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dirty="0"/>
          </a:p>
        </p:txBody>
      </p:sp>
    </p:spTree>
    <p:extLst>
      <p:ext uri="{BB962C8B-B14F-4D97-AF65-F5344CB8AC3E}">
        <p14:creationId xmlns:p14="http://schemas.microsoft.com/office/powerpoint/2010/main" val="309518885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F2DF2F-3921-5D31-E12A-99EB602E00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427FE9-5B58-9E5C-05DC-866E73373870}"/>
              </a:ext>
            </a:extLst>
          </p:cNvPr>
          <p:cNvSpPr>
            <a:spLocks noGrp="1"/>
          </p:cNvSpPr>
          <p:nvPr>
            <p:ph type="title"/>
          </p:nvPr>
        </p:nvSpPr>
        <p:spPr>
          <a:xfrm>
            <a:off x="720000" y="312823"/>
            <a:ext cx="7704000" cy="572700"/>
          </a:xfrm>
        </p:spPr>
        <p:txBody>
          <a:bodyPr/>
          <a:lstStyle/>
          <a:p>
            <a:pPr algn="ctr"/>
            <a:r>
              <a:rPr lang="en-US" sz="2400" dirty="0"/>
              <a:t>We design benchmark four settings under increasing levels of confounders</a:t>
            </a:r>
          </a:p>
        </p:txBody>
      </p:sp>
      <p:sp>
        <p:nvSpPr>
          <p:cNvPr id="4" name="Oval 3">
            <a:extLst>
              <a:ext uri="{FF2B5EF4-FFF2-40B4-BE49-F238E27FC236}">
                <a16:creationId xmlns:a16="http://schemas.microsoft.com/office/drawing/2014/main" id="{51F354BF-AC5F-3C57-C50F-FD07D5188010}"/>
              </a:ext>
            </a:extLst>
          </p:cNvPr>
          <p:cNvSpPr/>
          <p:nvPr/>
        </p:nvSpPr>
        <p:spPr>
          <a:xfrm>
            <a:off x="1195511" y="3601685"/>
            <a:ext cx="456354" cy="404576"/>
          </a:xfrm>
          <a:prstGeom prst="ellipse">
            <a:avLst/>
          </a:prstGeom>
          <a:solidFill>
            <a:srgbClr val="F4E6AA"/>
          </a:solidFill>
          <a:ln>
            <a:solidFill>
              <a:srgbClr val="F4E6A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bg1">
                    <a:lumMod val="10000"/>
                  </a:schemeClr>
                </a:solidFill>
              </a:rPr>
              <a:t>4</a:t>
            </a:r>
          </a:p>
        </p:txBody>
      </p:sp>
      <p:sp>
        <p:nvSpPr>
          <p:cNvPr id="8" name="Oval 7">
            <a:extLst>
              <a:ext uri="{FF2B5EF4-FFF2-40B4-BE49-F238E27FC236}">
                <a16:creationId xmlns:a16="http://schemas.microsoft.com/office/drawing/2014/main" id="{2904ACD0-6BB7-E803-CAB2-BFC861DBF4C4}"/>
              </a:ext>
            </a:extLst>
          </p:cNvPr>
          <p:cNvSpPr/>
          <p:nvPr/>
        </p:nvSpPr>
        <p:spPr>
          <a:xfrm>
            <a:off x="1195511" y="1385228"/>
            <a:ext cx="456354" cy="404576"/>
          </a:xfrm>
          <a:prstGeom prst="ellipse">
            <a:avLst/>
          </a:prstGeom>
          <a:solidFill>
            <a:srgbClr val="F4E6AA"/>
          </a:solidFill>
          <a:ln>
            <a:solidFill>
              <a:srgbClr val="F4E6A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bg1">
                    <a:lumMod val="10000"/>
                  </a:schemeClr>
                </a:solidFill>
              </a:rPr>
              <a:t>1</a:t>
            </a:r>
          </a:p>
        </p:txBody>
      </p:sp>
      <p:sp>
        <p:nvSpPr>
          <p:cNvPr id="9" name="Oval 8">
            <a:extLst>
              <a:ext uri="{FF2B5EF4-FFF2-40B4-BE49-F238E27FC236}">
                <a16:creationId xmlns:a16="http://schemas.microsoft.com/office/drawing/2014/main" id="{1EB99A97-DD0A-988A-0A68-3C8A0263291A}"/>
              </a:ext>
            </a:extLst>
          </p:cNvPr>
          <p:cNvSpPr/>
          <p:nvPr/>
        </p:nvSpPr>
        <p:spPr>
          <a:xfrm>
            <a:off x="1195511" y="2112571"/>
            <a:ext cx="456354" cy="404576"/>
          </a:xfrm>
          <a:prstGeom prst="ellipse">
            <a:avLst/>
          </a:prstGeom>
          <a:solidFill>
            <a:srgbClr val="F4E6AA"/>
          </a:solidFill>
          <a:ln>
            <a:solidFill>
              <a:srgbClr val="F4E6A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bg1">
                    <a:lumMod val="10000"/>
                  </a:schemeClr>
                </a:solidFill>
              </a:rPr>
              <a:t>2</a:t>
            </a:r>
          </a:p>
        </p:txBody>
      </p:sp>
      <p:sp>
        <p:nvSpPr>
          <p:cNvPr id="10" name="Oval 9">
            <a:extLst>
              <a:ext uri="{FF2B5EF4-FFF2-40B4-BE49-F238E27FC236}">
                <a16:creationId xmlns:a16="http://schemas.microsoft.com/office/drawing/2014/main" id="{BF5DC3B8-7197-4DC0-25E5-62755BA12F24}"/>
              </a:ext>
            </a:extLst>
          </p:cNvPr>
          <p:cNvSpPr/>
          <p:nvPr/>
        </p:nvSpPr>
        <p:spPr>
          <a:xfrm>
            <a:off x="1195511" y="2839914"/>
            <a:ext cx="456354" cy="404576"/>
          </a:xfrm>
          <a:prstGeom prst="ellipse">
            <a:avLst/>
          </a:prstGeom>
          <a:solidFill>
            <a:srgbClr val="F4E6AA"/>
          </a:solidFill>
          <a:ln>
            <a:solidFill>
              <a:srgbClr val="F4E6A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bg1">
                    <a:lumMod val="10000"/>
                  </a:schemeClr>
                </a:solidFill>
              </a:rPr>
              <a:t>3</a:t>
            </a:r>
          </a:p>
        </p:txBody>
      </p:sp>
      <p:sp>
        <p:nvSpPr>
          <p:cNvPr id="12" name="Text Placeholder 2">
            <a:extLst>
              <a:ext uri="{FF2B5EF4-FFF2-40B4-BE49-F238E27FC236}">
                <a16:creationId xmlns:a16="http://schemas.microsoft.com/office/drawing/2014/main" id="{C57B868F-1A87-1043-C828-1041DB340B92}"/>
              </a:ext>
            </a:extLst>
          </p:cNvPr>
          <p:cNvSpPr txBox="1">
            <a:spLocks/>
          </p:cNvSpPr>
          <p:nvPr/>
        </p:nvSpPr>
        <p:spPr>
          <a:xfrm>
            <a:off x="1423688" y="2071668"/>
            <a:ext cx="4610227" cy="40457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79400" algn="l" rtl="0">
              <a:lnSpc>
                <a:spcPct val="115000"/>
              </a:lnSpc>
              <a:spcBef>
                <a:spcPts val="0"/>
              </a:spcBef>
              <a:spcAft>
                <a:spcPts val="0"/>
              </a:spcAft>
              <a:buClr>
                <a:schemeClr val="dk1"/>
              </a:buClr>
              <a:buSzPts val="800"/>
              <a:buFont typeface="Hanken Grotesk"/>
              <a:buChar char="●"/>
              <a:defRPr sz="1400" b="0" i="0" u="none" strike="noStrike" cap="none">
                <a:solidFill>
                  <a:schemeClr val="dk1"/>
                </a:solidFill>
                <a:latin typeface="Hanken Grotesk"/>
                <a:ea typeface="Hanken Grotesk"/>
                <a:cs typeface="Hanken Grotesk"/>
                <a:sym typeface="Hanken Grotesk"/>
              </a:defRPr>
            </a:lvl1pPr>
            <a:lvl2pPr marL="914400" marR="0" lvl="1"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2pPr>
            <a:lvl3pPr marL="1371600" marR="0" lvl="2"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3pPr>
            <a:lvl4pPr marL="1828800" marR="0" lvl="3"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4pPr>
            <a:lvl5pPr marL="2286000" marR="0" lvl="4"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5pPr>
            <a:lvl6pPr marL="2743200" marR="0" lvl="5"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6pPr>
            <a:lvl7pPr marL="3200400" marR="0" lvl="6"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7pPr>
            <a:lvl8pPr marL="3657600" marR="0" lvl="7"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8pPr>
            <a:lvl9pPr marL="4114800" marR="0" lvl="8"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9pPr>
          </a:lstStyle>
          <a:p>
            <a:pPr marL="177800" indent="0" algn="ctr">
              <a:buFont typeface="Hanken Grotesk"/>
              <a:buNone/>
            </a:pPr>
            <a:r>
              <a:rPr lang="en-US" dirty="0"/>
              <a:t>Separating functional regions from each other</a:t>
            </a:r>
          </a:p>
        </p:txBody>
      </p:sp>
      <p:sp>
        <p:nvSpPr>
          <p:cNvPr id="14" name="Text Placeholder 2">
            <a:extLst>
              <a:ext uri="{FF2B5EF4-FFF2-40B4-BE49-F238E27FC236}">
                <a16:creationId xmlns:a16="http://schemas.microsoft.com/office/drawing/2014/main" id="{4D542F8F-E3AC-95EF-1051-362E6D6DFE1D}"/>
              </a:ext>
            </a:extLst>
          </p:cNvPr>
          <p:cNvSpPr txBox="1">
            <a:spLocks/>
          </p:cNvSpPr>
          <p:nvPr/>
        </p:nvSpPr>
        <p:spPr>
          <a:xfrm>
            <a:off x="1651865" y="1385229"/>
            <a:ext cx="4610227" cy="40457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79400" algn="l" rtl="0">
              <a:lnSpc>
                <a:spcPct val="115000"/>
              </a:lnSpc>
              <a:spcBef>
                <a:spcPts val="0"/>
              </a:spcBef>
              <a:spcAft>
                <a:spcPts val="0"/>
              </a:spcAft>
              <a:buClr>
                <a:schemeClr val="dk1"/>
              </a:buClr>
              <a:buSzPts val="800"/>
              <a:buFont typeface="Hanken Grotesk"/>
              <a:buChar char="●"/>
              <a:defRPr sz="1400" b="0" i="0" u="none" strike="noStrike" cap="none">
                <a:solidFill>
                  <a:schemeClr val="dk1"/>
                </a:solidFill>
                <a:latin typeface="Hanken Grotesk"/>
                <a:ea typeface="Hanken Grotesk"/>
                <a:cs typeface="Hanken Grotesk"/>
                <a:sym typeface="Hanken Grotesk"/>
              </a:defRPr>
            </a:lvl1pPr>
            <a:lvl2pPr marL="914400" marR="0" lvl="1"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2pPr>
            <a:lvl3pPr marL="1371600" marR="0" lvl="2"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3pPr>
            <a:lvl4pPr marL="1828800" marR="0" lvl="3"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4pPr>
            <a:lvl5pPr marL="2286000" marR="0" lvl="4"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5pPr>
            <a:lvl6pPr marL="2743200" marR="0" lvl="5"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6pPr>
            <a:lvl7pPr marL="3200400" marR="0" lvl="6"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7pPr>
            <a:lvl8pPr marL="3657600" marR="0" lvl="7"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8pPr>
            <a:lvl9pPr marL="4114800" marR="0" lvl="8"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9pPr>
          </a:lstStyle>
          <a:p>
            <a:pPr marL="177800" indent="0" algn="ctr">
              <a:buFont typeface="Hanken Grotesk"/>
              <a:buNone/>
            </a:pPr>
            <a:r>
              <a:rPr lang="en-US" dirty="0"/>
              <a:t>Separating functional regions from random windows</a:t>
            </a:r>
          </a:p>
        </p:txBody>
      </p:sp>
      <p:sp>
        <p:nvSpPr>
          <p:cNvPr id="20" name="Text Placeholder 2">
            <a:extLst>
              <a:ext uri="{FF2B5EF4-FFF2-40B4-BE49-F238E27FC236}">
                <a16:creationId xmlns:a16="http://schemas.microsoft.com/office/drawing/2014/main" id="{5A7D5B32-1328-5330-FD7D-576A9E89506A}"/>
              </a:ext>
            </a:extLst>
          </p:cNvPr>
          <p:cNvSpPr txBox="1">
            <a:spLocks/>
          </p:cNvSpPr>
          <p:nvPr/>
        </p:nvSpPr>
        <p:spPr>
          <a:xfrm>
            <a:off x="1707827" y="2758107"/>
            <a:ext cx="6025802" cy="40457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79400" algn="l" rtl="0">
              <a:lnSpc>
                <a:spcPct val="115000"/>
              </a:lnSpc>
              <a:spcBef>
                <a:spcPts val="0"/>
              </a:spcBef>
              <a:spcAft>
                <a:spcPts val="0"/>
              </a:spcAft>
              <a:buClr>
                <a:schemeClr val="dk1"/>
              </a:buClr>
              <a:buSzPts val="800"/>
              <a:buFont typeface="Hanken Grotesk"/>
              <a:buChar char="●"/>
              <a:defRPr sz="1400" b="0" i="0" u="none" strike="noStrike" cap="none">
                <a:solidFill>
                  <a:schemeClr val="dk1"/>
                </a:solidFill>
                <a:latin typeface="Hanken Grotesk"/>
                <a:ea typeface="Hanken Grotesk"/>
                <a:cs typeface="Hanken Grotesk"/>
                <a:sym typeface="Hanken Grotesk"/>
              </a:defRPr>
            </a:lvl1pPr>
            <a:lvl2pPr marL="914400" marR="0" lvl="1"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2pPr>
            <a:lvl3pPr marL="1371600" marR="0" lvl="2"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3pPr>
            <a:lvl4pPr marL="1828800" marR="0" lvl="3"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4pPr>
            <a:lvl5pPr marL="2286000" marR="0" lvl="4"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5pPr>
            <a:lvl6pPr marL="2743200" marR="0" lvl="5"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6pPr>
            <a:lvl7pPr marL="3200400" marR="0" lvl="6"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7pPr>
            <a:lvl8pPr marL="3657600" marR="0" lvl="7"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8pPr>
            <a:lvl9pPr marL="4114800" marR="0" lvl="8"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9pPr>
          </a:lstStyle>
          <a:p>
            <a:pPr marL="177800" indent="0">
              <a:buFont typeface="Hanken Grotesk"/>
              <a:buNone/>
            </a:pPr>
            <a:r>
              <a:rPr lang="en-US" dirty="0"/>
              <a:t>Separating length-standardized functional regions </a:t>
            </a:r>
            <a:br>
              <a:rPr lang="en-US" dirty="0"/>
            </a:br>
            <a:r>
              <a:rPr lang="en-US" dirty="0"/>
              <a:t>from each other</a:t>
            </a:r>
          </a:p>
        </p:txBody>
      </p:sp>
      <p:sp>
        <p:nvSpPr>
          <p:cNvPr id="21" name="Text Placeholder 2">
            <a:extLst>
              <a:ext uri="{FF2B5EF4-FFF2-40B4-BE49-F238E27FC236}">
                <a16:creationId xmlns:a16="http://schemas.microsoft.com/office/drawing/2014/main" id="{839A446B-FF62-5ACB-D8B0-B01813B52E9F}"/>
              </a:ext>
            </a:extLst>
          </p:cNvPr>
          <p:cNvSpPr txBox="1">
            <a:spLocks/>
          </p:cNvSpPr>
          <p:nvPr/>
        </p:nvSpPr>
        <p:spPr>
          <a:xfrm>
            <a:off x="1707827" y="3536839"/>
            <a:ext cx="4610227" cy="40457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79400" algn="l" rtl="0">
              <a:lnSpc>
                <a:spcPct val="115000"/>
              </a:lnSpc>
              <a:spcBef>
                <a:spcPts val="0"/>
              </a:spcBef>
              <a:spcAft>
                <a:spcPts val="0"/>
              </a:spcAft>
              <a:buClr>
                <a:schemeClr val="dk1"/>
              </a:buClr>
              <a:buSzPts val="800"/>
              <a:buFont typeface="Hanken Grotesk"/>
              <a:buChar char="●"/>
              <a:defRPr sz="1400" b="0" i="0" u="none" strike="noStrike" cap="none">
                <a:solidFill>
                  <a:schemeClr val="dk1"/>
                </a:solidFill>
                <a:latin typeface="Hanken Grotesk"/>
                <a:ea typeface="Hanken Grotesk"/>
                <a:cs typeface="Hanken Grotesk"/>
                <a:sym typeface="Hanken Grotesk"/>
              </a:defRPr>
            </a:lvl1pPr>
            <a:lvl2pPr marL="914400" marR="0" lvl="1"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2pPr>
            <a:lvl3pPr marL="1371600" marR="0" lvl="2"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3pPr>
            <a:lvl4pPr marL="1828800" marR="0" lvl="3"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4pPr>
            <a:lvl5pPr marL="2286000" marR="0" lvl="4"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5pPr>
            <a:lvl6pPr marL="2743200" marR="0" lvl="5"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6pPr>
            <a:lvl7pPr marL="3200400" marR="0" lvl="6"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7pPr>
            <a:lvl8pPr marL="3657600" marR="0" lvl="7"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8pPr>
            <a:lvl9pPr marL="4114800" marR="0" lvl="8"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9pPr>
          </a:lstStyle>
          <a:p>
            <a:pPr marL="177800" indent="0">
              <a:buFont typeface="Hanken Grotesk"/>
              <a:buNone/>
            </a:pPr>
            <a:r>
              <a:rPr lang="en-US" dirty="0"/>
              <a:t>Separating functional regions from 2KB upstream regions (of a different functional class)</a:t>
            </a:r>
          </a:p>
        </p:txBody>
      </p:sp>
      <p:sp>
        <p:nvSpPr>
          <p:cNvPr id="22" name="Text Placeholder 2">
            <a:extLst>
              <a:ext uri="{FF2B5EF4-FFF2-40B4-BE49-F238E27FC236}">
                <a16:creationId xmlns:a16="http://schemas.microsoft.com/office/drawing/2014/main" id="{24075F89-E6AF-CF9C-B4A6-F1444695A889}"/>
              </a:ext>
            </a:extLst>
          </p:cNvPr>
          <p:cNvSpPr txBox="1">
            <a:spLocks/>
          </p:cNvSpPr>
          <p:nvPr/>
        </p:nvSpPr>
        <p:spPr>
          <a:xfrm>
            <a:off x="6505052" y="2345079"/>
            <a:ext cx="2071580" cy="61531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79400" algn="l" rtl="0">
              <a:lnSpc>
                <a:spcPct val="115000"/>
              </a:lnSpc>
              <a:spcBef>
                <a:spcPts val="0"/>
              </a:spcBef>
              <a:spcAft>
                <a:spcPts val="0"/>
              </a:spcAft>
              <a:buClr>
                <a:schemeClr val="dk1"/>
              </a:buClr>
              <a:buSzPts val="800"/>
              <a:buFont typeface="Hanken Grotesk"/>
              <a:buChar char="●"/>
              <a:defRPr sz="1400" b="0" i="0" u="none" strike="noStrike" cap="none">
                <a:solidFill>
                  <a:schemeClr val="dk1"/>
                </a:solidFill>
                <a:latin typeface="Hanken Grotesk"/>
                <a:ea typeface="Hanken Grotesk"/>
                <a:cs typeface="Hanken Grotesk"/>
                <a:sym typeface="Hanken Grotesk"/>
              </a:defRPr>
            </a:lvl1pPr>
            <a:lvl2pPr marL="914400" marR="0" lvl="1"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2pPr>
            <a:lvl3pPr marL="1371600" marR="0" lvl="2"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3pPr>
            <a:lvl4pPr marL="1828800" marR="0" lvl="3"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4pPr>
            <a:lvl5pPr marL="2286000" marR="0" lvl="4"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5pPr>
            <a:lvl6pPr marL="2743200" marR="0" lvl="5"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6pPr>
            <a:lvl7pPr marL="3200400" marR="0" lvl="6"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7pPr>
            <a:lvl8pPr marL="3657600" marR="0" lvl="7"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8pPr>
            <a:lvl9pPr marL="4114800" marR="0" lvl="8"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9pPr>
          </a:lstStyle>
          <a:p>
            <a:pPr marL="177800" indent="0" algn="ctr">
              <a:buFont typeface="Hanken Grotesk"/>
              <a:buNone/>
            </a:pPr>
            <a:r>
              <a:rPr lang="en-US" b="1" dirty="0"/>
              <a:t>Controls for repeat bias in genomes</a:t>
            </a:r>
          </a:p>
        </p:txBody>
      </p:sp>
      <p:cxnSp>
        <p:nvCxnSpPr>
          <p:cNvPr id="26" name="Straight Arrow Connector 25">
            <a:extLst>
              <a:ext uri="{FF2B5EF4-FFF2-40B4-BE49-F238E27FC236}">
                <a16:creationId xmlns:a16="http://schemas.microsoft.com/office/drawing/2014/main" id="{B3B2F5C7-79FE-D7A8-A0D2-5AA363262220}"/>
              </a:ext>
            </a:extLst>
          </p:cNvPr>
          <p:cNvCxnSpPr/>
          <p:nvPr/>
        </p:nvCxnSpPr>
        <p:spPr>
          <a:xfrm flipH="1" flipV="1">
            <a:off x="5877499" y="2345079"/>
            <a:ext cx="820756" cy="30765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9752F74E-0BC5-F6FF-B03F-D8AE2DB7BA96}"/>
              </a:ext>
            </a:extLst>
          </p:cNvPr>
          <p:cNvCxnSpPr>
            <a:cxnSpLocks/>
          </p:cNvCxnSpPr>
          <p:nvPr/>
        </p:nvCxnSpPr>
        <p:spPr>
          <a:xfrm flipH="1">
            <a:off x="6138639" y="2871114"/>
            <a:ext cx="559616" cy="22175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9" name="Text Placeholder 2">
            <a:extLst>
              <a:ext uri="{FF2B5EF4-FFF2-40B4-BE49-F238E27FC236}">
                <a16:creationId xmlns:a16="http://schemas.microsoft.com/office/drawing/2014/main" id="{AA9193D4-531E-1777-7FBD-3EE13F12B27E}"/>
              </a:ext>
            </a:extLst>
          </p:cNvPr>
          <p:cNvSpPr txBox="1">
            <a:spLocks/>
          </p:cNvSpPr>
          <p:nvPr/>
        </p:nvSpPr>
        <p:spPr>
          <a:xfrm>
            <a:off x="6505052" y="3633756"/>
            <a:ext cx="2071580" cy="61531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79400" algn="l" rtl="0">
              <a:lnSpc>
                <a:spcPct val="115000"/>
              </a:lnSpc>
              <a:spcBef>
                <a:spcPts val="0"/>
              </a:spcBef>
              <a:spcAft>
                <a:spcPts val="0"/>
              </a:spcAft>
              <a:buClr>
                <a:schemeClr val="dk1"/>
              </a:buClr>
              <a:buSzPts val="800"/>
              <a:buFont typeface="Hanken Grotesk"/>
              <a:buChar char="●"/>
              <a:defRPr sz="1400" b="0" i="0" u="none" strike="noStrike" cap="none">
                <a:solidFill>
                  <a:schemeClr val="dk1"/>
                </a:solidFill>
                <a:latin typeface="Hanken Grotesk"/>
                <a:ea typeface="Hanken Grotesk"/>
                <a:cs typeface="Hanken Grotesk"/>
                <a:sym typeface="Hanken Grotesk"/>
              </a:defRPr>
            </a:lvl1pPr>
            <a:lvl2pPr marL="914400" marR="0" lvl="1"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2pPr>
            <a:lvl3pPr marL="1371600" marR="0" lvl="2"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3pPr>
            <a:lvl4pPr marL="1828800" marR="0" lvl="3"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4pPr>
            <a:lvl5pPr marL="2286000" marR="0" lvl="4"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5pPr>
            <a:lvl6pPr marL="2743200" marR="0" lvl="5"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6pPr>
            <a:lvl7pPr marL="3200400" marR="0" lvl="6"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7pPr>
            <a:lvl8pPr marL="3657600" marR="0" lvl="7"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8pPr>
            <a:lvl9pPr marL="4114800" marR="0" lvl="8"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9pPr>
          </a:lstStyle>
          <a:p>
            <a:pPr marL="177800" indent="0" algn="ctr">
              <a:buFont typeface="Hanken Grotesk"/>
              <a:buNone/>
            </a:pPr>
            <a:r>
              <a:rPr lang="en-US" b="1" dirty="0"/>
              <a:t>Controls for locality biases in sequence</a:t>
            </a:r>
          </a:p>
        </p:txBody>
      </p:sp>
      <p:cxnSp>
        <p:nvCxnSpPr>
          <p:cNvPr id="31" name="Straight Arrow Connector 30">
            <a:extLst>
              <a:ext uri="{FF2B5EF4-FFF2-40B4-BE49-F238E27FC236}">
                <a16:creationId xmlns:a16="http://schemas.microsoft.com/office/drawing/2014/main" id="{C1CDC424-6CB3-C16F-56D7-1E4DEDDB1826}"/>
              </a:ext>
            </a:extLst>
          </p:cNvPr>
          <p:cNvCxnSpPr>
            <a:cxnSpLocks/>
          </p:cNvCxnSpPr>
          <p:nvPr/>
        </p:nvCxnSpPr>
        <p:spPr>
          <a:xfrm flipH="1">
            <a:off x="6138639" y="3864295"/>
            <a:ext cx="49698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3003790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A09CF5-2D67-90A5-4AC7-E19B15318D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F5F746C-4600-B0F1-FA14-9B50F724D1BA}"/>
              </a:ext>
            </a:extLst>
          </p:cNvPr>
          <p:cNvSpPr>
            <a:spLocks noGrp="1"/>
          </p:cNvSpPr>
          <p:nvPr>
            <p:ph type="title"/>
          </p:nvPr>
        </p:nvSpPr>
        <p:spPr>
          <a:xfrm>
            <a:off x="720000" y="322464"/>
            <a:ext cx="7704000" cy="572700"/>
          </a:xfrm>
        </p:spPr>
        <p:txBody>
          <a:bodyPr/>
          <a:lstStyle/>
          <a:p>
            <a:pPr algn="ctr"/>
            <a:r>
              <a:rPr lang="en-US" sz="2400" dirty="0"/>
              <a:t>Conservation score pretraining usually </a:t>
            </a:r>
            <a:br>
              <a:rPr lang="en-US" sz="2400" dirty="0"/>
            </a:br>
            <a:r>
              <a:rPr lang="en-US" sz="2400" dirty="0"/>
              <a:t>outperforms sequence reconstruction</a:t>
            </a:r>
          </a:p>
        </p:txBody>
      </p:sp>
      <p:pic>
        <p:nvPicPr>
          <p:cNvPr id="10" name="Picture 9" descr="The image appears to be a complex data visualization, likely a heatmap or clustered bar chart, illustrating the functional regions of various genomic segments across different species and conditions, including MEM (methylation) and MLM (methylation-assisted sequencing) data, with additional annotations for different types of functional regions such as introns, UTRs (untranslated regions), and enhancements. The y-axis seems to represent some form of genomic distance or sequence length, while the x-axis categorizes the data into different groups like 'NTP', 'CEP', 'Evo2', and 'PhyloGPN'. Each group contains subcategories with numerical values that may indicate some measure of functional importance or activity.&#10;&#10;AI-generated content may be incorrect.">
            <a:extLst>
              <a:ext uri="{FF2B5EF4-FFF2-40B4-BE49-F238E27FC236}">
                <a16:creationId xmlns:a16="http://schemas.microsoft.com/office/drawing/2014/main" id="{BBAC511E-DBDA-19E0-CD78-E546485A49D8}"/>
              </a:ext>
            </a:extLst>
          </p:cNvPr>
          <p:cNvPicPr>
            <a:picLocks noChangeAspect="1"/>
          </p:cNvPicPr>
          <p:nvPr/>
        </p:nvPicPr>
        <p:blipFill>
          <a:blip r:embed="rId3"/>
          <a:srcRect l="4222" t="17564" r="50000" b="48380"/>
          <a:stretch>
            <a:fillRect/>
          </a:stretch>
        </p:blipFill>
        <p:spPr>
          <a:xfrm>
            <a:off x="455525" y="1311203"/>
            <a:ext cx="3949547" cy="1751683"/>
          </a:xfrm>
          <a:prstGeom prst="rect">
            <a:avLst/>
          </a:prstGeom>
        </p:spPr>
      </p:pic>
      <p:pic>
        <p:nvPicPr>
          <p:cNvPr id="11" name="Picture 10">
            <a:extLst>
              <a:ext uri="{FF2B5EF4-FFF2-40B4-BE49-F238E27FC236}">
                <a16:creationId xmlns:a16="http://schemas.microsoft.com/office/drawing/2014/main" id="{F32303D8-4227-7AA7-4479-8EA6C2E82025}"/>
              </a:ext>
            </a:extLst>
          </p:cNvPr>
          <p:cNvPicPr>
            <a:picLocks noChangeAspect="1"/>
          </p:cNvPicPr>
          <p:nvPr/>
        </p:nvPicPr>
        <p:blipFill>
          <a:blip r:embed="rId3"/>
          <a:srcRect l="4222" t="59573" r="50000" b="6371"/>
          <a:stretch>
            <a:fillRect/>
          </a:stretch>
        </p:blipFill>
        <p:spPr>
          <a:xfrm>
            <a:off x="4737254" y="3062886"/>
            <a:ext cx="3949547" cy="1751683"/>
          </a:xfrm>
          <a:prstGeom prst="rect">
            <a:avLst/>
          </a:prstGeom>
        </p:spPr>
      </p:pic>
      <p:pic>
        <p:nvPicPr>
          <p:cNvPr id="12" name="Picture 11">
            <a:extLst>
              <a:ext uri="{FF2B5EF4-FFF2-40B4-BE49-F238E27FC236}">
                <a16:creationId xmlns:a16="http://schemas.microsoft.com/office/drawing/2014/main" id="{F0D31440-5140-4DF0-718A-5EE9906D6CA1}"/>
              </a:ext>
            </a:extLst>
          </p:cNvPr>
          <p:cNvPicPr>
            <a:picLocks noChangeAspect="1"/>
          </p:cNvPicPr>
          <p:nvPr/>
        </p:nvPicPr>
        <p:blipFill>
          <a:blip r:embed="rId3"/>
          <a:srcRect l="51148" t="22750" r="4692" b="43194"/>
          <a:stretch>
            <a:fillRect/>
          </a:stretch>
        </p:blipFill>
        <p:spPr>
          <a:xfrm>
            <a:off x="4807027" y="1311202"/>
            <a:ext cx="3810000" cy="1751684"/>
          </a:xfrm>
          <a:prstGeom prst="rect">
            <a:avLst/>
          </a:prstGeom>
        </p:spPr>
      </p:pic>
      <p:pic>
        <p:nvPicPr>
          <p:cNvPr id="13" name="Picture 12">
            <a:extLst>
              <a:ext uri="{FF2B5EF4-FFF2-40B4-BE49-F238E27FC236}">
                <a16:creationId xmlns:a16="http://schemas.microsoft.com/office/drawing/2014/main" id="{855AA9BF-D64A-858A-C280-72C2AD280AED}"/>
              </a:ext>
            </a:extLst>
          </p:cNvPr>
          <p:cNvPicPr>
            <a:picLocks noChangeAspect="1"/>
          </p:cNvPicPr>
          <p:nvPr/>
        </p:nvPicPr>
        <p:blipFill>
          <a:blip r:embed="rId3"/>
          <a:srcRect l="51148" t="62294" r="4205" b="8077"/>
          <a:stretch>
            <a:fillRect/>
          </a:stretch>
        </p:blipFill>
        <p:spPr>
          <a:xfrm>
            <a:off x="643800" y="3230880"/>
            <a:ext cx="3852000" cy="1524000"/>
          </a:xfrm>
          <a:prstGeom prst="rect">
            <a:avLst/>
          </a:prstGeom>
        </p:spPr>
      </p:pic>
      <p:sp>
        <p:nvSpPr>
          <p:cNvPr id="14" name="Oval 13">
            <a:extLst>
              <a:ext uri="{FF2B5EF4-FFF2-40B4-BE49-F238E27FC236}">
                <a16:creationId xmlns:a16="http://schemas.microsoft.com/office/drawing/2014/main" id="{AB736FCA-B495-5D2F-74DA-15A13A3A737B}"/>
              </a:ext>
            </a:extLst>
          </p:cNvPr>
          <p:cNvSpPr/>
          <p:nvPr/>
        </p:nvSpPr>
        <p:spPr>
          <a:xfrm>
            <a:off x="369480" y="1261018"/>
            <a:ext cx="274320" cy="274320"/>
          </a:xfrm>
          <a:prstGeom prst="ellipse">
            <a:avLst/>
          </a:prstGeom>
          <a:solidFill>
            <a:srgbClr val="F4E6AA"/>
          </a:solidFill>
          <a:ln>
            <a:solidFill>
              <a:srgbClr val="F4E6A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bg1">
                    <a:lumMod val="10000"/>
                  </a:schemeClr>
                </a:solidFill>
              </a:rPr>
              <a:t>1</a:t>
            </a:r>
          </a:p>
        </p:txBody>
      </p:sp>
      <p:sp>
        <p:nvSpPr>
          <p:cNvPr id="15" name="Oval 14">
            <a:extLst>
              <a:ext uri="{FF2B5EF4-FFF2-40B4-BE49-F238E27FC236}">
                <a16:creationId xmlns:a16="http://schemas.microsoft.com/office/drawing/2014/main" id="{2D450B4B-D026-BE46-5BD7-B77E51DF6128}"/>
              </a:ext>
            </a:extLst>
          </p:cNvPr>
          <p:cNvSpPr/>
          <p:nvPr/>
        </p:nvSpPr>
        <p:spPr>
          <a:xfrm>
            <a:off x="4600093" y="1265299"/>
            <a:ext cx="274320" cy="274320"/>
          </a:xfrm>
          <a:prstGeom prst="ellipse">
            <a:avLst/>
          </a:prstGeom>
          <a:solidFill>
            <a:srgbClr val="F4E6AA"/>
          </a:solidFill>
          <a:ln>
            <a:solidFill>
              <a:srgbClr val="F4E6A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bg1">
                    <a:lumMod val="10000"/>
                  </a:schemeClr>
                </a:solidFill>
              </a:rPr>
              <a:t>2</a:t>
            </a:r>
          </a:p>
        </p:txBody>
      </p:sp>
      <p:sp>
        <p:nvSpPr>
          <p:cNvPr id="16" name="Oval 15">
            <a:extLst>
              <a:ext uri="{FF2B5EF4-FFF2-40B4-BE49-F238E27FC236}">
                <a16:creationId xmlns:a16="http://schemas.microsoft.com/office/drawing/2014/main" id="{C2E95152-2D74-D100-47F2-CD2E88809052}"/>
              </a:ext>
            </a:extLst>
          </p:cNvPr>
          <p:cNvSpPr/>
          <p:nvPr/>
        </p:nvSpPr>
        <p:spPr>
          <a:xfrm>
            <a:off x="369480" y="3230880"/>
            <a:ext cx="274320" cy="274320"/>
          </a:xfrm>
          <a:prstGeom prst="ellipse">
            <a:avLst/>
          </a:prstGeom>
          <a:solidFill>
            <a:srgbClr val="F4E6AA"/>
          </a:solidFill>
          <a:ln>
            <a:solidFill>
              <a:srgbClr val="F4E6A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bg1">
                    <a:lumMod val="10000"/>
                  </a:schemeClr>
                </a:solidFill>
              </a:rPr>
              <a:t>3</a:t>
            </a:r>
          </a:p>
        </p:txBody>
      </p:sp>
      <p:sp>
        <p:nvSpPr>
          <p:cNvPr id="17" name="Oval 16">
            <a:extLst>
              <a:ext uri="{FF2B5EF4-FFF2-40B4-BE49-F238E27FC236}">
                <a16:creationId xmlns:a16="http://schemas.microsoft.com/office/drawing/2014/main" id="{AF2EF6B5-7805-AD16-4FBB-E0C2EF5FC54E}"/>
              </a:ext>
            </a:extLst>
          </p:cNvPr>
          <p:cNvSpPr/>
          <p:nvPr/>
        </p:nvSpPr>
        <p:spPr>
          <a:xfrm>
            <a:off x="4600093" y="3230880"/>
            <a:ext cx="274320" cy="274320"/>
          </a:xfrm>
          <a:prstGeom prst="ellipse">
            <a:avLst/>
          </a:prstGeom>
          <a:solidFill>
            <a:srgbClr val="F4E6AA"/>
          </a:solidFill>
          <a:ln>
            <a:solidFill>
              <a:srgbClr val="F4E6A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bg1">
                    <a:lumMod val="10000"/>
                  </a:schemeClr>
                </a:solidFill>
              </a:rPr>
              <a:t>4</a:t>
            </a:r>
          </a:p>
        </p:txBody>
      </p:sp>
      <p:sp>
        <p:nvSpPr>
          <p:cNvPr id="3" name="Rectangle 2">
            <a:extLst>
              <a:ext uri="{FF2B5EF4-FFF2-40B4-BE49-F238E27FC236}">
                <a16:creationId xmlns:a16="http://schemas.microsoft.com/office/drawing/2014/main" id="{B6D806FB-2FBC-5B2C-0AFB-0A74FCF3BBEF}"/>
              </a:ext>
            </a:extLst>
          </p:cNvPr>
          <p:cNvSpPr/>
          <p:nvPr/>
        </p:nvSpPr>
        <p:spPr>
          <a:xfrm>
            <a:off x="811165" y="1366447"/>
            <a:ext cx="3415553" cy="21907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39488652-4B8F-85F0-B68E-0EB655D02BDD}"/>
              </a:ext>
            </a:extLst>
          </p:cNvPr>
          <p:cNvSpPr/>
          <p:nvPr/>
        </p:nvSpPr>
        <p:spPr>
          <a:xfrm>
            <a:off x="1700566" y="1336625"/>
            <a:ext cx="2526152" cy="28491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A73CBCC6-1DD5-C5C1-2DB6-9D7FC26BA4B1}"/>
              </a:ext>
            </a:extLst>
          </p:cNvPr>
          <p:cNvSpPr/>
          <p:nvPr/>
        </p:nvSpPr>
        <p:spPr>
          <a:xfrm>
            <a:off x="558752" y="1712606"/>
            <a:ext cx="3529854" cy="33765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3E5B0A1B-6CC6-8A8C-8E1B-DA7899AA841A}"/>
              </a:ext>
            </a:extLst>
          </p:cNvPr>
          <p:cNvSpPr/>
          <p:nvPr/>
        </p:nvSpPr>
        <p:spPr>
          <a:xfrm>
            <a:off x="659510" y="2156718"/>
            <a:ext cx="3529854" cy="11023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A1D7F58C-5249-FABD-8915-FAEA99C8032B}"/>
              </a:ext>
            </a:extLst>
          </p:cNvPr>
          <p:cNvSpPr/>
          <p:nvPr/>
        </p:nvSpPr>
        <p:spPr>
          <a:xfrm>
            <a:off x="722381" y="2496636"/>
            <a:ext cx="3529854" cy="36703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5CAE1C81-8E36-85F4-C136-DE243A5A032D}"/>
              </a:ext>
            </a:extLst>
          </p:cNvPr>
          <p:cNvSpPr/>
          <p:nvPr/>
        </p:nvSpPr>
        <p:spPr>
          <a:xfrm>
            <a:off x="1288628" y="1411315"/>
            <a:ext cx="205004" cy="19180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05E3E224-B2C9-03E9-197B-1D0A6BE48AF5}"/>
              </a:ext>
            </a:extLst>
          </p:cNvPr>
          <p:cNvSpPr/>
          <p:nvPr/>
        </p:nvSpPr>
        <p:spPr>
          <a:xfrm>
            <a:off x="1692228" y="2477292"/>
            <a:ext cx="1989185" cy="32484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26CE1082-887F-9E42-EC8F-0C9690CEB631}"/>
              </a:ext>
            </a:extLst>
          </p:cNvPr>
          <p:cNvSpPr/>
          <p:nvPr/>
        </p:nvSpPr>
        <p:spPr>
          <a:xfrm>
            <a:off x="4572000" y="2266949"/>
            <a:ext cx="3529854" cy="58101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211D0F4C-1F80-703D-62D6-6FFBEDEC9896}"/>
              </a:ext>
            </a:extLst>
          </p:cNvPr>
          <p:cNvSpPr/>
          <p:nvPr/>
        </p:nvSpPr>
        <p:spPr>
          <a:xfrm>
            <a:off x="4737253" y="2742185"/>
            <a:ext cx="358622" cy="27432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2FC0BF28-6867-C8EE-E425-E5877ACAB51C}"/>
              </a:ext>
            </a:extLst>
          </p:cNvPr>
          <p:cNvSpPr/>
          <p:nvPr/>
        </p:nvSpPr>
        <p:spPr>
          <a:xfrm>
            <a:off x="4693444" y="2060263"/>
            <a:ext cx="3529854" cy="9645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DCCF7A24-2ACC-5AD7-9EC2-B2CBC6F77C7E}"/>
              </a:ext>
            </a:extLst>
          </p:cNvPr>
          <p:cNvSpPr/>
          <p:nvPr/>
        </p:nvSpPr>
        <p:spPr>
          <a:xfrm>
            <a:off x="4737253" y="1852958"/>
            <a:ext cx="3529854" cy="9645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E5ED72FE-155A-F3BB-512E-F15540B780EF}"/>
              </a:ext>
            </a:extLst>
          </p:cNvPr>
          <p:cNvSpPr/>
          <p:nvPr/>
        </p:nvSpPr>
        <p:spPr>
          <a:xfrm>
            <a:off x="4947100" y="1398178"/>
            <a:ext cx="3499194" cy="9645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F730FAAB-AC2C-8217-94DC-4A315851BE4F}"/>
              </a:ext>
            </a:extLst>
          </p:cNvPr>
          <p:cNvSpPr/>
          <p:nvPr/>
        </p:nvSpPr>
        <p:spPr>
          <a:xfrm>
            <a:off x="5955506" y="1367926"/>
            <a:ext cx="2468494" cy="15537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F148B295-2BB4-FECC-25FF-1259038E5A23}"/>
              </a:ext>
            </a:extLst>
          </p:cNvPr>
          <p:cNvSpPr/>
          <p:nvPr/>
        </p:nvSpPr>
        <p:spPr>
          <a:xfrm>
            <a:off x="4916564" y="1634526"/>
            <a:ext cx="3401142" cy="9645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C8237A57-FB97-6460-EFBB-BBCF6534FCE7}"/>
              </a:ext>
            </a:extLst>
          </p:cNvPr>
          <p:cNvSpPr/>
          <p:nvPr/>
        </p:nvSpPr>
        <p:spPr>
          <a:xfrm>
            <a:off x="975982" y="3310103"/>
            <a:ext cx="3298362" cy="11156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65EC9BF8-FA4B-0FCA-396E-C4749EBC3F1B}"/>
              </a:ext>
            </a:extLst>
          </p:cNvPr>
          <p:cNvSpPr/>
          <p:nvPr/>
        </p:nvSpPr>
        <p:spPr>
          <a:xfrm>
            <a:off x="1788318" y="3333084"/>
            <a:ext cx="2481263" cy="11156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DCFD3AF2-0209-8FCF-94F5-FCA2002800FE}"/>
              </a:ext>
            </a:extLst>
          </p:cNvPr>
          <p:cNvSpPr/>
          <p:nvPr/>
        </p:nvSpPr>
        <p:spPr>
          <a:xfrm>
            <a:off x="775255" y="3287122"/>
            <a:ext cx="3414109" cy="25379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258E4018-E43F-41C3-3556-22C30898CBA4}"/>
              </a:ext>
            </a:extLst>
          </p:cNvPr>
          <p:cNvSpPr/>
          <p:nvPr/>
        </p:nvSpPr>
        <p:spPr>
          <a:xfrm>
            <a:off x="681038" y="3849658"/>
            <a:ext cx="3440905" cy="54613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72683A78-40BB-B84B-2F01-0B788FAB8492}"/>
              </a:ext>
            </a:extLst>
          </p:cNvPr>
          <p:cNvSpPr/>
          <p:nvPr/>
        </p:nvSpPr>
        <p:spPr>
          <a:xfrm>
            <a:off x="5074414" y="3130962"/>
            <a:ext cx="3440905" cy="13960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34AB12F4-740C-A5F8-E33A-A7A1291BB5FD}"/>
              </a:ext>
            </a:extLst>
          </p:cNvPr>
          <p:cNvSpPr/>
          <p:nvPr/>
        </p:nvSpPr>
        <p:spPr>
          <a:xfrm>
            <a:off x="4896682" y="3368604"/>
            <a:ext cx="3466353" cy="11277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03AA86D3-B7FA-3208-EDC8-A9F67BECB128}"/>
              </a:ext>
            </a:extLst>
          </p:cNvPr>
          <p:cNvSpPr/>
          <p:nvPr/>
        </p:nvSpPr>
        <p:spPr>
          <a:xfrm>
            <a:off x="4918951" y="3470753"/>
            <a:ext cx="3466353" cy="11277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648006C1-6210-12A4-4FEE-74D6B30F8D4A}"/>
              </a:ext>
            </a:extLst>
          </p:cNvPr>
          <p:cNvSpPr/>
          <p:nvPr/>
        </p:nvSpPr>
        <p:spPr>
          <a:xfrm>
            <a:off x="4987506" y="3583530"/>
            <a:ext cx="3466353" cy="11277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58ABC13F-A8F7-1190-0584-4A6438212475}"/>
              </a:ext>
            </a:extLst>
          </p:cNvPr>
          <p:cNvSpPr/>
          <p:nvPr/>
        </p:nvSpPr>
        <p:spPr>
          <a:xfrm>
            <a:off x="4987506" y="3797360"/>
            <a:ext cx="3466353" cy="31743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044B52AF-1A4A-E483-A04A-574FDC1EA00A}"/>
              </a:ext>
            </a:extLst>
          </p:cNvPr>
          <p:cNvSpPr/>
          <p:nvPr/>
        </p:nvSpPr>
        <p:spPr>
          <a:xfrm>
            <a:off x="4931674" y="4225376"/>
            <a:ext cx="3440905" cy="10578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97652679-5E51-D961-2214-ABD542DE91DC}"/>
              </a:ext>
            </a:extLst>
          </p:cNvPr>
          <p:cNvSpPr/>
          <p:nvPr/>
        </p:nvSpPr>
        <p:spPr>
          <a:xfrm>
            <a:off x="4874413" y="4448035"/>
            <a:ext cx="3440905" cy="13672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2B615ABF-1301-8B42-6730-0220368AF94D}"/>
              </a:ext>
            </a:extLst>
          </p:cNvPr>
          <p:cNvSpPr/>
          <p:nvPr/>
        </p:nvSpPr>
        <p:spPr>
          <a:xfrm>
            <a:off x="1703745" y="1336624"/>
            <a:ext cx="2569464" cy="1527048"/>
          </a:xfrm>
          <a:prstGeom prst="rect">
            <a:avLst/>
          </a:prstGeom>
          <a:noFill/>
          <a:ln w="6350">
            <a:solidFill>
              <a:schemeClr val="bg1">
                <a:lumMod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0" name="Rectangle 39">
            <a:extLst>
              <a:ext uri="{FF2B5EF4-FFF2-40B4-BE49-F238E27FC236}">
                <a16:creationId xmlns:a16="http://schemas.microsoft.com/office/drawing/2014/main" id="{6C0CB42B-3579-FD59-BF9C-C43A1C048731}"/>
              </a:ext>
            </a:extLst>
          </p:cNvPr>
          <p:cNvSpPr/>
          <p:nvPr/>
        </p:nvSpPr>
        <p:spPr>
          <a:xfrm>
            <a:off x="5955505" y="1360778"/>
            <a:ext cx="2511861" cy="1488278"/>
          </a:xfrm>
          <a:prstGeom prst="rect">
            <a:avLst/>
          </a:prstGeom>
          <a:noFill/>
          <a:ln w="6350">
            <a:solidFill>
              <a:schemeClr val="bg1">
                <a:lumMod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CDDD2D87-3A78-229C-A7EC-DC9F6BDE212C}"/>
              </a:ext>
            </a:extLst>
          </p:cNvPr>
          <p:cNvSpPr/>
          <p:nvPr/>
        </p:nvSpPr>
        <p:spPr>
          <a:xfrm>
            <a:off x="6050280" y="3111366"/>
            <a:ext cx="2505456" cy="1488278"/>
          </a:xfrm>
          <a:prstGeom prst="rect">
            <a:avLst/>
          </a:prstGeom>
          <a:noFill/>
          <a:ln w="6350">
            <a:solidFill>
              <a:schemeClr val="bg1">
                <a:lumMod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a:extLst>
              <a:ext uri="{FF2B5EF4-FFF2-40B4-BE49-F238E27FC236}">
                <a16:creationId xmlns:a16="http://schemas.microsoft.com/office/drawing/2014/main" id="{04CA1213-E04E-5CDF-E89E-53C46E1049A5}"/>
              </a:ext>
            </a:extLst>
          </p:cNvPr>
          <p:cNvSpPr/>
          <p:nvPr/>
        </p:nvSpPr>
        <p:spPr>
          <a:xfrm>
            <a:off x="1800656" y="3292571"/>
            <a:ext cx="2514600" cy="1248927"/>
          </a:xfrm>
          <a:prstGeom prst="rect">
            <a:avLst/>
          </a:prstGeom>
          <a:noFill/>
          <a:ln w="6350">
            <a:solidFill>
              <a:schemeClr val="bg1">
                <a:lumMod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0670050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9CED2C-7556-AB96-AC23-0CE7AF5B0F07}"/>
            </a:ext>
          </a:extLst>
        </p:cNvPr>
        <p:cNvGrpSpPr/>
        <p:nvPr/>
      </p:nvGrpSpPr>
      <p:grpSpPr>
        <a:xfrm>
          <a:off x="0" y="0"/>
          <a:ext cx="0" cy="0"/>
          <a:chOff x="0" y="0"/>
          <a:chExt cx="0" cy="0"/>
        </a:xfrm>
      </p:grpSpPr>
      <p:pic>
        <p:nvPicPr>
          <p:cNvPr id="10" name="Picture 9" descr="The image appears to be a complex data visualization, likely a heatmap or clustered bar chart, illustrating the functional regions of various genomic segments across different species and conditions, including MEM (methylation) and MLM (methylation-assisted sequencing) data, with additional annotations for different types of functional regions such as introns, UTRs (untranslated regions), and enhancements. The y-axis seems to represent some form of genomic distance or sequence length, while the x-axis categorizes the data into different groups like 'NTP', 'CEP', 'Evo2', and 'PhyloGPN'. Each group contains subcategories with numerical values that may indicate some measure of functional importance or activity.&#10;&#10;AI-generated content may be incorrect.">
            <a:extLst>
              <a:ext uri="{FF2B5EF4-FFF2-40B4-BE49-F238E27FC236}">
                <a16:creationId xmlns:a16="http://schemas.microsoft.com/office/drawing/2014/main" id="{2CCB89A2-5202-EAD5-8453-2DFDD631BDF3}"/>
              </a:ext>
            </a:extLst>
          </p:cNvPr>
          <p:cNvPicPr>
            <a:picLocks noChangeAspect="1"/>
          </p:cNvPicPr>
          <p:nvPr/>
        </p:nvPicPr>
        <p:blipFill>
          <a:blip r:embed="rId3"/>
          <a:srcRect l="4222" t="17564" r="50000" b="48380"/>
          <a:stretch>
            <a:fillRect/>
          </a:stretch>
        </p:blipFill>
        <p:spPr>
          <a:xfrm>
            <a:off x="455525" y="1311203"/>
            <a:ext cx="3949547" cy="1751683"/>
          </a:xfrm>
          <a:prstGeom prst="rect">
            <a:avLst/>
          </a:prstGeom>
        </p:spPr>
      </p:pic>
      <p:pic>
        <p:nvPicPr>
          <p:cNvPr id="11" name="Picture 10">
            <a:extLst>
              <a:ext uri="{FF2B5EF4-FFF2-40B4-BE49-F238E27FC236}">
                <a16:creationId xmlns:a16="http://schemas.microsoft.com/office/drawing/2014/main" id="{E0406A20-52D1-9404-6824-8C2419F9ED17}"/>
              </a:ext>
            </a:extLst>
          </p:cNvPr>
          <p:cNvPicPr>
            <a:picLocks noChangeAspect="1"/>
          </p:cNvPicPr>
          <p:nvPr/>
        </p:nvPicPr>
        <p:blipFill>
          <a:blip r:embed="rId3"/>
          <a:srcRect l="4222" t="59573" r="50000" b="6371"/>
          <a:stretch>
            <a:fillRect/>
          </a:stretch>
        </p:blipFill>
        <p:spPr>
          <a:xfrm>
            <a:off x="4737254" y="3062886"/>
            <a:ext cx="3949547" cy="1751683"/>
          </a:xfrm>
          <a:prstGeom prst="rect">
            <a:avLst/>
          </a:prstGeom>
        </p:spPr>
      </p:pic>
      <p:pic>
        <p:nvPicPr>
          <p:cNvPr id="12" name="Picture 11">
            <a:extLst>
              <a:ext uri="{FF2B5EF4-FFF2-40B4-BE49-F238E27FC236}">
                <a16:creationId xmlns:a16="http://schemas.microsoft.com/office/drawing/2014/main" id="{CC3420DC-3344-7E37-A518-4A4D4693AE3E}"/>
              </a:ext>
            </a:extLst>
          </p:cNvPr>
          <p:cNvPicPr>
            <a:picLocks noChangeAspect="1"/>
          </p:cNvPicPr>
          <p:nvPr/>
        </p:nvPicPr>
        <p:blipFill>
          <a:blip r:embed="rId3"/>
          <a:srcRect l="51148" t="22750" r="4692" b="43194"/>
          <a:stretch>
            <a:fillRect/>
          </a:stretch>
        </p:blipFill>
        <p:spPr>
          <a:xfrm>
            <a:off x="4807027" y="1311202"/>
            <a:ext cx="3810000" cy="1751684"/>
          </a:xfrm>
          <a:prstGeom prst="rect">
            <a:avLst/>
          </a:prstGeom>
        </p:spPr>
      </p:pic>
      <p:pic>
        <p:nvPicPr>
          <p:cNvPr id="13" name="Picture 12">
            <a:extLst>
              <a:ext uri="{FF2B5EF4-FFF2-40B4-BE49-F238E27FC236}">
                <a16:creationId xmlns:a16="http://schemas.microsoft.com/office/drawing/2014/main" id="{BE6ACE5A-2A5B-DFE5-18D6-BEE32B8D5324}"/>
              </a:ext>
            </a:extLst>
          </p:cNvPr>
          <p:cNvPicPr>
            <a:picLocks noChangeAspect="1"/>
          </p:cNvPicPr>
          <p:nvPr/>
        </p:nvPicPr>
        <p:blipFill>
          <a:blip r:embed="rId3"/>
          <a:srcRect l="51148" t="62294" r="4205" b="8077"/>
          <a:stretch>
            <a:fillRect/>
          </a:stretch>
        </p:blipFill>
        <p:spPr>
          <a:xfrm>
            <a:off x="643800" y="3230880"/>
            <a:ext cx="3852000" cy="1524000"/>
          </a:xfrm>
          <a:prstGeom prst="rect">
            <a:avLst/>
          </a:prstGeom>
        </p:spPr>
      </p:pic>
      <p:sp>
        <p:nvSpPr>
          <p:cNvPr id="15" name="Oval 14">
            <a:extLst>
              <a:ext uri="{FF2B5EF4-FFF2-40B4-BE49-F238E27FC236}">
                <a16:creationId xmlns:a16="http://schemas.microsoft.com/office/drawing/2014/main" id="{109D0DFB-E7F3-C532-8164-78DD52B5C15C}"/>
              </a:ext>
            </a:extLst>
          </p:cNvPr>
          <p:cNvSpPr/>
          <p:nvPr/>
        </p:nvSpPr>
        <p:spPr>
          <a:xfrm>
            <a:off x="4600093" y="1265299"/>
            <a:ext cx="274320" cy="274320"/>
          </a:xfrm>
          <a:prstGeom prst="ellipse">
            <a:avLst/>
          </a:prstGeom>
          <a:solidFill>
            <a:srgbClr val="F4E6AA"/>
          </a:solidFill>
          <a:ln>
            <a:solidFill>
              <a:srgbClr val="F4E6A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bg1">
                    <a:lumMod val="10000"/>
                  </a:schemeClr>
                </a:solidFill>
              </a:rPr>
              <a:t>2</a:t>
            </a:r>
          </a:p>
        </p:txBody>
      </p:sp>
      <p:sp>
        <p:nvSpPr>
          <p:cNvPr id="16" name="Oval 15">
            <a:extLst>
              <a:ext uri="{FF2B5EF4-FFF2-40B4-BE49-F238E27FC236}">
                <a16:creationId xmlns:a16="http://schemas.microsoft.com/office/drawing/2014/main" id="{C9239AEB-8145-AC69-B958-EB6C902268BB}"/>
              </a:ext>
            </a:extLst>
          </p:cNvPr>
          <p:cNvSpPr/>
          <p:nvPr/>
        </p:nvSpPr>
        <p:spPr>
          <a:xfrm>
            <a:off x="369480" y="3230880"/>
            <a:ext cx="274320" cy="274320"/>
          </a:xfrm>
          <a:prstGeom prst="ellipse">
            <a:avLst/>
          </a:prstGeom>
          <a:solidFill>
            <a:srgbClr val="F4E6AA"/>
          </a:solidFill>
          <a:ln>
            <a:solidFill>
              <a:srgbClr val="F4E6A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bg1">
                    <a:lumMod val="10000"/>
                  </a:schemeClr>
                </a:solidFill>
              </a:rPr>
              <a:t>3</a:t>
            </a:r>
          </a:p>
        </p:txBody>
      </p:sp>
      <p:sp>
        <p:nvSpPr>
          <p:cNvPr id="17" name="Oval 16">
            <a:extLst>
              <a:ext uri="{FF2B5EF4-FFF2-40B4-BE49-F238E27FC236}">
                <a16:creationId xmlns:a16="http://schemas.microsoft.com/office/drawing/2014/main" id="{D334B209-DA27-336A-4C1D-3BAE05BF2B48}"/>
              </a:ext>
            </a:extLst>
          </p:cNvPr>
          <p:cNvSpPr/>
          <p:nvPr/>
        </p:nvSpPr>
        <p:spPr>
          <a:xfrm>
            <a:off x="4600093" y="3230880"/>
            <a:ext cx="274320" cy="274320"/>
          </a:xfrm>
          <a:prstGeom prst="ellipse">
            <a:avLst/>
          </a:prstGeom>
          <a:solidFill>
            <a:srgbClr val="F4E6AA"/>
          </a:solidFill>
          <a:ln>
            <a:solidFill>
              <a:srgbClr val="F4E6A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bg1">
                    <a:lumMod val="10000"/>
                  </a:schemeClr>
                </a:solidFill>
              </a:rPr>
              <a:t>4</a:t>
            </a:r>
          </a:p>
        </p:txBody>
      </p:sp>
      <p:sp>
        <p:nvSpPr>
          <p:cNvPr id="3" name="Rectangle 2">
            <a:extLst>
              <a:ext uri="{FF2B5EF4-FFF2-40B4-BE49-F238E27FC236}">
                <a16:creationId xmlns:a16="http://schemas.microsoft.com/office/drawing/2014/main" id="{03DB50DE-A913-5B48-BC45-93DB0FAD5322}"/>
              </a:ext>
            </a:extLst>
          </p:cNvPr>
          <p:cNvSpPr/>
          <p:nvPr/>
        </p:nvSpPr>
        <p:spPr>
          <a:xfrm>
            <a:off x="811165" y="1366447"/>
            <a:ext cx="3415553" cy="21907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59BD562D-C014-8DCE-F982-A30A0A3FD717}"/>
              </a:ext>
            </a:extLst>
          </p:cNvPr>
          <p:cNvSpPr/>
          <p:nvPr/>
        </p:nvSpPr>
        <p:spPr>
          <a:xfrm>
            <a:off x="1694609" y="1402459"/>
            <a:ext cx="2532109" cy="21907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367699A0-A25F-14E3-BDFD-1FFAD5784682}"/>
              </a:ext>
            </a:extLst>
          </p:cNvPr>
          <p:cNvSpPr/>
          <p:nvPr/>
        </p:nvSpPr>
        <p:spPr>
          <a:xfrm>
            <a:off x="558752" y="1946376"/>
            <a:ext cx="3529854" cy="10388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A6596A4B-1EBB-EE49-ABC3-6EF3D78C2B1B}"/>
              </a:ext>
            </a:extLst>
          </p:cNvPr>
          <p:cNvSpPr/>
          <p:nvPr/>
        </p:nvSpPr>
        <p:spPr>
          <a:xfrm>
            <a:off x="659510" y="2156718"/>
            <a:ext cx="3529854" cy="11023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56CF99BD-6CA5-B408-6A5D-4DCEB4377F43}"/>
              </a:ext>
            </a:extLst>
          </p:cNvPr>
          <p:cNvSpPr/>
          <p:nvPr/>
        </p:nvSpPr>
        <p:spPr>
          <a:xfrm>
            <a:off x="722381" y="2496637"/>
            <a:ext cx="3529854" cy="35133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D5C93403-81EF-0054-4E11-7EFDF05A19D1}"/>
              </a:ext>
            </a:extLst>
          </p:cNvPr>
          <p:cNvSpPr/>
          <p:nvPr/>
        </p:nvSpPr>
        <p:spPr>
          <a:xfrm>
            <a:off x="1288628" y="1411315"/>
            <a:ext cx="205004" cy="19180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89DCB4D1-B64F-3115-989B-FB2259FF0952}"/>
              </a:ext>
            </a:extLst>
          </p:cNvPr>
          <p:cNvSpPr/>
          <p:nvPr/>
        </p:nvSpPr>
        <p:spPr>
          <a:xfrm>
            <a:off x="1692228" y="2477292"/>
            <a:ext cx="1989185" cy="32484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174BFD8F-B332-688C-CC5F-5ECBC765746B}"/>
              </a:ext>
            </a:extLst>
          </p:cNvPr>
          <p:cNvSpPr/>
          <p:nvPr/>
        </p:nvSpPr>
        <p:spPr>
          <a:xfrm>
            <a:off x="4572000" y="2266950"/>
            <a:ext cx="3529854" cy="53518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B93A1632-8C1D-5490-AA5B-3B8379DEE141}"/>
              </a:ext>
            </a:extLst>
          </p:cNvPr>
          <p:cNvSpPr/>
          <p:nvPr/>
        </p:nvSpPr>
        <p:spPr>
          <a:xfrm>
            <a:off x="4737253" y="2742185"/>
            <a:ext cx="358622" cy="27432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24802EF5-5AAB-14EA-6563-4F29B34F2087}"/>
              </a:ext>
            </a:extLst>
          </p:cNvPr>
          <p:cNvSpPr/>
          <p:nvPr/>
        </p:nvSpPr>
        <p:spPr>
          <a:xfrm>
            <a:off x="4693444" y="2060263"/>
            <a:ext cx="3529854" cy="9645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A75D6715-63D6-3A17-5503-4A55067CDD89}"/>
              </a:ext>
            </a:extLst>
          </p:cNvPr>
          <p:cNvSpPr/>
          <p:nvPr/>
        </p:nvSpPr>
        <p:spPr>
          <a:xfrm>
            <a:off x="4947100" y="1398178"/>
            <a:ext cx="3499194" cy="9645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F6700907-5D99-85BA-EAF1-6A9A92581DDF}"/>
              </a:ext>
            </a:extLst>
          </p:cNvPr>
          <p:cNvSpPr/>
          <p:nvPr/>
        </p:nvSpPr>
        <p:spPr>
          <a:xfrm>
            <a:off x="5955506" y="1426842"/>
            <a:ext cx="2468494" cy="9645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F5EE063F-1F46-AE1C-9C80-D68DE76BC3AE}"/>
              </a:ext>
            </a:extLst>
          </p:cNvPr>
          <p:cNvSpPr/>
          <p:nvPr/>
        </p:nvSpPr>
        <p:spPr>
          <a:xfrm>
            <a:off x="975982" y="3310103"/>
            <a:ext cx="3298362" cy="11156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1BABF88A-B525-7279-B434-478D17629A79}"/>
              </a:ext>
            </a:extLst>
          </p:cNvPr>
          <p:cNvSpPr/>
          <p:nvPr/>
        </p:nvSpPr>
        <p:spPr>
          <a:xfrm>
            <a:off x="1788318" y="3333084"/>
            <a:ext cx="2481263" cy="11156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4EC0F7BE-947B-4D07-015B-8D7A7BC219D6}"/>
              </a:ext>
            </a:extLst>
          </p:cNvPr>
          <p:cNvSpPr/>
          <p:nvPr/>
        </p:nvSpPr>
        <p:spPr>
          <a:xfrm>
            <a:off x="681038" y="4065270"/>
            <a:ext cx="3440905" cy="33051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8E0F0DD5-5C43-1823-32F4-5B9BF22C6C7E}"/>
              </a:ext>
            </a:extLst>
          </p:cNvPr>
          <p:cNvSpPr/>
          <p:nvPr/>
        </p:nvSpPr>
        <p:spPr>
          <a:xfrm>
            <a:off x="5074414" y="3130962"/>
            <a:ext cx="3440905" cy="13960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82430831-742B-36C9-4BB2-55B2A1AECF42}"/>
              </a:ext>
            </a:extLst>
          </p:cNvPr>
          <p:cNvSpPr/>
          <p:nvPr/>
        </p:nvSpPr>
        <p:spPr>
          <a:xfrm>
            <a:off x="4918951" y="3470753"/>
            <a:ext cx="3466353" cy="11277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3633676F-4FE8-D004-792F-615121930FB4}"/>
              </a:ext>
            </a:extLst>
          </p:cNvPr>
          <p:cNvSpPr/>
          <p:nvPr/>
        </p:nvSpPr>
        <p:spPr>
          <a:xfrm>
            <a:off x="4987506" y="3797360"/>
            <a:ext cx="3466353" cy="31743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54F5C910-5DA3-D3A0-3704-44CE17BE2C68}"/>
              </a:ext>
            </a:extLst>
          </p:cNvPr>
          <p:cNvSpPr/>
          <p:nvPr/>
        </p:nvSpPr>
        <p:spPr>
          <a:xfrm>
            <a:off x="4931674" y="4225376"/>
            <a:ext cx="3440905" cy="10578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F42BCFE5-ACB4-BF97-C4E1-C9B3B88CCB25}"/>
              </a:ext>
            </a:extLst>
          </p:cNvPr>
          <p:cNvSpPr/>
          <p:nvPr/>
        </p:nvSpPr>
        <p:spPr>
          <a:xfrm>
            <a:off x="4874413" y="4448035"/>
            <a:ext cx="3440905" cy="13672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35C72798-80FE-C9F2-FE53-4BBF2540AE26}"/>
              </a:ext>
            </a:extLst>
          </p:cNvPr>
          <p:cNvSpPr/>
          <p:nvPr/>
        </p:nvSpPr>
        <p:spPr>
          <a:xfrm>
            <a:off x="681038" y="3855940"/>
            <a:ext cx="3440905" cy="11156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645CFEBD-FE33-8682-0D84-903A1BBEA241}"/>
              </a:ext>
            </a:extLst>
          </p:cNvPr>
          <p:cNvSpPr/>
          <p:nvPr/>
        </p:nvSpPr>
        <p:spPr>
          <a:xfrm>
            <a:off x="1703745" y="1336624"/>
            <a:ext cx="2569464" cy="1527048"/>
          </a:xfrm>
          <a:prstGeom prst="rect">
            <a:avLst/>
          </a:prstGeom>
          <a:noFill/>
          <a:ln w="6350">
            <a:solidFill>
              <a:schemeClr val="bg1">
                <a:lumMod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0" name="Rectangle 39">
            <a:extLst>
              <a:ext uri="{FF2B5EF4-FFF2-40B4-BE49-F238E27FC236}">
                <a16:creationId xmlns:a16="http://schemas.microsoft.com/office/drawing/2014/main" id="{D3B39FA3-62C5-7F9B-88FD-A8713AD3B401}"/>
              </a:ext>
            </a:extLst>
          </p:cNvPr>
          <p:cNvSpPr/>
          <p:nvPr/>
        </p:nvSpPr>
        <p:spPr>
          <a:xfrm>
            <a:off x="1800656" y="3292571"/>
            <a:ext cx="2514600" cy="1248927"/>
          </a:xfrm>
          <a:prstGeom prst="rect">
            <a:avLst/>
          </a:prstGeom>
          <a:noFill/>
          <a:ln w="6350">
            <a:solidFill>
              <a:schemeClr val="bg1">
                <a:lumMod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FD305859-4ABD-9BBC-1A3B-75394C3B087E}"/>
              </a:ext>
            </a:extLst>
          </p:cNvPr>
          <p:cNvSpPr/>
          <p:nvPr/>
        </p:nvSpPr>
        <p:spPr>
          <a:xfrm>
            <a:off x="5955505" y="1360778"/>
            <a:ext cx="2511861" cy="1488278"/>
          </a:xfrm>
          <a:prstGeom prst="rect">
            <a:avLst/>
          </a:prstGeom>
          <a:noFill/>
          <a:ln w="6350">
            <a:solidFill>
              <a:schemeClr val="bg1">
                <a:lumMod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a:extLst>
              <a:ext uri="{FF2B5EF4-FFF2-40B4-BE49-F238E27FC236}">
                <a16:creationId xmlns:a16="http://schemas.microsoft.com/office/drawing/2014/main" id="{6C7A4DFF-6B16-2970-C402-ABFF5BB7487E}"/>
              </a:ext>
            </a:extLst>
          </p:cNvPr>
          <p:cNvSpPr/>
          <p:nvPr/>
        </p:nvSpPr>
        <p:spPr>
          <a:xfrm>
            <a:off x="6050280" y="3111366"/>
            <a:ext cx="2505456" cy="1488278"/>
          </a:xfrm>
          <a:prstGeom prst="rect">
            <a:avLst/>
          </a:prstGeom>
          <a:noFill/>
          <a:ln w="6350">
            <a:solidFill>
              <a:schemeClr val="bg1">
                <a:lumMod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Title 1">
            <a:extLst>
              <a:ext uri="{FF2B5EF4-FFF2-40B4-BE49-F238E27FC236}">
                <a16:creationId xmlns:a16="http://schemas.microsoft.com/office/drawing/2014/main" id="{B2ECF7B0-8CA1-09A1-0AEE-A35070D789E1}"/>
              </a:ext>
            </a:extLst>
          </p:cNvPr>
          <p:cNvSpPr>
            <a:spLocks noGrp="1"/>
          </p:cNvSpPr>
          <p:nvPr>
            <p:ph type="title"/>
          </p:nvPr>
        </p:nvSpPr>
        <p:spPr>
          <a:xfrm>
            <a:off x="720000" y="322464"/>
            <a:ext cx="7704000" cy="572700"/>
          </a:xfrm>
        </p:spPr>
        <p:txBody>
          <a:bodyPr/>
          <a:lstStyle/>
          <a:p>
            <a:pPr algn="ctr"/>
            <a:r>
              <a:rPr lang="en-US" sz="2400" dirty="0"/>
              <a:t>Combining objectives leads to </a:t>
            </a:r>
            <a:br>
              <a:rPr lang="en-US" sz="2400" dirty="0"/>
            </a:br>
            <a:r>
              <a:rPr lang="en-US" sz="2400" dirty="0"/>
              <a:t>best-of-both-worlds performance</a:t>
            </a:r>
          </a:p>
        </p:txBody>
      </p:sp>
      <p:sp>
        <p:nvSpPr>
          <p:cNvPr id="21" name="Oval 20">
            <a:extLst>
              <a:ext uri="{FF2B5EF4-FFF2-40B4-BE49-F238E27FC236}">
                <a16:creationId xmlns:a16="http://schemas.microsoft.com/office/drawing/2014/main" id="{082DC407-562C-F7C6-D815-E1D971DBD3FB}"/>
              </a:ext>
            </a:extLst>
          </p:cNvPr>
          <p:cNvSpPr/>
          <p:nvPr/>
        </p:nvSpPr>
        <p:spPr>
          <a:xfrm>
            <a:off x="369480" y="1261018"/>
            <a:ext cx="274320" cy="274320"/>
          </a:xfrm>
          <a:prstGeom prst="ellipse">
            <a:avLst/>
          </a:prstGeom>
          <a:solidFill>
            <a:srgbClr val="F4E6AA"/>
          </a:solidFill>
          <a:ln>
            <a:solidFill>
              <a:srgbClr val="F4E6A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bg1">
                    <a:lumMod val="10000"/>
                  </a:schemeClr>
                </a:solidFill>
              </a:rPr>
              <a:t>1</a:t>
            </a:r>
          </a:p>
        </p:txBody>
      </p:sp>
    </p:spTree>
    <p:extLst>
      <p:ext uri="{BB962C8B-B14F-4D97-AF65-F5344CB8AC3E}">
        <p14:creationId xmlns:p14="http://schemas.microsoft.com/office/powerpoint/2010/main" val="126629843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descr="The image appears to be a complex data visualization, likely a heatmap or clustered bar chart, illustrating the functional regions of various genomic segments across different species and conditions, including MEM (methylation) and MLM (methylation-assisted sequencing) data, with additional annotations for different types of functional regions such as introns, UTRs (untranslated regions), and enhancements. The y-axis seems to represent some form of genomic distance or sequence length, while the x-axis categorizes the data into different groups like 'NTP', 'CEP', 'Evo2', and 'PhyloGPN'. Each group contains subcategories with numerical values that may indicate some measure of functional importance or activity.&#10;&#10;AI-generated content may be incorrect.">
            <a:extLst>
              <a:ext uri="{FF2B5EF4-FFF2-40B4-BE49-F238E27FC236}">
                <a16:creationId xmlns:a16="http://schemas.microsoft.com/office/drawing/2014/main" id="{DD95FFCE-8810-0D82-4119-0B2CF7A488D6}"/>
              </a:ext>
            </a:extLst>
          </p:cNvPr>
          <p:cNvPicPr>
            <a:picLocks noChangeAspect="1"/>
          </p:cNvPicPr>
          <p:nvPr/>
        </p:nvPicPr>
        <p:blipFill>
          <a:blip r:embed="rId3"/>
          <a:srcRect l="4222" t="17564" r="50000" b="48380"/>
          <a:stretch>
            <a:fillRect/>
          </a:stretch>
        </p:blipFill>
        <p:spPr>
          <a:xfrm>
            <a:off x="457199" y="1311203"/>
            <a:ext cx="3949547" cy="1751683"/>
          </a:xfrm>
          <a:prstGeom prst="rect">
            <a:avLst/>
          </a:prstGeom>
        </p:spPr>
      </p:pic>
      <p:pic>
        <p:nvPicPr>
          <p:cNvPr id="11" name="Picture 10">
            <a:extLst>
              <a:ext uri="{FF2B5EF4-FFF2-40B4-BE49-F238E27FC236}">
                <a16:creationId xmlns:a16="http://schemas.microsoft.com/office/drawing/2014/main" id="{8AAE83BB-6766-5270-17B9-44BB9D9D5228}"/>
              </a:ext>
            </a:extLst>
          </p:cNvPr>
          <p:cNvPicPr>
            <a:picLocks noChangeAspect="1"/>
          </p:cNvPicPr>
          <p:nvPr/>
        </p:nvPicPr>
        <p:blipFill>
          <a:blip r:embed="rId3"/>
          <a:srcRect l="4222" t="59573" r="50000" b="6371"/>
          <a:stretch>
            <a:fillRect/>
          </a:stretch>
        </p:blipFill>
        <p:spPr>
          <a:xfrm>
            <a:off x="4737254" y="3062886"/>
            <a:ext cx="3949547" cy="1751683"/>
          </a:xfrm>
          <a:prstGeom prst="rect">
            <a:avLst/>
          </a:prstGeom>
        </p:spPr>
      </p:pic>
      <p:pic>
        <p:nvPicPr>
          <p:cNvPr id="12" name="Picture 11">
            <a:extLst>
              <a:ext uri="{FF2B5EF4-FFF2-40B4-BE49-F238E27FC236}">
                <a16:creationId xmlns:a16="http://schemas.microsoft.com/office/drawing/2014/main" id="{06C11655-3A91-768E-6EBA-CB1E03417BEE}"/>
              </a:ext>
            </a:extLst>
          </p:cNvPr>
          <p:cNvPicPr>
            <a:picLocks noChangeAspect="1"/>
          </p:cNvPicPr>
          <p:nvPr/>
        </p:nvPicPr>
        <p:blipFill>
          <a:blip r:embed="rId3"/>
          <a:srcRect l="51148" t="22750" r="4692" b="43194"/>
          <a:stretch>
            <a:fillRect/>
          </a:stretch>
        </p:blipFill>
        <p:spPr>
          <a:xfrm>
            <a:off x="4807027" y="1311202"/>
            <a:ext cx="3810000" cy="1751684"/>
          </a:xfrm>
          <a:prstGeom prst="rect">
            <a:avLst/>
          </a:prstGeom>
        </p:spPr>
      </p:pic>
      <p:pic>
        <p:nvPicPr>
          <p:cNvPr id="13" name="Picture 12">
            <a:extLst>
              <a:ext uri="{FF2B5EF4-FFF2-40B4-BE49-F238E27FC236}">
                <a16:creationId xmlns:a16="http://schemas.microsoft.com/office/drawing/2014/main" id="{D208DA20-93FD-ED0D-135A-B85E1B814D28}"/>
              </a:ext>
            </a:extLst>
          </p:cNvPr>
          <p:cNvPicPr>
            <a:picLocks noChangeAspect="1"/>
          </p:cNvPicPr>
          <p:nvPr/>
        </p:nvPicPr>
        <p:blipFill>
          <a:blip r:embed="rId3"/>
          <a:srcRect l="51148" t="62294" r="4205" b="8077"/>
          <a:stretch>
            <a:fillRect/>
          </a:stretch>
        </p:blipFill>
        <p:spPr>
          <a:xfrm>
            <a:off x="643800" y="3230880"/>
            <a:ext cx="3852000" cy="1524000"/>
          </a:xfrm>
          <a:prstGeom prst="rect">
            <a:avLst/>
          </a:prstGeom>
        </p:spPr>
      </p:pic>
      <p:sp>
        <p:nvSpPr>
          <p:cNvPr id="14" name="Oval 13">
            <a:extLst>
              <a:ext uri="{FF2B5EF4-FFF2-40B4-BE49-F238E27FC236}">
                <a16:creationId xmlns:a16="http://schemas.microsoft.com/office/drawing/2014/main" id="{194A6CAD-859D-841E-2EDA-3E0E0F57C71B}"/>
              </a:ext>
            </a:extLst>
          </p:cNvPr>
          <p:cNvSpPr/>
          <p:nvPr/>
        </p:nvSpPr>
        <p:spPr>
          <a:xfrm>
            <a:off x="369480" y="1311202"/>
            <a:ext cx="274320" cy="274320"/>
          </a:xfrm>
          <a:prstGeom prst="ellipse">
            <a:avLst/>
          </a:prstGeom>
          <a:solidFill>
            <a:srgbClr val="F4E6AA"/>
          </a:solidFill>
          <a:ln>
            <a:solidFill>
              <a:srgbClr val="F4E6A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bg1">
                    <a:lumMod val="10000"/>
                  </a:schemeClr>
                </a:solidFill>
              </a:rPr>
              <a:t>1</a:t>
            </a:r>
          </a:p>
        </p:txBody>
      </p:sp>
      <p:sp>
        <p:nvSpPr>
          <p:cNvPr id="15" name="Oval 14">
            <a:extLst>
              <a:ext uri="{FF2B5EF4-FFF2-40B4-BE49-F238E27FC236}">
                <a16:creationId xmlns:a16="http://schemas.microsoft.com/office/drawing/2014/main" id="{11F8ABF7-3112-2740-8C7D-3AB24E50453C}"/>
              </a:ext>
            </a:extLst>
          </p:cNvPr>
          <p:cNvSpPr/>
          <p:nvPr/>
        </p:nvSpPr>
        <p:spPr>
          <a:xfrm>
            <a:off x="4600093" y="1265299"/>
            <a:ext cx="274320" cy="274320"/>
          </a:xfrm>
          <a:prstGeom prst="ellipse">
            <a:avLst/>
          </a:prstGeom>
          <a:solidFill>
            <a:srgbClr val="F4E6AA"/>
          </a:solidFill>
          <a:ln>
            <a:solidFill>
              <a:srgbClr val="F4E6A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bg1">
                    <a:lumMod val="10000"/>
                  </a:schemeClr>
                </a:solidFill>
              </a:rPr>
              <a:t>2</a:t>
            </a:r>
          </a:p>
        </p:txBody>
      </p:sp>
      <p:sp>
        <p:nvSpPr>
          <p:cNvPr id="16" name="Oval 15">
            <a:extLst>
              <a:ext uri="{FF2B5EF4-FFF2-40B4-BE49-F238E27FC236}">
                <a16:creationId xmlns:a16="http://schemas.microsoft.com/office/drawing/2014/main" id="{650DDCFA-D7AE-D747-A0AA-FBD19348FC1D}"/>
              </a:ext>
            </a:extLst>
          </p:cNvPr>
          <p:cNvSpPr/>
          <p:nvPr/>
        </p:nvSpPr>
        <p:spPr>
          <a:xfrm>
            <a:off x="369480" y="3230880"/>
            <a:ext cx="274320" cy="274320"/>
          </a:xfrm>
          <a:prstGeom prst="ellipse">
            <a:avLst/>
          </a:prstGeom>
          <a:solidFill>
            <a:srgbClr val="F4E6AA"/>
          </a:solidFill>
          <a:ln>
            <a:solidFill>
              <a:srgbClr val="F4E6A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bg1">
                    <a:lumMod val="10000"/>
                  </a:schemeClr>
                </a:solidFill>
              </a:rPr>
              <a:t>3</a:t>
            </a:r>
          </a:p>
        </p:txBody>
      </p:sp>
      <p:sp>
        <p:nvSpPr>
          <p:cNvPr id="17" name="Oval 16">
            <a:extLst>
              <a:ext uri="{FF2B5EF4-FFF2-40B4-BE49-F238E27FC236}">
                <a16:creationId xmlns:a16="http://schemas.microsoft.com/office/drawing/2014/main" id="{98DA5EF5-04E9-3E6B-F493-FA09A38A7DBB}"/>
              </a:ext>
            </a:extLst>
          </p:cNvPr>
          <p:cNvSpPr/>
          <p:nvPr/>
        </p:nvSpPr>
        <p:spPr>
          <a:xfrm>
            <a:off x="4600093" y="3230880"/>
            <a:ext cx="274320" cy="274320"/>
          </a:xfrm>
          <a:prstGeom prst="ellipse">
            <a:avLst/>
          </a:prstGeom>
          <a:solidFill>
            <a:srgbClr val="F4E6AA"/>
          </a:solidFill>
          <a:ln>
            <a:solidFill>
              <a:srgbClr val="F4E6A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bg1">
                    <a:lumMod val="10000"/>
                  </a:schemeClr>
                </a:solidFill>
              </a:rPr>
              <a:t>4</a:t>
            </a:r>
          </a:p>
        </p:txBody>
      </p:sp>
      <p:sp>
        <p:nvSpPr>
          <p:cNvPr id="18" name="Rectangle 17">
            <a:extLst>
              <a:ext uri="{FF2B5EF4-FFF2-40B4-BE49-F238E27FC236}">
                <a16:creationId xmlns:a16="http://schemas.microsoft.com/office/drawing/2014/main" id="{6936C05E-E620-33EF-7DCB-08CC22E581B9}"/>
              </a:ext>
            </a:extLst>
          </p:cNvPr>
          <p:cNvSpPr/>
          <p:nvPr/>
        </p:nvSpPr>
        <p:spPr>
          <a:xfrm>
            <a:off x="1703745" y="1336624"/>
            <a:ext cx="2569464" cy="1527048"/>
          </a:xfrm>
          <a:prstGeom prst="rect">
            <a:avLst/>
          </a:prstGeom>
          <a:noFill/>
          <a:ln w="6350">
            <a:solidFill>
              <a:schemeClr val="bg1">
                <a:lumMod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Rectangle 19">
            <a:extLst>
              <a:ext uri="{FF2B5EF4-FFF2-40B4-BE49-F238E27FC236}">
                <a16:creationId xmlns:a16="http://schemas.microsoft.com/office/drawing/2014/main" id="{A03913E1-9C55-9F69-2131-6E732ACDEB6F}"/>
              </a:ext>
            </a:extLst>
          </p:cNvPr>
          <p:cNvSpPr/>
          <p:nvPr/>
        </p:nvSpPr>
        <p:spPr>
          <a:xfrm>
            <a:off x="1800656" y="3292571"/>
            <a:ext cx="2514600" cy="1248927"/>
          </a:xfrm>
          <a:prstGeom prst="rect">
            <a:avLst/>
          </a:prstGeom>
          <a:noFill/>
          <a:ln w="6350">
            <a:solidFill>
              <a:schemeClr val="bg1">
                <a:lumMod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C65C7BCD-B22F-B98C-4268-ACFD8C461076}"/>
              </a:ext>
            </a:extLst>
          </p:cNvPr>
          <p:cNvSpPr/>
          <p:nvPr/>
        </p:nvSpPr>
        <p:spPr>
          <a:xfrm>
            <a:off x="5955505" y="1360778"/>
            <a:ext cx="2511861" cy="1488278"/>
          </a:xfrm>
          <a:prstGeom prst="rect">
            <a:avLst/>
          </a:prstGeom>
          <a:noFill/>
          <a:ln w="6350">
            <a:solidFill>
              <a:schemeClr val="bg1">
                <a:lumMod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AA0D1666-6B87-FBC9-909A-C51875B359A2}"/>
              </a:ext>
            </a:extLst>
          </p:cNvPr>
          <p:cNvSpPr/>
          <p:nvPr/>
        </p:nvSpPr>
        <p:spPr>
          <a:xfrm>
            <a:off x="6050280" y="3111366"/>
            <a:ext cx="2505456" cy="1488278"/>
          </a:xfrm>
          <a:prstGeom prst="rect">
            <a:avLst/>
          </a:prstGeom>
          <a:noFill/>
          <a:ln w="6350">
            <a:solidFill>
              <a:schemeClr val="bg1">
                <a:lumMod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itle 1">
            <a:extLst>
              <a:ext uri="{FF2B5EF4-FFF2-40B4-BE49-F238E27FC236}">
                <a16:creationId xmlns:a16="http://schemas.microsoft.com/office/drawing/2014/main" id="{A33BAD9D-4A11-1CF2-447A-AD5F0358954E}"/>
              </a:ext>
            </a:extLst>
          </p:cNvPr>
          <p:cNvSpPr>
            <a:spLocks noGrp="1"/>
          </p:cNvSpPr>
          <p:nvPr>
            <p:ph type="title"/>
          </p:nvPr>
        </p:nvSpPr>
        <p:spPr>
          <a:xfrm>
            <a:off x="720000" y="322464"/>
            <a:ext cx="7704000" cy="572700"/>
          </a:xfrm>
        </p:spPr>
        <p:txBody>
          <a:bodyPr/>
          <a:lstStyle/>
          <a:p>
            <a:pPr algn="ctr"/>
            <a:r>
              <a:rPr lang="en-US" sz="2400" dirty="0"/>
              <a:t>Our tiny </a:t>
            </a:r>
            <a:r>
              <a:rPr lang="en-US" sz="2400" dirty="0" err="1"/>
              <a:t>Gamba</a:t>
            </a:r>
            <a:r>
              <a:rPr lang="en-US" sz="2400" dirty="0"/>
              <a:t> models are comparable </a:t>
            </a:r>
            <a:br>
              <a:rPr lang="en-US" sz="2400" dirty="0"/>
            </a:br>
            <a:r>
              <a:rPr lang="en-US" sz="2400" dirty="0"/>
              <a:t>with or better than larger </a:t>
            </a:r>
            <a:r>
              <a:rPr lang="en-US" sz="2400" dirty="0" err="1"/>
              <a:t>gLMs</a:t>
            </a:r>
            <a:r>
              <a:rPr lang="en-US" sz="2400" dirty="0"/>
              <a:t>!</a:t>
            </a:r>
          </a:p>
        </p:txBody>
      </p:sp>
      <p:pic>
        <p:nvPicPr>
          <p:cNvPr id="24" name="Picture 23">
            <a:extLst>
              <a:ext uri="{FF2B5EF4-FFF2-40B4-BE49-F238E27FC236}">
                <a16:creationId xmlns:a16="http://schemas.microsoft.com/office/drawing/2014/main" id="{2B6C1F40-74BE-8F8E-D458-9F5BFE6B5FE5}"/>
              </a:ext>
            </a:extLst>
          </p:cNvPr>
          <p:cNvPicPr>
            <a:picLocks noChangeAspect="1"/>
          </p:cNvPicPr>
          <p:nvPr/>
        </p:nvPicPr>
        <p:blipFill>
          <a:blip r:embed="rId4"/>
          <a:stretch>
            <a:fillRect/>
          </a:stretch>
        </p:blipFill>
        <p:spPr>
          <a:xfrm>
            <a:off x="7708676" y="442400"/>
            <a:ext cx="715324" cy="637831"/>
          </a:xfrm>
          <a:prstGeom prst="rect">
            <a:avLst/>
          </a:prstGeom>
        </p:spPr>
      </p:pic>
    </p:spTree>
    <p:extLst>
      <p:ext uri="{BB962C8B-B14F-4D97-AF65-F5344CB8AC3E}">
        <p14:creationId xmlns:p14="http://schemas.microsoft.com/office/powerpoint/2010/main" val="7564142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A0F01F28-D0F3-D062-6220-225B6710037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7A2DE7-58E7-838E-78A3-47493B30B2CB}"/>
              </a:ext>
            </a:extLst>
          </p:cNvPr>
          <p:cNvSpPr>
            <a:spLocks noGrp="1"/>
          </p:cNvSpPr>
          <p:nvPr>
            <p:ph type="title"/>
          </p:nvPr>
        </p:nvSpPr>
        <p:spPr>
          <a:xfrm>
            <a:off x="720000" y="518089"/>
            <a:ext cx="7704000" cy="572700"/>
          </a:xfrm>
        </p:spPr>
        <p:txBody>
          <a:bodyPr/>
          <a:lstStyle/>
          <a:p>
            <a:pPr algn="ctr"/>
            <a:r>
              <a:rPr lang="en-US" sz="2400" dirty="0"/>
              <a:t>Variant effect prediction ranks mutated sequences based upon their pathogenicity</a:t>
            </a:r>
          </a:p>
        </p:txBody>
      </p:sp>
      <p:pic>
        <p:nvPicPr>
          <p:cNvPr id="3" name="Picture 2">
            <a:extLst>
              <a:ext uri="{FF2B5EF4-FFF2-40B4-BE49-F238E27FC236}">
                <a16:creationId xmlns:a16="http://schemas.microsoft.com/office/drawing/2014/main" id="{A3C7A687-EAB0-E9D2-5BF5-0AFEE7447B48}"/>
              </a:ext>
            </a:extLst>
          </p:cNvPr>
          <p:cNvPicPr>
            <a:picLocks noChangeAspect="1"/>
          </p:cNvPicPr>
          <p:nvPr/>
        </p:nvPicPr>
        <p:blipFill>
          <a:blip r:embed="rId3"/>
          <a:srcRect l="9483" b="56176"/>
          <a:stretch>
            <a:fillRect/>
          </a:stretch>
        </p:blipFill>
        <p:spPr>
          <a:xfrm>
            <a:off x="2453205" y="1836708"/>
            <a:ext cx="4237590" cy="1897788"/>
          </a:xfrm>
          <a:prstGeom prst="rect">
            <a:avLst/>
          </a:prstGeom>
        </p:spPr>
      </p:pic>
    </p:spTree>
    <p:extLst>
      <p:ext uri="{BB962C8B-B14F-4D97-AF65-F5344CB8AC3E}">
        <p14:creationId xmlns:p14="http://schemas.microsoft.com/office/powerpoint/2010/main" val="210880871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745BFB31-9DAF-EF70-F480-13437556BF1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C2DC8D2-44D3-03F7-C1A1-ACEE2C81371E}"/>
              </a:ext>
            </a:extLst>
          </p:cNvPr>
          <p:cNvSpPr>
            <a:spLocks noGrp="1"/>
          </p:cNvSpPr>
          <p:nvPr>
            <p:ph type="title"/>
          </p:nvPr>
        </p:nvSpPr>
        <p:spPr>
          <a:xfrm>
            <a:off x="720000" y="424674"/>
            <a:ext cx="7704000" cy="869171"/>
          </a:xfrm>
        </p:spPr>
        <p:txBody>
          <a:bodyPr/>
          <a:lstStyle/>
          <a:p>
            <a:pPr algn="ctr"/>
            <a:r>
              <a:rPr lang="en-US" sz="2400" dirty="0"/>
              <a:t>Both explicitly and implicitly learning evolution does not outperform direct use of conservation</a:t>
            </a:r>
          </a:p>
        </p:txBody>
      </p:sp>
      <p:pic>
        <p:nvPicPr>
          <p:cNvPr id="8" name="Picture 7" descr="The image is a table presenting various genetic variant data, including their type (MLM, MEM, or both), evolutionary prediction (ERP), and log likelihood (LLR), alongside their classification as pathogenic or benign, and their frequency in cancer or common populations.&#10;&#10;AI-generated content may be incorrect.">
            <a:extLst>
              <a:ext uri="{FF2B5EF4-FFF2-40B4-BE49-F238E27FC236}">
                <a16:creationId xmlns:a16="http://schemas.microsoft.com/office/drawing/2014/main" id="{F880EF2F-9CBD-4545-4624-8F22520D85B2}"/>
              </a:ext>
            </a:extLst>
          </p:cNvPr>
          <p:cNvPicPr>
            <a:picLocks noChangeAspect="1"/>
          </p:cNvPicPr>
          <p:nvPr/>
        </p:nvPicPr>
        <p:blipFill>
          <a:blip r:embed="rId3"/>
          <a:srcRect l="21808" t="41107" r="51265" b="45867"/>
          <a:stretch>
            <a:fillRect/>
          </a:stretch>
        </p:blipFill>
        <p:spPr>
          <a:xfrm>
            <a:off x="391511" y="2283379"/>
            <a:ext cx="2708498" cy="708937"/>
          </a:xfrm>
          <a:prstGeom prst="rect">
            <a:avLst/>
          </a:prstGeom>
        </p:spPr>
      </p:pic>
      <p:pic>
        <p:nvPicPr>
          <p:cNvPr id="9" name="Picture 8" descr="The image is a table presenting various genetic variant data, including their type (MLM, MEM, or both), evolutionary prediction (ERP), and log likelihood (LLR), alongside their classification as pathogenic or benign, and their frequency in cancer or common populations.&#10;&#10;AI-generated content may be incorrect.">
            <a:extLst>
              <a:ext uri="{FF2B5EF4-FFF2-40B4-BE49-F238E27FC236}">
                <a16:creationId xmlns:a16="http://schemas.microsoft.com/office/drawing/2014/main" id="{13B24030-6366-A3D1-714D-9095742C8743}"/>
              </a:ext>
            </a:extLst>
          </p:cNvPr>
          <p:cNvPicPr>
            <a:picLocks noChangeAspect="1"/>
          </p:cNvPicPr>
          <p:nvPr/>
        </p:nvPicPr>
        <p:blipFill>
          <a:blip r:embed="rId3"/>
          <a:srcRect l="30503" t="10081" r="56185" b="81012"/>
          <a:stretch>
            <a:fillRect/>
          </a:stretch>
        </p:blipFill>
        <p:spPr>
          <a:xfrm>
            <a:off x="1479698" y="1586674"/>
            <a:ext cx="1620311" cy="586539"/>
          </a:xfrm>
          <a:prstGeom prst="rect">
            <a:avLst/>
          </a:prstGeom>
        </p:spPr>
      </p:pic>
      <p:pic>
        <p:nvPicPr>
          <p:cNvPr id="11" name="Picture 10" descr="The image is a table presenting various genetic variant data, including their type (MLM, MEM, or both), evolutionary prediction (ERP), and log likelihood (LLR), alongside their classification as pathogenic or benign, and their frequency in cancer or common populations.&#10;&#10;AI-generated content may be incorrect.">
            <a:extLst>
              <a:ext uri="{FF2B5EF4-FFF2-40B4-BE49-F238E27FC236}">
                <a16:creationId xmlns:a16="http://schemas.microsoft.com/office/drawing/2014/main" id="{CEA46AF5-5306-C7E8-FF2A-FD28743E8842}"/>
              </a:ext>
            </a:extLst>
          </p:cNvPr>
          <p:cNvPicPr>
            <a:picLocks noChangeAspect="1"/>
          </p:cNvPicPr>
          <p:nvPr/>
        </p:nvPicPr>
        <p:blipFill>
          <a:blip r:embed="rId3"/>
          <a:srcRect l="47998" t="41107" r="28727" b="45867"/>
          <a:stretch>
            <a:fillRect/>
          </a:stretch>
        </p:blipFill>
        <p:spPr>
          <a:xfrm>
            <a:off x="3233454" y="2283378"/>
            <a:ext cx="2341083" cy="708937"/>
          </a:xfrm>
          <a:prstGeom prst="rect">
            <a:avLst/>
          </a:prstGeom>
        </p:spPr>
      </p:pic>
      <p:pic>
        <p:nvPicPr>
          <p:cNvPr id="14" name="Picture 13" descr="The image is a table presenting various genetic variant data, including their type (MLM, MEM, or both), evolutionary prediction (ERP), and log likelihood (LLR), alongside their classification as pathogenic or benign, and their frequency in cancer or common populations.&#10;&#10;AI-generated content may be incorrect.">
            <a:extLst>
              <a:ext uri="{FF2B5EF4-FFF2-40B4-BE49-F238E27FC236}">
                <a16:creationId xmlns:a16="http://schemas.microsoft.com/office/drawing/2014/main" id="{4EB737B7-D3E9-3D72-A8B8-2BFCC18DC288}"/>
              </a:ext>
            </a:extLst>
          </p:cNvPr>
          <p:cNvPicPr>
            <a:picLocks noChangeAspect="1"/>
          </p:cNvPicPr>
          <p:nvPr/>
        </p:nvPicPr>
        <p:blipFill>
          <a:blip r:embed="rId3"/>
          <a:srcRect l="51852" t="10081" r="30996" b="81012"/>
          <a:stretch>
            <a:fillRect/>
          </a:stretch>
        </p:blipFill>
        <p:spPr>
          <a:xfrm>
            <a:off x="3751246" y="1586674"/>
            <a:ext cx="2087697" cy="586539"/>
          </a:xfrm>
          <a:prstGeom prst="rect">
            <a:avLst/>
          </a:prstGeom>
        </p:spPr>
      </p:pic>
      <p:pic>
        <p:nvPicPr>
          <p:cNvPr id="15" name="Picture 14" descr="The image is a table presenting various genetic variant data, including their type (MLM, MEM, or both), evolutionary prediction (ERP), and log likelihood (LLR), alongside their classification as pathogenic or benign, and their frequency in cancer or common populations.&#10;&#10;AI-generated content may be incorrect.">
            <a:extLst>
              <a:ext uri="{FF2B5EF4-FFF2-40B4-BE49-F238E27FC236}">
                <a16:creationId xmlns:a16="http://schemas.microsoft.com/office/drawing/2014/main" id="{A4660CB3-576F-51D9-D14D-013BCD3A9D1A}"/>
              </a:ext>
            </a:extLst>
          </p:cNvPr>
          <p:cNvPicPr>
            <a:picLocks noChangeAspect="1"/>
          </p:cNvPicPr>
          <p:nvPr/>
        </p:nvPicPr>
        <p:blipFill>
          <a:blip r:embed="rId3"/>
          <a:srcRect l="75535" t="10081" r="6634" b="81012"/>
          <a:stretch>
            <a:fillRect/>
          </a:stretch>
        </p:blipFill>
        <p:spPr>
          <a:xfrm>
            <a:off x="6402874" y="1586674"/>
            <a:ext cx="2170323" cy="586539"/>
          </a:xfrm>
          <a:prstGeom prst="rect">
            <a:avLst/>
          </a:prstGeom>
        </p:spPr>
      </p:pic>
      <p:pic>
        <p:nvPicPr>
          <p:cNvPr id="16" name="Picture 15" descr="The image is a table presenting various genetic variant data, including their type (MLM, MEM, or both), evolutionary prediction (ERP), and log likelihood (LLR), alongside their classification as pathogenic or benign, and their frequency in cancer or common populations.&#10;&#10;AI-generated content may be incorrect.">
            <a:extLst>
              <a:ext uri="{FF2B5EF4-FFF2-40B4-BE49-F238E27FC236}">
                <a16:creationId xmlns:a16="http://schemas.microsoft.com/office/drawing/2014/main" id="{0CBF4501-49A9-F359-3A9C-4374D0621339}"/>
              </a:ext>
            </a:extLst>
          </p:cNvPr>
          <p:cNvPicPr>
            <a:picLocks noChangeAspect="1"/>
          </p:cNvPicPr>
          <p:nvPr/>
        </p:nvPicPr>
        <p:blipFill>
          <a:blip r:embed="rId3"/>
          <a:srcRect l="71273" t="41864" r="5637" b="45110"/>
          <a:stretch>
            <a:fillRect/>
          </a:stretch>
        </p:blipFill>
        <p:spPr>
          <a:xfrm>
            <a:off x="6214754" y="2244818"/>
            <a:ext cx="2322487" cy="708937"/>
          </a:xfrm>
          <a:prstGeom prst="rect">
            <a:avLst/>
          </a:prstGeom>
        </p:spPr>
      </p:pic>
      <p:pic>
        <p:nvPicPr>
          <p:cNvPr id="17" name="Picture 16" descr="The image is a table presenting various genetic variant data, including their type (MLM, MEM, or both), evolutionary prediction (ERP), and log likelihood (LLR), alongside their classification as pathogenic or benign, and their frequency in cancer or common populations.&#10;&#10;AI-generated content may be incorrect.">
            <a:extLst>
              <a:ext uri="{FF2B5EF4-FFF2-40B4-BE49-F238E27FC236}">
                <a16:creationId xmlns:a16="http://schemas.microsoft.com/office/drawing/2014/main" id="{26C32750-403E-6451-477C-52F720EE050B}"/>
              </a:ext>
            </a:extLst>
          </p:cNvPr>
          <p:cNvPicPr>
            <a:picLocks noChangeAspect="1"/>
          </p:cNvPicPr>
          <p:nvPr/>
        </p:nvPicPr>
        <p:blipFill>
          <a:blip r:embed="rId3"/>
          <a:srcRect l="5652" t="85135" r="67421" b="1839"/>
          <a:stretch>
            <a:fillRect/>
          </a:stretch>
        </p:blipFill>
        <p:spPr>
          <a:xfrm>
            <a:off x="1296134" y="3832927"/>
            <a:ext cx="2708498" cy="708937"/>
          </a:xfrm>
          <a:prstGeom prst="rect">
            <a:avLst/>
          </a:prstGeom>
        </p:spPr>
      </p:pic>
      <p:pic>
        <p:nvPicPr>
          <p:cNvPr id="18" name="Picture 17" descr="The image is a table presenting various genetic variant data, including their type (MLM, MEM, or both), evolutionary prediction (ERP), and log likelihood (LLR), alongside their classification as pathogenic or benign, and their frequency in cancer or common populations.&#10;&#10;AI-generated content may be incorrect.">
            <a:extLst>
              <a:ext uri="{FF2B5EF4-FFF2-40B4-BE49-F238E27FC236}">
                <a16:creationId xmlns:a16="http://schemas.microsoft.com/office/drawing/2014/main" id="{C7FBF251-EC86-A272-2A52-6A37AA664936}"/>
              </a:ext>
            </a:extLst>
          </p:cNvPr>
          <p:cNvPicPr>
            <a:picLocks noChangeAspect="1"/>
          </p:cNvPicPr>
          <p:nvPr/>
        </p:nvPicPr>
        <p:blipFill>
          <a:blip r:embed="rId3"/>
          <a:srcRect l="15546" t="55513" r="69429" b="36593"/>
          <a:stretch>
            <a:fillRect/>
          </a:stretch>
        </p:blipFill>
        <p:spPr>
          <a:xfrm>
            <a:off x="2229896" y="3201994"/>
            <a:ext cx="1828772" cy="519885"/>
          </a:xfrm>
          <a:prstGeom prst="rect">
            <a:avLst/>
          </a:prstGeom>
        </p:spPr>
      </p:pic>
      <p:pic>
        <p:nvPicPr>
          <p:cNvPr id="19" name="Picture 18" descr="The image is a table presenting various genetic variant data, including their type (MLM, MEM, or both), evolutionary prediction (ERP), and log likelihood (LLR), alongside their classification as pathogenic or benign, and their frequency in cancer or common populations.&#10;&#10;AI-generated content may be incorrect.">
            <a:extLst>
              <a:ext uri="{FF2B5EF4-FFF2-40B4-BE49-F238E27FC236}">
                <a16:creationId xmlns:a16="http://schemas.microsoft.com/office/drawing/2014/main" id="{5A420612-671E-1A1C-C4D5-88D0A3488020}"/>
              </a:ext>
            </a:extLst>
          </p:cNvPr>
          <p:cNvPicPr>
            <a:picLocks noChangeAspect="1"/>
          </p:cNvPicPr>
          <p:nvPr/>
        </p:nvPicPr>
        <p:blipFill>
          <a:blip r:embed="rId3"/>
          <a:srcRect l="36803" t="85135" r="35158" b="1839"/>
          <a:stretch>
            <a:fillRect/>
          </a:stretch>
        </p:blipFill>
        <p:spPr>
          <a:xfrm>
            <a:off x="4307598" y="3832926"/>
            <a:ext cx="2820318" cy="708937"/>
          </a:xfrm>
          <a:prstGeom prst="rect">
            <a:avLst/>
          </a:prstGeom>
        </p:spPr>
      </p:pic>
      <p:pic>
        <p:nvPicPr>
          <p:cNvPr id="20" name="Picture 19" descr="The image is a table presenting various genetic variant data, including their type (MLM, MEM, or both), evolutionary prediction (ERP), and log likelihood (LLR), alongside their classification as pathogenic or benign, and their frequency in cancer or common populations.&#10;&#10;AI-generated content may be incorrect.">
            <a:extLst>
              <a:ext uri="{FF2B5EF4-FFF2-40B4-BE49-F238E27FC236}">
                <a16:creationId xmlns:a16="http://schemas.microsoft.com/office/drawing/2014/main" id="{894B22B4-4DB1-9807-D1C0-7D807D77E2A0}"/>
              </a:ext>
            </a:extLst>
          </p:cNvPr>
          <p:cNvPicPr>
            <a:picLocks noChangeAspect="1"/>
          </p:cNvPicPr>
          <p:nvPr/>
        </p:nvPicPr>
        <p:blipFill>
          <a:blip r:embed="rId3"/>
          <a:srcRect l="46161" t="55513" r="36370" b="36593"/>
          <a:stretch>
            <a:fillRect/>
          </a:stretch>
        </p:blipFill>
        <p:spPr>
          <a:xfrm>
            <a:off x="4909068" y="3201994"/>
            <a:ext cx="2126255" cy="519885"/>
          </a:xfrm>
          <a:prstGeom prst="rect">
            <a:avLst/>
          </a:prstGeom>
        </p:spPr>
      </p:pic>
      <p:sp>
        <p:nvSpPr>
          <p:cNvPr id="21" name="Rectangle 20">
            <a:extLst>
              <a:ext uri="{FF2B5EF4-FFF2-40B4-BE49-F238E27FC236}">
                <a16:creationId xmlns:a16="http://schemas.microsoft.com/office/drawing/2014/main" id="{F4657329-23A8-2B96-C4AE-C12E4FC979AB}"/>
              </a:ext>
            </a:extLst>
          </p:cNvPr>
          <p:cNvSpPr/>
          <p:nvPr/>
        </p:nvSpPr>
        <p:spPr>
          <a:xfrm>
            <a:off x="3354636" y="2754214"/>
            <a:ext cx="374574" cy="23810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57038EF8-E8FD-560A-5131-3C166BD71DE0}"/>
              </a:ext>
            </a:extLst>
          </p:cNvPr>
          <p:cNvSpPr/>
          <p:nvPr/>
        </p:nvSpPr>
        <p:spPr>
          <a:xfrm>
            <a:off x="2829683" y="2236367"/>
            <a:ext cx="374574" cy="23810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2F5BC48C-0451-5444-3664-07BC3D2C68AB}"/>
              </a:ext>
            </a:extLst>
          </p:cNvPr>
          <p:cNvSpPr/>
          <p:nvPr/>
        </p:nvSpPr>
        <p:spPr>
          <a:xfrm>
            <a:off x="2275809" y="2172331"/>
            <a:ext cx="374574" cy="23810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86C606F9-F3D4-A7EB-173C-DC4B00078816}"/>
              </a:ext>
            </a:extLst>
          </p:cNvPr>
          <p:cNvSpPr/>
          <p:nvPr/>
        </p:nvSpPr>
        <p:spPr>
          <a:xfrm>
            <a:off x="4752902" y="2159742"/>
            <a:ext cx="374574" cy="23810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0463DAA9-46C3-AE57-8533-6F42D5517FD4}"/>
              </a:ext>
            </a:extLst>
          </p:cNvPr>
          <p:cNvSpPr/>
          <p:nvPr/>
        </p:nvSpPr>
        <p:spPr>
          <a:xfrm>
            <a:off x="8242221" y="2144790"/>
            <a:ext cx="374574" cy="23810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B66BBEB4-A6BA-EC5D-5A81-C6DB283BAE2A}"/>
              </a:ext>
            </a:extLst>
          </p:cNvPr>
          <p:cNvSpPr/>
          <p:nvPr/>
        </p:nvSpPr>
        <p:spPr>
          <a:xfrm>
            <a:off x="2844784" y="3715661"/>
            <a:ext cx="374574" cy="23810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8ADC9CA3-AA99-8568-6BA4-A0511B1D1BCA}"/>
              </a:ext>
            </a:extLst>
          </p:cNvPr>
          <p:cNvSpPr/>
          <p:nvPr/>
        </p:nvSpPr>
        <p:spPr>
          <a:xfrm>
            <a:off x="6198401" y="3726677"/>
            <a:ext cx="374574" cy="23810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23DDC81B-DE01-3108-0508-5E078456D4D5}"/>
              </a:ext>
            </a:extLst>
          </p:cNvPr>
          <p:cNvSpPr/>
          <p:nvPr/>
        </p:nvSpPr>
        <p:spPr>
          <a:xfrm>
            <a:off x="3183702" y="2721271"/>
            <a:ext cx="374574" cy="23810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9480196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2DBCBD-1E5F-BD3F-6C70-B600457F41F9}"/>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4FA1666B-75C5-E33F-AA9D-B335B4A2FF09}"/>
              </a:ext>
            </a:extLst>
          </p:cNvPr>
          <p:cNvSpPr>
            <a:spLocks noGrp="1"/>
          </p:cNvSpPr>
          <p:nvPr>
            <p:ph type="body" idx="1"/>
          </p:nvPr>
        </p:nvSpPr>
        <p:spPr>
          <a:xfrm>
            <a:off x="373137" y="1184341"/>
            <a:ext cx="4076528" cy="2915018"/>
          </a:xfrm>
        </p:spPr>
        <p:txBody>
          <a:bodyPr/>
          <a:lstStyle/>
          <a:p>
            <a:pPr marL="177800" indent="0" algn="ctr">
              <a:buNone/>
            </a:pPr>
            <a:r>
              <a:rPr lang="en-US" b="1" dirty="0" err="1"/>
              <a:t>Gamba</a:t>
            </a:r>
            <a:br>
              <a:rPr lang="en-US" dirty="0"/>
            </a:br>
            <a:r>
              <a:rPr lang="en-US" dirty="0"/>
              <a:t>Does pretraining on conservation </a:t>
            </a:r>
            <a:br>
              <a:rPr lang="en-US" dirty="0"/>
            </a:br>
            <a:r>
              <a:rPr lang="en-US" dirty="0"/>
              <a:t>better learn the regulatory code?</a:t>
            </a:r>
          </a:p>
        </p:txBody>
      </p:sp>
      <p:pic>
        <p:nvPicPr>
          <p:cNvPr id="5" name="Picture 4">
            <a:extLst>
              <a:ext uri="{FF2B5EF4-FFF2-40B4-BE49-F238E27FC236}">
                <a16:creationId xmlns:a16="http://schemas.microsoft.com/office/drawing/2014/main" id="{2F99D3AC-CFBF-5015-137F-B61DD09117A3}"/>
              </a:ext>
            </a:extLst>
          </p:cNvPr>
          <p:cNvPicPr>
            <a:picLocks noChangeAspect="1"/>
          </p:cNvPicPr>
          <p:nvPr/>
        </p:nvPicPr>
        <p:blipFill>
          <a:blip r:embed="rId3"/>
          <a:srcRect r="69026" b="95835"/>
          <a:stretch>
            <a:fillRect/>
          </a:stretch>
        </p:blipFill>
        <p:spPr>
          <a:xfrm>
            <a:off x="1120050" y="2414670"/>
            <a:ext cx="2320380" cy="156529"/>
          </a:xfrm>
          <a:prstGeom prst="rect">
            <a:avLst/>
          </a:prstGeom>
        </p:spPr>
      </p:pic>
      <mc:AlternateContent xmlns:mc="http://schemas.openxmlformats.org/markup-compatibility/2006" xmlns:p14="http://schemas.microsoft.com/office/powerpoint/2010/main">
        <mc:Choice Requires="p14">
          <p:contentPart p14:bwMode="auto" r:id="rId4">
            <p14:nvContentPartPr>
              <p14:cNvPr id="6" name="Ink 5">
                <a:extLst>
                  <a:ext uri="{FF2B5EF4-FFF2-40B4-BE49-F238E27FC236}">
                    <a16:creationId xmlns:a16="http://schemas.microsoft.com/office/drawing/2014/main" id="{79580059-94FC-B3BD-6C47-0C2F0B53811D}"/>
                  </a:ext>
                </a:extLst>
              </p14:cNvPr>
              <p14:cNvContentPartPr/>
              <p14:nvPr/>
            </p14:nvContentPartPr>
            <p14:xfrm>
              <a:off x="2197983" y="2571199"/>
              <a:ext cx="102600" cy="55800"/>
            </p14:xfrm>
          </p:contentPart>
        </mc:Choice>
        <mc:Fallback xmlns="">
          <p:pic>
            <p:nvPicPr>
              <p:cNvPr id="6" name="Ink 5">
                <a:extLst>
                  <a:ext uri="{FF2B5EF4-FFF2-40B4-BE49-F238E27FC236}">
                    <a16:creationId xmlns:a16="http://schemas.microsoft.com/office/drawing/2014/main" id="{79580059-94FC-B3BD-6C47-0C2F0B53811D}"/>
                  </a:ext>
                </a:extLst>
              </p:cNvPr>
              <p:cNvPicPr/>
              <p:nvPr/>
            </p:nvPicPr>
            <p:blipFill>
              <a:blip r:embed="rId5"/>
              <a:stretch>
                <a:fillRect/>
              </a:stretch>
            </p:blipFill>
            <p:spPr>
              <a:xfrm>
                <a:off x="2191863" y="2565079"/>
                <a:ext cx="114840" cy="68040"/>
              </a:xfrm>
              <a:prstGeom prst="rect">
                <a:avLst/>
              </a:prstGeom>
            </p:spPr>
          </p:pic>
        </mc:Fallback>
      </mc:AlternateContent>
      <p:sp>
        <p:nvSpPr>
          <p:cNvPr id="7" name="TextBox 6">
            <a:extLst>
              <a:ext uri="{FF2B5EF4-FFF2-40B4-BE49-F238E27FC236}">
                <a16:creationId xmlns:a16="http://schemas.microsoft.com/office/drawing/2014/main" id="{F0F9616B-B4CE-5E4E-2A99-C10D3E7E5DB8}"/>
              </a:ext>
            </a:extLst>
          </p:cNvPr>
          <p:cNvSpPr txBox="1"/>
          <p:nvPr/>
        </p:nvSpPr>
        <p:spPr>
          <a:xfrm>
            <a:off x="1605879" y="2085448"/>
            <a:ext cx="1826141" cy="338554"/>
          </a:xfrm>
          <a:prstGeom prst="rect">
            <a:avLst/>
          </a:prstGeom>
          <a:noFill/>
        </p:spPr>
        <p:txBody>
          <a:bodyPr wrap="none" rtlCol="0">
            <a:spAutoFit/>
          </a:bodyPr>
          <a:lstStyle/>
          <a:p>
            <a:r>
              <a:rPr lang="en-US" sz="1600" b="1" dirty="0">
                <a:solidFill>
                  <a:srgbClr val="C00000"/>
                </a:solidFill>
                <a:latin typeface="Bradley Hand ITC" panose="03070402050302030203" pitchFamily="66" charset="0"/>
              </a:rPr>
              <a:t>Genomic </a:t>
            </a:r>
            <a:r>
              <a:rPr lang="en-US" sz="1600" b="1" u="sng" dirty="0">
                <a:solidFill>
                  <a:srgbClr val="C00000"/>
                </a:solidFill>
                <a:latin typeface="Bradley Hand ITC" panose="03070402050302030203" pitchFamily="66" charset="0"/>
              </a:rPr>
              <a:t>Evolution</a:t>
            </a:r>
          </a:p>
        </p:txBody>
      </p:sp>
      <p:pic>
        <p:nvPicPr>
          <p:cNvPr id="9" name="Picture 8" descr="The image depicts a genetic sequence diagram with labels for an ARM gene, including a nucleotide sequence with 'C' for cytosine, 'G' for guanine, and 'A' and 'T' for adenine and thymine respectively.&#10;&#10;AI-generated content may be incorrect.">
            <a:extLst>
              <a:ext uri="{FF2B5EF4-FFF2-40B4-BE49-F238E27FC236}">
                <a16:creationId xmlns:a16="http://schemas.microsoft.com/office/drawing/2014/main" id="{EC5010C0-7933-4416-E1C8-B158786FDA4E}"/>
              </a:ext>
            </a:extLst>
          </p:cNvPr>
          <p:cNvPicPr>
            <a:picLocks noChangeAspect="1"/>
          </p:cNvPicPr>
          <p:nvPr/>
        </p:nvPicPr>
        <p:blipFill>
          <a:blip r:embed="rId6"/>
          <a:stretch>
            <a:fillRect/>
          </a:stretch>
        </p:blipFill>
        <p:spPr>
          <a:xfrm>
            <a:off x="1388762" y="2686599"/>
            <a:ext cx="1458476" cy="1228844"/>
          </a:xfrm>
          <a:prstGeom prst="rect">
            <a:avLst/>
          </a:prstGeom>
        </p:spPr>
      </p:pic>
      <p:sp>
        <p:nvSpPr>
          <p:cNvPr id="11" name="Rectangle 10">
            <a:extLst>
              <a:ext uri="{FF2B5EF4-FFF2-40B4-BE49-F238E27FC236}">
                <a16:creationId xmlns:a16="http://schemas.microsoft.com/office/drawing/2014/main" id="{37CE52DF-1357-8447-B13E-22ACAA3BB9F8}"/>
              </a:ext>
            </a:extLst>
          </p:cNvPr>
          <p:cNvSpPr/>
          <p:nvPr/>
        </p:nvSpPr>
        <p:spPr>
          <a:xfrm>
            <a:off x="2087164" y="2727159"/>
            <a:ext cx="324237" cy="137160"/>
          </a:xfrm>
          <a:prstGeom prst="rect">
            <a:avLst/>
          </a:prstGeom>
          <a:solidFill>
            <a:srgbClr val="E0CDEF"/>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dirty="0"/>
          </a:p>
        </p:txBody>
      </p:sp>
      <p:sp>
        <p:nvSpPr>
          <p:cNvPr id="12" name="TextBox 11">
            <a:extLst>
              <a:ext uri="{FF2B5EF4-FFF2-40B4-BE49-F238E27FC236}">
                <a16:creationId xmlns:a16="http://schemas.microsoft.com/office/drawing/2014/main" id="{51506E5B-95B6-4542-FD7D-CF574626C561}"/>
              </a:ext>
            </a:extLst>
          </p:cNvPr>
          <p:cNvSpPr txBox="1"/>
          <p:nvPr/>
        </p:nvSpPr>
        <p:spPr>
          <a:xfrm>
            <a:off x="1770380" y="2641850"/>
            <a:ext cx="288862" cy="307777"/>
          </a:xfrm>
          <a:prstGeom prst="rect">
            <a:avLst/>
          </a:prstGeom>
          <a:noFill/>
        </p:spPr>
        <p:txBody>
          <a:bodyPr wrap="none" rtlCol="0">
            <a:spAutoFit/>
          </a:bodyPr>
          <a:lstStyle/>
          <a:p>
            <a:r>
              <a:rPr lang="en-US" dirty="0"/>
              <a:t>+</a:t>
            </a:r>
          </a:p>
        </p:txBody>
      </p:sp>
      <p:sp>
        <p:nvSpPr>
          <p:cNvPr id="14" name="TextBox 13">
            <a:extLst>
              <a:ext uri="{FF2B5EF4-FFF2-40B4-BE49-F238E27FC236}">
                <a16:creationId xmlns:a16="http://schemas.microsoft.com/office/drawing/2014/main" id="{C9709AF1-B484-726B-5AE1-421F172136A0}"/>
              </a:ext>
            </a:extLst>
          </p:cNvPr>
          <p:cNvSpPr txBox="1"/>
          <p:nvPr/>
        </p:nvSpPr>
        <p:spPr>
          <a:xfrm>
            <a:off x="2546922" y="2641850"/>
            <a:ext cx="1087157" cy="276999"/>
          </a:xfrm>
          <a:prstGeom prst="rect">
            <a:avLst/>
          </a:prstGeom>
          <a:noFill/>
        </p:spPr>
        <p:txBody>
          <a:bodyPr wrap="none" rtlCol="0">
            <a:spAutoFit/>
          </a:bodyPr>
          <a:lstStyle/>
          <a:p>
            <a:pPr algn="ctr"/>
            <a:r>
              <a:rPr lang="en-US" sz="1200" dirty="0"/>
              <a:t>Conservation</a:t>
            </a:r>
          </a:p>
        </p:txBody>
      </p:sp>
      <p:grpSp>
        <p:nvGrpSpPr>
          <p:cNvPr id="21" name="Group 20">
            <a:extLst>
              <a:ext uri="{FF2B5EF4-FFF2-40B4-BE49-F238E27FC236}">
                <a16:creationId xmlns:a16="http://schemas.microsoft.com/office/drawing/2014/main" id="{E4D87E10-6C79-9772-C180-C1846741E1AD}"/>
              </a:ext>
            </a:extLst>
          </p:cNvPr>
          <p:cNvGrpSpPr/>
          <p:nvPr/>
        </p:nvGrpSpPr>
        <p:grpSpPr>
          <a:xfrm>
            <a:off x="2384670" y="2908708"/>
            <a:ext cx="432720" cy="134280"/>
            <a:chOff x="2384670" y="3691740"/>
            <a:chExt cx="432720" cy="134280"/>
          </a:xfrm>
        </p:grpSpPr>
        <mc:AlternateContent xmlns:mc="http://schemas.openxmlformats.org/markup-compatibility/2006" xmlns:p14="http://schemas.microsoft.com/office/powerpoint/2010/main">
          <mc:Choice Requires="p14">
            <p:contentPart p14:bwMode="auto" r:id="rId7">
              <p14:nvContentPartPr>
                <p14:cNvPr id="19" name="Ink 18">
                  <a:extLst>
                    <a:ext uri="{FF2B5EF4-FFF2-40B4-BE49-F238E27FC236}">
                      <a16:creationId xmlns:a16="http://schemas.microsoft.com/office/drawing/2014/main" id="{6E2E2450-B67B-AF63-D785-34C82C42C807}"/>
                    </a:ext>
                  </a:extLst>
                </p14:cNvPr>
                <p14:cNvContentPartPr/>
                <p14:nvPr/>
              </p14:nvContentPartPr>
              <p14:xfrm>
                <a:off x="2384670" y="3691740"/>
                <a:ext cx="110160" cy="50040"/>
              </p14:xfrm>
            </p:contentPart>
          </mc:Choice>
          <mc:Fallback xmlns="">
            <p:pic>
              <p:nvPicPr>
                <p:cNvPr id="19" name="Ink 18">
                  <a:extLst>
                    <a:ext uri="{FF2B5EF4-FFF2-40B4-BE49-F238E27FC236}">
                      <a16:creationId xmlns:a16="http://schemas.microsoft.com/office/drawing/2014/main" id="{6E2E2450-B67B-AF63-D785-34C82C42C807}"/>
                    </a:ext>
                  </a:extLst>
                </p:cNvPr>
                <p:cNvPicPr/>
                <p:nvPr/>
              </p:nvPicPr>
              <p:blipFill>
                <a:blip r:embed="rId8"/>
                <a:stretch>
                  <a:fillRect/>
                </a:stretch>
              </p:blipFill>
              <p:spPr>
                <a:xfrm>
                  <a:off x="2378550" y="3685620"/>
                  <a:ext cx="122400" cy="6228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20" name="Ink 19">
                  <a:extLst>
                    <a:ext uri="{FF2B5EF4-FFF2-40B4-BE49-F238E27FC236}">
                      <a16:creationId xmlns:a16="http://schemas.microsoft.com/office/drawing/2014/main" id="{21AC92E7-A1B5-41AA-3D49-79A20B4977D2}"/>
                    </a:ext>
                  </a:extLst>
                </p14:cNvPr>
                <p14:cNvContentPartPr/>
                <p14:nvPr/>
              </p14:nvContentPartPr>
              <p14:xfrm>
                <a:off x="2415270" y="3699300"/>
                <a:ext cx="402120" cy="126720"/>
              </p14:xfrm>
            </p:contentPart>
          </mc:Choice>
          <mc:Fallback xmlns="">
            <p:pic>
              <p:nvPicPr>
                <p:cNvPr id="20" name="Ink 19">
                  <a:extLst>
                    <a:ext uri="{FF2B5EF4-FFF2-40B4-BE49-F238E27FC236}">
                      <a16:creationId xmlns:a16="http://schemas.microsoft.com/office/drawing/2014/main" id="{21AC92E7-A1B5-41AA-3D49-79A20B4977D2}"/>
                    </a:ext>
                  </a:extLst>
                </p:cNvPr>
                <p:cNvPicPr/>
                <p:nvPr/>
              </p:nvPicPr>
              <p:blipFill>
                <a:blip r:embed="rId10"/>
                <a:stretch>
                  <a:fillRect/>
                </a:stretch>
              </p:blipFill>
              <p:spPr>
                <a:xfrm>
                  <a:off x="2409150" y="3693180"/>
                  <a:ext cx="414360" cy="138960"/>
                </a:xfrm>
                <a:prstGeom prst="rect">
                  <a:avLst/>
                </a:prstGeom>
              </p:spPr>
            </p:pic>
          </mc:Fallback>
        </mc:AlternateContent>
      </p:grpSp>
      <p:sp>
        <p:nvSpPr>
          <p:cNvPr id="8" name="Text Placeholder 2">
            <a:extLst>
              <a:ext uri="{FF2B5EF4-FFF2-40B4-BE49-F238E27FC236}">
                <a16:creationId xmlns:a16="http://schemas.microsoft.com/office/drawing/2014/main" id="{2FBB6BC7-B454-F7F0-3651-0BF6FD513AE8}"/>
              </a:ext>
            </a:extLst>
          </p:cNvPr>
          <p:cNvSpPr txBox="1">
            <a:spLocks/>
          </p:cNvSpPr>
          <p:nvPr/>
        </p:nvSpPr>
        <p:spPr>
          <a:xfrm>
            <a:off x="3055818" y="3831648"/>
            <a:ext cx="885539" cy="682619"/>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79400" algn="l" rtl="0">
              <a:lnSpc>
                <a:spcPct val="115000"/>
              </a:lnSpc>
              <a:spcBef>
                <a:spcPts val="0"/>
              </a:spcBef>
              <a:spcAft>
                <a:spcPts val="0"/>
              </a:spcAft>
              <a:buClr>
                <a:schemeClr val="dk1"/>
              </a:buClr>
              <a:buSzPts val="800"/>
              <a:buFont typeface="Hanken Grotesk"/>
              <a:buChar char="●"/>
              <a:defRPr sz="1400" b="0" i="0" u="none" strike="noStrike" cap="none">
                <a:solidFill>
                  <a:schemeClr val="dk1"/>
                </a:solidFill>
                <a:latin typeface="Hanken Grotesk"/>
                <a:ea typeface="Hanken Grotesk"/>
                <a:cs typeface="Hanken Grotesk"/>
                <a:sym typeface="Hanken Grotesk"/>
              </a:defRPr>
            </a:lvl1pPr>
            <a:lvl2pPr marL="914400" marR="0" lvl="1"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2pPr>
            <a:lvl3pPr marL="1371600" marR="0" lvl="2"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3pPr>
            <a:lvl4pPr marL="1828800" marR="0" lvl="3"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4pPr>
            <a:lvl5pPr marL="2286000" marR="0" lvl="4"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5pPr>
            <a:lvl6pPr marL="2743200" marR="0" lvl="5"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6pPr>
            <a:lvl7pPr marL="3200400" marR="0" lvl="6"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7pPr>
            <a:lvl8pPr marL="3657600" marR="0" lvl="7"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8pPr>
            <a:lvl9pPr marL="4114800" marR="0" lvl="8"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9pPr>
          </a:lstStyle>
          <a:p>
            <a:pPr marL="0" indent="0" algn="ctr">
              <a:buFont typeface="Hanken Grotesk"/>
              <a:buNone/>
            </a:pPr>
            <a:r>
              <a:rPr lang="en-US" b="1" dirty="0"/>
              <a:t>Mica </a:t>
            </a:r>
            <a:br>
              <a:rPr lang="en-US" b="1" dirty="0"/>
            </a:br>
            <a:r>
              <a:rPr lang="en-US" b="1" dirty="0" err="1"/>
              <a:t>Consens</a:t>
            </a:r>
            <a:endParaRPr lang="en-US" dirty="0"/>
          </a:p>
        </p:txBody>
      </p:sp>
      <p:sp>
        <p:nvSpPr>
          <p:cNvPr id="16" name="Title 1">
            <a:extLst>
              <a:ext uri="{FF2B5EF4-FFF2-40B4-BE49-F238E27FC236}">
                <a16:creationId xmlns:a16="http://schemas.microsoft.com/office/drawing/2014/main" id="{B2DF0C4F-6DD7-EC4D-5ED2-D4282824E3EF}"/>
              </a:ext>
            </a:extLst>
          </p:cNvPr>
          <p:cNvSpPr>
            <a:spLocks noGrp="1"/>
          </p:cNvSpPr>
          <p:nvPr>
            <p:ph type="title"/>
          </p:nvPr>
        </p:nvSpPr>
        <p:spPr>
          <a:xfrm>
            <a:off x="720000" y="412157"/>
            <a:ext cx="7704000" cy="572700"/>
          </a:xfrm>
        </p:spPr>
        <p:txBody>
          <a:bodyPr/>
          <a:lstStyle/>
          <a:p>
            <a:pPr algn="ctr"/>
            <a:r>
              <a:rPr lang="en-US" sz="2400" dirty="0" err="1"/>
              <a:t>Gamba</a:t>
            </a:r>
            <a:r>
              <a:rPr lang="en-US" sz="2400" dirty="0"/>
              <a:t>: Key Takeaways</a:t>
            </a:r>
          </a:p>
        </p:txBody>
      </p:sp>
      <p:pic>
        <p:nvPicPr>
          <p:cNvPr id="17" name="Picture 16" descr="Micaela Consens - PhD Candidate in Computer Science at the Wang and Moses  Lab | LinkedIn">
            <a:extLst>
              <a:ext uri="{FF2B5EF4-FFF2-40B4-BE49-F238E27FC236}">
                <a16:creationId xmlns:a16="http://schemas.microsoft.com/office/drawing/2014/main" id="{F8146447-2E20-5711-C3C2-4954565A2602}"/>
              </a:ext>
            </a:extLst>
          </p:cNvPr>
          <p:cNvPicPr>
            <a:picLocks noChangeAspect="1"/>
          </p:cNvPicPr>
          <p:nvPr/>
        </p:nvPicPr>
        <p:blipFill>
          <a:blip r:embed="rId11"/>
          <a:stretch>
            <a:fillRect/>
          </a:stretch>
        </p:blipFill>
        <p:spPr>
          <a:xfrm>
            <a:off x="3134314" y="3186894"/>
            <a:ext cx="728549" cy="728549"/>
          </a:xfrm>
          <a:prstGeom prst="ellipse">
            <a:avLst/>
          </a:prstGeom>
        </p:spPr>
      </p:pic>
      <p:sp>
        <p:nvSpPr>
          <p:cNvPr id="2" name="TextBox 1">
            <a:extLst>
              <a:ext uri="{FF2B5EF4-FFF2-40B4-BE49-F238E27FC236}">
                <a16:creationId xmlns:a16="http://schemas.microsoft.com/office/drawing/2014/main" id="{DB7BE256-DB5E-6477-091A-CD8E09B00D60}"/>
              </a:ext>
            </a:extLst>
          </p:cNvPr>
          <p:cNvSpPr txBox="1"/>
          <p:nvPr/>
        </p:nvSpPr>
        <p:spPr>
          <a:xfrm>
            <a:off x="2083354" y="2682789"/>
            <a:ext cx="344966" cy="230832"/>
          </a:xfrm>
          <a:prstGeom prst="rect">
            <a:avLst/>
          </a:prstGeom>
          <a:noFill/>
        </p:spPr>
        <p:txBody>
          <a:bodyPr wrap="none" rtlCol="0">
            <a:spAutoFit/>
          </a:bodyPr>
          <a:lstStyle/>
          <a:p>
            <a:r>
              <a:rPr lang="en-US" sz="900" dirty="0"/>
              <a:t>1.7</a:t>
            </a:r>
          </a:p>
        </p:txBody>
      </p:sp>
      <p:sp>
        <p:nvSpPr>
          <p:cNvPr id="4" name="Text Placeholder 2">
            <a:extLst>
              <a:ext uri="{FF2B5EF4-FFF2-40B4-BE49-F238E27FC236}">
                <a16:creationId xmlns:a16="http://schemas.microsoft.com/office/drawing/2014/main" id="{5FB44039-A7DB-3B93-F06D-4EB120BCA102}"/>
              </a:ext>
            </a:extLst>
          </p:cNvPr>
          <p:cNvSpPr txBox="1">
            <a:spLocks/>
          </p:cNvSpPr>
          <p:nvPr/>
        </p:nvSpPr>
        <p:spPr>
          <a:xfrm>
            <a:off x="4329891" y="1125410"/>
            <a:ext cx="4389960" cy="259580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79400" algn="l" rtl="0">
              <a:lnSpc>
                <a:spcPct val="115000"/>
              </a:lnSpc>
              <a:spcBef>
                <a:spcPts val="0"/>
              </a:spcBef>
              <a:spcAft>
                <a:spcPts val="0"/>
              </a:spcAft>
              <a:buClr>
                <a:schemeClr val="dk1"/>
              </a:buClr>
              <a:buSzPts val="800"/>
              <a:buFont typeface="Hanken Grotesk"/>
              <a:buChar char="●"/>
              <a:defRPr sz="1400" b="0" i="0" u="none" strike="noStrike" cap="none">
                <a:solidFill>
                  <a:schemeClr val="dk1"/>
                </a:solidFill>
                <a:latin typeface="Hanken Grotesk"/>
                <a:ea typeface="Hanken Grotesk"/>
                <a:cs typeface="Hanken Grotesk"/>
                <a:sym typeface="Hanken Grotesk"/>
              </a:defRPr>
            </a:lvl1pPr>
            <a:lvl2pPr marL="914400" marR="0" lvl="1"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2pPr>
            <a:lvl3pPr marL="1371600" marR="0" lvl="2"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3pPr>
            <a:lvl4pPr marL="1828800" marR="0" lvl="3"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4pPr>
            <a:lvl5pPr marL="2286000" marR="0" lvl="4"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5pPr>
            <a:lvl6pPr marL="2743200" marR="0" lvl="5"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6pPr>
            <a:lvl7pPr marL="3200400" marR="0" lvl="6"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7pPr>
            <a:lvl8pPr marL="3657600" marR="0" lvl="7"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8pPr>
            <a:lvl9pPr marL="4114800" marR="0" lvl="8"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9pPr>
          </a:lstStyle>
          <a:p>
            <a:pPr marL="285750" indent="-285750"/>
            <a:r>
              <a:rPr lang="en-US" dirty="0"/>
              <a:t>Pretraining on evolutionary conservation is more effective than sequence reconstruction for some kinds of genomic signal</a:t>
            </a:r>
            <a:br>
              <a:rPr lang="en-US" dirty="0"/>
            </a:br>
            <a:endParaRPr lang="en-US" dirty="0"/>
          </a:p>
          <a:p>
            <a:pPr marL="285750" indent="-285750"/>
            <a:r>
              <a:rPr lang="en-US" dirty="0"/>
              <a:t>Evolutionary conservation and sequence reconstruction pretraining can be combined</a:t>
            </a:r>
            <a:br>
              <a:rPr lang="en-US" dirty="0"/>
            </a:br>
            <a:endParaRPr lang="en-US" dirty="0"/>
          </a:p>
          <a:p>
            <a:pPr marL="285750" indent="-285750"/>
            <a:r>
              <a:rPr lang="en-US" dirty="0"/>
              <a:t>Current </a:t>
            </a:r>
            <a:r>
              <a:rPr lang="en-US" dirty="0" err="1"/>
              <a:t>gLMs</a:t>
            </a:r>
            <a:r>
              <a:rPr lang="en-US" dirty="0"/>
              <a:t> (including </a:t>
            </a:r>
            <a:r>
              <a:rPr lang="en-US" dirty="0" err="1"/>
              <a:t>Gamba</a:t>
            </a:r>
            <a:r>
              <a:rPr lang="en-US" dirty="0"/>
              <a:t>) do not yet learn evolution at single nucleotide resolution well</a:t>
            </a:r>
            <a:br>
              <a:rPr lang="en-US" dirty="0"/>
            </a:br>
            <a:endParaRPr lang="en-US" dirty="0"/>
          </a:p>
          <a:p>
            <a:pPr marL="285750" indent="-285750"/>
            <a:endParaRPr lang="en-US" dirty="0"/>
          </a:p>
        </p:txBody>
      </p:sp>
      <p:pic>
        <p:nvPicPr>
          <p:cNvPr id="10" name="Picture 9">
            <a:extLst>
              <a:ext uri="{FF2B5EF4-FFF2-40B4-BE49-F238E27FC236}">
                <a16:creationId xmlns:a16="http://schemas.microsoft.com/office/drawing/2014/main" id="{21BCC621-5E9C-80E8-6F97-E0123CEB5FAE}"/>
              </a:ext>
            </a:extLst>
          </p:cNvPr>
          <p:cNvPicPr>
            <a:picLocks noChangeAspect="1"/>
          </p:cNvPicPr>
          <p:nvPr/>
        </p:nvPicPr>
        <p:blipFill>
          <a:blip r:embed="rId12"/>
          <a:stretch>
            <a:fillRect/>
          </a:stretch>
        </p:blipFill>
        <p:spPr>
          <a:xfrm>
            <a:off x="4987372" y="3572442"/>
            <a:ext cx="1045690" cy="1053827"/>
          </a:xfrm>
          <a:prstGeom prst="rect">
            <a:avLst/>
          </a:prstGeom>
        </p:spPr>
      </p:pic>
      <p:sp>
        <p:nvSpPr>
          <p:cNvPr id="15" name="TextBox 14">
            <a:extLst>
              <a:ext uri="{FF2B5EF4-FFF2-40B4-BE49-F238E27FC236}">
                <a16:creationId xmlns:a16="http://schemas.microsoft.com/office/drawing/2014/main" id="{BEE9D37E-0043-F1C6-AF2C-977E5E52679F}"/>
              </a:ext>
            </a:extLst>
          </p:cNvPr>
          <p:cNvSpPr txBox="1"/>
          <p:nvPr/>
        </p:nvSpPr>
        <p:spPr>
          <a:xfrm>
            <a:off x="6478973" y="3721215"/>
            <a:ext cx="1658250" cy="830997"/>
          </a:xfrm>
          <a:prstGeom prst="rect">
            <a:avLst/>
          </a:prstGeom>
          <a:noFill/>
        </p:spPr>
        <p:txBody>
          <a:bodyPr wrap="square" rtlCol="0">
            <a:spAutoFit/>
          </a:bodyPr>
          <a:lstStyle/>
          <a:p>
            <a:pPr algn="ctr"/>
            <a:r>
              <a:rPr lang="en-US" sz="2400" b="1" dirty="0">
                <a:solidFill>
                  <a:srgbClr val="C00000"/>
                </a:solidFill>
                <a:latin typeface="Bradley Hand ITC" panose="03070402050302030203" pitchFamily="66" charset="0"/>
                <a:sym typeface="Wingdings" panose="05000000000000000000" pitchFamily="2" charset="2"/>
              </a:rPr>
              <a:t>Read our preprint</a:t>
            </a:r>
            <a:endParaRPr lang="en-US" sz="2400" b="1" dirty="0">
              <a:solidFill>
                <a:srgbClr val="C00000"/>
              </a:solidFill>
              <a:latin typeface="Bradley Hand ITC" panose="03070402050302030203" pitchFamily="66" charset="0"/>
            </a:endParaRPr>
          </a:p>
        </p:txBody>
      </p:sp>
      <p:cxnSp>
        <p:nvCxnSpPr>
          <p:cNvPr id="22" name="Straight Arrow Connector 21">
            <a:extLst>
              <a:ext uri="{FF2B5EF4-FFF2-40B4-BE49-F238E27FC236}">
                <a16:creationId xmlns:a16="http://schemas.microsoft.com/office/drawing/2014/main" id="{DE32A77A-8293-1095-7DC7-5844EDFBDF12}"/>
              </a:ext>
            </a:extLst>
          </p:cNvPr>
          <p:cNvCxnSpPr>
            <a:cxnSpLocks/>
          </p:cNvCxnSpPr>
          <p:nvPr/>
        </p:nvCxnSpPr>
        <p:spPr>
          <a:xfrm flipH="1" flipV="1">
            <a:off x="6194948" y="4099355"/>
            <a:ext cx="329923" cy="2"/>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4019817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86199A-709A-AC4C-2AFD-4FECA8D6506F}"/>
            </a:ext>
          </a:extLst>
        </p:cNvPr>
        <p:cNvGrpSpPr/>
        <p:nvPr/>
      </p:nvGrpSpPr>
      <p:grpSpPr>
        <a:xfrm>
          <a:off x="0" y="0"/>
          <a:ext cx="0" cy="0"/>
          <a:chOff x="0" y="0"/>
          <a:chExt cx="0" cy="0"/>
        </a:xfrm>
      </p:grpSpPr>
      <p:sp>
        <p:nvSpPr>
          <p:cNvPr id="16" name="Title 1">
            <a:extLst>
              <a:ext uri="{FF2B5EF4-FFF2-40B4-BE49-F238E27FC236}">
                <a16:creationId xmlns:a16="http://schemas.microsoft.com/office/drawing/2014/main" id="{F367AED5-F2DC-6680-54AC-15F1C674E0C2}"/>
              </a:ext>
            </a:extLst>
          </p:cNvPr>
          <p:cNvSpPr>
            <a:spLocks noGrp="1"/>
          </p:cNvSpPr>
          <p:nvPr>
            <p:ph type="title"/>
          </p:nvPr>
        </p:nvSpPr>
        <p:spPr>
          <a:xfrm>
            <a:off x="719999" y="523239"/>
            <a:ext cx="7704000" cy="572700"/>
          </a:xfrm>
        </p:spPr>
        <p:txBody>
          <a:bodyPr/>
          <a:lstStyle/>
          <a:p>
            <a:pPr algn="ctr"/>
            <a:r>
              <a:rPr lang="en-US" sz="2400" dirty="0"/>
              <a:t>Generative enhancer design with </a:t>
            </a:r>
            <a:r>
              <a:rPr lang="en-US" sz="2400" dirty="0" err="1"/>
              <a:t>EnhancAR</a:t>
            </a:r>
            <a:endParaRPr lang="en-US" sz="2400" dirty="0"/>
          </a:p>
        </p:txBody>
      </p:sp>
      <p:sp>
        <p:nvSpPr>
          <p:cNvPr id="15" name="Text Placeholder 2">
            <a:extLst>
              <a:ext uri="{FF2B5EF4-FFF2-40B4-BE49-F238E27FC236}">
                <a16:creationId xmlns:a16="http://schemas.microsoft.com/office/drawing/2014/main" id="{C81AA9E3-4E67-8745-1E8D-05FC2A4B94E6}"/>
              </a:ext>
            </a:extLst>
          </p:cNvPr>
          <p:cNvSpPr txBox="1">
            <a:spLocks/>
          </p:cNvSpPr>
          <p:nvPr/>
        </p:nvSpPr>
        <p:spPr>
          <a:xfrm>
            <a:off x="4571999" y="1379955"/>
            <a:ext cx="3364320" cy="2915018"/>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79400" algn="l" rtl="0">
              <a:lnSpc>
                <a:spcPct val="115000"/>
              </a:lnSpc>
              <a:spcBef>
                <a:spcPts val="0"/>
              </a:spcBef>
              <a:spcAft>
                <a:spcPts val="0"/>
              </a:spcAft>
              <a:buClr>
                <a:schemeClr val="dk1"/>
              </a:buClr>
              <a:buSzPts val="800"/>
              <a:buFont typeface="Hanken Grotesk"/>
              <a:buChar char="●"/>
              <a:defRPr sz="1400" b="0" i="0" u="none" strike="noStrike" cap="none">
                <a:solidFill>
                  <a:schemeClr val="dk1"/>
                </a:solidFill>
                <a:latin typeface="Hanken Grotesk"/>
                <a:ea typeface="Hanken Grotesk"/>
                <a:cs typeface="Hanken Grotesk"/>
                <a:sym typeface="Hanken Grotesk"/>
              </a:defRPr>
            </a:lvl1pPr>
            <a:lvl2pPr marL="914400" marR="0" lvl="1"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2pPr>
            <a:lvl3pPr marL="1371600" marR="0" lvl="2"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3pPr>
            <a:lvl4pPr marL="1828800" marR="0" lvl="3"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4pPr>
            <a:lvl5pPr marL="2286000" marR="0" lvl="4"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5pPr>
            <a:lvl6pPr marL="2743200" marR="0" lvl="5"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6pPr>
            <a:lvl7pPr marL="3200400" marR="0" lvl="6"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7pPr>
            <a:lvl8pPr marL="3657600" marR="0" lvl="7"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8pPr>
            <a:lvl9pPr marL="4114800" marR="0" lvl="8"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9pPr>
          </a:lstStyle>
          <a:p>
            <a:pPr marL="177800" indent="0" algn="ctr">
              <a:buFont typeface="Hanken Grotesk"/>
              <a:buNone/>
            </a:pPr>
            <a:r>
              <a:rPr lang="en-US" b="1" dirty="0" err="1"/>
              <a:t>EnhancAR</a:t>
            </a:r>
            <a:br>
              <a:rPr lang="en-US" dirty="0"/>
            </a:br>
            <a:r>
              <a:rPr lang="en-US" dirty="0"/>
              <a:t>Can we use evolution to steer generative models of enhancers?</a:t>
            </a:r>
          </a:p>
        </p:txBody>
      </p:sp>
      <p:pic>
        <p:nvPicPr>
          <p:cNvPr id="18" name="Picture 17" descr="The image depicts a genetic sequence diagram with labels for an ARM gene, including a nucleotide sequence with 'C' for cytosine, 'G' for guanine, and 'A' and 'T' for adenine and thymine respectively.&#10;&#10;AI-generated content may be incorrect.">
            <a:extLst>
              <a:ext uri="{FF2B5EF4-FFF2-40B4-BE49-F238E27FC236}">
                <a16:creationId xmlns:a16="http://schemas.microsoft.com/office/drawing/2014/main" id="{8DA9F508-6DB9-727B-5060-D2664942CA1E}"/>
              </a:ext>
            </a:extLst>
          </p:cNvPr>
          <p:cNvPicPr>
            <a:picLocks noChangeAspect="1"/>
          </p:cNvPicPr>
          <p:nvPr/>
        </p:nvPicPr>
        <p:blipFill>
          <a:blip r:embed="rId3"/>
          <a:srcRect t="19437" r="49412" b="36751"/>
          <a:stretch>
            <a:fillRect/>
          </a:stretch>
        </p:blipFill>
        <p:spPr>
          <a:xfrm>
            <a:off x="5235441" y="3293899"/>
            <a:ext cx="737814" cy="538391"/>
          </a:xfrm>
          <a:prstGeom prst="rect">
            <a:avLst/>
          </a:prstGeom>
        </p:spPr>
      </p:pic>
      <p:sp>
        <p:nvSpPr>
          <p:cNvPr id="22" name="Rectangle 21">
            <a:extLst>
              <a:ext uri="{FF2B5EF4-FFF2-40B4-BE49-F238E27FC236}">
                <a16:creationId xmlns:a16="http://schemas.microsoft.com/office/drawing/2014/main" id="{052535EB-580E-6B77-75B8-F7AC911AF7F1}"/>
              </a:ext>
            </a:extLst>
          </p:cNvPr>
          <p:cNvSpPr/>
          <p:nvPr/>
        </p:nvSpPr>
        <p:spPr>
          <a:xfrm>
            <a:off x="5235441" y="3011662"/>
            <a:ext cx="2190694" cy="100707"/>
          </a:xfrm>
          <a:prstGeom prst="rect">
            <a:avLst/>
          </a:prstGeom>
          <a:solidFill>
            <a:srgbClr val="71DAFF"/>
          </a:solidFill>
          <a:ln>
            <a:solidFill>
              <a:srgbClr val="71DA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3E677FFC-D0C9-D75B-BC73-369251C12792}"/>
              </a:ext>
            </a:extLst>
          </p:cNvPr>
          <p:cNvSpPr/>
          <p:nvPr/>
        </p:nvSpPr>
        <p:spPr>
          <a:xfrm>
            <a:off x="5521097" y="3011662"/>
            <a:ext cx="1466125" cy="100707"/>
          </a:xfrm>
          <a:prstGeom prst="rect">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7AA6F43C-E30B-7307-D537-302289C8FEE8}"/>
              </a:ext>
            </a:extLst>
          </p:cNvPr>
          <p:cNvSpPr/>
          <p:nvPr/>
        </p:nvSpPr>
        <p:spPr>
          <a:xfrm>
            <a:off x="5235441" y="2748972"/>
            <a:ext cx="2190694" cy="100707"/>
          </a:xfrm>
          <a:prstGeom prst="rect">
            <a:avLst/>
          </a:prstGeom>
          <a:solidFill>
            <a:srgbClr val="71DAFF"/>
          </a:solidFill>
          <a:ln>
            <a:solidFill>
              <a:srgbClr val="71DA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7CA3D5F1-8AC1-D791-54C6-66548981D66B}"/>
              </a:ext>
            </a:extLst>
          </p:cNvPr>
          <p:cNvSpPr/>
          <p:nvPr/>
        </p:nvSpPr>
        <p:spPr>
          <a:xfrm>
            <a:off x="5521097" y="2748972"/>
            <a:ext cx="1466125" cy="100707"/>
          </a:xfrm>
          <a:prstGeom prst="rect">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ABAA91A3-1E0D-067D-1DD0-1A61DF7388E1}"/>
              </a:ext>
            </a:extLst>
          </p:cNvPr>
          <p:cNvSpPr/>
          <p:nvPr/>
        </p:nvSpPr>
        <p:spPr>
          <a:xfrm>
            <a:off x="5235441" y="2507147"/>
            <a:ext cx="2190694" cy="100707"/>
          </a:xfrm>
          <a:prstGeom prst="rect">
            <a:avLst/>
          </a:prstGeom>
          <a:solidFill>
            <a:srgbClr val="71DAFF"/>
          </a:solidFill>
          <a:ln>
            <a:solidFill>
              <a:srgbClr val="71DA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222CA071-8AE4-E857-1FED-3A939B4C34FC}"/>
              </a:ext>
            </a:extLst>
          </p:cNvPr>
          <p:cNvSpPr/>
          <p:nvPr/>
        </p:nvSpPr>
        <p:spPr>
          <a:xfrm>
            <a:off x="5521097" y="2507147"/>
            <a:ext cx="1466125" cy="100707"/>
          </a:xfrm>
          <a:prstGeom prst="rect">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a:extLst>
              <a:ext uri="{FF2B5EF4-FFF2-40B4-BE49-F238E27FC236}">
                <a16:creationId xmlns:a16="http://schemas.microsoft.com/office/drawing/2014/main" id="{75B61923-9C72-AD42-3F9E-B3AC70A30BDD}"/>
              </a:ext>
            </a:extLst>
          </p:cNvPr>
          <p:cNvSpPr txBox="1"/>
          <p:nvPr/>
        </p:nvSpPr>
        <p:spPr>
          <a:xfrm>
            <a:off x="6238748" y="3368574"/>
            <a:ext cx="1805301" cy="646331"/>
          </a:xfrm>
          <a:prstGeom prst="rect">
            <a:avLst/>
          </a:prstGeom>
          <a:noFill/>
        </p:spPr>
        <p:txBody>
          <a:bodyPr wrap="none" rtlCol="0">
            <a:spAutoFit/>
          </a:bodyPr>
          <a:lstStyle/>
          <a:p>
            <a:pPr algn="ctr"/>
            <a:r>
              <a:rPr lang="en-US" sz="1200" dirty="0"/>
              <a:t>Generate not just single</a:t>
            </a:r>
            <a:br>
              <a:rPr lang="en-US" sz="1200" dirty="0"/>
            </a:br>
            <a:r>
              <a:rPr lang="en-US" sz="1200" dirty="0"/>
              <a:t>sequences but entire</a:t>
            </a:r>
            <a:br>
              <a:rPr lang="en-US" sz="1200" dirty="0"/>
            </a:br>
            <a:r>
              <a:rPr lang="en-US" sz="1200" dirty="0"/>
              <a:t>homology family</a:t>
            </a:r>
          </a:p>
        </p:txBody>
      </p:sp>
      <mc:AlternateContent xmlns:mc="http://schemas.openxmlformats.org/markup-compatibility/2006" xmlns:p14="http://schemas.microsoft.com/office/powerpoint/2010/main">
        <mc:Choice Requires="p14">
          <p:contentPart p14:bwMode="auto" r:id="rId4">
            <p14:nvContentPartPr>
              <p14:cNvPr id="29" name="Ink 28">
                <a:extLst>
                  <a:ext uri="{FF2B5EF4-FFF2-40B4-BE49-F238E27FC236}">
                    <a16:creationId xmlns:a16="http://schemas.microsoft.com/office/drawing/2014/main" id="{2A63643F-1A0C-1C60-0552-1A82D4D882B6}"/>
                  </a:ext>
                </a:extLst>
              </p14:cNvPr>
              <p14:cNvContentPartPr/>
              <p14:nvPr/>
            </p14:nvContentPartPr>
            <p14:xfrm>
              <a:off x="6197360" y="3227162"/>
              <a:ext cx="134280" cy="77040"/>
            </p14:xfrm>
          </p:contentPart>
        </mc:Choice>
        <mc:Fallback xmlns="">
          <p:pic>
            <p:nvPicPr>
              <p:cNvPr id="29" name="Ink 28">
                <a:extLst>
                  <a:ext uri="{FF2B5EF4-FFF2-40B4-BE49-F238E27FC236}">
                    <a16:creationId xmlns:a16="http://schemas.microsoft.com/office/drawing/2014/main" id="{2A63643F-1A0C-1C60-0552-1A82D4D882B6}"/>
                  </a:ext>
                </a:extLst>
              </p:cNvPr>
              <p:cNvPicPr/>
              <p:nvPr/>
            </p:nvPicPr>
            <p:blipFill>
              <a:blip r:embed="rId5"/>
              <a:stretch>
                <a:fillRect/>
              </a:stretch>
            </p:blipFill>
            <p:spPr>
              <a:xfrm>
                <a:off x="6191240" y="3221042"/>
                <a:ext cx="146520" cy="8928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30" name="Ink 29">
                <a:extLst>
                  <a:ext uri="{FF2B5EF4-FFF2-40B4-BE49-F238E27FC236}">
                    <a16:creationId xmlns:a16="http://schemas.microsoft.com/office/drawing/2014/main" id="{63DE2263-45A3-0227-C9B5-336BD651C806}"/>
                  </a:ext>
                </a:extLst>
              </p14:cNvPr>
              <p14:cNvContentPartPr/>
              <p14:nvPr/>
            </p14:nvContentPartPr>
            <p14:xfrm>
              <a:off x="6202928" y="3288832"/>
              <a:ext cx="71640" cy="347760"/>
            </p14:xfrm>
          </p:contentPart>
        </mc:Choice>
        <mc:Fallback xmlns="">
          <p:pic>
            <p:nvPicPr>
              <p:cNvPr id="30" name="Ink 29">
                <a:extLst>
                  <a:ext uri="{FF2B5EF4-FFF2-40B4-BE49-F238E27FC236}">
                    <a16:creationId xmlns:a16="http://schemas.microsoft.com/office/drawing/2014/main" id="{63DE2263-45A3-0227-C9B5-336BD651C806}"/>
                  </a:ext>
                </a:extLst>
              </p:cNvPr>
              <p:cNvPicPr/>
              <p:nvPr/>
            </p:nvPicPr>
            <p:blipFill>
              <a:blip r:embed="rId7"/>
              <a:stretch>
                <a:fillRect/>
              </a:stretch>
            </p:blipFill>
            <p:spPr>
              <a:xfrm>
                <a:off x="6196808" y="3282352"/>
                <a:ext cx="83880" cy="360000"/>
              </a:xfrm>
              <a:prstGeom prst="rect">
                <a:avLst/>
              </a:prstGeom>
            </p:spPr>
          </p:pic>
        </mc:Fallback>
      </mc:AlternateContent>
      <p:pic>
        <p:nvPicPr>
          <p:cNvPr id="31" name="Picture 30" descr="Logo">
            <a:extLst>
              <a:ext uri="{FF2B5EF4-FFF2-40B4-BE49-F238E27FC236}">
                <a16:creationId xmlns:a16="http://schemas.microsoft.com/office/drawing/2014/main" id="{24C1D477-9829-A849-AE47-E662DBC5D79D}"/>
              </a:ext>
            </a:extLst>
          </p:cNvPr>
          <p:cNvPicPr>
            <a:picLocks noChangeAspect="1"/>
          </p:cNvPicPr>
          <p:nvPr/>
        </p:nvPicPr>
        <p:blipFill>
          <a:blip r:embed="rId8"/>
          <a:stretch>
            <a:fillRect/>
          </a:stretch>
        </p:blipFill>
        <p:spPr>
          <a:xfrm>
            <a:off x="1951969" y="1762649"/>
            <a:ext cx="1488996" cy="1488996"/>
          </a:xfrm>
          <a:prstGeom prst="ellipse">
            <a:avLst/>
          </a:prstGeom>
        </p:spPr>
      </p:pic>
      <p:sp>
        <p:nvSpPr>
          <p:cNvPr id="32" name="Text Placeholder 2">
            <a:extLst>
              <a:ext uri="{FF2B5EF4-FFF2-40B4-BE49-F238E27FC236}">
                <a16:creationId xmlns:a16="http://schemas.microsoft.com/office/drawing/2014/main" id="{AC7EB3AF-511C-EAE1-7E56-D0750CDDF1C8}"/>
              </a:ext>
            </a:extLst>
          </p:cNvPr>
          <p:cNvSpPr txBox="1">
            <a:spLocks/>
          </p:cNvSpPr>
          <p:nvPr/>
        </p:nvSpPr>
        <p:spPr>
          <a:xfrm>
            <a:off x="1018134" y="3304499"/>
            <a:ext cx="3364320" cy="2915018"/>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79400" algn="l" rtl="0">
              <a:lnSpc>
                <a:spcPct val="115000"/>
              </a:lnSpc>
              <a:spcBef>
                <a:spcPts val="0"/>
              </a:spcBef>
              <a:spcAft>
                <a:spcPts val="0"/>
              </a:spcAft>
              <a:buClr>
                <a:schemeClr val="dk1"/>
              </a:buClr>
              <a:buSzPts val="800"/>
              <a:buFont typeface="Hanken Grotesk"/>
              <a:buChar char="●"/>
              <a:defRPr sz="1400" b="0" i="0" u="none" strike="noStrike" cap="none">
                <a:solidFill>
                  <a:schemeClr val="dk1"/>
                </a:solidFill>
                <a:latin typeface="Hanken Grotesk"/>
                <a:ea typeface="Hanken Grotesk"/>
                <a:cs typeface="Hanken Grotesk"/>
                <a:sym typeface="Hanken Grotesk"/>
              </a:defRPr>
            </a:lvl1pPr>
            <a:lvl2pPr marL="914400" marR="0" lvl="1"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2pPr>
            <a:lvl3pPr marL="1371600" marR="0" lvl="2"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3pPr>
            <a:lvl4pPr marL="1828800" marR="0" lvl="3"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4pPr>
            <a:lvl5pPr marL="2286000" marR="0" lvl="4"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5pPr>
            <a:lvl6pPr marL="2743200" marR="0" lvl="5"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6pPr>
            <a:lvl7pPr marL="3200400" marR="0" lvl="6"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7pPr>
            <a:lvl8pPr marL="3657600" marR="0" lvl="7"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8pPr>
            <a:lvl9pPr marL="4114800" marR="0" lvl="8"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9pPr>
          </a:lstStyle>
          <a:p>
            <a:pPr marL="0" indent="0" algn="ctr">
              <a:buFont typeface="Hanken Grotesk"/>
              <a:buNone/>
            </a:pPr>
            <a:r>
              <a:rPr lang="en-US" b="1" dirty="0"/>
              <a:t>Andrew Duncan</a:t>
            </a:r>
            <a:endParaRPr lang="en-US" dirty="0"/>
          </a:p>
        </p:txBody>
      </p:sp>
    </p:spTree>
    <p:extLst>
      <p:ext uri="{BB962C8B-B14F-4D97-AF65-F5344CB8AC3E}">
        <p14:creationId xmlns:p14="http://schemas.microsoft.com/office/powerpoint/2010/main" val="304071173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8585B6-1D4E-180D-E5FB-D2A6141F50FA}"/>
            </a:ext>
          </a:extLst>
        </p:cNvPr>
        <p:cNvGrpSpPr/>
        <p:nvPr/>
      </p:nvGrpSpPr>
      <p:grpSpPr>
        <a:xfrm>
          <a:off x="0" y="0"/>
          <a:ext cx="0" cy="0"/>
          <a:chOff x="0" y="0"/>
          <a:chExt cx="0" cy="0"/>
        </a:xfrm>
      </p:grpSpPr>
      <p:sp>
        <p:nvSpPr>
          <p:cNvPr id="16" name="Title 1">
            <a:extLst>
              <a:ext uri="{FF2B5EF4-FFF2-40B4-BE49-F238E27FC236}">
                <a16:creationId xmlns:a16="http://schemas.microsoft.com/office/drawing/2014/main" id="{12A53BC9-9A2F-38CC-942C-29DB8D0477A4}"/>
              </a:ext>
            </a:extLst>
          </p:cNvPr>
          <p:cNvSpPr>
            <a:spLocks noGrp="1"/>
          </p:cNvSpPr>
          <p:nvPr>
            <p:ph type="title"/>
          </p:nvPr>
        </p:nvSpPr>
        <p:spPr>
          <a:xfrm>
            <a:off x="719999" y="523239"/>
            <a:ext cx="7704000" cy="572700"/>
          </a:xfrm>
        </p:spPr>
        <p:txBody>
          <a:bodyPr/>
          <a:lstStyle/>
          <a:p>
            <a:pPr algn="ctr"/>
            <a:r>
              <a:rPr lang="en-US" sz="2400" dirty="0"/>
              <a:t>Our goal is to generate enhancer sequences that drive gene expression in specific contexts</a:t>
            </a:r>
          </a:p>
        </p:txBody>
      </p:sp>
      <p:sp>
        <p:nvSpPr>
          <p:cNvPr id="2" name="Rectangle 1">
            <a:extLst>
              <a:ext uri="{FF2B5EF4-FFF2-40B4-BE49-F238E27FC236}">
                <a16:creationId xmlns:a16="http://schemas.microsoft.com/office/drawing/2014/main" id="{2436F440-C81B-1355-7D58-72B3A7C0687E}"/>
              </a:ext>
            </a:extLst>
          </p:cNvPr>
          <p:cNvSpPr/>
          <p:nvPr/>
        </p:nvSpPr>
        <p:spPr>
          <a:xfrm>
            <a:off x="3010359" y="3665957"/>
            <a:ext cx="2836844" cy="198306"/>
          </a:xfrm>
          <a:prstGeom prst="rect">
            <a:avLst/>
          </a:prstGeom>
          <a:solidFill>
            <a:srgbClr val="71DAFF"/>
          </a:solidFill>
          <a:ln>
            <a:solidFill>
              <a:srgbClr val="71DA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8CBA3646-C5C8-C717-AF74-399D75CF67F1}"/>
              </a:ext>
            </a:extLst>
          </p:cNvPr>
          <p:cNvSpPr/>
          <p:nvPr/>
        </p:nvSpPr>
        <p:spPr>
          <a:xfrm>
            <a:off x="3373563" y="3665957"/>
            <a:ext cx="314333" cy="195795"/>
          </a:xfrm>
          <a:prstGeom prst="rect">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C5CB34E7-566B-7362-D906-03BEDD5890CF}"/>
              </a:ext>
            </a:extLst>
          </p:cNvPr>
          <p:cNvSpPr/>
          <p:nvPr/>
        </p:nvSpPr>
        <p:spPr>
          <a:xfrm>
            <a:off x="4166123" y="3663447"/>
            <a:ext cx="262658" cy="203328"/>
          </a:xfrm>
          <a:prstGeom prst="rect">
            <a:avLst/>
          </a:prstGeom>
          <a:solidFill>
            <a:srgbClr val="FFFF00"/>
          </a:solid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2FD47B5A-E59B-777F-44C1-F5B271A291B0}"/>
              </a:ext>
            </a:extLst>
          </p:cNvPr>
          <p:cNvSpPr/>
          <p:nvPr/>
        </p:nvSpPr>
        <p:spPr>
          <a:xfrm>
            <a:off x="4428781" y="3663446"/>
            <a:ext cx="1154017" cy="195796"/>
          </a:xfrm>
          <a:prstGeom prst="rect">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 Placeholder 2">
            <a:extLst>
              <a:ext uri="{FF2B5EF4-FFF2-40B4-BE49-F238E27FC236}">
                <a16:creationId xmlns:a16="http://schemas.microsoft.com/office/drawing/2014/main" id="{C8D9992F-3C3F-A8DA-469F-A1EEF6190310}"/>
              </a:ext>
            </a:extLst>
          </p:cNvPr>
          <p:cNvSpPr txBox="1">
            <a:spLocks/>
          </p:cNvSpPr>
          <p:nvPr/>
        </p:nvSpPr>
        <p:spPr>
          <a:xfrm>
            <a:off x="2785260" y="3866773"/>
            <a:ext cx="1380863" cy="40457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79400" algn="l" rtl="0">
              <a:lnSpc>
                <a:spcPct val="115000"/>
              </a:lnSpc>
              <a:spcBef>
                <a:spcPts val="0"/>
              </a:spcBef>
              <a:spcAft>
                <a:spcPts val="0"/>
              </a:spcAft>
              <a:buClr>
                <a:schemeClr val="dk1"/>
              </a:buClr>
              <a:buSzPts val="800"/>
              <a:buFont typeface="Hanken Grotesk"/>
              <a:buChar char="●"/>
              <a:defRPr sz="1400" b="0" i="0" u="none" strike="noStrike" cap="none">
                <a:solidFill>
                  <a:schemeClr val="dk1"/>
                </a:solidFill>
                <a:latin typeface="Hanken Grotesk"/>
                <a:ea typeface="Hanken Grotesk"/>
                <a:cs typeface="Hanken Grotesk"/>
                <a:sym typeface="Hanken Grotesk"/>
              </a:defRPr>
            </a:lvl1pPr>
            <a:lvl2pPr marL="914400" marR="0" lvl="1"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2pPr>
            <a:lvl3pPr marL="1371600" marR="0" lvl="2"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3pPr>
            <a:lvl4pPr marL="1828800" marR="0" lvl="3"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4pPr>
            <a:lvl5pPr marL="2286000" marR="0" lvl="4"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5pPr>
            <a:lvl6pPr marL="2743200" marR="0" lvl="5"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6pPr>
            <a:lvl7pPr marL="3200400" marR="0" lvl="6"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7pPr>
            <a:lvl8pPr marL="3657600" marR="0" lvl="7"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8pPr>
            <a:lvl9pPr marL="4114800" marR="0" lvl="8"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9pPr>
          </a:lstStyle>
          <a:p>
            <a:pPr marL="177800" indent="0" algn="ctr">
              <a:buFont typeface="Hanken Grotesk"/>
              <a:buNone/>
            </a:pPr>
            <a:r>
              <a:rPr lang="en-US" dirty="0"/>
              <a:t>Enhancer</a:t>
            </a:r>
          </a:p>
        </p:txBody>
      </p:sp>
      <p:sp>
        <p:nvSpPr>
          <p:cNvPr id="20" name="Text Placeholder 2">
            <a:extLst>
              <a:ext uri="{FF2B5EF4-FFF2-40B4-BE49-F238E27FC236}">
                <a16:creationId xmlns:a16="http://schemas.microsoft.com/office/drawing/2014/main" id="{8A679CEF-9E7F-B34F-FB7A-091947731B5C}"/>
              </a:ext>
            </a:extLst>
          </p:cNvPr>
          <p:cNvSpPr txBox="1">
            <a:spLocks/>
          </p:cNvSpPr>
          <p:nvPr/>
        </p:nvSpPr>
        <p:spPr>
          <a:xfrm>
            <a:off x="3530729" y="4121055"/>
            <a:ext cx="1380863" cy="40457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79400" algn="l" rtl="0">
              <a:lnSpc>
                <a:spcPct val="115000"/>
              </a:lnSpc>
              <a:spcBef>
                <a:spcPts val="0"/>
              </a:spcBef>
              <a:spcAft>
                <a:spcPts val="0"/>
              </a:spcAft>
              <a:buClr>
                <a:schemeClr val="dk1"/>
              </a:buClr>
              <a:buSzPts val="800"/>
              <a:buFont typeface="Hanken Grotesk"/>
              <a:buChar char="●"/>
              <a:defRPr sz="1400" b="0" i="0" u="none" strike="noStrike" cap="none">
                <a:solidFill>
                  <a:schemeClr val="dk1"/>
                </a:solidFill>
                <a:latin typeface="Hanken Grotesk"/>
                <a:ea typeface="Hanken Grotesk"/>
                <a:cs typeface="Hanken Grotesk"/>
                <a:sym typeface="Hanken Grotesk"/>
              </a:defRPr>
            </a:lvl1pPr>
            <a:lvl2pPr marL="914400" marR="0" lvl="1"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2pPr>
            <a:lvl3pPr marL="1371600" marR="0" lvl="2"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3pPr>
            <a:lvl4pPr marL="1828800" marR="0" lvl="3"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4pPr>
            <a:lvl5pPr marL="2286000" marR="0" lvl="4"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5pPr>
            <a:lvl6pPr marL="2743200" marR="0" lvl="5"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6pPr>
            <a:lvl7pPr marL="3200400" marR="0" lvl="6"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7pPr>
            <a:lvl8pPr marL="3657600" marR="0" lvl="7"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8pPr>
            <a:lvl9pPr marL="4114800" marR="0" lvl="8"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9pPr>
          </a:lstStyle>
          <a:p>
            <a:pPr marL="177800" indent="0" algn="ctr">
              <a:buFont typeface="Hanken Grotesk"/>
              <a:buNone/>
            </a:pPr>
            <a:r>
              <a:rPr lang="en-US" dirty="0"/>
              <a:t>Promoter</a:t>
            </a:r>
          </a:p>
        </p:txBody>
      </p:sp>
      <p:sp>
        <p:nvSpPr>
          <p:cNvPr id="21" name="Text Placeholder 2">
            <a:extLst>
              <a:ext uri="{FF2B5EF4-FFF2-40B4-BE49-F238E27FC236}">
                <a16:creationId xmlns:a16="http://schemas.microsoft.com/office/drawing/2014/main" id="{43FCA706-24D1-C920-1793-042C718CB8E9}"/>
              </a:ext>
            </a:extLst>
          </p:cNvPr>
          <p:cNvSpPr txBox="1">
            <a:spLocks/>
          </p:cNvSpPr>
          <p:nvPr/>
        </p:nvSpPr>
        <p:spPr>
          <a:xfrm>
            <a:off x="4184902" y="3859095"/>
            <a:ext cx="1380863" cy="40457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79400" algn="l" rtl="0">
              <a:lnSpc>
                <a:spcPct val="115000"/>
              </a:lnSpc>
              <a:spcBef>
                <a:spcPts val="0"/>
              </a:spcBef>
              <a:spcAft>
                <a:spcPts val="0"/>
              </a:spcAft>
              <a:buClr>
                <a:schemeClr val="dk1"/>
              </a:buClr>
              <a:buSzPts val="800"/>
              <a:buFont typeface="Hanken Grotesk"/>
              <a:buChar char="●"/>
              <a:defRPr sz="1400" b="0" i="0" u="none" strike="noStrike" cap="none">
                <a:solidFill>
                  <a:schemeClr val="dk1"/>
                </a:solidFill>
                <a:latin typeface="Hanken Grotesk"/>
                <a:ea typeface="Hanken Grotesk"/>
                <a:cs typeface="Hanken Grotesk"/>
                <a:sym typeface="Hanken Grotesk"/>
              </a:defRPr>
            </a:lvl1pPr>
            <a:lvl2pPr marL="914400" marR="0" lvl="1"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2pPr>
            <a:lvl3pPr marL="1371600" marR="0" lvl="2"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3pPr>
            <a:lvl4pPr marL="1828800" marR="0" lvl="3"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4pPr>
            <a:lvl5pPr marL="2286000" marR="0" lvl="4"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5pPr>
            <a:lvl6pPr marL="2743200" marR="0" lvl="5"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6pPr>
            <a:lvl7pPr marL="3200400" marR="0" lvl="6"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7pPr>
            <a:lvl8pPr marL="3657600" marR="0" lvl="7"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8pPr>
            <a:lvl9pPr marL="4114800" marR="0" lvl="8"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9pPr>
          </a:lstStyle>
          <a:p>
            <a:pPr marL="177800" indent="0" algn="ctr">
              <a:buFont typeface="Hanken Grotesk"/>
              <a:buNone/>
            </a:pPr>
            <a:r>
              <a:rPr lang="en-US" dirty="0"/>
              <a:t>Gene</a:t>
            </a:r>
          </a:p>
        </p:txBody>
      </p:sp>
      <p:sp>
        <p:nvSpPr>
          <p:cNvPr id="34" name="Arc 33">
            <a:extLst>
              <a:ext uri="{FF2B5EF4-FFF2-40B4-BE49-F238E27FC236}">
                <a16:creationId xmlns:a16="http://schemas.microsoft.com/office/drawing/2014/main" id="{F588F696-E2C7-A443-79C6-62CDD473B2A3}"/>
              </a:ext>
            </a:extLst>
          </p:cNvPr>
          <p:cNvSpPr/>
          <p:nvPr/>
        </p:nvSpPr>
        <p:spPr>
          <a:xfrm rot="19074313">
            <a:off x="3246642" y="3443864"/>
            <a:ext cx="1213396" cy="1151742"/>
          </a:xfrm>
          <a:prstGeom prst="arc">
            <a:avLst/>
          </a:prstGeom>
          <a:ln w="28575">
            <a:headEnd type="none" w="med" len="med"/>
            <a:tailEnd type="arrow"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40" name="Text Placeholder 2">
            <a:extLst>
              <a:ext uri="{FF2B5EF4-FFF2-40B4-BE49-F238E27FC236}">
                <a16:creationId xmlns:a16="http://schemas.microsoft.com/office/drawing/2014/main" id="{22C92FEF-81AD-B9B8-D2AB-D1E0A9D32BDF}"/>
              </a:ext>
            </a:extLst>
          </p:cNvPr>
          <p:cNvSpPr txBox="1">
            <a:spLocks/>
          </p:cNvSpPr>
          <p:nvPr/>
        </p:nvSpPr>
        <p:spPr>
          <a:xfrm>
            <a:off x="4373942" y="3130475"/>
            <a:ext cx="1507454" cy="40457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79400" algn="l" rtl="0">
              <a:lnSpc>
                <a:spcPct val="115000"/>
              </a:lnSpc>
              <a:spcBef>
                <a:spcPts val="0"/>
              </a:spcBef>
              <a:spcAft>
                <a:spcPts val="0"/>
              </a:spcAft>
              <a:buClr>
                <a:schemeClr val="dk1"/>
              </a:buClr>
              <a:buSzPts val="800"/>
              <a:buFont typeface="Hanken Grotesk"/>
              <a:buChar char="●"/>
              <a:defRPr sz="1400" b="0" i="0" u="none" strike="noStrike" cap="none">
                <a:solidFill>
                  <a:schemeClr val="dk1"/>
                </a:solidFill>
                <a:latin typeface="Hanken Grotesk"/>
                <a:ea typeface="Hanken Grotesk"/>
                <a:cs typeface="Hanken Grotesk"/>
                <a:sym typeface="Hanken Grotesk"/>
              </a:defRPr>
            </a:lvl1pPr>
            <a:lvl2pPr marL="914400" marR="0" lvl="1"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2pPr>
            <a:lvl3pPr marL="1371600" marR="0" lvl="2"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3pPr>
            <a:lvl4pPr marL="1828800" marR="0" lvl="3"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4pPr>
            <a:lvl5pPr marL="2286000" marR="0" lvl="4"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5pPr>
            <a:lvl6pPr marL="2743200" marR="0" lvl="5"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6pPr>
            <a:lvl7pPr marL="3200400" marR="0" lvl="6"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7pPr>
            <a:lvl8pPr marL="3657600" marR="0" lvl="7"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8pPr>
            <a:lvl9pPr marL="4114800" marR="0" lvl="8"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9pPr>
          </a:lstStyle>
          <a:p>
            <a:pPr marL="0" indent="0" algn="ctr">
              <a:buFont typeface="Hanken Grotesk"/>
              <a:buNone/>
            </a:pPr>
            <a:r>
              <a:rPr lang="en-US" sz="1100" dirty="0"/>
              <a:t>Increased</a:t>
            </a:r>
            <a:br>
              <a:rPr lang="en-US" sz="1100" dirty="0"/>
            </a:br>
            <a:r>
              <a:rPr lang="en-US" sz="1100" dirty="0"/>
              <a:t>Transcription</a:t>
            </a:r>
          </a:p>
        </p:txBody>
      </p:sp>
      <p:sp>
        <p:nvSpPr>
          <p:cNvPr id="42" name="Arrow: Right 41">
            <a:extLst>
              <a:ext uri="{FF2B5EF4-FFF2-40B4-BE49-F238E27FC236}">
                <a16:creationId xmlns:a16="http://schemas.microsoft.com/office/drawing/2014/main" id="{480E9DCF-3949-D05B-95FC-5018CF8C0B4F}"/>
              </a:ext>
            </a:extLst>
          </p:cNvPr>
          <p:cNvSpPr/>
          <p:nvPr/>
        </p:nvSpPr>
        <p:spPr>
          <a:xfrm rot="16200000">
            <a:off x="4397230" y="3325425"/>
            <a:ext cx="291947" cy="195796"/>
          </a:xfrm>
          <a:prstGeom prst="rightArrow">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2818480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EE452E-7842-888B-47EA-B104A6EE1800}"/>
            </a:ext>
          </a:extLst>
        </p:cNvPr>
        <p:cNvGrpSpPr/>
        <p:nvPr/>
      </p:nvGrpSpPr>
      <p:grpSpPr>
        <a:xfrm>
          <a:off x="0" y="0"/>
          <a:ext cx="0" cy="0"/>
          <a:chOff x="0" y="0"/>
          <a:chExt cx="0" cy="0"/>
        </a:xfrm>
      </p:grpSpPr>
      <p:sp>
        <p:nvSpPr>
          <p:cNvPr id="16" name="Title 1">
            <a:extLst>
              <a:ext uri="{FF2B5EF4-FFF2-40B4-BE49-F238E27FC236}">
                <a16:creationId xmlns:a16="http://schemas.microsoft.com/office/drawing/2014/main" id="{96F96A2F-7ABC-B360-984A-17CD88A4462C}"/>
              </a:ext>
            </a:extLst>
          </p:cNvPr>
          <p:cNvSpPr>
            <a:spLocks noGrp="1"/>
          </p:cNvSpPr>
          <p:nvPr>
            <p:ph type="title"/>
          </p:nvPr>
        </p:nvSpPr>
        <p:spPr>
          <a:xfrm>
            <a:off x="719999" y="523239"/>
            <a:ext cx="7704000" cy="572700"/>
          </a:xfrm>
        </p:spPr>
        <p:txBody>
          <a:bodyPr/>
          <a:lstStyle/>
          <a:p>
            <a:pPr algn="ctr"/>
            <a:r>
              <a:rPr lang="en-US" sz="2400" dirty="0"/>
              <a:t>Our goal is to generate enhancer sequences that drive gene expression in specific contexts</a:t>
            </a:r>
          </a:p>
        </p:txBody>
      </p:sp>
      <p:sp>
        <p:nvSpPr>
          <p:cNvPr id="2" name="Rectangle 1">
            <a:extLst>
              <a:ext uri="{FF2B5EF4-FFF2-40B4-BE49-F238E27FC236}">
                <a16:creationId xmlns:a16="http://schemas.microsoft.com/office/drawing/2014/main" id="{0A4C9113-3987-D015-6BA9-C1CEB98A3F27}"/>
              </a:ext>
            </a:extLst>
          </p:cNvPr>
          <p:cNvSpPr/>
          <p:nvPr/>
        </p:nvSpPr>
        <p:spPr>
          <a:xfrm>
            <a:off x="3010359" y="3665957"/>
            <a:ext cx="2836844" cy="198306"/>
          </a:xfrm>
          <a:prstGeom prst="rect">
            <a:avLst/>
          </a:prstGeom>
          <a:solidFill>
            <a:srgbClr val="71DAFF"/>
          </a:solidFill>
          <a:ln>
            <a:solidFill>
              <a:srgbClr val="71DA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The image depicts a simple, circular shape with a light beige color, resembling an egg or a smooth, rounded object.&#10;&#10;AI-generated content may be incorrect.">
            <a:extLst>
              <a:ext uri="{FF2B5EF4-FFF2-40B4-BE49-F238E27FC236}">
                <a16:creationId xmlns:a16="http://schemas.microsoft.com/office/drawing/2014/main" id="{502E7B0A-34D4-155E-5B51-DAC35D47F61A}"/>
              </a:ext>
            </a:extLst>
          </p:cNvPr>
          <p:cNvPicPr>
            <a:picLocks noChangeAspect="1"/>
          </p:cNvPicPr>
          <p:nvPr/>
        </p:nvPicPr>
        <p:blipFill>
          <a:blip r:embed="rId3"/>
          <a:stretch>
            <a:fillRect/>
          </a:stretch>
        </p:blipFill>
        <p:spPr>
          <a:xfrm>
            <a:off x="1213047" y="2060866"/>
            <a:ext cx="1672466" cy="1474184"/>
          </a:xfrm>
          <a:prstGeom prst="rect">
            <a:avLst/>
          </a:prstGeom>
        </p:spPr>
      </p:pic>
      <p:sp>
        <p:nvSpPr>
          <p:cNvPr id="7" name="Rectangle 6">
            <a:extLst>
              <a:ext uri="{FF2B5EF4-FFF2-40B4-BE49-F238E27FC236}">
                <a16:creationId xmlns:a16="http://schemas.microsoft.com/office/drawing/2014/main" id="{4C73D57A-BA74-E00A-AB27-704AE3D10013}"/>
              </a:ext>
            </a:extLst>
          </p:cNvPr>
          <p:cNvSpPr/>
          <p:nvPr/>
        </p:nvSpPr>
        <p:spPr>
          <a:xfrm>
            <a:off x="3373563" y="3665957"/>
            <a:ext cx="314333" cy="195795"/>
          </a:xfrm>
          <a:prstGeom prst="rect">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B88CB453-E37B-4653-BFF7-008498095105}"/>
              </a:ext>
            </a:extLst>
          </p:cNvPr>
          <p:cNvSpPr/>
          <p:nvPr/>
        </p:nvSpPr>
        <p:spPr>
          <a:xfrm>
            <a:off x="4166123" y="3663447"/>
            <a:ext cx="262658" cy="203328"/>
          </a:xfrm>
          <a:prstGeom prst="rect">
            <a:avLst/>
          </a:prstGeom>
          <a:solidFill>
            <a:srgbClr val="FFFF00"/>
          </a:solid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B4D5E506-DFEE-EAF9-7D52-8B91130D8D66}"/>
              </a:ext>
            </a:extLst>
          </p:cNvPr>
          <p:cNvSpPr/>
          <p:nvPr/>
        </p:nvSpPr>
        <p:spPr>
          <a:xfrm>
            <a:off x="4428781" y="3663446"/>
            <a:ext cx="1154017" cy="195796"/>
          </a:xfrm>
          <a:prstGeom prst="rect">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 Placeholder 2">
            <a:extLst>
              <a:ext uri="{FF2B5EF4-FFF2-40B4-BE49-F238E27FC236}">
                <a16:creationId xmlns:a16="http://schemas.microsoft.com/office/drawing/2014/main" id="{8C268C91-B356-7976-EDFC-6FAF3C847D67}"/>
              </a:ext>
            </a:extLst>
          </p:cNvPr>
          <p:cNvSpPr txBox="1">
            <a:spLocks/>
          </p:cNvSpPr>
          <p:nvPr/>
        </p:nvSpPr>
        <p:spPr>
          <a:xfrm>
            <a:off x="2785260" y="3866773"/>
            <a:ext cx="1380863" cy="40457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79400" algn="l" rtl="0">
              <a:lnSpc>
                <a:spcPct val="115000"/>
              </a:lnSpc>
              <a:spcBef>
                <a:spcPts val="0"/>
              </a:spcBef>
              <a:spcAft>
                <a:spcPts val="0"/>
              </a:spcAft>
              <a:buClr>
                <a:schemeClr val="dk1"/>
              </a:buClr>
              <a:buSzPts val="800"/>
              <a:buFont typeface="Hanken Grotesk"/>
              <a:buChar char="●"/>
              <a:defRPr sz="1400" b="0" i="0" u="none" strike="noStrike" cap="none">
                <a:solidFill>
                  <a:schemeClr val="dk1"/>
                </a:solidFill>
                <a:latin typeface="Hanken Grotesk"/>
                <a:ea typeface="Hanken Grotesk"/>
                <a:cs typeface="Hanken Grotesk"/>
                <a:sym typeface="Hanken Grotesk"/>
              </a:defRPr>
            </a:lvl1pPr>
            <a:lvl2pPr marL="914400" marR="0" lvl="1"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2pPr>
            <a:lvl3pPr marL="1371600" marR="0" lvl="2"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3pPr>
            <a:lvl4pPr marL="1828800" marR="0" lvl="3"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4pPr>
            <a:lvl5pPr marL="2286000" marR="0" lvl="4"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5pPr>
            <a:lvl6pPr marL="2743200" marR="0" lvl="5"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6pPr>
            <a:lvl7pPr marL="3200400" marR="0" lvl="6"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7pPr>
            <a:lvl8pPr marL="3657600" marR="0" lvl="7"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8pPr>
            <a:lvl9pPr marL="4114800" marR="0" lvl="8"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9pPr>
          </a:lstStyle>
          <a:p>
            <a:pPr marL="177800" indent="0" algn="ctr">
              <a:buFont typeface="Hanken Grotesk"/>
              <a:buNone/>
            </a:pPr>
            <a:r>
              <a:rPr lang="en-US" dirty="0"/>
              <a:t>Enhancer</a:t>
            </a:r>
          </a:p>
        </p:txBody>
      </p:sp>
      <p:sp>
        <p:nvSpPr>
          <p:cNvPr id="20" name="Text Placeholder 2">
            <a:extLst>
              <a:ext uri="{FF2B5EF4-FFF2-40B4-BE49-F238E27FC236}">
                <a16:creationId xmlns:a16="http://schemas.microsoft.com/office/drawing/2014/main" id="{532794DB-6D2F-FA92-636F-8A7974C7E447}"/>
              </a:ext>
            </a:extLst>
          </p:cNvPr>
          <p:cNvSpPr txBox="1">
            <a:spLocks/>
          </p:cNvSpPr>
          <p:nvPr/>
        </p:nvSpPr>
        <p:spPr>
          <a:xfrm>
            <a:off x="3530729" y="4121055"/>
            <a:ext cx="1380863" cy="40457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79400" algn="l" rtl="0">
              <a:lnSpc>
                <a:spcPct val="115000"/>
              </a:lnSpc>
              <a:spcBef>
                <a:spcPts val="0"/>
              </a:spcBef>
              <a:spcAft>
                <a:spcPts val="0"/>
              </a:spcAft>
              <a:buClr>
                <a:schemeClr val="dk1"/>
              </a:buClr>
              <a:buSzPts val="800"/>
              <a:buFont typeface="Hanken Grotesk"/>
              <a:buChar char="●"/>
              <a:defRPr sz="1400" b="0" i="0" u="none" strike="noStrike" cap="none">
                <a:solidFill>
                  <a:schemeClr val="dk1"/>
                </a:solidFill>
                <a:latin typeface="Hanken Grotesk"/>
                <a:ea typeface="Hanken Grotesk"/>
                <a:cs typeface="Hanken Grotesk"/>
                <a:sym typeface="Hanken Grotesk"/>
              </a:defRPr>
            </a:lvl1pPr>
            <a:lvl2pPr marL="914400" marR="0" lvl="1"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2pPr>
            <a:lvl3pPr marL="1371600" marR="0" lvl="2"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3pPr>
            <a:lvl4pPr marL="1828800" marR="0" lvl="3"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4pPr>
            <a:lvl5pPr marL="2286000" marR="0" lvl="4"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5pPr>
            <a:lvl6pPr marL="2743200" marR="0" lvl="5"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6pPr>
            <a:lvl7pPr marL="3200400" marR="0" lvl="6"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7pPr>
            <a:lvl8pPr marL="3657600" marR="0" lvl="7"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8pPr>
            <a:lvl9pPr marL="4114800" marR="0" lvl="8"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9pPr>
          </a:lstStyle>
          <a:p>
            <a:pPr marL="177800" indent="0" algn="ctr">
              <a:buFont typeface="Hanken Grotesk"/>
              <a:buNone/>
            </a:pPr>
            <a:r>
              <a:rPr lang="en-US" dirty="0"/>
              <a:t>Promoter</a:t>
            </a:r>
          </a:p>
        </p:txBody>
      </p:sp>
      <p:sp>
        <p:nvSpPr>
          <p:cNvPr id="21" name="Text Placeholder 2">
            <a:extLst>
              <a:ext uri="{FF2B5EF4-FFF2-40B4-BE49-F238E27FC236}">
                <a16:creationId xmlns:a16="http://schemas.microsoft.com/office/drawing/2014/main" id="{8A2DD208-73C7-E46A-52FF-A10E9385446F}"/>
              </a:ext>
            </a:extLst>
          </p:cNvPr>
          <p:cNvSpPr txBox="1">
            <a:spLocks/>
          </p:cNvSpPr>
          <p:nvPr/>
        </p:nvSpPr>
        <p:spPr>
          <a:xfrm>
            <a:off x="4184902" y="3859095"/>
            <a:ext cx="1380863" cy="40457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79400" algn="l" rtl="0">
              <a:lnSpc>
                <a:spcPct val="115000"/>
              </a:lnSpc>
              <a:spcBef>
                <a:spcPts val="0"/>
              </a:spcBef>
              <a:spcAft>
                <a:spcPts val="0"/>
              </a:spcAft>
              <a:buClr>
                <a:schemeClr val="dk1"/>
              </a:buClr>
              <a:buSzPts val="800"/>
              <a:buFont typeface="Hanken Grotesk"/>
              <a:buChar char="●"/>
              <a:defRPr sz="1400" b="0" i="0" u="none" strike="noStrike" cap="none">
                <a:solidFill>
                  <a:schemeClr val="dk1"/>
                </a:solidFill>
                <a:latin typeface="Hanken Grotesk"/>
                <a:ea typeface="Hanken Grotesk"/>
                <a:cs typeface="Hanken Grotesk"/>
                <a:sym typeface="Hanken Grotesk"/>
              </a:defRPr>
            </a:lvl1pPr>
            <a:lvl2pPr marL="914400" marR="0" lvl="1"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2pPr>
            <a:lvl3pPr marL="1371600" marR="0" lvl="2"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3pPr>
            <a:lvl4pPr marL="1828800" marR="0" lvl="3"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4pPr>
            <a:lvl5pPr marL="2286000" marR="0" lvl="4"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5pPr>
            <a:lvl6pPr marL="2743200" marR="0" lvl="5"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6pPr>
            <a:lvl7pPr marL="3200400" marR="0" lvl="6"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7pPr>
            <a:lvl8pPr marL="3657600" marR="0" lvl="7"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8pPr>
            <a:lvl9pPr marL="4114800" marR="0" lvl="8"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9pPr>
          </a:lstStyle>
          <a:p>
            <a:pPr marL="177800" indent="0" algn="ctr">
              <a:buFont typeface="Hanken Grotesk"/>
              <a:buNone/>
            </a:pPr>
            <a:r>
              <a:rPr lang="en-US" dirty="0"/>
              <a:t>Gene</a:t>
            </a:r>
          </a:p>
        </p:txBody>
      </p:sp>
      <p:sp>
        <p:nvSpPr>
          <p:cNvPr id="34" name="Arc 33">
            <a:extLst>
              <a:ext uri="{FF2B5EF4-FFF2-40B4-BE49-F238E27FC236}">
                <a16:creationId xmlns:a16="http://schemas.microsoft.com/office/drawing/2014/main" id="{C7181BAE-C24E-389A-F836-EF7D735AE534}"/>
              </a:ext>
            </a:extLst>
          </p:cNvPr>
          <p:cNvSpPr/>
          <p:nvPr/>
        </p:nvSpPr>
        <p:spPr>
          <a:xfrm rot="19074313">
            <a:off x="3246642" y="3443864"/>
            <a:ext cx="1213396" cy="1151742"/>
          </a:xfrm>
          <a:prstGeom prst="arc">
            <a:avLst/>
          </a:prstGeom>
          <a:ln w="28575">
            <a:headEnd type="none" w="med" len="med"/>
            <a:tailEnd type="arrow"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39" name="Arrow: Right 38">
            <a:extLst>
              <a:ext uri="{FF2B5EF4-FFF2-40B4-BE49-F238E27FC236}">
                <a16:creationId xmlns:a16="http://schemas.microsoft.com/office/drawing/2014/main" id="{AEF5A584-E7F7-1F9C-E9F7-E4E4F1AA1DD7}"/>
              </a:ext>
            </a:extLst>
          </p:cNvPr>
          <p:cNvSpPr/>
          <p:nvPr/>
        </p:nvSpPr>
        <p:spPr>
          <a:xfrm rot="16200000">
            <a:off x="4397230" y="3325425"/>
            <a:ext cx="291947" cy="195796"/>
          </a:xfrm>
          <a:prstGeom prst="rightArrow">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Text Placeholder 2">
            <a:extLst>
              <a:ext uri="{FF2B5EF4-FFF2-40B4-BE49-F238E27FC236}">
                <a16:creationId xmlns:a16="http://schemas.microsoft.com/office/drawing/2014/main" id="{20C76A73-C666-41DB-B2A7-4927CA9F9CB8}"/>
              </a:ext>
            </a:extLst>
          </p:cNvPr>
          <p:cNvSpPr txBox="1">
            <a:spLocks/>
          </p:cNvSpPr>
          <p:nvPr/>
        </p:nvSpPr>
        <p:spPr>
          <a:xfrm>
            <a:off x="4373942" y="3130475"/>
            <a:ext cx="1507454" cy="40457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79400" algn="l" rtl="0">
              <a:lnSpc>
                <a:spcPct val="115000"/>
              </a:lnSpc>
              <a:spcBef>
                <a:spcPts val="0"/>
              </a:spcBef>
              <a:spcAft>
                <a:spcPts val="0"/>
              </a:spcAft>
              <a:buClr>
                <a:schemeClr val="dk1"/>
              </a:buClr>
              <a:buSzPts val="800"/>
              <a:buFont typeface="Hanken Grotesk"/>
              <a:buChar char="●"/>
              <a:defRPr sz="1400" b="0" i="0" u="none" strike="noStrike" cap="none">
                <a:solidFill>
                  <a:schemeClr val="dk1"/>
                </a:solidFill>
                <a:latin typeface="Hanken Grotesk"/>
                <a:ea typeface="Hanken Grotesk"/>
                <a:cs typeface="Hanken Grotesk"/>
                <a:sym typeface="Hanken Grotesk"/>
              </a:defRPr>
            </a:lvl1pPr>
            <a:lvl2pPr marL="914400" marR="0" lvl="1"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2pPr>
            <a:lvl3pPr marL="1371600" marR="0" lvl="2"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3pPr>
            <a:lvl4pPr marL="1828800" marR="0" lvl="3"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4pPr>
            <a:lvl5pPr marL="2286000" marR="0" lvl="4"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5pPr>
            <a:lvl6pPr marL="2743200" marR="0" lvl="5"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6pPr>
            <a:lvl7pPr marL="3200400" marR="0" lvl="6"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7pPr>
            <a:lvl8pPr marL="3657600" marR="0" lvl="7"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8pPr>
            <a:lvl9pPr marL="4114800" marR="0" lvl="8"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9pPr>
          </a:lstStyle>
          <a:p>
            <a:pPr marL="0" indent="0" algn="ctr">
              <a:buFont typeface="Hanken Grotesk"/>
              <a:buNone/>
            </a:pPr>
            <a:r>
              <a:rPr lang="en-US" sz="1100" dirty="0"/>
              <a:t>Increased</a:t>
            </a:r>
            <a:br>
              <a:rPr lang="en-US" sz="1100" dirty="0"/>
            </a:br>
            <a:r>
              <a:rPr lang="en-US" sz="1100" dirty="0"/>
              <a:t>Transcription</a:t>
            </a:r>
          </a:p>
        </p:txBody>
      </p:sp>
      <p:sp>
        <p:nvSpPr>
          <p:cNvPr id="41" name="Arc 40">
            <a:extLst>
              <a:ext uri="{FF2B5EF4-FFF2-40B4-BE49-F238E27FC236}">
                <a16:creationId xmlns:a16="http://schemas.microsoft.com/office/drawing/2014/main" id="{5D3DFB3B-52FB-D479-C626-61CACE411E10}"/>
              </a:ext>
            </a:extLst>
          </p:cNvPr>
          <p:cNvSpPr/>
          <p:nvPr/>
        </p:nvSpPr>
        <p:spPr>
          <a:xfrm rot="11249824">
            <a:off x="2384759" y="2595585"/>
            <a:ext cx="1213396" cy="1151742"/>
          </a:xfrm>
          <a:prstGeom prst="arc">
            <a:avLst/>
          </a:prstGeom>
          <a:ln w="28575">
            <a:headEnd type="none" w="med" len="med"/>
            <a:tailEnd type="arrow"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299190234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FEE875-DC50-FF9C-B31D-740F52862A8E}"/>
            </a:ext>
          </a:extLst>
        </p:cNvPr>
        <p:cNvGrpSpPr/>
        <p:nvPr/>
      </p:nvGrpSpPr>
      <p:grpSpPr>
        <a:xfrm>
          <a:off x="0" y="0"/>
          <a:ext cx="0" cy="0"/>
          <a:chOff x="0" y="0"/>
          <a:chExt cx="0" cy="0"/>
        </a:xfrm>
      </p:grpSpPr>
      <p:pic>
        <p:nvPicPr>
          <p:cNvPr id="17" name="Picture 16" descr="The image depicts a simplified, stylized representation of a cellular structure, characterized by its spongy, spiky appearance with a distinct, circular nucleus.&#10;&#10;AI-generated content may be incorrect.">
            <a:extLst>
              <a:ext uri="{FF2B5EF4-FFF2-40B4-BE49-F238E27FC236}">
                <a16:creationId xmlns:a16="http://schemas.microsoft.com/office/drawing/2014/main" id="{58E5521B-6BEA-2861-03B6-A43D038A9102}"/>
              </a:ext>
            </a:extLst>
          </p:cNvPr>
          <p:cNvPicPr>
            <a:picLocks noChangeAspect="1"/>
          </p:cNvPicPr>
          <p:nvPr/>
        </p:nvPicPr>
        <p:blipFill>
          <a:blip r:embed="rId3"/>
          <a:stretch>
            <a:fillRect/>
          </a:stretch>
        </p:blipFill>
        <p:spPr>
          <a:xfrm>
            <a:off x="5630380" y="1884911"/>
            <a:ext cx="1983802" cy="1826093"/>
          </a:xfrm>
          <a:prstGeom prst="rect">
            <a:avLst/>
          </a:prstGeom>
        </p:spPr>
      </p:pic>
      <p:sp>
        <p:nvSpPr>
          <p:cNvPr id="16" name="Title 1">
            <a:extLst>
              <a:ext uri="{FF2B5EF4-FFF2-40B4-BE49-F238E27FC236}">
                <a16:creationId xmlns:a16="http://schemas.microsoft.com/office/drawing/2014/main" id="{B4555303-9D37-8F2E-F4A9-0EA683BA494B}"/>
              </a:ext>
            </a:extLst>
          </p:cNvPr>
          <p:cNvSpPr>
            <a:spLocks noGrp="1"/>
          </p:cNvSpPr>
          <p:nvPr>
            <p:ph type="title"/>
          </p:nvPr>
        </p:nvSpPr>
        <p:spPr>
          <a:xfrm>
            <a:off x="719999" y="523239"/>
            <a:ext cx="7704000" cy="572700"/>
          </a:xfrm>
        </p:spPr>
        <p:txBody>
          <a:bodyPr/>
          <a:lstStyle/>
          <a:p>
            <a:pPr algn="ctr"/>
            <a:r>
              <a:rPr lang="en-US" sz="2400" dirty="0"/>
              <a:t>Our goal is to generate enhancer sequences that drive gene expression in specific contexts</a:t>
            </a:r>
          </a:p>
        </p:txBody>
      </p:sp>
      <p:sp>
        <p:nvSpPr>
          <p:cNvPr id="2" name="Rectangle 1">
            <a:extLst>
              <a:ext uri="{FF2B5EF4-FFF2-40B4-BE49-F238E27FC236}">
                <a16:creationId xmlns:a16="http://schemas.microsoft.com/office/drawing/2014/main" id="{4CEC859F-2CAA-5890-5A87-B1F211E387F8}"/>
              </a:ext>
            </a:extLst>
          </p:cNvPr>
          <p:cNvSpPr/>
          <p:nvPr/>
        </p:nvSpPr>
        <p:spPr>
          <a:xfrm>
            <a:off x="3010359" y="3665957"/>
            <a:ext cx="2836844" cy="198306"/>
          </a:xfrm>
          <a:prstGeom prst="rect">
            <a:avLst/>
          </a:prstGeom>
          <a:solidFill>
            <a:srgbClr val="71DAFF"/>
          </a:solidFill>
          <a:ln>
            <a:solidFill>
              <a:srgbClr val="71DA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The image depicts a simple, circular shape with a light beige color, resembling an egg or a smooth, rounded object.&#10;&#10;AI-generated content may be incorrect.">
            <a:extLst>
              <a:ext uri="{FF2B5EF4-FFF2-40B4-BE49-F238E27FC236}">
                <a16:creationId xmlns:a16="http://schemas.microsoft.com/office/drawing/2014/main" id="{98F0FAC0-01A5-02C1-99A9-16CEE76FE69B}"/>
              </a:ext>
            </a:extLst>
          </p:cNvPr>
          <p:cNvPicPr>
            <a:picLocks noChangeAspect="1"/>
          </p:cNvPicPr>
          <p:nvPr/>
        </p:nvPicPr>
        <p:blipFill>
          <a:blip r:embed="rId4"/>
          <a:stretch>
            <a:fillRect/>
          </a:stretch>
        </p:blipFill>
        <p:spPr>
          <a:xfrm>
            <a:off x="1213047" y="2060866"/>
            <a:ext cx="1672466" cy="1474184"/>
          </a:xfrm>
          <a:prstGeom prst="rect">
            <a:avLst/>
          </a:prstGeom>
        </p:spPr>
      </p:pic>
      <p:sp>
        <p:nvSpPr>
          <p:cNvPr id="7" name="Rectangle 6">
            <a:extLst>
              <a:ext uri="{FF2B5EF4-FFF2-40B4-BE49-F238E27FC236}">
                <a16:creationId xmlns:a16="http://schemas.microsoft.com/office/drawing/2014/main" id="{52D16410-BD1F-3097-9751-CD6EBB7F29D5}"/>
              </a:ext>
            </a:extLst>
          </p:cNvPr>
          <p:cNvSpPr/>
          <p:nvPr/>
        </p:nvSpPr>
        <p:spPr>
          <a:xfrm>
            <a:off x="3373563" y="3665957"/>
            <a:ext cx="314333" cy="195795"/>
          </a:xfrm>
          <a:prstGeom prst="rect">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862D9AE0-CDB1-3ACB-E0F0-BDED6C3EA335}"/>
              </a:ext>
            </a:extLst>
          </p:cNvPr>
          <p:cNvSpPr/>
          <p:nvPr/>
        </p:nvSpPr>
        <p:spPr>
          <a:xfrm>
            <a:off x="4166123" y="3663447"/>
            <a:ext cx="262658" cy="203328"/>
          </a:xfrm>
          <a:prstGeom prst="rect">
            <a:avLst/>
          </a:prstGeom>
          <a:solidFill>
            <a:srgbClr val="FFFF00"/>
          </a:solid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A605D34A-A7EE-E102-3552-B41B26264F03}"/>
              </a:ext>
            </a:extLst>
          </p:cNvPr>
          <p:cNvSpPr/>
          <p:nvPr/>
        </p:nvSpPr>
        <p:spPr>
          <a:xfrm>
            <a:off x="4428781" y="3663447"/>
            <a:ext cx="1154017" cy="204033"/>
          </a:xfrm>
          <a:prstGeom prst="rect">
            <a:avLst/>
          </a:prstGeom>
          <a:solidFill>
            <a:schemeClr val="bg2">
              <a:lumMod val="90000"/>
              <a:alpha val="93000"/>
            </a:schemeClr>
          </a:solidFill>
          <a:ln>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 Placeholder 2">
            <a:extLst>
              <a:ext uri="{FF2B5EF4-FFF2-40B4-BE49-F238E27FC236}">
                <a16:creationId xmlns:a16="http://schemas.microsoft.com/office/drawing/2014/main" id="{711EE2CB-DD79-0638-F0BB-EFBC675A007C}"/>
              </a:ext>
            </a:extLst>
          </p:cNvPr>
          <p:cNvSpPr txBox="1">
            <a:spLocks/>
          </p:cNvSpPr>
          <p:nvPr/>
        </p:nvSpPr>
        <p:spPr>
          <a:xfrm>
            <a:off x="2785260" y="3866773"/>
            <a:ext cx="1380863" cy="40457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79400" algn="l" rtl="0">
              <a:lnSpc>
                <a:spcPct val="115000"/>
              </a:lnSpc>
              <a:spcBef>
                <a:spcPts val="0"/>
              </a:spcBef>
              <a:spcAft>
                <a:spcPts val="0"/>
              </a:spcAft>
              <a:buClr>
                <a:schemeClr val="dk1"/>
              </a:buClr>
              <a:buSzPts val="800"/>
              <a:buFont typeface="Hanken Grotesk"/>
              <a:buChar char="●"/>
              <a:defRPr sz="1400" b="0" i="0" u="none" strike="noStrike" cap="none">
                <a:solidFill>
                  <a:schemeClr val="dk1"/>
                </a:solidFill>
                <a:latin typeface="Hanken Grotesk"/>
                <a:ea typeface="Hanken Grotesk"/>
                <a:cs typeface="Hanken Grotesk"/>
                <a:sym typeface="Hanken Grotesk"/>
              </a:defRPr>
            </a:lvl1pPr>
            <a:lvl2pPr marL="914400" marR="0" lvl="1"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2pPr>
            <a:lvl3pPr marL="1371600" marR="0" lvl="2"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3pPr>
            <a:lvl4pPr marL="1828800" marR="0" lvl="3"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4pPr>
            <a:lvl5pPr marL="2286000" marR="0" lvl="4"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5pPr>
            <a:lvl6pPr marL="2743200" marR="0" lvl="5"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6pPr>
            <a:lvl7pPr marL="3200400" marR="0" lvl="6"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7pPr>
            <a:lvl8pPr marL="3657600" marR="0" lvl="7"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8pPr>
            <a:lvl9pPr marL="4114800" marR="0" lvl="8"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9pPr>
          </a:lstStyle>
          <a:p>
            <a:pPr marL="177800" indent="0" algn="ctr">
              <a:buFont typeface="Hanken Grotesk"/>
              <a:buNone/>
            </a:pPr>
            <a:r>
              <a:rPr lang="en-US" dirty="0"/>
              <a:t>Enhancer</a:t>
            </a:r>
          </a:p>
        </p:txBody>
      </p:sp>
      <p:sp>
        <p:nvSpPr>
          <p:cNvPr id="20" name="Text Placeholder 2">
            <a:extLst>
              <a:ext uri="{FF2B5EF4-FFF2-40B4-BE49-F238E27FC236}">
                <a16:creationId xmlns:a16="http://schemas.microsoft.com/office/drawing/2014/main" id="{B6089B46-69FA-82CC-0EEE-5613D4DD43AF}"/>
              </a:ext>
            </a:extLst>
          </p:cNvPr>
          <p:cNvSpPr txBox="1">
            <a:spLocks/>
          </p:cNvSpPr>
          <p:nvPr/>
        </p:nvSpPr>
        <p:spPr>
          <a:xfrm>
            <a:off x="3530729" y="4121055"/>
            <a:ext cx="1380863" cy="40457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79400" algn="l" rtl="0">
              <a:lnSpc>
                <a:spcPct val="115000"/>
              </a:lnSpc>
              <a:spcBef>
                <a:spcPts val="0"/>
              </a:spcBef>
              <a:spcAft>
                <a:spcPts val="0"/>
              </a:spcAft>
              <a:buClr>
                <a:schemeClr val="dk1"/>
              </a:buClr>
              <a:buSzPts val="800"/>
              <a:buFont typeface="Hanken Grotesk"/>
              <a:buChar char="●"/>
              <a:defRPr sz="1400" b="0" i="0" u="none" strike="noStrike" cap="none">
                <a:solidFill>
                  <a:schemeClr val="dk1"/>
                </a:solidFill>
                <a:latin typeface="Hanken Grotesk"/>
                <a:ea typeface="Hanken Grotesk"/>
                <a:cs typeface="Hanken Grotesk"/>
                <a:sym typeface="Hanken Grotesk"/>
              </a:defRPr>
            </a:lvl1pPr>
            <a:lvl2pPr marL="914400" marR="0" lvl="1"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2pPr>
            <a:lvl3pPr marL="1371600" marR="0" lvl="2"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3pPr>
            <a:lvl4pPr marL="1828800" marR="0" lvl="3"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4pPr>
            <a:lvl5pPr marL="2286000" marR="0" lvl="4"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5pPr>
            <a:lvl6pPr marL="2743200" marR="0" lvl="5"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6pPr>
            <a:lvl7pPr marL="3200400" marR="0" lvl="6"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7pPr>
            <a:lvl8pPr marL="3657600" marR="0" lvl="7"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8pPr>
            <a:lvl9pPr marL="4114800" marR="0" lvl="8"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9pPr>
          </a:lstStyle>
          <a:p>
            <a:pPr marL="177800" indent="0" algn="ctr">
              <a:buFont typeface="Hanken Grotesk"/>
              <a:buNone/>
            </a:pPr>
            <a:r>
              <a:rPr lang="en-US" dirty="0"/>
              <a:t>Promoter</a:t>
            </a:r>
          </a:p>
        </p:txBody>
      </p:sp>
      <p:sp>
        <p:nvSpPr>
          <p:cNvPr id="21" name="Text Placeholder 2">
            <a:extLst>
              <a:ext uri="{FF2B5EF4-FFF2-40B4-BE49-F238E27FC236}">
                <a16:creationId xmlns:a16="http://schemas.microsoft.com/office/drawing/2014/main" id="{48E2506E-1B65-79AC-4C9D-56CA24984859}"/>
              </a:ext>
            </a:extLst>
          </p:cNvPr>
          <p:cNvSpPr txBox="1">
            <a:spLocks/>
          </p:cNvSpPr>
          <p:nvPr/>
        </p:nvSpPr>
        <p:spPr>
          <a:xfrm>
            <a:off x="4184902" y="3859095"/>
            <a:ext cx="1380863" cy="40457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79400" algn="l" rtl="0">
              <a:lnSpc>
                <a:spcPct val="115000"/>
              </a:lnSpc>
              <a:spcBef>
                <a:spcPts val="0"/>
              </a:spcBef>
              <a:spcAft>
                <a:spcPts val="0"/>
              </a:spcAft>
              <a:buClr>
                <a:schemeClr val="dk1"/>
              </a:buClr>
              <a:buSzPts val="800"/>
              <a:buFont typeface="Hanken Grotesk"/>
              <a:buChar char="●"/>
              <a:defRPr sz="1400" b="0" i="0" u="none" strike="noStrike" cap="none">
                <a:solidFill>
                  <a:schemeClr val="dk1"/>
                </a:solidFill>
                <a:latin typeface="Hanken Grotesk"/>
                <a:ea typeface="Hanken Grotesk"/>
                <a:cs typeface="Hanken Grotesk"/>
                <a:sym typeface="Hanken Grotesk"/>
              </a:defRPr>
            </a:lvl1pPr>
            <a:lvl2pPr marL="914400" marR="0" lvl="1"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2pPr>
            <a:lvl3pPr marL="1371600" marR="0" lvl="2"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3pPr>
            <a:lvl4pPr marL="1828800" marR="0" lvl="3"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4pPr>
            <a:lvl5pPr marL="2286000" marR="0" lvl="4"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5pPr>
            <a:lvl6pPr marL="2743200" marR="0" lvl="5"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6pPr>
            <a:lvl7pPr marL="3200400" marR="0" lvl="6"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7pPr>
            <a:lvl8pPr marL="3657600" marR="0" lvl="7"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8pPr>
            <a:lvl9pPr marL="4114800" marR="0" lvl="8"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9pPr>
          </a:lstStyle>
          <a:p>
            <a:pPr marL="177800" indent="0" algn="ctr">
              <a:buFont typeface="Hanken Grotesk"/>
              <a:buNone/>
            </a:pPr>
            <a:r>
              <a:rPr lang="en-US" dirty="0"/>
              <a:t>Gene</a:t>
            </a:r>
          </a:p>
        </p:txBody>
      </p:sp>
      <p:sp>
        <p:nvSpPr>
          <p:cNvPr id="34" name="Arc 33">
            <a:extLst>
              <a:ext uri="{FF2B5EF4-FFF2-40B4-BE49-F238E27FC236}">
                <a16:creationId xmlns:a16="http://schemas.microsoft.com/office/drawing/2014/main" id="{8BDC9C65-8E41-58F9-0BD0-981BA6C8FB38}"/>
              </a:ext>
            </a:extLst>
          </p:cNvPr>
          <p:cNvSpPr/>
          <p:nvPr/>
        </p:nvSpPr>
        <p:spPr>
          <a:xfrm rot="19074313">
            <a:off x="3246642" y="3443864"/>
            <a:ext cx="1213396" cy="1151742"/>
          </a:xfrm>
          <a:prstGeom prst="arc">
            <a:avLst/>
          </a:prstGeom>
          <a:ln w="28575">
            <a:headEnd type="none" w="med" len="med"/>
            <a:tailEnd type="arrow"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40" name="Text Placeholder 2">
            <a:extLst>
              <a:ext uri="{FF2B5EF4-FFF2-40B4-BE49-F238E27FC236}">
                <a16:creationId xmlns:a16="http://schemas.microsoft.com/office/drawing/2014/main" id="{DA108DE2-F12A-D34D-E32D-C44715464355}"/>
              </a:ext>
            </a:extLst>
          </p:cNvPr>
          <p:cNvSpPr txBox="1">
            <a:spLocks/>
          </p:cNvSpPr>
          <p:nvPr/>
        </p:nvSpPr>
        <p:spPr>
          <a:xfrm>
            <a:off x="4285289" y="3147118"/>
            <a:ext cx="1507454" cy="40457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79400" algn="l" rtl="0">
              <a:lnSpc>
                <a:spcPct val="115000"/>
              </a:lnSpc>
              <a:spcBef>
                <a:spcPts val="0"/>
              </a:spcBef>
              <a:spcAft>
                <a:spcPts val="0"/>
              </a:spcAft>
              <a:buClr>
                <a:schemeClr val="dk1"/>
              </a:buClr>
              <a:buSzPts val="800"/>
              <a:buFont typeface="Hanken Grotesk"/>
              <a:buChar char="●"/>
              <a:defRPr sz="1400" b="0" i="0" u="none" strike="noStrike" cap="none">
                <a:solidFill>
                  <a:schemeClr val="dk1"/>
                </a:solidFill>
                <a:latin typeface="Hanken Grotesk"/>
                <a:ea typeface="Hanken Grotesk"/>
                <a:cs typeface="Hanken Grotesk"/>
                <a:sym typeface="Hanken Grotesk"/>
              </a:defRPr>
            </a:lvl1pPr>
            <a:lvl2pPr marL="914400" marR="0" lvl="1"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2pPr>
            <a:lvl3pPr marL="1371600" marR="0" lvl="2"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3pPr>
            <a:lvl4pPr marL="1828800" marR="0" lvl="3"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4pPr>
            <a:lvl5pPr marL="2286000" marR="0" lvl="4"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5pPr>
            <a:lvl6pPr marL="2743200" marR="0" lvl="5"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6pPr>
            <a:lvl7pPr marL="3200400" marR="0" lvl="6"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7pPr>
            <a:lvl8pPr marL="3657600" marR="0" lvl="7"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8pPr>
            <a:lvl9pPr marL="4114800" marR="0" lvl="8"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9pPr>
          </a:lstStyle>
          <a:p>
            <a:pPr marL="0" indent="0" algn="ctr">
              <a:buFont typeface="Hanken Grotesk"/>
              <a:buNone/>
            </a:pPr>
            <a:r>
              <a:rPr lang="en-US" sz="1100" dirty="0"/>
              <a:t>Transcription rate not increased</a:t>
            </a:r>
          </a:p>
        </p:txBody>
      </p:sp>
      <p:sp>
        <p:nvSpPr>
          <p:cNvPr id="41" name="Arc 40">
            <a:extLst>
              <a:ext uri="{FF2B5EF4-FFF2-40B4-BE49-F238E27FC236}">
                <a16:creationId xmlns:a16="http://schemas.microsoft.com/office/drawing/2014/main" id="{32C9522B-4F1A-03EE-2EA9-F2BBC57AAF3D}"/>
              </a:ext>
            </a:extLst>
          </p:cNvPr>
          <p:cNvSpPr/>
          <p:nvPr/>
        </p:nvSpPr>
        <p:spPr>
          <a:xfrm rot="10350176" flipH="1">
            <a:off x="5186045" y="2645986"/>
            <a:ext cx="1213396" cy="1151742"/>
          </a:xfrm>
          <a:prstGeom prst="arc">
            <a:avLst/>
          </a:prstGeom>
          <a:ln w="28575">
            <a:headEnd type="none" w="med" len="med"/>
            <a:tailEnd type="arrow"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3" name="Multiplication Sign 2">
            <a:extLst>
              <a:ext uri="{FF2B5EF4-FFF2-40B4-BE49-F238E27FC236}">
                <a16:creationId xmlns:a16="http://schemas.microsoft.com/office/drawing/2014/main" id="{D77E3E1F-A328-298C-AE7B-EC04FB648E2A}"/>
              </a:ext>
            </a:extLst>
          </p:cNvPr>
          <p:cNvSpPr/>
          <p:nvPr/>
        </p:nvSpPr>
        <p:spPr>
          <a:xfrm>
            <a:off x="3690786" y="3251644"/>
            <a:ext cx="327998" cy="343358"/>
          </a:xfrm>
          <a:prstGeom prst="mathMultiply">
            <a:avLst/>
          </a:prstGeom>
          <a:solidFill>
            <a:srgbClr val="EE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0265977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6DDA36-DF89-EAE5-E218-5256D23370B2}"/>
            </a:ext>
          </a:extLst>
        </p:cNvPr>
        <p:cNvGrpSpPr/>
        <p:nvPr/>
      </p:nvGrpSpPr>
      <p:grpSpPr>
        <a:xfrm>
          <a:off x="0" y="0"/>
          <a:ext cx="0" cy="0"/>
          <a:chOff x="0" y="0"/>
          <a:chExt cx="0" cy="0"/>
        </a:xfrm>
      </p:grpSpPr>
      <p:pic>
        <p:nvPicPr>
          <p:cNvPr id="17" name="Picture 16" descr="The image depicts a simplified, stylized representation of a cellular structure, characterized by its spongy, spiky appearance with a distinct, circular nucleus.&#10;&#10;AI-generated content may be incorrect.">
            <a:extLst>
              <a:ext uri="{FF2B5EF4-FFF2-40B4-BE49-F238E27FC236}">
                <a16:creationId xmlns:a16="http://schemas.microsoft.com/office/drawing/2014/main" id="{FF3732F8-619B-8D19-F025-E5048BF9F8A9}"/>
              </a:ext>
            </a:extLst>
          </p:cNvPr>
          <p:cNvPicPr>
            <a:picLocks noChangeAspect="1"/>
          </p:cNvPicPr>
          <p:nvPr/>
        </p:nvPicPr>
        <p:blipFill>
          <a:blip r:embed="rId3"/>
          <a:stretch>
            <a:fillRect/>
          </a:stretch>
        </p:blipFill>
        <p:spPr>
          <a:xfrm>
            <a:off x="5630380" y="1884911"/>
            <a:ext cx="1983802" cy="1826093"/>
          </a:xfrm>
          <a:prstGeom prst="rect">
            <a:avLst/>
          </a:prstGeom>
        </p:spPr>
      </p:pic>
      <p:sp>
        <p:nvSpPr>
          <p:cNvPr id="16" name="Title 1">
            <a:extLst>
              <a:ext uri="{FF2B5EF4-FFF2-40B4-BE49-F238E27FC236}">
                <a16:creationId xmlns:a16="http://schemas.microsoft.com/office/drawing/2014/main" id="{9A48EF44-3600-6736-990D-BAD9E03D8C3F}"/>
              </a:ext>
            </a:extLst>
          </p:cNvPr>
          <p:cNvSpPr>
            <a:spLocks noGrp="1"/>
          </p:cNvSpPr>
          <p:nvPr>
            <p:ph type="title"/>
          </p:nvPr>
        </p:nvSpPr>
        <p:spPr>
          <a:xfrm>
            <a:off x="719999" y="523239"/>
            <a:ext cx="7704000" cy="572700"/>
          </a:xfrm>
        </p:spPr>
        <p:txBody>
          <a:bodyPr/>
          <a:lstStyle/>
          <a:p>
            <a:pPr algn="ctr"/>
            <a:r>
              <a:rPr lang="en-US" sz="2400" dirty="0"/>
              <a:t>Our goal is to generate enhancer sequences that drive gene expression in specific contexts</a:t>
            </a:r>
          </a:p>
        </p:txBody>
      </p:sp>
      <p:sp>
        <p:nvSpPr>
          <p:cNvPr id="2" name="Rectangle 1">
            <a:extLst>
              <a:ext uri="{FF2B5EF4-FFF2-40B4-BE49-F238E27FC236}">
                <a16:creationId xmlns:a16="http://schemas.microsoft.com/office/drawing/2014/main" id="{AF5AA049-775B-111E-EFB8-A937D0DEBA90}"/>
              </a:ext>
            </a:extLst>
          </p:cNvPr>
          <p:cNvSpPr/>
          <p:nvPr/>
        </p:nvSpPr>
        <p:spPr>
          <a:xfrm>
            <a:off x="3010359" y="3665957"/>
            <a:ext cx="2836844" cy="198306"/>
          </a:xfrm>
          <a:prstGeom prst="rect">
            <a:avLst/>
          </a:prstGeom>
          <a:solidFill>
            <a:srgbClr val="71DAFF"/>
          </a:solidFill>
          <a:ln>
            <a:solidFill>
              <a:srgbClr val="71DA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The image depicts a simple, circular shape with a light beige color, resembling an egg or a smooth, rounded object.&#10;&#10;AI-generated content may be incorrect.">
            <a:extLst>
              <a:ext uri="{FF2B5EF4-FFF2-40B4-BE49-F238E27FC236}">
                <a16:creationId xmlns:a16="http://schemas.microsoft.com/office/drawing/2014/main" id="{438E8508-4ED7-DCCB-3BBF-21369C5B4517}"/>
              </a:ext>
            </a:extLst>
          </p:cNvPr>
          <p:cNvPicPr>
            <a:picLocks noChangeAspect="1"/>
          </p:cNvPicPr>
          <p:nvPr/>
        </p:nvPicPr>
        <p:blipFill>
          <a:blip r:embed="rId4"/>
          <a:stretch>
            <a:fillRect/>
          </a:stretch>
        </p:blipFill>
        <p:spPr>
          <a:xfrm>
            <a:off x="1213047" y="2060866"/>
            <a:ext cx="1672466" cy="1474184"/>
          </a:xfrm>
          <a:prstGeom prst="rect">
            <a:avLst/>
          </a:prstGeom>
        </p:spPr>
      </p:pic>
      <p:sp>
        <p:nvSpPr>
          <p:cNvPr id="7" name="Rectangle 6">
            <a:extLst>
              <a:ext uri="{FF2B5EF4-FFF2-40B4-BE49-F238E27FC236}">
                <a16:creationId xmlns:a16="http://schemas.microsoft.com/office/drawing/2014/main" id="{9B1347C7-00BD-E071-749F-49080D982F95}"/>
              </a:ext>
            </a:extLst>
          </p:cNvPr>
          <p:cNvSpPr/>
          <p:nvPr/>
        </p:nvSpPr>
        <p:spPr>
          <a:xfrm>
            <a:off x="3373563" y="3665957"/>
            <a:ext cx="314333" cy="195795"/>
          </a:xfrm>
          <a:prstGeom prst="rect">
            <a:avLst/>
          </a:prstGeom>
          <a:noFill/>
          <a:ln>
            <a:solidFill>
              <a:srgbClr val="C0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77440C7A-8483-0889-1DDA-6C6D2C1C13CB}"/>
              </a:ext>
            </a:extLst>
          </p:cNvPr>
          <p:cNvSpPr/>
          <p:nvPr/>
        </p:nvSpPr>
        <p:spPr>
          <a:xfrm>
            <a:off x="4166123" y="3663447"/>
            <a:ext cx="262658" cy="203328"/>
          </a:xfrm>
          <a:prstGeom prst="rect">
            <a:avLst/>
          </a:prstGeom>
          <a:solidFill>
            <a:srgbClr val="FFFF00"/>
          </a:solid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E06F6C8C-0530-BACB-E784-B8962355C1C9}"/>
              </a:ext>
            </a:extLst>
          </p:cNvPr>
          <p:cNvSpPr/>
          <p:nvPr/>
        </p:nvSpPr>
        <p:spPr>
          <a:xfrm>
            <a:off x="4428781" y="3663446"/>
            <a:ext cx="1154017" cy="195796"/>
          </a:xfrm>
          <a:prstGeom prst="rect">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 Placeholder 2">
            <a:extLst>
              <a:ext uri="{FF2B5EF4-FFF2-40B4-BE49-F238E27FC236}">
                <a16:creationId xmlns:a16="http://schemas.microsoft.com/office/drawing/2014/main" id="{B9AD3833-B16D-39EE-23BC-AA977373E12F}"/>
              </a:ext>
            </a:extLst>
          </p:cNvPr>
          <p:cNvSpPr txBox="1">
            <a:spLocks/>
          </p:cNvSpPr>
          <p:nvPr/>
        </p:nvSpPr>
        <p:spPr>
          <a:xfrm>
            <a:off x="2785260" y="3866773"/>
            <a:ext cx="1380863" cy="40457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79400" algn="l" rtl="0">
              <a:lnSpc>
                <a:spcPct val="115000"/>
              </a:lnSpc>
              <a:spcBef>
                <a:spcPts val="0"/>
              </a:spcBef>
              <a:spcAft>
                <a:spcPts val="0"/>
              </a:spcAft>
              <a:buClr>
                <a:schemeClr val="dk1"/>
              </a:buClr>
              <a:buSzPts val="800"/>
              <a:buFont typeface="Hanken Grotesk"/>
              <a:buChar char="●"/>
              <a:defRPr sz="1400" b="0" i="0" u="none" strike="noStrike" cap="none">
                <a:solidFill>
                  <a:schemeClr val="dk1"/>
                </a:solidFill>
                <a:latin typeface="Hanken Grotesk"/>
                <a:ea typeface="Hanken Grotesk"/>
                <a:cs typeface="Hanken Grotesk"/>
                <a:sym typeface="Hanken Grotesk"/>
              </a:defRPr>
            </a:lvl1pPr>
            <a:lvl2pPr marL="914400" marR="0" lvl="1"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2pPr>
            <a:lvl3pPr marL="1371600" marR="0" lvl="2"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3pPr>
            <a:lvl4pPr marL="1828800" marR="0" lvl="3"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4pPr>
            <a:lvl5pPr marL="2286000" marR="0" lvl="4"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5pPr>
            <a:lvl6pPr marL="2743200" marR="0" lvl="5"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6pPr>
            <a:lvl7pPr marL="3200400" marR="0" lvl="6"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7pPr>
            <a:lvl8pPr marL="3657600" marR="0" lvl="7"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8pPr>
            <a:lvl9pPr marL="4114800" marR="0" lvl="8"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9pPr>
          </a:lstStyle>
          <a:p>
            <a:pPr marL="177800" indent="0" algn="ctr">
              <a:buFont typeface="Hanken Grotesk"/>
              <a:buNone/>
            </a:pPr>
            <a:r>
              <a:rPr lang="en-US" dirty="0"/>
              <a:t>Enhancer</a:t>
            </a:r>
          </a:p>
        </p:txBody>
      </p:sp>
      <p:sp>
        <p:nvSpPr>
          <p:cNvPr id="20" name="Text Placeholder 2">
            <a:extLst>
              <a:ext uri="{FF2B5EF4-FFF2-40B4-BE49-F238E27FC236}">
                <a16:creationId xmlns:a16="http://schemas.microsoft.com/office/drawing/2014/main" id="{447721AE-6809-3754-B28C-47B4563FF23C}"/>
              </a:ext>
            </a:extLst>
          </p:cNvPr>
          <p:cNvSpPr txBox="1">
            <a:spLocks/>
          </p:cNvSpPr>
          <p:nvPr/>
        </p:nvSpPr>
        <p:spPr>
          <a:xfrm>
            <a:off x="3530729" y="4121055"/>
            <a:ext cx="1380863" cy="40457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79400" algn="l" rtl="0">
              <a:lnSpc>
                <a:spcPct val="115000"/>
              </a:lnSpc>
              <a:spcBef>
                <a:spcPts val="0"/>
              </a:spcBef>
              <a:spcAft>
                <a:spcPts val="0"/>
              </a:spcAft>
              <a:buClr>
                <a:schemeClr val="dk1"/>
              </a:buClr>
              <a:buSzPts val="800"/>
              <a:buFont typeface="Hanken Grotesk"/>
              <a:buChar char="●"/>
              <a:defRPr sz="1400" b="0" i="0" u="none" strike="noStrike" cap="none">
                <a:solidFill>
                  <a:schemeClr val="dk1"/>
                </a:solidFill>
                <a:latin typeface="Hanken Grotesk"/>
                <a:ea typeface="Hanken Grotesk"/>
                <a:cs typeface="Hanken Grotesk"/>
                <a:sym typeface="Hanken Grotesk"/>
              </a:defRPr>
            </a:lvl1pPr>
            <a:lvl2pPr marL="914400" marR="0" lvl="1"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2pPr>
            <a:lvl3pPr marL="1371600" marR="0" lvl="2"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3pPr>
            <a:lvl4pPr marL="1828800" marR="0" lvl="3"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4pPr>
            <a:lvl5pPr marL="2286000" marR="0" lvl="4"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5pPr>
            <a:lvl6pPr marL="2743200" marR="0" lvl="5"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6pPr>
            <a:lvl7pPr marL="3200400" marR="0" lvl="6"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7pPr>
            <a:lvl8pPr marL="3657600" marR="0" lvl="7"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8pPr>
            <a:lvl9pPr marL="4114800" marR="0" lvl="8"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9pPr>
          </a:lstStyle>
          <a:p>
            <a:pPr marL="177800" indent="0" algn="ctr">
              <a:buFont typeface="Hanken Grotesk"/>
              <a:buNone/>
            </a:pPr>
            <a:r>
              <a:rPr lang="en-US" dirty="0"/>
              <a:t>Promoter</a:t>
            </a:r>
          </a:p>
        </p:txBody>
      </p:sp>
      <p:sp>
        <p:nvSpPr>
          <p:cNvPr id="21" name="Text Placeholder 2">
            <a:extLst>
              <a:ext uri="{FF2B5EF4-FFF2-40B4-BE49-F238E27FC236}">
                <a16:creationId xmlns:a16="http://schemas.microsoft.com/office/drawing/2014/main" id="{01D91638-B6AA-A675-8BFD-F4112D779545}"/>
              </a:ext>
            </a:extLst>
          </p:cNvPr>
          <p:cNvSpPr txBox="1">
            <a:spLocks/>
          </p:cNvSpPr>
          <p:nvPr/>
        </p:nvSpPr>
        <p:spPr>
          <a:xfrm>
            <a:off x="4184902" y="3859095"/>
            <a:ext cx="1380863" cy="40457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79400" algn="l" rtl="0">
              <a:lnSpc>
                <a:spcPct val="115000"/>
              </a:lnSpc>
              <a:spcBef>
                <a:spcPts val="0"/>
              </a:spcBef>
              <a:spcAft>
                <a:spcPts val="0"/>
              </a:spcAft>
              <a:buClr>
                <a:schemeClr val="dk1"/>
              </a:buClr>
              <a:buSzPts val="800"/>
              <a:buFont typeface="Hanken Grotesk"/>
              <a:buChar char="●"/>
              <a:defRPr sz="1400" b="0" i="0" u="none" strike="noStrike" cap="none">
                <a:solidFill>
                  <a:schemeClr val="dk1"/>
                </a:solidFill>
                <a:latin typeface="Hanken Grotesk"/>
                <a:ea typeface="Hanken Grotesk"/>
                <a:cs typeface="Hanken Grotesk"/>
                <a:sym typeface="Hanken Grotesk"/>
              </a:defRPr>
            </a:lvl1pPr>
            <a:lvl2pPr marL="914400" marR="0" lvl="1"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2pPr>
            <a:lvl3pPr marL="1371600" marR="0" lvl="2"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3pPr>
            <a:lvl4pPr marL="1828800" marR="0" lvl="3"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4pPr>
            <a:lvl5pPr marL="2286000" marR="0" lvl="4"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5pPr>
            <a:lvl6pPr marL="2743200" marR="0" lvl="5"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6pPr>
            <a:lvl7pPr marL="3200400" marR="0" lvl="6"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7pPr>
            <a:lvl8pPr marL="3657600" marR="0" lvl="7"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8pPr>
            <a:lvl9pPr marL="4114800" marR="0" lvl="8"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9pPr>
          </a:lstStyle>
          <a:p>
            <a:pPr marL="177800" indent="0" algn="ctr">
              <a:buFont typeface="Hanken Grotesk"/>
              <a:buNone/>
            </a:pPr>
            <a:r>
              <a:rPr lang="en-US" dirty="0"/>
              <a:t>Gene</a:t>
            </a:r>
          </a:p>
        </p:txBody>
      </p:sp>
      <p:sp>
        <p:nvSpPr>
          <p:cNvPr id="4" name="Arc 3">
            <a:extLst>
              <a:ext uri="{FF2B5EF4-FFF2-40B4-BE49-F238E27FC236}">
                <a16:creationId xmlns:a16="http://schemas.microsoft.com/office/drawing/2014/main" id="{572ABAFA-AF3B-414F-9195-46B5DB9CD6BE}"/>
              </a:ext>
            </a:extLst>
          </p:cNvPr>
          <p:cNvSpPr/>
          <p:nvPr/>
        </p:nvSpPr>
        <p:spPr>
          <a:xfrm rot="5150609">
            <a:off x="3112873" y="2570420"/>
            <a:ext cx="1213396" cy="1151742"/>
          </a:xfrm>
          <a:prstGeom prst="arc">
            <a:avLst/>
          </a:prstGeom>
          <a:ln w="28575">
            <a:headEnd type="none" w="med" len="med"/>
            <a:tailEnd type="arrow"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5" name="Text Placeholder 2">
            <a:extLst>
              <a:ext uri="{FF2B5EF4-FFF2-40B4-BE49-F238E27FC236}">
                <a16:creationId xmlns:a16="http://schemas.microsoft.com/office/drawing/2014/main" id="{90ED2E7E-D6DF-5DE3-77D5-C2CB0A9B0925}"/>
              </a:ext>
            </a:extLst>
          </p:cNvPr>
          <p:cNvSpPr txBox="1">
            <a:spLocks/>
          </p:cNvSpPr>
          <p:nvPr/>
        </p:nvSpPr>
        <p:spPr>
          <a:xfrm>
            <a:off x="3018820" y="2166061"/>
            <a:ext cx="2638163" cy="40457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79400" algn="l" rtl="0">
              <a:lnSpc>
                <a:spcPct val="115000"/>
              </a:lnSpc>
              <a:spcBef>
                <a:spcPts val="0"/>
              </a:spcBef>
              <a:spcAft>
                <a:spcPts val="0"/>
              </a:spcAft>
              <a:buClr>
                <a:schemeClr val="dk1"/>
              </a:buClr>
              <a:buSzPts val="800"/>
              <a:buFont typeface="Hanken Grotesk"/>
              <a:buChar char="●"/>
              <a:defRPr sz="1400" b="0" i="0" u="none" strike="noStrike" cap="none">
                <a:solidFill>
                  <a:schemeClr val="dk1"/>
                </a:solidFill>
                <a:latin typeface="Hanken Grotesk"/>
                <a:ea typeface="Hanken Grotesk"/>
                <a:cs typeface="Hanken Grotesk"/>
                <a:sym typeface="Hanken Grotesk"/>
              </a:defRPr>
            </a:lvl1pPr>
            <a:lvl2pPr marL="914400" marR="0" lvl="1"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2pPr>
            <a:lvl3pPr marL="1371600" marR="0" lvl="2"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3pPr>
            <a:lvl4pPr marL="1828800" marR="0" lvl="3"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4pPr>
            <a:lvl5pPr marL="2286000" marR="0" lvl="4"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5pPr>
            <a:lvl6pPr marL="2743200" marR="0" lvl="5"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6pPr>
            <a:lvl7pPr marL="3200400" marR="0" lvl="6"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7pPr>
            <a:lvl8pPr marL="3657600" marR="0" lvl="7"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8pPr>
            <a:lvl9pPr marL="4114800" marR="0" lvl="8"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9pPr>
          </a:lstStyle>
          <a:p>
            <a:pPr marL="177800" indent="0" algn="ctr">
              <a:buFont typeface="Hanken Grotesk"/>
              <a:buNone/>
            </a:pPr>
            <a:r>
              <a:rPr lang="en-US" dirty="0"/>
              <a:t>Can we design enhancer sequences with context-specific activity?</a:t>
            </a:r>
          </a:p>
        </p:txBody>
      </p:sp>
    </p:spTree>
    <p:extLst>
      <p:ext uri="{BB962C8B-B14F-4D97-AF65-F5344CB8AC3E}">
        <p14:creationId xmlns:p14="http://schemas.microsoft.com/office/powerpoint/2010/main" val="421666080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86CF9D-E383-A4C9-AC0E-8705F8E48D59}"/>
            </a:ext>
          </a:extLst>
        </p:cNvPr>
        <p:cNvGrpSpPr/>
        <p:nvPr/>
      </p:nvGrpSpPr>
      <p:grpSpPr>
        <a:xfrm>
          <a:off x="0" y="0"/>
          <a:ext cx="0" cy="0"/>
          <a:chOff x="0" y="0"/>
          <a:chExt cx="0" cy="0"/>
        </a:xfrm>
      </p:grpSpPr>
      <p:sp>
        <p:nvSpPr>
          <p:cNvPr id="16" name="Title 1">
            <a:extLst>
              <a:ext uri="{FF2B5EF4-FFF2-40B4-BE49-F238E27FC236}">
                <a16:creationId xmlns:a16="http://schemas.microsoft.com/office/drawing/2014/main" id="{7B9E26F3-B223-0C13-3626-27D27A3FBDB9}"/>
              </a:ext>
            </a:extLst>
          </p:cNvPr>
          <p:cNvSpPr>
            <a:spLocks noGrp="1"/>
          </p:cNvSpPr>
          <p:nvPr>
            <p:ph type="title"/>
          </p:nvPr>
        </p:nvSpPr>
        <p:spPr>
          <a:xfrm>
            <a:off x="719999" y="523239"/>
            <a:ext cx="7704000" cy="572700"/>
          </a:xfrm>
        </p:spPr>
        <p:txBody>
          <a:bodyPr/>
          <a:lstStyle/>
          <a:p>
            <a:pPr algn="ctr"/>
            <a:r>
              <a:rPr lang="en-US" sz="2400" dirty="0"/>
              <a:t>Context-specific enhancer design enables </a:t>
            </a:r>
            <a:br>
              <a:rPr lang="en-US" sz="2400" dirty="0"/>
            </a:br>
            <a:r>
              <a:rPr lang="en-US" sz="2400" dirty="0"/>
              <a:t>control and understanding of gene expression</a:t>
            </a:r>
          </a:p>
        </p:txBody>
      </p:sp>
      <p:pic>
        <p:nvPicPr>
          <p:cNvPr id="7" name="Picture 6" descr="The image depicts a simple, circular, monochromatic silhouette.&#10;&#10;AI-generated content may be incorrect.">
            <a:extLst>
              <a:ext uri="{FF2B5EF4-FFF2-40B4-BE49-F238E27FC236}">
                <a16:creationId xmlns:a16="http://schemas.microsoft.com/office/drawing/2014/main" id="{31CBC119-CAF8-6C83-DDD7-F2E0DC7F2E00}"/>
              </a:ext>
            </a:extLst>
          </p:cNvPr>
          <p:cNvPicPr>
            <a:picLocks noChangeAspect="1"/>
          </p:cNvPicPr>
          <p:nvPr/>
        </p:nvPicPr>
        <p:blipFill>
          <a:blip r:embed="rId3"/>
          <a:stretch>
            <a:fillRect/>
          </a:stretch>
        </p:blipFill>
        <p:spPr>
          <a:xfrm>
            <a:off x="1107134" y="1977019"/>
            <a:ext cx="2373882" cy="2548111"/>
          </a:xfrm>
          <a:prstGeom prst="rect">
            <a:avLst/>
          </a:prstGeom>
        </p:spPr>
      </p:pic>
      <p:pic>
        <p:nvPicPr>
          <p:cNvPr id="11" name="Picture 10" descr="The image depicts a simple, abstract representation of an organic, leaf-like shape with a round, smooth surface.&#10;&#10;AI-generated content may be incorrect.">
            <a:extLst>
              <a:ext uri="{FF2B5EF4-FFF2-40B4-BE49-F238E27FC236}">
                <a16:creationId xmlns:a16="http://schemas.microsoft.com/office/drawing/2014/main" id="{15B6A2E3-5BF6-78EC-6B11-5E97175FB1B6}"/>
              </a:ext>
            </a:extLst>
          </p:cNvPr>
          <p:cNvPicPr>
            <a:picLocks noChangeAspect="1"/>
          </p:cNvPicPr>
          <p:nvPr/>
        </p:nvPicPr>
        <p:blipFill>
          <a:blip r:embed="rId4"/>
          <a:srcRect l="6339" b="7120"/>
          <a:stretch>
            <a:fillRect/>
          </a:stretch>
        </p:blipFill>
        <p:spPr>
          <a:xfrm>
            <a:off x="3389949" y="1526637"/>
            <a:ext cx="4372788" cy="1724437"/>
          </a:xfrm>
          <a:prstGeom prst="rect">
            <a:avLst/>
          </a:prstGeom>
        </p:spPr>
      </p:pic>
      <p:pic>
        <p:nvPicPr>
          <p:cNvPr id="13" name="Picture 12" descr="The image depicts a red, textured circle resembling a blood cell or platelet.&#10;&#10;AI-generated content may be incorrect.">
            <a:extLst>
              <a:ext uri="{FF2B5EF4-FFF2-40B4-BE49-F238E27FC236}">
                <a16:creationId xmlns:a16="http://schemas.microsoft.com/office/drawing/2014/main" id="{52A507BE-3637-46B3-6F14-386B046398BD}"/>
              </a:ext>
            </a:extLst>
          </p:cNvPr>
          <p:cNvPicPr>
            <a:picLocks noChangeAspect="1"/>
          </p:cNvPicPr>
          <p:nvPr/>
        </p:nvPicPr>
        <p:blipFill>
          <a:blip r:embed="rId5"/>
          <a:srcRect l="15013" t="9814" r="11438" b="10393"/>
          <a:stretch>
            <a:fillRect/>
          </a:stretch>
        </p:blipFill>
        <p:spPr>
          <a:xfrm>
            <a:off x="5475760" y="2687439"/>
            <a:ext cx="1971703" cy="1988670"/>
          </a:xfrm>
          <a:prstGeom prst="rect">
            <a:avLst/>
          </a:prstGeom>
        </p:spPr>
      </p:pic>
      <p:sp>
        <p:nvSpPr>
          <p:cNvPr id="2" name="Oval 1">
            <a:extLst>
              <a:ext uri="{FF2B5EF4-FFF2-40B4-BE49-F238E27FC236}">
                <a16:creationId xmlns:a16="http://schemas.microsoft.com/office/drawing/2014/main" id="{C69D5139-F161-4ADA-0868-CE7E17F945AF}"/>
              </a:ext>
            </a:extLst>
          </p:cNvPr>
          <p:cNvSpPr/>
          <p:nvPr/>
        </p:nvSpPr>
        <p:spPr>
          <a:xfrm>
            <a:off x="4233979" y="3385629"/>
            <a:ext cx="457200" cy="457200"/>
          </a:xfrm>
          <a:prstGeom prst="ellipse">
            <a:avLst/>
          </a:prstGeom>
          <a:noFill/>
          <a:ln w="381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Arc 2">
            <a:extLst>
              <a:ext uri="{FF2B5EF4-FFF2-40B4-BE49-F238E27FC236}">
                <a16:creationId xmlns:a16="http://schemas.microsoft.com/office/drawing/2014/main" id="{C85D5410-EEC1-1B3E-3724-99E0712AEC15}"/>
              </a:ext>
            </a:extLst>
          </p:cNvPr>
          <p:cNvSpPr/>
          <p:nvPr/>
        </p:nvSpPr>
        <p:spPr>
          <a:xfrm rot="19487382">
            <a:off x="4233979" y="3375817"/>
            <a:ext cx="457200" cy="457200"/>
          </a:xfrm>
          <a:prstGeom prst="arc">
            <a:avLst>
              <a:gd name="adj1" fmla="val 14513924"/>
              <a:gd name="adj2" fmla="val 631815"/>
            </a:avLst>
          </a:prstGeom>
          <a:ln w="57150">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 name="Arc 3">
            <a:extLst>
              <a:ext uri="{FF2B5EF4-FFF2-40B4-BE49-F238E27FC236}">
                <a16:creationId xmlns:a16="http://schemas.microsoft.com/office/drawing/2014/main" id="{7401A4C4-A43A-D740-EC64-9DA5E56B0CEF}"/>
              </a:ext>
            </a:extLst>
          </p:cNvPr>
          <p:cNvSpPr/>
          <p:nvPr/>
        </p:nvSpPr>
        <p:spPr>
          <a:xfrm rot="19487382">
            <a:off x="4233980" y="3375817"/>
            <a:ext cx="457200" cy="457200"/>
          </a:xfrm>
          <a:prstGeom prst="arc">
            <a:avLst>
              <a:gd name="adj1" fmla="val 12781519"/>
              <a:gd name="adj2" fmla="val 14571822"/>
            </a:avLst>
          </a:prstGeom>
          <a:ln w="57150">
            <a:solidFill>
              <a:srgbClr val="FFFF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 name="Arc 4">
            <a:extLst>
              <a:ext uri="{FF2B5EF4-FFF2-40B4-BE49-F238E27FC236}">
                <a16:creationId xmlns:a16="http://schemas.microsoft.com/office/drawing/2014/main" id="{5BBF0304-6E27-D805-959F-506CC7A22DCE}"/>
              </a:ext>
            </a:extLst>
          </p:cNvPr>
          <p:cNvSpPr/>
          <p:nvPr/>
        </p:nvSpPr>
        <p:spPr>
          <a:xfrm rot="15611557">
            <a:off x="4233979" y="3384790"/>
            <a:ext cx="457200" cy="457200"/>
          </a:xfrm>
          <a:prstGeom prst="arc">
            <a:avLst>
              <a:gd name="adj1" fmla="val 10392918"/>
              <a:gd name="adj2" fmla="val 14571822"/>
            </a:avLst>
          </a:prstGeom>
          <a:ln w="571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6" name="TextBox 5">
            <a:extLst>
              <a:ext uri="{FF2B5EF4-FFF2-40B4-BE49-F238E27FC236}">
                <a16:creationId xmlns:a16="http://schemas.microsoft.com/office/drawing/2014/main" id="{3370DCC3-C450-D221-4AC5-6275E14A5B40}"/>
              </a:ext>
            </a:extLst>
          </p:cNvPr>
          <p:cNvSpPr txBox="1"/>
          <p:nvPr/>
        </p:nvSpPr>
        <p:spPr>
          <a:xfrm>
            <a:off x="4051248" y="3986355"/>
            <a:ext cx="822661" cy="307777"/>
          </a:xfrm>
          <a:prstGeom prst="rect">
            <a:avLst/>
          </a:prstGeom>
          <a:noFill/>
        </p:spPr>
        <p:txBody>
          <a:bodyPr wrap="none" rtlCol="0">
            <a:spAutoFit/>
          </a:bodyPr>
          <a:lstStyle/>
          <a:p>
            <a:pPr algn="ctr"/>
            <a:r>
              <a:rPr lang="en-US" dirty="0"/>
              <a:t>Plasmid</a:t>
            </a:r>
          </a:p>
        </p:txBody>
      </p:sp>
    </p:spTree>
    <p:extLst>
      <p:ext uri="{BB962C8B-B14F-4D97-AF65-F5344CB8AC3E}">
        <p14:creationId xmlns:p14="http://schemas.microsoft.com/office/powerpoint/2010/main" val="313251930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FB8989-1E78-A97B-B3A7-DC2A4319C3A0}"/>
            </a:ext>
          </a:extLst>
        </p:cNvPr>
        <p:cNvGrpSpPr/>
        <p:nvPr/>
      </p:nvGrpSpPr>
      <p:grpSpPr>
        <a:xfrm>
          <a:off x="0" y="0"/>
          <a:ext cx="0" cy="0"/>
          <a:chOff x="0" y="0"/>
          <a:chExt cx="0" cy="0"/>
        </a:xfrm>
      </p:grpSpPr>
      <p:sp>
        <p:nvSpPr>
          <p:cNvPr id="16" name="Title 1">
            <a:extLst>
              <a:ext uri="{FF2B5EF4-FFF2-40B4-BE49-F238E27FC236}">
                <a16:creationId xmlns:a16="http://schemas.microsoft.com/office/drawing/2014/main" id="{6568A858-5C5A-C4D8-28B7-4C1443F6F701}"/>
              </a:ext>
            </a:extLst>
          </p:cNvPr>
          <p:cNvSpPr>
            <a:spLocks noGrp="1"/>
          </p:cNvSpPr>
          <p:nvPr>
            <p:ph type="title"/>
          </p:nvPr>
        </p:nvSpPr>
        <p:spPr>
          <a:xfrm>
            <a:off x="719999" y="523239"/>
            <a:ext cx="7704000" cy="572700"/>
          </a:xfrm>
        </p:spPr>
        <p:txBody>
          <a:bodyPr/>
          <a:lstStyle/>
          <a:p>
            <a:pPr algn="ctr"/>
            <a:r>
              <a:rPr lang="en-US" sz="2400" dirty="0"/>
              <a:t>Context-specific enhancer design enables </a:t>
            </a:r>
            <a:br>
              <a:rPr lang="en-US" sz="2400" dirty="0"/>
            </a:br>
            <a:r>
              <a:rPr lang="en-US" sz="2400" dirty="0"/>
              <a:t>control and understanding of gene expression</a:t>
            </a:r>
          </a:p>
        </p:txBody>
      </p:sp>
      <p:pic>
        <p:nvPicPr>
          <p:cNvPr id="7" name="Picture 6" descr="The image depicts a simple, circular, monochromatic silhouette.&#10;&#10;AI-generated content may be incorrect.">
            <a:extLst>
              <a:ext uri="{FF2B5EF4-FFF2-40B4-BE49-F238E27FC236}">
                <a16:creationId xmlns:a16="http://schemas.microsoft.com/office/drawing/2014/main" id="{1DB1C2EB-1226-239E-05EB-9BF8ABAF5249}"/>
              </a:ext>
            </a:extLst>
          </p:cNvPr>
          <p:cNvPicPr>
            <a:picLocks noChangeAspect="1"/>
          </p:cNvPicPr>
          <p:nvPr/>
        </p:nvPicPr>
        <p:blipFill>
          <a:blip r:embed="rId3"/>
          <a:stretch>
            <a:fillRect/>
          </a:stretch>
        </p:blipFill>
        <p:spPr>
          <a:xfrm>
            <a:off x="1107134" y="1977019"/>
            <a:ext cx="2373882" cy="2548111"/>
          </a:xfrm>
          <a:prstGeom prst="rect">
            <a:avLst/>
          </a:prstGeom>
        </p:spPr>
      </p:pic>
      <p:pic>
        <p:nvPicPr>
          <p:cNvPr id="11" name="Picture 10" descr="The image depicts a simple, abstract representation of an organic, leaf-like shape with a round, smooth surface.&#10;&#10;AI-generated content may be incorrect.">
            <a:extLst>
              <a:ext uri="{FF2B5EF4-FFF2-40B4-BE49-F238E27FC236}">
                <a16:creationId xmlns:a16="http://schemas.microsoft.com/office/drawing/2014/main" id="{4E9BDB81-8B67-93E7-E37D-20EF0CAEA368}"/>
              </a:ext>
            </a:extLst>
          </p:cNvPr>
          <p:cNvPicPr>
            <a:picLocks noChangeAspect="1"/>
          </p:cNvPicPr>
          <p:nvPr/>
        </p:nvPicPr>
        <p:blipFill>
          <a:blip r:embed="rId4"/>
          <a:srcRect l="6339" b="7120"/>
          <a:stretch>
            <a:fillRect/>
          </a:stretch>
        </p:blipFill>
        <p:spPr>
          <a:xfrm>
            <a:off x="3389949" y="1526637"/>
            <a:ext cx="4372788" cy="1724437"/>
          </a:xfrm>
          <a:prstGeom prst="rect">
            <a:avLst/>
          </a:prstGeom>
        </p:spPr>
      </p:pic>
      <p:pic>
        <p:nvPicPr>
          <p:cNvPr id="13" name="Picture 12" descr="The image depicts a red, textured circle resembling a blood cell or platelet.&#10;&#10;AI-generated content may be incorrect.">
            <a:extLst>
              <a:ext uri="{FF2B5EF4-FFF2-40B4-BE49-F238E27FC236}">
                <a16:creationId xmlns:a16="http://schemas.microsoft.com/office/drawing/2014/main" id="{70A6DD2F-FE99-17E8-2841-5A0959F50DC7}"/>
              </a:ext>
            </a:extLst>
          </p:cNvPr>
          <p:cNvPicPr>
            <a:picLocks noChangeAspect="1"/>
          </p:cNvPicPr>
          <p:nvPr/>
        </p:nvPicPr>
        <p:blipFill>
          <a:blip r:embed="rId5"/>
          <a:srcRect l="15013" t="9814" r="11438" b="10393"/>
          <a:stretch>
            <a:fillRect/>
          </a:stretch>
        </p:blipFill>
        <p:spPr>
          <a:xfrm>
            <a:off x="5475760" y="2687439"/>
            <a:ext cx="1971703" cy="1988670"/>
          </a:xfrm>
          <a:prstGeom prst="rect">
            <a:avLst/>
          </a:prstGeom>
        </p:spPr>
      </p:pic>
      <p:sp>
        <p:nvSpPr>
          <p:cNvPr id="33" name="Oval 32">
            <a:extLst>
              <a:ext uri="{FF2B5EF4-FFF2-40B4-BE49-F238E27FC236}">
                <a16:creationId xmlns:a16="http://schemas.microsoft.com/office/drawing/2014/main" id="{9E9DEC1E-6B9D-252B-CAD1-DB36DCD8B0C1}"/>
              </a:ext>
            </a:extLst>
          </p:cNvPr>
          <p:cNvSpPr/>
          <p:nvPr/>
        </p:nvSpPr>
        <p:spPr>
          <a:xfrm>
            <a:off x="2567291" y="3350869"/>
            <a:ext cx="457200" cy="457200"/>
          </a:xfrm>
          <a:prstGeom prst="ellipse">
            <a:avLst/>
          </a:prstGeom>
          <a:noFill/>
          <a:ln w="381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Arc 33">
            <a:extLst>
              <a:ext uri="{FF2B5EF4-FFF2-40B4-BE49-F238E27FC236}">
                <a16:creationId xmlns:a16="http://schemas.microsoft.com/office/drawing/2014/main" id="{D27473B5-DA0A-C8E4-7825-75BE0036EFF1}"/>
              </a:ext>
            </a:extLst>
          </p:cNvPr>
          <p:cNvSpPr/>
          <p:nvPr/>
        </p:nvSpPr>
        <p:spPr>
          <a:xfrm rot="19487382">
            <a:off x="2567291" y="3341057"/>
            <a:ext cx="457200" cy="457200"/>
          </a:xfrm>
          <a:prstGeom prst="arc">
            <a:avLst>
              <a:gd name="adj1" fmla="val 14513924"/>
              <a:gd name="adj2" fmla="val 631815"/>
            </a:avLst>
          </a:prstGeom>
          <a:ln w="571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5" name="Arc 34">
            <a:extLst>
              <a:ext uri="{FF2B5EF4-FFF2-40B4-BE49-F238E27FC236}">
                <a16:creationId xmlns:a16="http://schemas.microsoft.com/office/drawing/2014/main" id="{B405D510-1279-EE63-486B-882BC5FC281D}"/>
              </a:ext>
            </a:extLst>
          </p:cNvPr>
          <p:cNvSpPr/>
          <p:nvPr/>
        </p:nvSpPr>
        <p:spPr>
          <a:xfrm rot="19487382">
            <a:off x="2567292" y="3341057"/>
            <a:ext cx="457200" cy="457200"/>
          </a:xfrm>
          <a:prstGeom prst="arc">
            <a:avLst>
              <a:gd name="adj1" fmla="val 12781519"/>
              <a:gd name="adj2" fmla="val 14571822"/>
            </a:avLst>
          </a:prstGeom>
          <a:ln w="57150">
            <a:solidFill>
              <a:srgbClr val="FFFF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6" name="Arc 35">
            <a:extLst>
              <a:ext uri="{FF2B5EF4-FFF2-40B4-BE49-F238E27FC236}">
                <a16:creationId xmlns:a16="http://schemas.microsoft.com/office/drawing/2014/main" id="{A47A1B03-DDD9-FF87-E7B2-0CFF3C7AE722}"/>
              </a:ext>
            </a:extLst>
          </p:cNvPr>
          <p:cNvSpPr/>
          <p:nvPr/>
        </p:nvSpPr>
        <p:spPr>
          <a:xfrm rot="15611557">
            <a:off x="2567291" y="3350030"/>
            <a:ext cx="457200" cy="457200"/>
          </a:xfrm>
          <a:prstGeom prst="arc">
            <a:avLst>
              <a:gd name="adj1" fmla="val 10392918"/>
              <a:gd name="adj2" fmla="val 14571822"/>
            </a:avLst>
          </a:prstGeom>
          <a:ln w="571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7" name="Oval 36">
            <a:extLst>
              <a:ext uri="{FF2B5EF4-FFF2-40B4-BE49-F238E27FC236}">
                <a16:creationId xmlns:a16="http://schemas.microsoft.com/office/drawing/2014/main" id="{6E1EC3FB-5D4C-E87A-E14D-7E8AF45D3B6A}"/>
              </a:ext>
            </a:extLst>
          </p:cNvPr>
          <p:cNvSpPr/>
          <p:nvPr/>
        </p:nvSpPr>
        <p:spPr>
          <a:xfrm>
            <a:off x="5752968" y="1913659"/>
            <a:ext cx="457200" cy="457200"/>
          </a:xfrm>
          <a:prstGeom prst="ellipse">
            <a:avLst/>
          </a:prstGeom>
          <a:noFill/>
          <a:ln w="381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Arc 37">
            <a:extLst>
              <a:ext uri="{FF2B5EF4-FFF2-40B4-BE49-F238E27FC236}">
                <a16:creationId xmlns:a16="http://schemas.microsoft.com/office/drawing/2014/main" id="{E03B4F65-E1BA-78FE-7B45-3844F9AAD07B}"/>
              </a:ext>
            </a:extLst>
          </p:cNvPr>
          <p:cNvSpPr/>
          <p:nvPr/>
        </p:nvSpPr>
        <p:spPr>
          <a:xfrm rot="19487382">
            <a:off x="5752968" y="1903847"/>
            <a:ext cx="457200" cy="457200"/>
          </a:xfrm>
          <a:prstGeom prst="arc">
            <a:avLst>
              <a:gd name="adj1" fmla="val 14513924"/>
              <a:gd name="adj2" fmla="val 631815"/>
            </a:avLst>
          </a:prstGeom>
          <a:ln w="571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9" name="Arc 38">
            <a:extLst>
              <a:ext uri="{FF2B5EF4-FFF2-40B4-BE49-F238E27FC236}">
                <a16:creationId xmlns:a16="http://schemas.microsoft.com/office/drawing/2014/main" id="{A9E6981E-732B-CB78-7B31-294C8D39B01B}"/>
              </a:ext>
            </a:extLst>
          </p:cNvPr>
          <p:cNvSpPr/>
          <p:nvPr/>
        </p:nvSpPr>
        <p:spPr>
          <a:xfrm rot="19487382">
            <a:off x="5752969" y="1903847"/>
            <a:ext cx="457200" cy="457200"/>
          </a:xfrm>
          <a:prstGeom prst="arc">
            <a:avLst>
              <a:gd name="adj1" fmla="val 12781519"/>
              <a:gd name="adj2" fmla="val 14571822"/>
            </a:avLst>
          </a:prstGeom>
          <a:ln w="57150">
            <a:solidFill>
              <a:srgbClr val="FFFF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0" name="Arc 39">
            <a:extLst>
              <a:ext uri="{FF2B5EF4-FFF2-40B4-BE49-F238E27FC236}">
                <a16:creationId xmlns:a16="http://schemas.microsoft.com/office/drawing/2014/main" id="{610A47B9-2E44-CF38-42B2-80DC85439CE1}"/>
              </a:ext>
            </a:extLst>
          </p:cNvPr>
          <p:cNvSpPr/>
          <p:nvPr/>
        </p:nvSpPr>
        <p:spPr>
          <a:xfrm rot="15611557">
            <a:off x="5752968" y="1912820"/>
            <a:ext cx="457200" cy="457200"/>
          </a:xfrm>
          <a:prstGeom prst="arc">
            <a:avLst>
              <a:gd name="adj1" fmla="val 10392918"/>
              <a:gd name="adj2" fmla="val 14571822"/>
            </a:avLst>
          </a:prstGeom>
          <a:ln w="571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1" name="Oval 40">
            <a:extLst>
              <a:ext uri="{FF2B5EF4-FFF2-40B4-BE49-F238E27FC236}">
                <a16:creationId xmlns:a16="http://schemas.microsoft.com/office/drawing/2014/main" id="{C1DF856C-1DF7-8F88-4DF8-96408FEC602D}"/>
              </a:ext>
            </a:extLst>
          </p:cNvPr>
          <p:cNvSpPr/>
          <p:nvPr/>
        </p:nvSpPr>
        <p:spPr>
          <a:xfrm>
            <a:off x="6691617" y="3192260"/>
            <a:ext cx="457200" cy="457200"/>
          </a:xfrm>
          <a:prstGeom prst="ellipse">
            <a:avLst/>
          </a:prstGeom>
          <a:noFill/>
          <a:ln w="381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Arc 41">
            <a:extLst>
              <a:ext uri="{FF2B5EF4-FFF2-40B4-BE49-F238E27FC236}">
                <a16:creationId xmlns:a16="http://schemas.microsoft.com/office/drawing/2014/main" id="{FB95DF62-5DD8-2486-C892-7C772D1FD430}"/>
              </a:ext>
            </a:extLst>
          </p:cNvPr>
          <p:cNvSpPr/>
          <p:nvPr/>
        </p:nvSpPr>
        <p:spPr>
          <a:xfrm rot="19487382">
            <a:off x="6691617" y="3182448"/>
            <a:ext cx="457200" cy="457200"/>
          </a:xfrm>
          <a:prstGeom prst="arc">
            <a:avLst>
              <a:gd name="adj1" fmla="val 14513924"/>
              <a:gd name="adj2" fmla="val 631815"/>
            </a:avLst>
          </a:prstGeom>
          <a:ln w="57150">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3" name="Arc 42">
            <a:extLst>
              <a:ext uri="{FF2B5EF4-FFF2-40B4-BE49-F238E27FC236}">
                <a16:creationId xmlns:a16="http://schemas.microsoft.com/office/drawing/2014/main" id="{DFAFDE98-7D27-C40A-6868-124086181BD2}"/>
              </a:ext>
            </a:extLst>
          </p:cNvPr>
          <p:cNvSpPr/>
          <p:nvPr/>
        </p:nvSpPr>
        <p:spPr>
          <a:xfrm rot="19487382">
            <a:off x="6691618" y="3182448"/>
            <a:ext cx="457200" cy="457200"/>
          </a:xfrm>
          <a:prstGeom prst="arc">
            <a:avLst>
              <a:gd name="adj1" fmla="val 12781519"/>
              <a:gd name="adj2" fmla="val 14571822"/>
            </a:avLst>
          </a:prstGeom>
          <a:ln w="57150">
            <a:solidFill>
              <a:srgbClr val="FFFF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4" name="Arc 43">
            <a:extLst>
              <a:ext uri="{FF2B5EF4-FFF2-40B4-BE49-F238E27FC236}">
                <a16:creationId xmlns:a16="http://schemas.microsoft.com/office/drawing/2014/main" id="{3496C396-7FF9-CEC2-5AE3-D319839D5ABC}"/>
              </a:ext>
            </a:extLst>
          </p:cNvPr>
          <p:cNvSpPr/>
          <p:nvPr/>
        </p:nvSpPr>
        <p:spPr>
          <a:xfrm rot="15611557">
            <a:off x="6691617" y="3191421"/>
            <a:ext cx="457200" cy="457200"/>
          </a:xfrm>
          <a:prstGeom prst="arc">
            <a:avLst>
              <a:gd name="adj1" fmla="val 10392918"/>
              <a:gd name="adj2" fmla="val 14571822"/>
            </a:avLst>
          </a:prstGeom>
          <a:ln w="571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 name="Oval 1">
            <a:extLst>
              <a:ext uri="{FF2B5EF4-FFF2-40B4-BE49-F238E27FC236}">
                <a16:creationId xmlns:a16="http://schemas.microsoft.com/office/drawing/2014/main" id="{46CE617D-DB03-40B9-7A69-4AF511DA93E3}"/>
              </a:ext>
            </a:extLst>
          </p:cNvPr>
          <p:cNvSpPr/>
          <p:nvPr/>
        </p:nvSpPr>
        <p:spPr>
          <a:xfrm>
            <a:off x="4233979" y="3385629"/>
            <a:ext cx="457200" cy="457200"/>
          </a:xfrm>
          <a:prstGeom prst="ellipse">
            <a:avLst/>
          </a:prstGeom>
          <a:noFill/>
          <a:ln w="381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Arc 2">
            <a:extLst>
              <a:ext uri="{FF2B5EF4-FFF2-40B4-BE49-F238E27FC236}">
                <a16:creationId xmlns:a16="http://schemas.microsoft.com/office/drawing/2014/main" id="{AB5D6C90-4883-06AB-9B22-E0EF22AD46D1}"/>
              </a:ext>
            </a:extLst>
          </p:cNvPr>
          <p:cNvSpPr/>
          <p:nvPr/>
        </p:nvSpPr>
        <p:spPr>
          <a:xfrm rot="19487382">
            <a:off x="4233979" y="3375817"/>
            <a:ext cx="457200" cy="457200"/>
          </a:xfrm>
          <a:prstGeom prst="arc">
            <a:avLst>
              <a:gd name="adj1" fmla="val 14513924"/>
              <a:gd name="adj2" fmla="val 631815"/>
            </a:avLst>
          </a:prstGeom>
          <a:ln w="57150">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 name="Arc 3">
            <a:extLst>
              <a:ext uri="{FF2B5EF4-FFF2-40B4-BE49-F238E27FC236}">
                <a16:creationId xmlns:a16="http://schemas.microsoft.com/office/drawing/2014/main" id="{2639A620-5049-BEB3-3C3F-90E423679C76}"/>
              </a:ext>
            </a:extLst>
          </p:cNvPr>
          <p:cNvSpPr/>
          <p:nvPr/>
        </p:nvSpPr>
        <p:spPr>
          <a:xfrm rot="19487382">
            <a:off x="4233980" y="3375817"/>
            <a:ext cx="457200" cy="457200"/>
          </a:xfrm>
          <a:prstGeom prst="arc">
            <a:avLst>
              <a:gd name="adj1" fmla="val 12781519"/>
              <a:gd name="adj2" fmla="val 14571822"/>
            </a:avLst>
          </a:prstGeom>
          <a:ln w="57150">
            <a:solidFill>
              <a:srgbClr val="FFFF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 name="Arc 4">
            <a:extLst>
              <a:ext uri="{FF2B5EF4-FFF2-40B4-BE49-F238E27FC236}">
                <a16:creationId xmlns:a16="http://schemas.microsoft.com/office/drawing/2014/main" id="{5BABDDC5-CFFB-8CC2-8BF9-BF0D104C3C31}"/>
              </a:ext>
            </a:extLst>
          </p:cNvPr>
          <p:cNvSpPr/>
          <p:nvPr/>
        </p:nvSpPr>
        <p:spPr>
          <a:xfrm rot="15611557">
            <a:off x="4233979" y="3384790"/>
            <a:ext cx="457200" cy="457200"/>
          </a:xfrm>
          <a:prstGeom prst="arc">
            <a:avLst>
              <a:gd name="adj1" fmla="val 10392918"/>
              <a:gd name="adj2" fmla="val 14571822"/>
            </a:avLst>
          </a:prstGeom>
          <a:ln w="571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6" name="TextBox 5">
            <a:extLst>
              <a:ext uri="{FF2B5EF4-FFF2-40B4-BE49-F238E27FC236}">
                <a16:creationId xmlns:a16="http://schemas.microsoft.com/office/drawing/2014/main" id="{34E3BC84-F118-E56B-A98A-AE8AE71EB4DA}"/>
              </a:ext>
            </a:extLst>
          </p:cNvPr>
          <p:cNvSpPr txBox="1"/>
          <p:nvPr/>
        </p:nvSpPr>
        <p:spPr>
          <a:xfrm>
            <a:off x="4051248" y="3986355"/>
            <a:ext cx="822661" cy="307777"/>
          </a:xfrm>
          <a:prstGeom prst="rect">
            <a:avLst/>
          </a:prstGeom>
          <a:noFill/>
        </p:spPr>
        <p:txBody>
          <a:bodyPr wrap="none" rtlCol="0">
            <a:spAutoFit/>
          </a:bodyPr>
          <a:lstStyle/>
          <a:p>
            <a:pPr algn="ctr"/>
            <a:r>
              <a:rPr lang="en-US" dirty="0"/>
              <a:t>Plasmid</a:t>
            </a:r>
          </a:p>
        </p:txBody>
      </p:sp>
      <p:sp>
        <p:nvSpPr>
          <p:cNvPr id="9" name="Arc 8">
            <a:extLst>
              <a:ext uri="{FF2B5EF4-FFF2-40B4-BE49-F238E27FC236}">
                <a16:creationId xmlns:a16="http://schemas.microsoft.com/office/drawing/2014/main" id="{78918172-49C4-75F6-1E2A-262C154C086C}"/>
              </a:ext>
            </a:extLst>
          </p:cNvPr>
          <p:cNvSpPr/>
          <p:nvPr/>
        </p:nvSpPr>
        <p:spPr>
          <a:xfrm rot="18403943">
            <a:off x="4648387" y="2852575"/>
            <a:ext cx="2464984" cy="2917077"/>
          </a:xfrm>
          <a:prstGeom prst="arc">
            <a:avLst/>
          </a:prstGeom>
          <a:ln w="28575">
            <a:headEnd type="none" w="med" len="med"/>
            <a:tailEnd type="arrow"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dirty="0"/>
          </a:p>
        </p:txBody>
      </p:sp>
      <p:sp>
        <p:nvSpPr>
          <p:cNvPr id="10" name="Arc 9">
            <a:extLst>
              <a:ext uri="{FF2B5EF4-FFF2-40B4-BE49-F238E27FC236}">
                <a16:creationId xmlns:a16="http://schemas.microsoft.com/office/drawing/2014/main" id="{E4AFF099-94EE-D4C5-693C-55FCB28653BA}"/>
              </a:ext>
            </a:extLst>
          </p:cNvPr>
          <p:cNvSpPr/>
          <p:nvPr/>
        </p:nvSpPr>
        <p:spPr>
          <a:xfrm rot="16200000">
            <a:off x="4521093" y="2212168"/>
            <a:ext cx="2139288" cy="2166162"/>
          </a:xfrm>
          <a:prstGeom prst="arc">
            <a:avLst/>
          </a:prstGeom>
          <a:ln w="28575">
            <a:headEnd type="none" w="med" len="med"/>
            <a:tailEnd type="arrow"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dirty="0"/>
          </a:p>
        </p:txBody>
      </p:sp>
      <p:sp>
        <p:nvSpPr>
          <p:cNvPr id="14" name="Arc 13">
            <a:extLst>
              <a:ext uri="{FF2B5EF4-FFF2-40B4-BE49-F238E27FC236}">
                <a16:creationId xmlns:a16="http://schemas.microsoft.com/office/drawing/2014/main" id="{056F320D-DAEE-997C-0AB8-36627FB94320}"/>
              </a:ext>
            </a:extLst>
          </p:cNvPr>
          <p:cNvSpPr/>
          <p:nvPr/>
        </p:nvSpPr>
        <p:spPr>
          <a:xfrm rot="1910540" flipH="1">
            <a:off x="2777832" y="2911897"/>
            <a:ext cx="1655399" cy="1450057"/>
          </a:xfrm>
          <a:prstGeom prst="arc">
            <a:avLst>
              <a:gd name="adj1" fmla="val 13949870"/>
              <a:gd name="adj2" fmla="val 175282"/>
            </a:avLst>
          </a:prstGeom>
          <a:ln w="28575">
            <a:headEnd type="none" w="med" len="med"/>
            <a:tailEnd type="arrow"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dirty="0"/>
          </a:p>
        </p:txBody>
      </p:sp>
      <p:sp>
        <p:nvSpPr>
          <p:cNvPr id="8" name="TextBox 7">
            <a:extLst>
              <a:ext uri="{FF2B5EF4-FFF2-40B4-BE49-F238E27FC236}">
                <a16:creationId xmlns:a16="http://schemas.microsoft.com/office/drawing/2014/main" id="{EA91DB05-5580-197A-004C-29216DAE50E2}"/>
              </a:ext>
            </a:extLst>
          </p:cNvPr>
          <p:cNvSpPr txBox="1"/>
          <p:nvPr/>
        </p:nvSpPr>
        <p:spPr>
          <a:xfrm>
            <a:off x="7387227" y="2687439"/>
            <a:ext cx="1497526" cy="307777"/>
          </a:xfrm>
          <a:prstGeom prst="rect">
            <a:avLst/>
          </a:prstGeom>
          <a:noFill/>
        </p:spPr>
        <p:txBody>
          <a:bodyPr wrap="none" rtlCol="0">
            <a:spAutoFit/>
          </a:bodyPr>
          <a:lstStyle/>
          <a:p>
            <a:pPr algn="ctr"/>
            <a:r>
              <a:rPr lang="en-US" dirty="0"/>
              <a:t>Gene expressed</a:t>
            </a:r>
          </a:p>
        </p:txBody>
      </p:sp>
      <p:sp>
        <p:nvSpPr>
          <p:cNvPr id="12" name="Arc 11">
            <a:extLst>
              <a:ext uri="{FF2B5EF4-FFF2-40B4-BE49-F238E27FC236}">
                <a16:creationId xmlns:a16="http://schemas.microsoft.com/office/drawing/2014/main" id="{3BF0F5DB-34C1-96BC-EA66-A74B2C6A4A09}"/>
              </a:ext>
            </a:extLst>
          </p:cNvPr>
          <p:cNvSpPr/>
          <p:nvPr/>
        </p:nvSpPr>
        <p:spPr>
          <a:xfrm rot="6014148">
            <a:off x="6745908" y="2168297"/>
            <a:ext cx="1224387" cy="1436598"/>
          </a:xfrm>
          <a:prstGeom prst="arc">
            <a:avLst/>
          </a:prstGeom>
          <a:ln w="28575">
            <a:headEnd type="none" w="med" len="med"/>
            <a:tailEnd type="arrow"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dirty="0"/>
          </a:p>
        </p:txBody>
      </p:sp>
      <p:sp>
        <p:nvSpPr>
          <p:cNvPr id="15" name="TextBox 14">
            <a:extLst>
              <a:ext uri="{FF2B5EF4-FFF2-40B4-BE49-F238E27FC236}">
                <a16:creationId xmlns:a16="http://schemas.microsoft.com/office/drawing/2014/main" id="{155A1DDC-101D-A345-8FB1-86B92D5CDD05}"/>
              </a:ext>
            </a:extLst>
          </p:cNvPr>
          <p:cNvSpPr txBox="1"/>
          <p:nvPr/>
        </p:nvSpPr>
        <p:spPr>
          <a:xfrm>
            <a:off x="2666894" y="1542869"/>
            <a:ext cx="1795684" cy="307777"/>
          </a:xfrm>
          <a:prstGeom prst="rect">
            <a:avLst/>
          </a:prstGeom>
          <a:noFill/>
        </p:spPr>
        <p:txBody>
          <a:bodyPr wrap="none" rtlCol="0">
            <a:spAutoFit/>
          </a:bodyPr>
          <a:lstStyle/>
          <a:p>
            <a:pPr algn="ctr"/>
            <a:r>
              <a:rPr lang="en-US" dirty="0"/>
              <a:t>Gene not expressed</a:t>
            </a:r>
          </a:p>
        </p:txBody>
      </p:sp>
      <p:sp>
        <p:nvSpPr>
          <p:cNvPr id="17" name="Arc 16">
            <a:extLst>
              <a:ext uri="{FF2B5EF4-FFF2-40B4-BE49-F238E27FC236}">
                <a16:creationId xmlns:a16="http://schemas.microsoft.com/office/drawing/2014/main" id="{D591A00C-0F0C-E365-DCDE-3F3F76F930E5}"/>
              </a:ext>
            </a:extLst>
          </p:cNvPr>
          <p:cNvSpPr/>
          <p:nvPr/>
        </p:nvSpPr>
        <p:spPr>
          <a:xfrm rot="1627442" flipV="1">
            <a:off x="2634084" y="-277150"/>
            <a:ext cx="4114186" cy="2053126"/>
          </a:xfrm>
          <a:prstGeom prst="arc">
            <a:avLst>
              <a:gd name="adj1" fmla="val 16982591"/>
              <a:gd name="adj2" fmla="val 20007443"/>
            </a:avLst>
          </a:prstGeom>
          <a:ln w="28575">
            <a:headEnd type="none" w="med" len="med"/>
            <a:tailEnd type="arrow"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dirty="0"/>
          </a:p>
        </p:txBody>
      </p:sp>
      <p:sp>
        <p:nvSpPr>
          <p:cNvPr id="18" name="Arc 17">
            <a:extLst>
              <a:ext uri="{FF2B5EF4-FFF2-40B4-BE49-F238E27FC236}">
                <a16:creationId xmlns:a16="http://schemas.microsoft.com/office/drawing/2014/main" id="{8306933F-68F4-3A74-17E5-B28461CF3ED9}"/>
              </a:ext>
            </a:extLst>
          </p:cNvPr>
          <p:cNvSpPr/>
          <p:nvPr/>
        </p:nvSpPr>
        <p:spPr>
          <a:xfrm rot="17452665" flipH="1" flipV="1">
            <a:off x="233488" y="887097"/>
            <a:ext cx="4114186" cy="2053126"/>
          </a:xfrm>
          <a:prstGeom prst="arc">
            <a:avLst>
              <a:gd name="adj1" fmla="val 14613849"/>
              <a:gd name="adj2" fmla="val 19154949"/>
            </a:avLst>
          </a:prstGeom>
          <a:ln w="28575">
            <a:headEnd type="none" w="med" len="med"/>
            <a:tailEnd type="arrow"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dirty="0"/>
          </a:p>
        </p:txBody>
      </p:sp>
    </p:spTree>
    <p:extLst>
      <p:ext uri="{BB962C8B-B14F-4D97-AF65-F5344CB8AC3E}">
        <p14:creationId xmlns:p14="http://schemas.microsoft.com/office/powerpoint/2010/main" val="13339845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500"/>
                                        <p:tgtEl>
                                          <p:spTgt spid="1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8"/>
                                        </p:tgtEl>
                                        <p:attrNameLst>
                                          <p:attrName>style.visibility</p:attrName>
                                        </p:attrNameLst>
                                      </p:cBhvr>
                                      <p:to>
                                        <p:strVal val="visible"/>
                                      </p:to>
                                    </p:set>
                                    <p:animEffect transition="in" filter="fade">
                                      <p:cBhvr>
                                        <p:cTn id="10" dur="500"/>
                                        <p:tgtEl>
                                          <p:spTgt spid="1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fade">
                                      <p:cBhvr>
                                        <p:cTn id="13" dur="500"/>
                                        <p:tgtEl>
                                          <p:spTgt spid="1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5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500"/>
                                        <p:tgtEl>
                                          <p:spTgt spid="12"/>
                                        </p:tgtEl>
                                      </p:cBhvr>
                                    </p:animEffect>
                                  </p:childTnLst>
                                </p:cTn>
                              </p:par>
                              <p:par>
                                <p:cTn id="20" presetID="10" presetClass="exit" presetSubtype="0" fill="hold" grpId="0" nodeType="withEffect">
                                  <p:stCondLst>
                                    <p:cond delay="0"/>
                                  </p:stCondLst>
                                  <p:childTnLst>
                                    <p:animEffect transition="out" filter="fade">
                                      <p:cBhvr>
                                        <p:cTn id="21" dur="500"/>
                                        <p:tgtEl>
                                          <p:spTgt spid="14"/>
                                        </p:tgtEl>
                                      </p:cBhvr>
                                    </p:animEffect>
                                    <p:set>
                                      <p:cBhvr>
                                        <p:cTn id="22" dur="1" fill="hold">
                                          <p:stCondLst>
                                            <p:cond delay="499"/>
                                          </p:stCondLst>
                                        </p:cTn>
                                        <p:tgtEl>
                                          <p:spTgt spid="14"/>
                                        </p:tgtEl>
                                        <p:attrNameLst>
                                          <p:attrName>style.visibility</p:attrName>
                                        </p:attrNameLst>
                                      </p:cBhvr>
                                      <p:to>
                                        <p:strVal val="hidden"/>
                                      </p:to>
                                    </p:set>
                                  </p:childTnLst>
                                </p:cTn>
                              </p:par>
                              <p:par>
                                <p:cTn id="23" presetID="10" presetClass="exit" presetSubtype="0" fill="hold" grpId="0" nodeType="withEffect">
                                  <p:stCondLst>
                                    <p:cond delay="0"/>
                                  </p:stCondLst>
                                  <p:childTnLst>
                                    <p:animEffect transition="out" filter="fade">
                                      <p:cBhvr>
                                        <p:cTn id="24" dur="500"/>
                                        <p:tgtEl>
                                          <p:spTgt spid="10"/>
                                        </p:tgtEl>
                                      </p:cBhvr>
                                    </p:animEffect>
                                    <p:set>
                                      <p:cBhvr>
                                        <p:cTn id="25" dur="1" fill="hold">
                                          <p:stCondLst>
                                            <p:cond delay="499"/>
                                          </p:stCondLst>
                                        </p:cTn>
                                        <p:tgtEl>
                                          <p:spTgt spid="10"/>
                                        </p:tgtEl>
                                        <p:attrNameLst>
                                          <p:attrName>style.visibility</p:attrName>
                                        </p:attrNameLst>
                                      </p:cBhvr>
                                      <p:to>
                                        <p:strVal val="hidden"/>
                                      </p:to>
                                    </p:set>
                                  </p:childTnLst>
                                </p:cTn>
                              </p:par>
                              <p:par>
                                <p:cTn id="26" presetID="10" presetClass="exit" presetSubtype="0" fill="hold" grpId="0" nodeType="withEffect">
                                  <p:stCondLst>
                                    <p:cond delay="0"/>
                                  </p:stCondLst>
                                  <p:childTnLst>
                                    <p:animEffect transition="out" filter="fade">
                                      <p:cBhvr>
                                        <p:cTn id="27" dur="500"/>
                                        <p:tgtEl>
                                          <p:spTgt spid="9"/>
                                        </p:tgtEl>
                                      </p:cBhvr>
                                    </p:animEffect>
                                    <p:set>
                                      <p:cBhvr>
                                        <p:cTn id="28" dur="1" fill="hold">
                                          <p:stCondLst>
                                            <p:cond delay="499"/>
                                          </p:stCondLst>
                                        </p:cTn>
                                        <p:tgtEl>
                                          <p:spTgt spid="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4" grpId="0" animBg="1"/>
      <p:bldP spid="8" grpId="0"/>
      <p:bldP spid="12" grpId="0" animBg="1"/>
      <p:bldP spid="15" grpId="0"/>
      <p:bldP spid="17" grpId="0" animBg="1"/>
      <p:bldP spid="18" grpId="0" animBg="1"/>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42BE87-A4CC-408D-13E7-4DA49B0712E9}"/>
            </a:ext>
          </a:extLst>
        </p:cNvPr>
        <p:cNvGrpSpPr/>
        <p:nvPr/>
      </p:nvGrpSpPr>
      <p:grpSpPr>
        <a:xfrm>
          <a:off x="0" y="0"/>
          <a:ext cx="0" cy="0"/>
          <a:chOff x="0" y="0"/>
          <a:chExt cx="0" cy="0"/>
        </a:xfrm>
      </p:grpSpPr>
      <p:cxnSp>
        <p:nvCxnSpPr>
          <p:cNvPr id="44" name="Straight Connector 43">
            <a:extLst>
              <a:ext uri="{FF2B5EF4-FFF2-40B4-BE49-F238E27FC236}">
                <a16:creationId xmlns:a16="http://schemas.microsoft.com/office/drawing/2014/main" id="{1E9F1D15-5A54-4872-B95B-47FF797F02E6}"/>
              </a:ext>
            </a:extLst>
          </p:cNvPr>
          <p:cNvCxnSpPr>
            <a:cxnSpLocks/>
          </p:cNvCxnSpPr>
          <p:nvPr/>
        </p:nvCxnSpPr>
        <p:spPr>
          <a:xfrm>
            <a:off x="1653303" y="2766744"/>
            <a:ext cx="2707147" cy="1273422"/>
          </a:xfrm>
          <a:prstGeom prst="line">
            <a:avLst/>
          </a:prstGeom>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E622A69E-3F0A-A28D-45E9-E782B3A0B908}"/>
              </a:ext>
            </a:extLst>
          </p:cNvPr>
          <p:cNvCxnSpPr/>
          <p:nvPr/>
        </p:nvCxnSpPr>
        <p:spPr>
          <a:xfrm flipV="1">
            <a:off x="1730782" y="2232281"/>
            <a:ext cx="2754217" cy="63356"/>
          </a:xfrm>
          <a:prstGeom prst="line">
            <a:avLst/>
          </a:prstGeom>
        </p:spPr>
        <p:style>
          <a:lnRef idx="1">
            <a:schemeClr val="accent1"/>
          </a:lnRef>
          <a:fillRef idx="0">
            <a:schemeClr val="accent1"/>
          </a:fillRef>
          <a:effectRef idx="0">
            <a:schemeClr val="accent1"/>
          </a:effectRef>
          <a:fontRef idx="minor">
            <a:schemeClr val="tx1"/>
          </a:fontRef>
        </p:style>
      </p:cxnSp>
      <p:sp>
        <p:nvSpPr>
          <p:cNvPr id="16" name="Title 1">
            <a:extLst>
              <a:ext uri="{FF2B5EF4-FFF2-40B4-BE49-F238E27FC236}">
                <a16:creationId xmlns:a16="http://schemas.microsoft.com/office/drawing/2014/main" id="{89E22EB0-1748-03C1-BCC0-58842FABFAEA}"/>
              </a:ext>
            </a:extLst>
          </p:cNvPr>
          <p:cNvSpPr>
            <a:spLocks noGrp="1"/>
          </p:cNvSpPr>
          <p:nvPr>
            <p:ph type="title"/>
          </p:nvPr>
        </p:nvSpPr>
        <p:spPr>
          <a:xfrm>
            <a:off x="719999" y="523239"/>
            <a:ext cx="7704000" cy="572700"/>
          </a:xfrm>
        </p:spPr>
        <p:txBody>
          <a:bodyPr/>
          <a:lstStyle/>
          <a:p>
            <a:pPr algn="ctr"/>
            <a:r>
              <a:rPr lang="en-US" sz="2000" dirty="0"/>
              <a:t>Previous generative models of enhancers use massively parallel reporter assays (MPRAs) to label sequences</a:t>
            </a:r>
          </a:p>
        </p:txBody>
      </p:sp>
      <p:sp>
        <p:nvSpPr>
          <p:cNvPr id="3" name="Oval 2">
            <a:extLst>
              <a:ext uri="{FF2B5EF4-FFF2-40B4-BE49-F238E27FC236}">
                <a16:creationId xmlns:a16="http://schemas.microsoft.com/office/drawing/2014/main" id="{23C1E44D-C8C9-B558-D4F2-6EC177B6D476}"/>
              </a:ext>
            </a:extLst>
          </p:cNvPr>
          <p:cNvSpPr/>
          <p:nvPr/>
        </p:nvSpPr>
        <p:spPr>
          <a:xfrm>
            <a:off x="963728" y="2034381"/>
            <a:ext cx="457200" cy="457200"/>
          </a:xfrm>
          <a:prstGeom prst="ellipse">
            <a:avLst/>
          </a:prstGeom>
          <a:noFill/>
          <a:ln w="381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Arc 3">
            <a:extLst>
              <a:ext uri="{FF2B5EF4-FFF2-40B4-BE49-F238E27FC236}">
                <a16:creationId xmlns:a16="http://schemas.microsoft.com/office/drawing/2014/main" id="{D62F10C7-E1B6-2C3D-A028-81997E3E1A3F}"/>
              </a:ext>
            </a:extLst>
          </p:cNvPr>
          <p:cNvSpPr/>
          <p:nvPr/>
        </p:nvSpPr>
        <p:spPr>
          <a:xfrm rot="19487382">
            <a:off x="963728" y="2024569"/>
            <a:ext cx="457200" cy="457200"/>
          </a:xfrm>
          <a:prstGeom prst="arc">
            <a:avLst>
              <a:gd name="adj1" fmla="val 14513924"/>
              <a:gd name="adj2" fmla="val 631815"/>
            </a:avLst>
          </a:prstGeom>
          <a:ln w="57150">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 name="Arc 4">
            <a:extLst>
              <a:ext uri="{FF2B5EF4-FFF2-40B4-BE49-F238E27FC236}">
                <a16:creationId xmlns:a16="http://schemas.microsoft.com/office/drawing/2014/main" id="{2F78B60A-C15B-487F-B1B2-AB419F360D16}"/>
              </a:ext>
            </a:extLst>
          </p:cNvPr>
          <p:cNvSpPr/>
          <p:nvPr/>
        </p:nvSpPr>
        <p:spPr>
          <a:xfrm rot="19487382">
            <a:off x="963729" y="2024569"/>
            <a:ext cx="457200" cy="457200"/>
          </a:xfrm>
          <a:prstGeom prst="arc">
            <a:avLst>
              <a:gd name="adj1" fmla="val 12781519"/>
              <a:gd name="adj2" fmla="val 14571822"/>
            </a:avLst>
          </a:prstGeom>
          <a:ln w="57150">
            <a:solidFill>
              <a:srgbClr val="FFFF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6" name="Arc 5">
            <a:extLst>
              <a:ext uri="{FF2B5EF4-FFF2-40B4-BE49-F238E27FC236}">
                <a16:creationId xmlns:a16="http://schemas.microsoft.com/office/drawing/2014/main" id="{51F3EF0C-8D21-FF59-6633-659F8597C227}"/>
              </a:ext>
            </a:extLst>
          </p:cNvPr>
          <p:cNvSpPr/>
          <p:nvPr/>
        </p:nvSpPr>
        <p:spPr>
          <a:xfrm rot="15611557">
            <a:off x="963728" y="2028462"/>
            <a:ext cx="457200" cy="457200"/>
          </a:xfrm>
          <a:prstGeom prst="arc">
            <a:avLst>
              <a:gd name="adj1" fmla="val 10392918"/>
              <a:gd name="adj2" fmla="val 14571822"/>
            </a:avLst>
          </a:prstGeom>
          <a:ln w="571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0" name="Oval 9">
            <a:extLst>
              <a:ext uri="{FF2B5EF4-FFF2-40B4-BE49-F238E27FC236}">
                <a16:creationId xmlns:a16="http://schemas.microsoft.com/office/drawing/2014/main" id="{E2044A15-1850-7E9C-7C29-FDF18C78B3D3}"/>
              </a:ext>
            </a:extLst>
          </p:cNvPr>
          <p:cNvSpPr/>
          <p:nvPr/>
        </p:nvSpPr>
        <p:spPr>
          <a:xfrm>
            <a:off x="1053710" y="2719724"/>
            <a:ext cx="457200" cy="457200"/>
          </a:xfrm>
          <a:prstGeom prst="ellipse">
            <a:avLst/>
          </a:prstGeom>
          <a:noFill/>
          <a:ln w="381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Arc 10">
            <a:extLst>
              <a:ext uri="{FF2B5EF4-FFF2-40B4-BE49-F238E27FC236}">
                <a16:creationId xmlns:a16="http://schemas.microsoft.com/office/drawing/2014/main" id="{1707C075-3931-540E-94A5-E5374D2DDF24}"/>
              </a:ext>
            </a:extLst>
          </p:cNvPr>
          <p:cNvSpPr/>
          <p:nvPr/>
        </p:nvSpPr>
        <p:spPr>
          <a:xfrm rot="19487382">
            <a:off x="1053710" y="2709912"/>
            <a:ext cx="457200" cy="457200"/>
          </a:xfrm>
          <a:prstGeom prst="arc">
            <a:avLst>
              <a:gd name="adj1" fmla="val 14513924"/>
              <a:gd name="adj2" fmla="val 631815"/>
            </a:avLst>
          </a:prstGeom>
          <a:ln w="57150">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2" name="Arc 11">
            <a:extLst>
              <a:ext uri="{FF2B5EF4-FFF2-40B4-BE49-F238E27FC236}">
                <a16:creationId xmlns:a16="http://schemas.microsoft.com/office/drawing/2014/main" id="{04D6823A-6FF0-C6AC-EF07-B5714BA70939}"/>
              </a:ext>
            </a:extLst>
          </p:cNvPr>
          <p:cNvSpPr/>
          <p:nvPr/>
        </p:nvSpPr>
        <p:spPr>
          <a:xfrm rot="19487382">
            <a:off x="1053711" y="2709912"/>
            <a:ext cx="457200" cy="457200"/>
          </a:xfrm>
          <a:prstGeom prst="arc">
            <a:avLst>
              <a:gd name="adj1" fmla="val 12781519"/>
              <a:gd name="adj2" fmla="val 14571822"/>
            </a:avLst>
          </a:prstGeom>
          <a:ln w="57150">
            <a:solidFill>
              <a:srgbClr val="FFFF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3" name="Arc 12">
            <a:extLst>
              <a:ext uri="{FF2B5EF4-FFF2-40B4-BE49-F238E27FC236}">
                <a16:creationId xmlns:a16="http://schemas.microsoft.com/office/drawing/2014/main" id="{3F6576A5-A653-7E8F-FABA-E823AB518CF5}"/>
              </a:ext>
            </a:extLst>
          </p:cNvPr>
          <p:cNvSpPr/>
          <p:nvPr/>
        </p:nvSpPr>
        <p:spPr>
          <a:xfrm rot="15611557">
            <a:off x="1053710" y="2718885"/>
            <a:ext cx="457200" cy="457200"/>
          </a:xfrm>
          <a:prstGeom prst="arc">
            <a:avLst>
              <a:gd name="adj1" fmla="val 10392918"/>
              <a:gd name="adj2" fmla="val 14571822"/>
            </a:avLst>
          </a:prstGeom>
          <a:ln w="571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4" name="Oval 13">
            <a:extLst>
              <a:ext uri="{FF2B5EF4-FFF2-40B4-BE49-F238E27FC236}">
                <a16:creationId xmlns:a16="http://schemas.microsoft.com/office/drawing/2014/main" id="{846372BB-2455-D65F-703A-5A297473F9A7}"/>
              </a:ext>
            </a:extLst>
          </p:cNvPr>
          <p:cNvSpPr/>
          <p:nvPr/>
        </p:nvSpPr>
        <p:spPr>
          <a:xfrm>
            <a:off x="1492126" y="2311160"/>
            <a:ext cx="457200" cy="457200"/>
          </a:xfrm>
          <a:prstGeom prst="ellipse">
            <a:avLst/>
          </a:prstGeom>
          <a:noFill/>
          <a:ln w="381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Arc 14">
            <a:extLst>
              <a:ext uri="{FF2B5EF4-FFF2-40B4-BE49-F238E27FC236}">
                <a16:creationId xmlns:a16="http://schemas.microsoft.com/office/drawing/2014/main" id="{55804545-9F1C-183A-AA7F-E0B70F1B8B6A}"/>
              </a:ext>
            </a:extLst>
          </p:cNvPr>
          <p:cNvSpPr/>
          <p:nvPr/>
        </p:nvSpPr>
        <p:spPr>
          <a:xfrm rot="19487382">
            <a:off x="1492126" y="2301348"/>
            <a:ext cx="457200" cy="457200"/>
          </a:xfrm>
          <a:prstGeom prst="arc">
            <a:avLst>
              <a:gd name="adj1" fmla="val 14513924"/>
              <a:gd name="adj2" fmla="val 631815"/>
            </a:avLst>
          </a:prstGeom>
          <a:ln w="57150">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7" name="Arc 16">
            <a:extLst>
              <a:ext uri="{FF2B5EF4-FFF2-40B4-BE49-F238E27FC236}">
                <a16:creationId xmlns:a16="http://schemas.microsoft.com/office/drawing/2014/main" id="{E79B441B-13D2-1CC5-56FF-AB9BE107FB9F}"/>
              </a:ext>
            </a:extLst>
          </p:cNvPr>
          <p:cNvSpPr/>
          <p:nvPr/>
        </p:nvSpPr>
        <p:spPr>
          <a:xfrm rot="19487382">
            <a:off x="1492127" y="2301348"/>
            <a:ext cx="457200" cy="457200"/>
          </a:xfrm>
          <a:prstGeom prst="arc">
            <a:avLst>
              <a:gd name="adj1" fmla="val 12781519"/>
              <a:gd name="adj2" fmla="val 14571822"/>
            </a:avLst>
          </a:prstGeom>
          <a:ln w="57150">
            <a:solidFill>
              <a:srgbClr val="FFFF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8" name="Arc 17">
            <a:extLst>
              <a:ext uri="{FF2B5EF4-FFF2-40B4-BE49-F238E27FC236}">
                <a16:creationId xmlns:a16="http://schemas.microsoft.com/office/drawing/2014/main" id="{3094ACFB-100B-433C-034B-4D1145866A97}"/>
              </a:ext>
            </a:extLst>
          </p:cNvPr>
          <p:cNvSpPr/>
          <p:nvPr/>
        </p:nvSpPr>
        <p:spPr>
          <a:xfrm rot="15611557">
            <a:off x="1492126" y="2310321"/>
            <a:ext cx="457200" cy="457200"/>
          </a:xfrm>
          <a:prstGeom prst="arc">
            <a:avLst>
              <a:gd name="adj1" fmla="val 10392918"/>
              <a:gd name="adj2" fmla="val 14571822"/>
            </a:avLst>
          </a:prstGeom>
          <a:ln w="571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8" name="Oval 27">
            <a:extLst>
              <a:ext uri="{FF2B5EF4-FFF2-40B4-BE49-F238E27FC236}">
                <a16:creationId xmlns:a16="http://schemas.microsoft.com/office/drawing/2014/main" id="{7B100BBB-BA56-8602-1330-69555518265D}"/>
              </a:ext>
            </a:extLst>
          </p:cNvPr>
          <p:cNvSpPr/>
          <p:nvPr/>
        </p:nvSpPr>
        <p:spPr>
          <a:xfrm>
            <a:off x="3657599" y="2211366"/>
            <a:ext cx="1828800" cy="1828800"/>
          </a:xfrm>
          <a:prstGeom prst="ellipse">
            <a:avLst/>
          </a:prstGeom>
          <a:noFill/>
          <a:ln w="762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Arc 28">
            <a:extLst>
              <a:ext uri="{FF2B5EF4-FFF2-40B4-BE49-F238E27FC236}">
                <a16:creationId xmlns:a16="http://schemas.microsoft.com/office/drawing/2014/main" id="{4BF5F123-2D2D-3589-86D3-F2A05036C1E7}"/>
              </a:ext>
            </a:extLst>
          </p:cNvPr>
          <p:cNvSpPr/>
          <p:nvPr/>
        </p:nvSpPr>
        <p:spPr>
          <a:xfrm rot="19487382">
            <a:off x="3657599" y="2209541"/>
            <a:ext cx="1828800" cy="1828800"/>
          </a:xfrm>
          <a:prstGeom prst="arc">
            <a:avLst>
              <a:gd name="adj1" fmla="val 14513924"/>
              <a:gd name="adj2" fmla="val 631815"/>
            </a:avLst>
          </a:prstGeom>
          <a:ln w="101600">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0" name="Arc 29">
            <a:extLst>
              <a:ext uri="{FF2B5EF4-FFF2-40B4-BE49-F238E27FC236}">
                <a16:creationId xmlns:a16="http://schemas.microsoft.com/office/drawing/2014/main" id="{5E99F9FF-E4BC-040F-CC1F-D092713622DF}"/>
              </a:ext>
            </a:extLst>
          </p:cNvPr>
          <p:cNvSpPr/>
          <p:nvPr/>
        </p:nvSpPr>
        <p:spPr>
          <a:xfrm rot="19487382">
            <a:off x="3657598" y="2209542"/>
            <a:ext cx="1828800" cy="1828800"/>
          </a:xfrm>
          <a:prstGeom prst="arc">
            <a:avLst>
              <a:gd name="adj1" fmla="val 12781519"/>
              <a:gd name="adj2" fmla="val 14571822"/>
            </a:avLst>
          </a:prstGeom>
          <a:ln w="101600">
            <a:solidFill>
              <a:srgbClr val="FFFF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1" name="Arc 30">
            <a:extLst>
              <a:ext uri="{FF2B5EF4-FFF2-40B4-BE49-F238E27FC236}">
                <a16:creationId xmlns:a16="http://schemas.microsoft.com/office/drawing/2014/main" id="{A67B089F-E372-E61D-4CE7-5106F1DE7B34}"/>
              </a:ext>
            </a:extLst>
          </p:cNvPr>
          <p:cNvSpPr/>
          <p:nvPr/>
        </p:nvSpPr>
        <p:spPr>
          <a:xfrm rot="15611557">
            <a:off x="3657598" y="2209541"/>
            <a:ext cx="1828800" cy="1828800"/>
          </a:xfrm>
          <a:prstGeom prst="arc">
            <a:avLst>
              <a:gd name="adj1" fmla="val 10392918"/>
              <a:gd name="adj2" fmla="val 14571822"/>
            </a:avLst>
          </a:prstGeom>
          <a:ln w="10160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2" name="TextBox 31">
            <a:extLst>
              <a:ext uri="{FF2B5EF4-FFF2-40B4-BE49-F238E27FC236}">
                <a16:creationId xmlns:a16="http://schemas.microsoft.com/office/drawing/2014/main" id="{B4F2AE1F-EA1C-8580-1186-0CD4D1A612FB}"/>
              </a:ext>
            </a:extLst>
          </p:cNvPr>
          <p:cNvSpPr txBox="1"/>
          <p:nvPr/>
        </p:nvSpPr>
        <p:spPr>
          <a:xfrm>
            <a:off x="1049284" y="3440737"/>
            <a:ext cx="872355" cy="523220"/>
          </a:xfrm>
          <a:prstGeom prst="rect">
            <a:avLst/>
          </a:prstGeom>
          <a:noFill/>
        </p:spPr>
        <p:txBody>
          <a:bodyPr wrap="none" rtlCol="0">
            <a:spAutoFit/>
          </a:bodyPr>
          <a:lstStyle/>
          <a:p>
            <a:pPr algn="ctr"/>
            <a:r>
              <a:rPr lang="en-US" dirty="0"/>
              <a:t>Plasmid </a:t>
            </a:r>
            <a:br>
              <a:rPr lang="en-US" dirty="0"/>
            </a:br>
            <a:r>
              <a:rPr lang="en-US" dirty="0"/>
              <a:t>Library</a:t>
            </a:r>
          </a:p>
        </p:txBody>
      </p:sp>
      <p:sp>
        <p:nvSpPr>
          <p:cNvPr id="33" name="Arc 32">
            <a:extLst>
              <a:ext uri="{FF2B5EF4-FFF2-40B4-BE49-F238E27FC236}">
                <a16:creationId xmlns:a16="http://schemas.microsoft.com/office/drawing/2014/main" id="{D7D11302-C3B1-4599-605D-F7DCEAA9958A}"/>
              </a:ext>
            </a:extLst>
          </p:cNvPr>
          <p:cNvSpPr/>
          <p:nvPr/>
        </p:nvSpPr>
        <p:spPr>
          <a:xfrm rot="15758980">
            <a:off x="1099539" y="2770630"/>
            <a:ext cx="365760" cy="365760"/>
          </a:xfrm>
          <a:prstGeom prst="arc">
            <a:avLst>
              <a:gd name="adj1" fmla="val 10208053"/>
              <a:gd name="adj2" fmla="val 14571822"/>
            </a:avLst>
          </a:prstGeom>
          <a:ln w="57150">
            <a:solidFill>
              <a:srgbClr val="46B0A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3" name="Arc 22">
            <a:extLst>
              <a:ext uri="{FF2B5EF4-FFF2-40B4-BE49-F238E27FC236}">
                <a16:creationId xmlns:a16="http://schemas.microsoft.com/office/drawing/2014/main" id="{098F61CA-41AE-3AE2-0FA8-C3AE6EE6A907}"/>
              </a:ext>
            </a:extLst>
          </p:cNvPr>
          <p:cNvSpPr/>
          <p:nvPr/>
        </p:nvSpPr>
        <p:spPr>
          <a:xfrm rot="15758980">
            <a:off x="1537957" y="2365365"/>
            <a:ext cx="365760" cy="365760"/>
          </a:xfrm>
          <a:prstGeom prst="arc">
            <a:avLst>
              <a:gd name="adj1" fmla="val 10208053"/>
              <a:gd name="adj2" fmla="val 14571822"/>
            </a:avLst>
          </a:prstGeom>
          <a:ln w="57150">
            <a:solidFill>
              <a:srgbClr val="E0CDE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2" name="Arc 21">
            <a:extLst>
              <a:ext uri="{FF2B5EF4-FFF2-40B4-BE49-F238E27FC236}">
                <a16:creationId xmlns:a16="http://schemas.microsoft.com/office/drawing/2014/main" id="{5F485FEB-D62C-E662-6F94-78606FFF0B4D}"/>
              </a:ext>
            </a:extLst>
          </p:cNvPr>
          <p:cNvSpPr/>
          <p:nvPr/>
        </p:nvSpPr>
        <p:spPr>
          <a:xfrm rot="15758980">
            <a:off x="1009526" y="2087079"/>
            <a:ext cx="365760" cy="365760"/>
          </a:xfrm>
          <a:prstGeom prst="arc">
            <a:avLst>
              <a:gd name="adj1" fmla="val 10208053"/>
              <a:gd name="adj2" fmla="val 14571822"/>
            </a:avLst>
          </a:prstGeom>
          <a:ln w="57150">
            <a:solidFill>
              <a:srgbClr val="7030A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5" name="Arc 34">
            <a:extLst>
              <a:ext uri="{FF2B5EF4-FFF2-40B4-BE49-F238E27FC236}">
                <a16:creationId xmlns:a16="http://schemas.microsoft.com/office/drawing/2014/main" id="{7EA19395-CEB8-A8C6-A815-5EAE1E0504BE}"/>
              </a:ext>
            </a:extLst>
          </p:cNvPr>
          <p:cNvSpPr/>
          <p:nvPr/>
        </p:nvSpPr>
        <p:spPr>
          <a:xfrm rot="15758980">
            <a:off x="3756122" y="2335325"/>
            <a:ext cx="1645920" cy="1645920"/>
          </a:xfrm>
          <a:prstGeom prst="arc">
            <a:avLst>
              <a:gd name="adj1" fmla="val 10208053"/>
              <a:gd name="adj2" fmla="val 14571822"/>
            </a:avLst>
          </a:prstGeom>
          <a:ln w="101600">
            <a:solidFill>
              <a:srgbClr val="E0CDE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6" name="Arc 35">
            <a:extLst>
              <a:ext uri="{FF2B5EF4-FFF2-40B4-BE49-F238E27FC236}">
                <a16:creationId xmlns:a16="http://schemas.microsoft.com/office/drawing/2014/main" id="{684844FA-6163-5689-48DD-768EA65B68AA}"/>
              </a:ext>
            </a:extLst>
          </p:cNvPr>
          <p:cNvSpPr/>
          <p:nvPr/>
        </p:nvSpPr>
        <p:spPr>
          <a:xfrm rot="2310732" flipH="1">
            <a:off x="3658332" y="2206366"/>
            <a:ext cx="1828800" cy="1828800"/>
          </a:xfrm>
          <a:prstGeom prst="arc">
            <a:avLst>
              <a:gd name="adj1" fmla="val 13694087"/>
              <a:gd name="adj2" fmla="val 14571822"/>
            </a:avLst>
          </a:prstGeom>
          <a:ln w="101600">
            <a:solidFill>
              <a:srgbClr val="00206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7" name="Arc 36">
            <a:extLst>
              <a:ext uri="{FF2B5EF4-FFF2-40B4-BE49-F238E27FC236}">
                <a16:creationId xmlns:a16="http://schemas.microsoft.com/office/drawing/2014/main" id="{CE0962BE-5F5E-0CB6-981E-A0549D3C226E}"/>
              </a:ext>
            </a:extLst>
          </p:cNvPr>
          <p:cNvSpPr/>
          <p:nvPr/>
        </p:nvSpPr>
        <p:spPr>
          <a:xfrm rot="7206464">
            <a:off x="1498278" y="2310041"/>
            <a:ext cx="457200" cy="457200"/>
          </a:xfrm>
          <a:prstGeom prst="arc">
            <a:avLst>
              <a:gd name="adj1" fmla="val 12781519"/>
              <a:gd name="adj2" fmla="val 13776796"/>
            </a:avLst>
          </a:prstGeom>
          <a:ln w="57150">
            <a:solidFill>
              <a:srgbClr val="00206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8" name="Arc 37">
            <a:extLst>
              <a:ext uri="{FF2B5EF4-FFF2-40B4-BE49-F238E27FC236}">
                <a16:creationId xmlns:a16="http://schemas.microsoft.com/office/drawing/2014/main" id="{C9B4CF9F-9EDE-BCF6-C8B4-6668927891C1}"/>
              </a:ext>
            </a:extLst>
          </p:cNvPr>
          <p:cNvSpPr/>
          <p:nvPr/>
        </p:nvSpPr>
        <p:spPr>
          <a:xfrm rot="7206464">
            <a:off x="963063" y="2033254"/>
            <a:ext cx="457200" cy="457200"/>
          </a:xfrm>
          <a:prstGeom prst="arc">
            <a:avLst>
              <a:gd name="adj1" fmla="val 12781519"/>
              <a:gd name="adj2" fmla="val 13776796"/>
            </a:avLst>
          </a:prstGeom>
          <a:ln w="57150">
            <a:solidFill>
              <a:srgbClr val="00206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9" name="Arc 38">
            <a:extLst>
              <a:ext uri="{FF2B5EF4-FFF2-40B4-BE49-F238E27FC236}">
                <a16:creationId xmlns:a16="http://schemas.microsoft.com/office/drawing/2014/main" id="{D76306C9-2589-3317-DCE7-7C0225121C05}"/>
              </a:ext>
            </a:extLst>
          </p:cNvPr>
          <p:cNvSpPr/>
          <p:nvPr/>
        </p:nvSpPr>
        <p:spPr>
          <a:xfrm rot="7206464">
            <a:off x="1053710" y="2716063"/>
            <a:ext cx="457200" cy="457200"/>
          </a:xfrm>
          <a:prstGeom prst="arc">
            <a:avLst>
              <a:gd name="adj1" fmla="val 12781519"/>
              <a:gd name="adj2" fmla="val 13776796"/>
            </a:avLst>
          </a:prstGeom>
          <a:ln w="57150">
            <a:solidFill>
              <a:srgbClr val="00206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6" name="TextBox 45">
            <a:extLst>
              <a:ext uri="{FF2B5EF4-FFF2-40B4-BE49-F238E27FC236}">
                <a16:creationId xmlns:a16="http://schemas.microsoft.com/office/drawing/2014/main" id="{CDC5E015-84F3-A152-F968-C194435CAB33}"/>
              </a:ext>
            </a:extLst>
          </p:cNvPr>
          <p:cNvSpPr txBox="1"/>
          <p:nvPr/>
        </p:nvSpPr>
        <p:spPr>
          <a:xfrm>
            <a:off x="3164325" y="4269766"/>
            <a:ext cx="2311851" cy="523220"/>
          </a:xfrm>
          <a:prstGeom prst="rect">
            <a:avLst/>
          </a:prstGeom>
          <a:noFill/>
        </p:spPr>
        <p:txBody>
          <a:bodyPr wrap="none" rtlCol="0">
            <a:spAutoFit/>
          </a:bodyPr>
          <a:lstStyle/>
          <a:p>
            <a:pPr algn="ctr"/>
            <a:r>
              <a:rPr lang="en-US" dirty="0"/>
              <a:t>Enhancer sequence</a:t>
            </a:r>
            <a:br>
              <a:rPr lang="en-US" dirty="0"/>
            </a:br>
            <a:r>
              <a:rPr lang="en-US" dirty="0"/>
              <a:t>(different for each plasmid)</a:t>
            </a:r>
          </a:p>
        </p:txBody>
      </p:sp>
      <p:sp>
        <p:nvSpPr>
          <p:cNvPr id="47" name="TextBox 46">
            <a:extLst>
              <a:ext uri="{FF2B5EF4-FFF2-40B4-BE49-F238E27FC236}">
                <a16:creationId xmlns:a16="http://schemas.microsoft.com/office/drawing/2014/main" id="{8F39AD70-323F-EE4D-1904-CC6569E9B262}"/>
              </a:ext>
            </a:extLst>
          </p:cNvPr>
          <p:cNvSpPr txBox="1"/>
          <p:nvPr/>
        </p:nvSpPr>
        <p:spPr>
          <a:xfrm>
            <a:off x="4031165" y="1736983"/>
            <a:ext cx="1904689" cy="307777"/>
          </a:xfrm>
          <a:prstGeom prst="rect">
            <a:avLst/>
          </a:prstGeom>
          <a:noFill/>
        </p:spPr>
        <p:txBody>
          <a:bodyPr wrap="none" rtlCol="0">
            <a:spAutoFit/>
          </a:bodyPr>
          <a:lstStyle/>
          <a:p>
            <a:pPr algn="ctr"/>
            <a:r>
              <a:rPr lang="en-US" dirty="0"/>
              <a:t>Reporter Gene (GFP)</a:t>
            </a:r>
          </a:p>
        </p:txBody>
      </p:sp>
      <p:sp>
        <p:nvSpPr>
          <p:cNvPr id="48" name="TextBox 47">
            <a:extLst>
              <a:ext uri="{FF2B5EF4-FFF2-40B4-BE49-F238E27FC236}">
                <a16:creationId xmlns:a16="http://schemas.microsoft.com/office/drawing/2014/main" id="{22E821BA-E713-5216-F84A-B07C113CF40C}"/>
              </a:ext>
            </a:extLst>
          </p:cNvPr>
          <p:cNvSpPr txBox="1"/>
          <p:nvPr/>
        </p:nvSpPr>
        <p:spPr>
          <a:xfrm>
            <a:off x="5711637" y="2624427"/>
            <a:ext cx="851516" cy="307777"/>
          </a:xfrm>
          <a:prstGeom prst="rect">
            <a:avLst/>
          </a:prstGeom>
          <a:noFill/>
        </p:spPr>
        <p:txBody>
          <a:bodyPr wrap="none" rtlCol="0">
            <a:spAutoFit/>
          </a:bodyPr>
          <a:lstStyle/>
          <a:p>
            <a:pPr algn="ctr"/>
            <a:r>
              <a:rPr lang="en-US" dirty="0"/>
              <a:t>Barcode</a:t>
            </a:r>
          </a:p>
        </p:txBody>
      </p:sp>
      <p:cxnSp>
        <p:nvCxnSpPr>
          <p:cNvPr id="50" name="Straight Arrow Connector 49">
            <a:extLst>
              <a:ext uri="{FF2B5EF4-FFF2-40B4-BE49-F238E27FC236}">
                <a16:creationId xmlns:a16="http://schemas.microsoft.com/office/drawing/2014/main" id="{8B1DBDE2-DB3C-07A0-C264-69BF5B0D8136}"/>
              </a:ext>
            </a:extLst>
          </p:cNvPr>
          <p:cNvCxnSpPr>
            <a:stCxn id="47" idx="2"/>
          </p:cNvCxnSpPr>
          <p:nvPr/>
        </p:nvCxnSpPr>
        <p:spPr>
          <a:xfrm flipH="1">
            <a:off x="4885981" y="2044760"/>
            <a:ext cx="97529" cy="11454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2" name="Straight Arrow Connector 51">
            <a:extLst>
              <a:ext uri="{FF2B5EF4-FFF2-40B4-BE49-F238E27FC236}">
                <a16:creationId xmlns:a16="http://schemas.microsoft.com/office/drawing/2014/main" id="{B725C045-CFFF-63EE-31F1-6992F00419B8}"/>
              </a:ext>
            </a:extLst>
          </p:cNvPr>
          <p:cNvCxnSpPr>
            <a:stCxn id="48" idx="1"/>
          </p:cNvCxnSpPr>
          <p:nvPr/>
        </p:nvCxnSpPr>
        <p:spPr>
          <a:xfrm flipH="1">
            <a:off x="5541484" y="2778316"/>
            <a:ext cx="170153" cy="2480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4" name="Straight Arrow Connector 53">
            <a:extLst>
              <a:ext uri="{FF2B5EF4-FFF2-40B4-BE49-F238E27FC236}">
                <a16:creationId xmlns:a16="http://schemas.microsoft.com/office/drawing/2014/main" id="{29F57EB0-660A-3A36-7CAE-9E593F1166DC}"/>
              </a:ext>
            </a:extLst>
          </p:cNvPr>
          <p:cNvCxnSpPr>
            <a:cxnSpLocks/>
          </p:cNvCxnSpPr>
          <p:nvPr/>
        </p:nvCxnSpPr>
        <p:spPr>
          <a:xfrm flipV="1">
            <a:off x="4280051" y="4083572"/>
            <a:ext cx="80397" cy="23947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0374169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FE26F8-59E1-3302-EE3B-8B7B343B731A}"/>
            </a:ext>
          </a:extLst>
        </p:cNvPr>
        <p:cNvGrpSpPr/>
        <p:nvPr/>
      </p:nvGrpSpPr>
      <p:grpSpPr>
        <a:xfrm>
          <a:off x="0" y="0"/>
          <a:ext cx="0" cy="0"/>
          <a:chOff x="0" y="0"/>
          <a:chExt cx="0" cy="0"/>
        </a:xfrm>
      </p:grpSpPr>
      <p:sp>
        <p:nvSpPr>
          <p:cNvPr id="16" name="Title 1">
            <a:extLst>
              <a:ext uri="{FF2B5EF4-FFF2-40B4-BE49-F238E27FC236}">
                <a16:creationId xmlns:a16="http://schemas.microsoft.com/office/drawing/2014/main" id="{B02F2242-4F4A-392B-6328-2205FBABD6E0}"/>
              </a:ext>
            </a:extLst>
          </p:cNvPr>
          <p:cNvSpPr>
            <a:spLocks noGrp="1"/>
          </p:cNvSpPr>
          <p:nvPr>
            <p:ph type="title"/>
          </p:nvPr>
        </p:nvSpPr>
        <p:spPr>
          <a:xfrm>
            <a:off x="719999" y="523239"/>
            <a:ext cx="7704000" cy="572700"/>
          </a:xfrm>
        </p:spPr>
        <p:txBody>
          <a:bodyPr/>
          <a:lstStyle/>
          <a:p>
            <a:pPr algn="ctr"/>
            <a:r>
              <a:rPr lang="en-US" sz="2000" dirty="0"/>
              <a:t>Previous generative models of enhancers use massively parallel reporter assays (MPRAs) to label sequences</a:t>
            </a:r>
          </a:p>
        </p:txBody>
      </p:sp>
      <p:sp>
        <p:nvSpPr>
          <p:cNvPr id="3" name="Oval 2">
            <a:extLst>
              <a:ext uri="{FF2B5EF4-FFF2-40B4-BE49-F238E27FC236}">
                <a16:creationId xmlns:a16="http://schemas.microsoft.com/office/drawing/2014/main" id="{0DA2BF19-F5AD-5B91-8DD3-67509DF4CA95}"/>
              </a:ext>
            </a:extLst>
          </p:cNvPr>
          <p:cNvSpPr/>
          <p:nvPr/>
        </p:nvSpPr>
        <p:spPr>
          <a:xfrm>
            <a:off x="738329" y="2262660"/>
            <a:ext cx="457200" cy="457200"/>
          </a:xfrm>
          <a:prstGeom prst="ellipse">
            <a:avLst/>
          </a:prstGeom>
          <a:noFill/>
          <a:ln w="381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Arc 3">
            <a:extLst>
              <a:ext uri="{FF2B5EF4-FFF2-40B4-BE49-F238E27FC236}">
                <a16:creationId xmlns:a16="http://schemas.microsoft.com/office/drawing/2014/main" id="{4E0B9F00-B4E8-0E59-9B80-D57863B6A01D}"/>
              </a:ext>
            </a:extLst>
          </p:cNvPr>
          <p:cNvSpPr/>
          <p:nvPr/>
        </p:nvSpPr>
        <p:spPr>
          <a:xfrm rot="19487382">
            <a:off x="738329" y="2252848"/>
            <a:ext cx="457200" cy="457200"/>
          </a:xfrm>
          <a:prstGeom prst="arc">
            <a:avLst>
              <a:gd name="adj1" fmla="val 14513924"/>
              <a:gd name="adj2" fmla="val 631815"/>
            </a:avLst>
          </a:prstGeom>
          <a:ln w="57150">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 name="Arc 4">
            <a:extLst>
              <a:ext uri="{FF2B5EF4-FFF2-40B4-BE49-F238E27FC236}">
                <a16:creationId xmlns:a16="http://schemas.microsoft.com/office/drawing/2014/main" id="{9FBC6AD2-FA18-7944-5246-A220DC7770CE}"/>
              </a:ext>
            </a:extLst>
          </p:cNvPr>
          <p:cNvSpPr/>
          <p:nvPr/>
        </p:nvSpPr>
        <p:spPr>
          <a:xfrm rot="19487382">
            <a:off x="738330" y="2252848"/>
            <a:ext cx="457200" cy="457200"/>
          </a:xfrm>
          <a:prstGeom prst="arc">
            <a:avLst>
              <a:gd name="adj1" fmla="val 12781519"/>
              <a:gd name="adj2" fmla="val 14571822"/>
            </a:avLst>
          </a:prstGeom>
          <a:ln w="57150">
            <a:solidFill>
              <a:srgbClr val="FFFF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6" name="Arc 5">
            <a:extLst>
              <a:ext uri="{FF2B5EF4-FFF2-40B4-BE49-F238E27FC236}">
                <a16:creationId xmlns:a16="http://schemas.microsoft.com/office/drawing/2014/main" id="{12E6344E-CDA3-B240-59A0-147D2C9CB452}"/>
              </a:ext>
            </a:extLst>
          </p:cNvPr>
          <p:cNvSpPr/>
          <p:nvPr/>
        </p:nvSpPr>
        <p:spPr>
          <a:xfrm rot="15611557">
            <a:off x="738329" y="2256741"/>
            <a:ext cx="457200" cy="457200"/>
          </a:xfrm>
          <a:prstGeom prst="arc">
            <a:avLst>
              <a:gd name="adj1" fmla="val 10392918"/>
              <a:gd name="adj2" fmla="val 14571822"/>
            </a:avLst>
          </a:prstGeom>
          <a:ln w="571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0" name="Oval 9">
            <a:extLst>
              <a:ext uri="{FF2B5EF4-FFF2-40B4-BE49-F238E27FC236}">
                <a16:creationId xmlns:a16="http://schemas.microsoft.com/office/drawing/2014/main" id="{26B461D2-2C24-B21B-F347-876C8A53D76C}"/>
              </a:ext>
            </a:extLst>
          </p:cNvPr>
          <p:cNvSpPr/>
          <p:nvPr/>
        </p:nvSpPr>
        <p:spPr>
          <a:xfrm>
            <a:off x="828311" y="2948003"/>
            <a:ext cx="457200" cy="457200"/>
          </a:xfrm>
          <a:prstGeom prst="ellipse">
            <a:avLst/>
          </a:prstGeom>
          <a:noFill/>
          <a:ln w="381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Arc 10">
            <a:extLst>
              <a:ext uri="{FF2B5EF4-FFF2-40B4-BE49-F238E27FC236}">
                <a16:creationId xmlns:a16="http://schemas.microsoft.com/office/drawing/2014/main" id="{C9DEF8BB-8CCD-9981-24BA-C0ADC56FF327}"/>
              </a:ext>
            </a:extLst>
          </p:cNvPr>
          <p:cNvSpPr/>
          <p:nvPr/>
        </p:nvSpPr>
        <p:spPr>
          <a:xfrm rot="19487382">
            <a:off x="828311" y="2938191"/>
            <a:ext cx="457200" cy="457200"/>
          </a:xfrm>
          <a:prstGeom prst="arc">
            <a:avLst>
              <a:gd name="adj1" fmla="val 14513924"/>
              <a:gd name="adj2" fmla="val 631815"/>
            </a:avLst>
          </a:prstGeom>
          <a:ln w="57150">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2" name="Arc 11">
            <a:extLst>
              <a:ext uri="{FF2B5EF4-FFF2-40B4-BE49-F238E27FC236}">
                <a16:creationId xmlns:a16="http://schemas.microsoft.com/office/drawing/2014/main" id="{9D87FFDA-7D41-BF38-3AD5-FA8E5600C804}"/>
              </a:ext>
            </a:extLst>
          </p:cNvPr>
          <p:cNvSpPr/>
          <p:nvPr/>
        </p:nvSpPr>
        <p:spPr>
          <a:xfrm rot="19487382">
            <a:off x="828312" y="2938191"/>
            <a:ext cx="457200" cy="457200"/>
          </a:xfrm>
          <a:prstGeom prst="arc">
            <a:avLst>
              <a:gd name="adj1" fmla="val 12781519"/>
              <a:gd name="adj2" fmla="val 14571822"/>
            </a:avLst>
          </a:prstGeom>
          <a:ln w="57150">
            <a:solidFill>
              <a:srgbClr val="FFFF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3" name="Arc 12">
            <a:extLst>
              <a:ext uri="{FF2B5EF4-FFF2-40B4-BE49-F238E27FC236}">
                <a16:creationId xmlns:a16="http://schemas.microsoft.com/office/drawing/2014/main" id="{42A23C2C-5451-8446-5B19-8B7CBAC8B9E8}"/>
              </a:ext>
            </a:extLst>
          </p:cNvPr>
          <p:cNvSpPr/>
          <p:nvPr/>
        </p:nvSpPr>
        <p:spPr>
          <a:xfrm rot="15611557">
            <a:off x="828311" y="2947164"/>
            <a:ext cx="457200" cy="457200"/>
          </a:xfrm>
          <a:prstGeom prst="arc">
            <a:avLst>
              <a:gd name="adj1" fmla="val 10392918"/>
              <a:gd name="adj2" fmla="val 14571822"/>
            </a:avLst>
          </a:prstGeom>
          <a:ln w="571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4" name="Oval 13">
            <a:extLst>
              <a:ext uri="{FF2B5EF4-FFF2-40B4-BE49-F238E27FC236}">
                <a16:creationId xmlns:a16="http://schemas.microsoft.com/office/drawing/2014/main" id="{BFB608D9-2EC7-A670-485A-C29AC084DA67}"/>
              </a:ext>
            </a:extLst>
          </p:cNvPr>
          <p:cNvSpPr/>
          <p:nvPr/>
        </p:nvSpPr>
        <p:spPr>
          <a:xfrm>
            <a:off x="1266727" y="2539439"/>
            <a:ext cx="457200" cy="457200"/>
          </a:xfrm>
          <a:prstGeom prst="ellipse">
            <a:avLst/>
          </a:prstGeom>
          <a:noFill/>
          <a:ln w="381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Arc 14">
            <a:extLst>
              <a:ext uri="{FF2B5EF4-FFF2-40B4-BE49-F238E27FC236}">
                <a16:creationId xmlns:a16="http://schemas.microsoft.com/office/drawing/2014/main" id="{381AE670-8C11-2763-5D48-7ECB565A295B}"/>
              </a:ext>
            </a:extLst>
          </p:cNvPr>
          <p:cNvSpPr/>
          <p:nvPr/>
        </p:nvSpPr>
        <p:spPr>
          <a:xfrm rot="19487382">
            <a:off x="1266727" y="2529627"/>
            <a:ext cx="457200" cy="457200"/>
          </a:xfrm>
          <a:prstGeom prst="arc">
            <a:avLst>
              <a:gd name="adj1" fmla="val 14513924"/>
              <a:gd name="adj2" fmla="val 631815"/>
            </a:avLst>
          </a:prstGeom>
          <a:ln w="57150">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7" name="Arc 16">
            <a:extLst>
              <a:ext uri="{FF2B5EF4-FFF2-40B4-BE49-F238E27FC236}">
                <a16:creationId xmlns:a16="http://schemas.microsoft.com/office/drawing/2014/main" id="{04190184-D9F1-D3A1-F5E2-9AD0D10741E9}"/>
              </a:ext>
            </a:extLst>
          </p:cNvPr>
          <p:cNvSpPr/>
          <p:nvPr/>
        </p:nvSpPr>
        <p:spPr>
          <a:xfrm rot="19487382">
            <a:off x="1266728" y="2529627"/>
            <a:ext cx="457200" cy="457200"/>
          </a:xfrm>
          <a:prstGeom prst="arc">
            <a:avLst>
              <a:gd name="adj1" fmla="val 12781519"/>
              <a:gd name="adj2" fmla="val 14571822"/>
            </a:avLst>
          </a:prstGeom>
          <a:ln w="57150">
            <a:solidFill>
              <a:srgbClr val="FFFF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8" name="Arc 17">
            <a:extLst>
              <a:ext uri="{FF2B5EF4-FFF2-40B4-BE49-F238E27FC236}">
                <a16:creationId xmlns:a16="http://schemas.microsoft.com/office/drawing/2014/main" id="{F6DDECAF-5BF2-B108-AB17-899D1CF6D034}"/>
              </a:ext>
            </a:extLst>
          </p:cNvPr>
          <p:cNvSpPr/>
          <p:nvPr/>
        </p:nvSpPr>
        <p:spPr>
          <a:xfrm rot="15611557">
            <a:off x="1266727" y="2538600"/>
            <a:ext cx="457200" cy="457200"/>
          </a:xfrm>
          <a:prstGeom prst="arc">
            <a:avLst>
              <a:gd name="adj1" fmla="val 10392918"/>
              <a:gd name="adj2" fmla="val 14571822"/>
            </a:avLst>
          </a:prstGeom>
          <a:ln w="571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2" name="TextBox 31">
            <a:extLst>
              <a:ext uri="{FF2B5EF4-FFF2-40B4-BE49-F238E27FC236}">
                <a16:creationId xmlns:a16="http://schemas.microsoft.com/office/drawing/2014/main" id="{C8E5AD27-364E-262F-5229-045A6D351F90}"/>
              </a:ext>
            </a:extLst>
          </p:cNvPr>
          <p:cNvSpPr txBox="1"/>
          <p:nvPr/>
        </p:nvSpPr>
        <p:spPr>
          <a:xfrm>
            <a:off x="823885" y="3669016"/>
            <a:ext cx="872355" cy="523220"/>
          </a:xfrm>
          <a:prstGeom prst="rect">
            <a:avLst/>
          </a:prstGeom>
          <a:noFill/>
        </p:spPr>
        <p:txBody>
          <a:bodyPr wrap="none" rtlCol="0">
            <a:spAutoFit/>
          </a:bodyPr>
          <a:lstStyle/>
          <a:p>
            <a:pPr algn="ctr"/>
            <a:r>
              <a:rPr lang="en-US" dirty="0"/>
              <a:t>Plasmid </a:t>
            </a:r>
            <a:br>
              <a:rPr lang="en-US" dirty="0"/>
            </a:br>
            <a:r>
              <a:rPr lang="en-US" dirty="0"/>
              <a:t>Library</a:t>
            </a:r>
          </a:p>
        </p:txBody>
      </p:sp>
      <p:sp>
        <p:nvSpPr>
          <p:cNvPr id="33" name="Arc 32">
            <a:extLst>
              <a:ext uri="{FF2B5EF4-FFF2-40B4-BE49-F238E27FC236}">
                <a16:creationId xmlns:a16="http://schemas.microsoft.com/office/drawing/2014/main" id="{011F2712-A2CE-1115-D114-64167C33DBF5}"/>
              </a:ext>
            </a:extLst>
          </p:cNvPr>
          <p:cNvSpPr/>
          <p:nvPr/>
        </p:nvSpPr>
        <p:spPr>
          <a:xfrm rot="15758980">
            <a:off x="874140" y="2998909"/>
            <a:ext cx="365760" cy="365760"/>
          </a:xfrm>
          <a:prstGeom prst="arc">
            <a:avLst>
              <a:gd name="adj1" fmla="val 10208053"/>
              <a:gd name="adj2" fmla="val 14571822"/>
            </a:avLst>
          </a:prstGeom>
          <a:ln w="57150">
            <a:solidFill>
              <a:srgbClr val="46B0A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3" name="Arc 22">
            <a:extLst>
              <a:ext uri="{FF2B5EF4-FFF2-40B4-BE49-F238E27FC236}">
                <a16:creationId xmlns:a16="http://schemas.microsoft.com/office/drawing/2014/main" id="{CCE85A24-E046-9968-987F-8D404F401CA0}"/>
              </a:ext>
            </a:extLst>
          </p:cNvPr>
          <p:cNvSpPr/>
          <p:nvPr/>
        </p:nvSpPr>
        <p:spPr>
          <a:xfrm rot="15758980">
            <a:off x="1312558" y="2593644"/>
            <a:ext cx="365760" cy="365760"/>
          </a:xfrm>
          <a:prstGeom prst="arc">
            <a:avLst>
              <a:gd name="adj1" fmla="val 10208053"/>
              <a:gd name="adj2" fmla="val 14571822"/>
            </a:avLst>
          </a:prstGeom>
          <a:ln w="57150">
            <a:solidFill>
              <a:srgbClr val="E0CDE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2" name="Arc 21">
            <a:extLst>
              <a:ext uri="{FF2B5EF4-FFF2-40B4-BE49-F238E27FC236}">
                <a16:creationId xmlns:a16="http://schemas.microsoft.com/office/drawing/2014/main" id="{7D5D1034-1236-C6F0-4276-F141789BE6F0}"/>
              </a:ext>
            </a:extLst>
          </p:cNvPr>
          <p:cNvSpPr/>
          <p:nvPr/>
        </p:nvSpPr>
        <p:spPr>
          <a:xfrm rot="15758980">
            <a:off x="784127" y="2315358"/>
            <a:ext cx="365760" cy="365760"/>
          </a:xfrm>
          <a:prstGeom prst="arc">
            <a:avLst>
              <a:gd name="adj1" fmla="val 10208053"/>
              <a:gd name="adj2" fmla="val 14571822"/>
            </a:avLst>
          </a:prstGeom>
          <a:ln w="57150">
            <a:solidFill>
              <a:srgbClr val="7030A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7" name="Arc 36">
            <a:extLst>
              <a:ext uri="{FF2B5EF4-FFF2-40B4-BE49-F238E27FC236}">
                <a16:creationId xmlns:a16="http://schemas.microsoft.com/office/drawing/2014/main" id="{A6A19BBA-24FA-ECB2-02E0-E5D186B00599}"/>
              </a:ext>
            </a:extLst>
          </p:cNvPr>
          <p:cNvSpPr/>
          <p:nvPr/>
        </p:nvSpPr>
        <p:spPr>
          <a:xfrm rot="7206464">
            <a:off x="1272879" y="2538320"/>
            <a:ext cx="457200" cy="457200"/>
          </a:xfrm>
          <a:prstGeom prst="arc">
            <a:avLst>
              <a:gd name="adj1" fmla="val 12781519"/>
              <a:gd name="adj2" fmla="val 13776796"/>
            </a:avLst>
          </a:prstGeom>
          <a:ln w="57150">
            <a:solidFill>
              <a:srgbClr val="00206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8" name="Arc 37">
            <a:extLst>
              <a:ext uri="{FF2B5EF4-FFF2-40B4-BE49-F238E27FC236}">
                <a16:creationId xmlns:a16="http://schemas.microsoft.com/office/drawing/2014/main" id="{96CFEE63-2704-0B86-462C-D75D30B2AFFE}"/>
              </a:ext>
            </a:extLst>
          </p:cNvPr>
          <p:cNvSpPr/>
          <p:nvPr/>
        </p:nvSpPr>
        <p:spPr>
          <a:xfrm rot="7206464">
            <a:off x="737664" y="2261533"/>
            <a:ext cx="457200" cy="457200"/>
          </a:xfrm>
          <a:prstGeom prst="arc">
            <a:avLst>
              <a:gd name="adj1" fmla="val 12781519"/>
              <a:gd name="adj2" fmla="val 13776796"/>
            </a:avLst>
          </a:prstGeom>
          <a:ln w="57150">
            <a:solidFill>
              <a:srgbClr val="00206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9" name="Arc 38">
            <a:extLst>
              <a:ext uri="{FF2B5EF4-FFF2-40B4-BE49-F238E27FC236}">
                <a16:creationId xmlns:a16="http://schemas.microsoft.com/office/drawing/2014/main" id="{C26E22F4-8732-8369-6466-8D00D4FDD585}"/>
              </a:ext>
            </a:extLst>
          </p:cNvPr>
          <p:cNvSpPr/>
          <p:nvPr/>
        </p:nvSpPr>
        <p:spPr>
          <a:xfrm rot="7206464">
            <a:off x="828311" y="2944342"/>
            <a:ext cx="457200" cy="457200"/>
          </a:xfrm>
          <a:prstGeom prst="arc">
            <a:avLst>
              <a:gd name="adj1" fmla="val 12781519"/>
              <a:gd name="adj2" fmla="val 13776796"/>
            </a:avLst>
          </a:prstGeom>
          <a:ln w="57150">
            <a:solidFill>
              <a:srgbClr val="00206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pic>
        <p:nvPicPr>
          <p:cNvPr id="2" name="Picture 1" descr="The image depicts a simple, circular, monochromatic silhouette.&#10;&#10;AI-generated content may be incorrect.">
            <a:extLst>
              <a:ext uri="{FF2B5EF4-FFF2-40B4-BE49-F238E27FC236}">
                <a16:creationId xmlns:a16="http://schemas.microsoft.com/office/drawing/2014/main" id="{F30749FD-0354-3D26-42C7-8ACBDBD79C29}"/>
              </a:ext>
            </a:extLst>
          </p:cNvPr>
          <p:cNvPicPr>
            <a:picLocks noChangeAspect="1"/>
          </p:cNvPicPr>
          <p:nvPr/>
        </p:nvPicPr>
        <p:blipFill>
          <a:blip r:embed="rId3"/>
          <a:stretch>
            <a:fillRect/>
          </a:stretch>
        </p:blipFill>
        <p:spPr>
          <a:xfrm>
            <a:off x="3251215" y="1618654"/>
            <a:ext cx="1096239" cy="1176697"/>
          </a:xfrm>
          <a:prstGeom prst="rect">
            <a:avLst/>
          </a:prstGeom>
        </p:spPr>
      </p:pic>
      <p:pic>
        <p:nvPicPr>
          <p:cNvPr id="7" name="Picture 6" descr="The image depicts a simple, abstract representation of an organic, leaf-like shape with a round, smooth surface.&#10;&#10;AI-generated content may be incorrect.">
            <a:extLst>
              <a:ext uri="{FF2B5EF4-FFF2-40B4-BE49-F238E27FC236}">
                <a16:creationId xmlns:a16="http://schemas.microsoft.com/office/drawing/2014/main" id="{60E27FFC-99EE-4137-E29E-47A2A530870D}"/>
              </a:ext>
            </a:extLst>
          </p:cNvPr>
          <p:cNvPicPr>
            <a:picLocks noChangeAspect="1"/>
          </p:cNvPicPr>
          <p:nvPr/>
        </p:nvPicPr>
        <p:blipFill>
          <a:blip r:embed="rId4"/>
          <a:srcRect l="6339" b="7120"/>
          <a:stretch>
            <a:fillRect/>
          </a:stretch>
        </p:blipFill>
        <p:spPr>
          <a:xfrm>
            <a:off x="2719999" y="3111073"/>
            <a:ext cx="2719979" cy="1072641"/>
          </a:xfrm>
          <a:prstGeom prst="rect">
            <a:avLst/>
          </a:prstGeom>
        </p:spPr>
      </p:pic>
      <p:sp>
        <p:nvSpPr>
          <p:cNvPr id="19" name="Arc 18">
            <a:extLst>
              <a:ext uri="{FF2B5EF4-FFF2-40B4-BE49-F238E27FC236}">
                <a16:creationId xmlns:a16="http://schemas.microsoft.com/office/drawing/2014/main" id="{1657722E-9617-1B9A-0650-8CB6AF68EF72}"/>
              </a:ext>
            </a:extLst>
          </p:cNvPr>
          <p:cNvSpPr/>
          <p:nvPr/>
        </p:nvSpPr>
        <p:spPr>
          <a:xfrm rot="11416370" flipH="1">
            <a:off x="99956" y="1254515"/>
            <a:ext cx="3660869" cy="1450057"/>
          </a:xfrm>
          <a:prstGeom prst="arc">
            <a:avLst>
              <a:gd name="adj1" fmla="val 16176146"/>
              <a:gd name="adj2" fmla="val 21071442"/>
            </a:avLst>
          </a:prstGeom>
          <a:ln w="28575">
            <a:headEnd type="none" w="med" len="med"/>
            <a:tailEnd type="arrow"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dirty="0"/>
          </a:p>
        </p:txBody>
      </p:sp>
      <p:sp>
        <p:nvSpPr>
          <p:cNvPr id="20" name="Arc 19">
            <a:extLst>
              <a:ext uri="{FF2B5EF4-FFF2-40B4-BE49-F238E27FC236}">
                <a16:creationId xmlns:a16="http://schemas.microsoft.com/office/drawing/2014/main" id="{1A9A5AC2-53EF-96FB-DE02-CDF15D8A53B2}"/>
              </a:ext>
            </a:extLst>
          </p:cNvPr>
          <p:cNvSpPr/>
          <p:nvPr/>
        </p:nvSpPr>
        <p:spPr>
          <a:xfrm rot="10183630" flipH="1" flipV="1">
            <a:off x="99955" y="2886559"/>
            <a:ext cx="3660869" cy="1450057"/>
          </a:xfrm>
          <a:prstGeom prst="arc">
            <a:avLst>
              <a:gd name="adj1" fmla="val 16176146"/>
              <a:gd name="adj2" fmla="val 21071442"/>
            </a:avLst>
          </a:prstGeom>
          <a:ln w="28575">
            <a:headEnd type="none" w="med" len="med"/>
            <a:tailEnd type="arrow"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dirty="0"/>
          </a:p>
        </p:txBody>
      </p:sp>
      <p:sp>
        <p:nvSpPr>
          <p:cNvPr id="41" name="Oval 40">
            <a:extLst>
              <a:ext uri="{FF2B5EF4-FFF2-40B4-BE49-F238E27FC236}">
                <a16:creationId xmlns:a16="http://schemas.microsoft.com/office/drawing/2014/main" id="{0EFAE97C-4899-D8A4-D86D-E8CD95482EF0}"/>
              </a:ext>
            </a:extLst>
          </p:cNvPr>
          <p:cNvSpPr/>
          <p:nvPr/>
        </p:nvSpPr>
        <p:spPr>
          <a:xfrm>
            <a:off x="3566717" y="2087191"/>
            <a:ext cx="457200" cy="457200"/>
          </a:xfrm>
          <a:prstGeom prst="ellipse">
            <a:avLst/>
          </a:prstGeom>
          <a:noFill/>
          <a:ln w="381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Arc 41">
            <a:extLst>
              <a:ext uri="{FF2B5EF4-FFF2-40B4-BE49-F238E27FC236}">
                <a16:creationId xmlns:a16="http://schemas.microsoft.com/office/drawing/2014/main" id="{986ADA95-B5CE-652B-8427-5F2084D8AA04}"/>
              </a:ext>
            </a:extLst>
          </p:cNvPr>
          <p:cNvSpPr/>
          <p:nvPr/>
        </p:nvSpPr>
        <p:spPr>
          <a:xfrm rot="19487382">
            <a:off x="3566717" y="2077379"/>
            <a:ext cx="457200" cy="457200"/>
          </a:xfrm>
          <a:prstGeom prst="arc">
            <a:avLst>
              <a:gd name="adj1" fmla="val 14513924"/>
              <a:gd name="adj2" fmla="val 631815"/>
            </a:avLst>
          </a:prstGeom>
          <a:ln w="57150">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5" name="Arc 44">
            <a:extLst>
              <a:ext uri="{FF2B5EF4-FFF2-40B4-BE49-F238E27FC236}">
                <a16:creationId xmlns:a16="http://schemas.microsoft.com/office/drawing/2014/main" id="{FFC8946D-6736-53E9-8E71-0A2D21E0571D}"/>
              </a:ext>
            </a:extLst>
          </p:cNvPr>
          <p:cNvSpPr/>
          <p:nvPr/>
        </p:nvSpPr>
        <p:spPr>
          <a:xfrm rot="19487382">
            <a:off x="3566718" y="2077379"/>
            <a:ext cx="457200" cy="457200"/>
          </a:xfrm>
          <a:prstGeom prst="arc">
            <a:avLst>
              <a:gd name="adj1" fmla="val 12781519"/>
              <a:gd name="adj2" fmla="val 14571822"/>
            </a:avLst>
          </a:prstGeom>
          <a:ln w="57150">
            <a:solidFill>
              <a:srgbClr val="FFFF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9" name="Arc 48">
            <a:extLst>
              <a:ext uri="{FF2B5EF4-FFF2-40B4-BE49-F238E27FC236}">
                <a16:creationId xmlns:a16="http://schemas.microsoft.com/office/drawing/2014/main" id="{137548D0-EAB6-0E40-682D-A2C4AFE480F7}"/>
              </a:ext>
            </a:extLst>
          </p:cNvPr>
          <p:cNvSpPr/>
          <p:nvPr/>
        </p:nvSpPr>
        <p:spPr>
          <a:xfrm rot="15611557">
            <a:off x="3566717" y="2086352"/>
            <a:ext cx="457200" cy="457200"/>
          </a:xfrm>
          <a:prstGeom prst="arc">
            <a:avLst>
              <a:gd name="adj1" fmla="val 10392918"/>
              <a:gd name="adj2" fmla="val 14571822"/>
            </a:avLst>
          </a:prstGeom>
          <a:ln w="571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1" name="Arc 50">
            <a:extLst>
              <a:ext uri="{FF2B5EF4-FFF2-40B4-BE49-F238E27FC236}">
                <a16:creationId xmlns:a16="http://schemas.microsoft.com/office/drawing/2014/main" id="{3DA48772-9515-2276-3397-D62E844E76D3}"/>
              </a:ext>
            </a:extLst>
          </p:cNvPr>
          <p:cNvSpPr/>
          <p:nvPr/>
        </p:nvSpPr>
        <p:spPr>
          <a:xfrm rot="15758980">
            <a:off x="3612548" y="2141396"/>
            <a:ext cx="365760" cy="365760"/>
          </a:xfrm>
          <a:prstGeom prst="arc">
            <a:avLst>
              <a:gd name="adj1" fmla="val 10208053"/>
              <a:gd name="adj2" fmla="val 14571822"/>
            </a:avLst>
          </a:prstGeom>
          <a:ln w="57150">
            <a:solidFill>
              <a:srgbClr val="E0CDE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3" name="Arc 52">
            <a:extLst>
              <a:ext uri="{FF2B5EF4-FFF2-40B4-BE49-F238E27FC236}">
                <a16:creationId xmlns:a16="http://schemas.microsoft.com/office/drawing/2014/main" id="{626FBE5F-BFF3-00F4-0EE4-D2A764E4CD38}"/>
              </a:ext>
            </a:extLst>
          </p:cNvPr>
          <p:cNvSpPr/>
          <p:nvPr/>
        </p:nvSpPr>
        <p:spPr>
          <a:xfrm rot="7206464">
            <a:off x="3572869" y="2086072"/>
            <a:ext cx="457200" cy="457200"/>
          </a:xfrm>
          <a:prstGeom prst="arc">
            <a:avLst>
              <a:gd name="adj1" fmla="val 12781519"/>
              <a:gd name="adj2" fmla="val 13776796"/>
            </a:avLst>
          </a:prstGeom>
          <a:ln w="57150">
            <a:solidFill>
              <a:srgbClr val="00206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67" name="Oval 66">
            <a:extLst>
              <a:ext uri="{FF2B5EF4-FFF2-40B4-BE49-F238E27FC236}">
                <a16:creationId xmlns:a16="http://schemas.microsoft.com/office/drawing/2014/main" id="{1E90926B-6593-2B28-1833-39942CC2ECB7}"/>
              </a:ext>
            </a:extLst>
          </p:cNvPr>
          <p:cNvSpPr/>
          <p:nvPr/>
        </p:nvSpPr>
        <p:spPr>
          <a:xfrm>
            <a:off x="3680635" y="3312896"/>
            <a:ext cx="457200" cy="457200"/>
          </a:xfrm>
          <a:prstGeom prst="ellipse">
            <a:avLst/>
          </a:prstGeom>
          <a:noFill/>
          <a:ln w="381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Arc 67">
            <a:extLst>
              <a:ext uri="{FF2B5EF4-FFF2-40B4-BE49-F238E27FC236}">
                <a16:creationId xmlns:a16="http://schemas.microsoft.com/office/drawing/2014/main" id="{290366E0-37C1-FB42-77E2-475FD3AC2AAF}"/>
              </a:ext>
            </a:extLst>
          </p:cNvPr>
          <p:cNvSpPr/>
          <p:nvPr/>
        </p:nvSpPr>
        <p:spPr>
          <a:xfrm rot="19487382">
            <a:off x="3680635" y="3303084"/>
            <a:ext cx="457200" cy="457200"/>
          </a:xfrm>
          <a:prstGeom prst="arc">
            <a:avLst>
              <a:gd name="adj1" fmla="val 14513924"/>
              <a:gd name="adj2" fmla="val 631815"/>
            </a:avLst>
          </a:prstGeom>
          <a:ln w="57150">
            <a:solidFill>
              <a:schemeClr val="bg2">
                <a:lumMod val="9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69" name="Arc 68">
            <a:extLst>
              <a:ext uri="{FF2B5EF4-FFF2-40B4-BE49-F238E27FC236}">
                <a16:creationId xmlns:a16="http://schemas.microsoft.com/office/drawing/2014/main" id="{84B71700-98E4-C8BF-D7DE-C3BAAF4B76BF}"/>
              </a:ext>
            </a:extLst>
          </p:cNvPr>
          <p:cNvSpPr/>
          <p:nvPr/>
        </p:nvSpPr>
        <p:spPr>
          <a:xfrm rot="19487382">
            <a:off x="3680636" y="3303084"/>
            <a:ext cx="457200" cy="457200"/>
          </a:xfrm>
          <a:prstGeom prst="arc">
            <a:avLst>
              <a:gd name="adj1" fmla="val 12781519"/>
              <a:gd name="adj2" fmla="val 14571822"/>
            </a:avLst>
          </a:prstGeom>
          <a:ln w="57150">
            <a:solidFill>
              <a:srgbClr val="FFFF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70" name="Arc 69">
            <a:extLst>
              <a:ext uri="{FF2B5EF4-FFF2-40B4-BE49-F238E27FC236}">
                <a16:creationId xmlns:a16="http://schemas.microsoft.com/office/drawing/2014/main" id="{3D8418BE-2DA1-1E5C-B58F-FC229AA3922D}"/>
              </a:ext>
            </a:extLst>
          </p:cNvPr>
          <p:cNvSpPr/>
          <p:nvPr/>
        </p:nvSpPr>
        <p:spPr>
          <a:xfrm rot="15611557">
            <a:off x="3680635" y="3312057"/>
            <a:ext cx="457200" cy="457200"/>
          </a:xfrm>
          <a:prstGeom prst="arc">
            <a:avLst>
              <a:gd name="adj1" fmla="val 10392918"/>
              <a:gd name="adj2" fmla="val 14571822"/>
            </a:avLst>
          </a:prstGeom>
          <a:ln w="571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71" name="Arc 70">
            <a:extLst>
              <a:ext uri="{FF2B5EF4-FFF2-40B4-BE49-F238E27FC236}">
                <a16:creationId xmlns:a16="http://schemas.microsoft.com/office/drawing/2014/main" id="{6145B838-1971-90A2-2A61-A725C4EBA5E3}"/>
              </a:ext>
            </a:extLst>
          </p:cNvPr>
          <p:cNvSpPr/>
          <p:nvPr/>
        </p:nvSpPr>
        <p:spPr>
          <a:xfrm rot="15758980">
            <a:off x="3726466" y="3367101"/>
            <a:ext cx="365760" cy="365760"/>
          </a:xfrm>
          <a:prstGeom prst="arc">
            <a:avLst>
              <a:gd name="adj1" fmla="val 10208053"/>
              <a:gd name="adj2" fmla="val 14571822"/>
            </a:avLst>
          </a:prstGeom>
          <a:ln w="57150">
            <a:solidFill>
              <a:srgbClr val="E0CDE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72" name="Arc 71">
            <a:extLst>
              <a:ext uri="{FF2B5EF4-FFF2-40B4-BE49-F238E27FC236}">
                <a16:creationId xmlns:a16="http://schemas.microsoft.com/office/drawing/2014/main" id="{9CA46A83-AA7B-63A2-3AAC-E78E8991991A}"/>
              </a:ext>
            </a:extLst>
          </p:cNvPr>
          <p:cNvSpPr/>
          <p:nvPr/>
        </p:nvSpPr>
        <p:spPr>
          <a:xfrm rot="7206464">
            <a:off x="3686787" y="3311777"/>
            <a:ext cx="457200" cy="457200"/>
          </a:xfrm>
          <a:prstGeom prst="arc">
            <a:avLst>
              <a:gd name="adj1" fmla="val 12781519"/>
              <a:gd name="adj2" fmla="val 13776796"/>
            </a:avLst>
          </a:prstGeom>
          <a:ln w="57150">
            <a:solidFill>
              <a:srgbClr val="00206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114665566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1F97E5-F1FE-EFB0-0DEA-3213C94074F8}"/>
            </a:ext>
          </a:extLst>
        </p:cNvPr>
        <p:cNvGrpSpPr/>
        <p:nvPr/>
      </p:nvGrpSpPr>
      <p:grpSpPr>
        <a:xfrm>
          <a:off x="0" y="0"/>
          <a:ext cx="0" cy="0"/>
          <a:chOff x="0" y="0"/>
          <a:chExt cx="0" cy="0"/>
        </a:xfrm>
      </p:grpSpPr>
      <p:sp>
        <p:nvSpPr>
          <p:cNvPr id="16" name="Title 1">
            <a:extLst>
              <a:ext uri="{FF2B5EF4-FFF2-40B4-BE49-F238E27FC236}">
                <a16:creationId xmlns:a16="http://schemas.microsoft.com/office/drawing/2014/main" id="{60EE8558-3EB9-8877-1A92-A11EE563528A}"/>
              </a:ext>
            </a:extLst>
          </p:cNvPr>
          <p:cNvSpPr>
            <a:spLocks noGrp="1"/>
          </p:cNvSpPr>
          <p:nvPr>
            <p:ph type="title"/>
          </p:nvPr>
        </p:nvSpPr>
        <p:spPr>
          <a:xfrm>
            <a:off x="719999" y="523239"/>
            <a:ext cx="7704000" cy="572700"/>
          </a:xfrm>
        </p:spPr>
        <p:txBody>
          <a:bodyPr/>
          <a:lstStyle/>
          <a:p>
            <a:pPr algn="ctr"/>
            <a:r>
              <a:rPr lang="en-US" sz="2000" dirty="0"/>
              <a:t>Previous generative models of enhancers use massively parallel reporter assays (MPRAs) to label sequences</a:t>
            </a:r>
          </a:p>
        </p:txBody>
      </p:sp>
      <p:sp>
        <p:nvSpPr>
          <p:cNvPr id="3" name="Oval 2">
            <a:extLst>
              <a:ext uri="{FF2B5EF4-FFF2-40B4-BE49-F238E27FC236}">
                <a16:creationId xmlns:a16="http://schemas.microsoft.com/office/drawing/2014/main" id="{F2A04E1B-98C3-778B-E1C3-89BE0E0027F0}"/>
              </a:ext>
            </a:extLst>
          </p:cNvPr>
          <p:cNvSpPr/>
          <p:nvPr/>
        </p:nvSpPr>
        <p:spPr>
          <a:xfrm>
            <a:off x="738329" y="2262660"/>
            <a:ext cx="457200" cy="457200"/>
          </a:xfrm>
          <a:prstGeom prst="ellipse">
            <a:avLst/>
          </a:prstGeom>
          <a:noFill/>
          <a:ln w="381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Arc 3">
            <a:extLst>
              <a:ext uri="{FF2B5EF4-FFF2-40B4-BE49-F238E27FC236}">
                <a16:creationId xmlns:a16="http://schemas.microsoft.com/office/drawing/2014/main" id="{F9E69C7D-C97E-BAE2-EA7E-D880C92B4CDA}"/>
              </a:ext>
            </a:extLst>
          </p:cNvPr>
          <p:cNvSpPr/>
          <p:nvPr/>
        </p:nvSpPr>
        <p:spPr>
          <a:xfrm rot="19487382">
            <a:off x="738329" y="2252848"/>
            <a:ext cx="457200" cy="457200"/>
          </a:xfrm>
          <a:prstGeom prst="arc">
            <a:avLst>
              <a:gd name="adj1" fmla="val 14513924"/>
              <a:gd name="adj2" fmla="val 631815"/>
            </a:avLst>
          </a:prstGeom>
          <a:ln w="57150">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 name="Arc 4">
            <a:extLst>
              <a:ext uri="{FF2B5EF4-FFF2-40B4-BE49-F238E27FC236}">
                <a16:creationId xmlns:a16="http://schemas.microsoft.com/office/drawing/2014/main" id="{01154420-BDD6-C2D4-BAF9-E9E9119E4F91}"/>
              </a:ext>
            </a:extLst>
          </p:cNvPr>
          <p:cNvSpPr/>
          <p:nvPr/>
        </p:nvSpPr>
        <p:spPr>
          <a:xfrm rot="19487382">
            <a:off x="738330" y="2252848"/>
            <a:ext cx="457200" cy="457200"/>
          </a:xfrm>
          <a:prstGeom prst="arc">
            <a:avLst>
              <a:gd name="adj1" fmla="val 12781519"/>
              <a:gd name="adj2" fmla="val 14571822"/>
            </a:avLst>
          </a:prstGeom>
          <a:ln w="57150">
            <a:solidFill>
              <a:srgbClr val="FFFF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6" name="Arc 5">
            <a:extLst>
              <a:ext uri="{FF2B5EF4-FFF2-40B4-BE49-F238E27FC236}">
                <a16:creationId xmlns:a16="http://schemas.microsoft.com/office/drawing/2014/main" id="{8AE9ADC3-CAB3-91DF-2D71-55451411E257}"/>
              </a:ext>
            </a:extLst>
          </p:cNvPr>
          <p:cNvSpPr/>
          <p:nvPr/>
        </p:nvSpPr>
        <p:spPr>
          <a:xfrm rot="15611557">
            <a:off x="738329" y="2256741"/>
            <a:ext cx="457200" cy="457200"/>
          </a:xfrm>
          <a:prstGeom prst="arc">
            <a:avLst>
              <a:gd name="adj1" fmla="val 10392918"/>
              <a:gd name="adj2" fmla="val 14571822"/>
            </a:avLst>
          </a:prstGeom>
          <a:ln w="571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0" name="Oval 9">
            <a:extLst>
              <a:ext uri="{FF2B5EF4-FFF2-40B4-BE49-F238E27FC236}">
                <a16:creationId xmlns:a16="http://schemas.microsoft.com/office/drawing/2014/main" id="{4B1CE02D-7ECB-0036-16D7-A7436D2E9B5C}"/>
              </a:ext>
            </a:extLst>
          </p:cNvPr>
          <p:cNvSpPr/>
          <p:nvPr/>
        </p:nvSpPr>
        <p:spPr>
          <a:xfrm>
            <a:off x="828311" y="2948003"/>
            <a:ext cx="457200" cy="457200"/>
          </a:xfrm>
          <a:prstGeom prst="ellipse">
            <a:avLst/>
          </a:prstGeom>
          <a:noFill/>
          <a:ln w="381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Arc 10">
            <a:extLst>
              <a:ext uri="{FF2B5EF4-FFF2-40B4-BE49-F238E27FC236}">
                <a16:creationId xmlns:a16="http://schemas.microsoft.com/office/drawing/2014/main" id="{3402B41D-EDD7-8E24-9218-56E5713E9094}"/>
              </a:ext>
            </a:extLst>
          </p:cNvPr>
          <p:cNvSpPr/>
          <p:nvPr/>
        </p:nvSpPr>
        <p:spPr>
          <a:xfrm rot="19487382">
            <a:off x="828311" y="2938191"/>
            <a:ext cx="457200" cy="457200"/>
          </a:xfrm>
          <a:prstGeom prst="arc">
            <a:avLst>
              <a:gd name="adj1" fmla="val 14513924"/>
              <a:gd name="adj2" fmla="val 631815"/>
            </a:avLst>
          </a:prstGeom>
          <a:ln w="57150">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2" name="Arc 11">
            <a:extLst>
              <a:ext uri="{FF2B5EF4-FFF2-40B4-BE49-F238E27FC236}">
                <a16:creationId xmlns:a16="http://schemas.microsoft.com/office/drawing/2014/main" id="{08E85EBB-6A1F-DE7A-D0DD-43BF8461B548}"/>
              </a:ext>
            </a:extLst>
          </p:cNvPr>
          <p:cNvSpPr/>
          <p:nvPr/>
        </p:nvSpPr>
        <p:spPr>
          <a:xfrm rot="19487382">
            <a:off x="828312" y="2938191"/>
            <a:ext cx="457200" cy="457200"/>
          </a:xfrm>
          <a:prstGeom prst="arc">
            <a:avLst>
              <a:gd name="adj1" fmla="val 12781519"/>
              <a:gd name="adj2" fmla="val 14571822"/>
            </a:avLst>
          </a:prstGeom>
          <a:ln w="57150">
            <a:solidFill>
              <a:srgbClr val="FFFF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3" name="Arc 12">
            <a:extLst>
              <a:ext uri="{FF2B5EF4-FFF2-40B4-BE49-F238E27FC236}">
                <a16:creationId xmlns:a16="http://schemas.microsoft.com/office/drawing/2014/main" id="{C24EA979-5B15-A129-0A30-DC1A8547E5AF}"/>
              </a:ext>
            </a:extLst>
          </p:cNvPr>
          <p:cNvSpPr/>
          <p:nvPr/>
        </p:nvSpPr>
        <p:spPr>
          <a:xfrm rot="15611557">
            <a:off x="828311" y="2947164"/>
            <a:ext cx="457200" cy="457200"/>
          </a:xfrm>
          <a:prstGeom prst="arc">
            <a:avLst>
              <a:gd name="adj1" fmla="val 10392918"/>
              <a:gd name="adj2" fmla="val 14571822"/>
            </a:avLst>
          </a:prstGeom>
          <a:ln w="571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4" name="Oval 13">
            <a:extLst>
              <a:ext uri="{FF2B5EF4-FFF2-40B4-BE49-F238E27FC236}">
                <a16:creationId xmlns:a16="http://schemas.microsoft.com/office/drawing/2014/main" id="{C83C7D80-ECE9-9E51-52A9-D50A7BA26115}"/>
              </a:ext>
            </a:extLst>
          </p:cNvPr>
          <p:cNvSpPr/>
          <p:nvPr/>
        </p:nvSpPr>
        <p:spPr>
          <a:xfrm>
            <a:off x="1266727" y="2539439"/>
            <a:ext cx="457200" cy="457200"/>
          </a:xfrm>
          <a:prstGeom prst="ellipse">
            <a:avLst/>
          </a:prstGeom>
          <a:noFill/>
          <a:ln w="381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Arc 14">
            <a:extLst>
              <a:ext uri="{FF2B5EF4-FFF2-40B4-BE49-F238E27FC236}">
                <a16:creationId xmlns:a16="http://schemas.microsoft.com/office/drawing/2014/main" id="{6658A65D-C2A5-4E5D-CD66-74818E0B4086}"/>
              </a:ext>
            </a:extLst>
          </p:cNvPr>
          <p:cNvSpPr/>
          <p:nvPr/>
        </p:nvSpPr>
        <p:spPr>
          <a:xfrm rot="19487382">
            <a:off x="1266727" y="2529627"/>
            <a:ext cx="457200" cy="457200"/>
          </a:xfrm>
          <a:prstGeom prst="arc">
            <a:avLst>
              <a:gd name="adj1" fmla="val 14513924"/>
              <a:gd name="adj2" fmla="val 631815"/>
            </a:avLst>
          </a:prstGeom>
          <a:ln w="57150">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7" name="Arc 16">
            <a:extLst>
              <a:ext uri="{FF2B5EF4-FFF2-40B4-BE49-F238E27FC236}">
                <a16:creationId xmlns:a16="http://schemas.microsoft.com/office/drawing/2014/main" id="{D41E1554-2FD8-3917-D9BE-E3821F427A52}"/>
              </a:ext>
            </a:extLst>
          </p:cNvPr>
          <p:cNvSpPr/>
          <p:nvPr/>
        </p:nvSpPr>
        <p:spPr>
          <a:xfrm rot="19487382">
            <a:off x="1266728" y="2529627"/>
            <a:ext cx="457200" cy="457200"/>
          </a:xfrm>
          <a:prstGeom prst="arc">
            <a:avLst>
              <a:gd name="adj1" fmla="val 12781519"/>
              <a:gd name="adj2" fmla="val 14571822"/>
            </a:avLst>
          </a:prstGeom>
          <a:ln w="57150">
            <a:solidFill>
              <a:srgbClr val="FFFF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8" name="Arc 17">
            <a:extLst>
              <a:ext uri="{FF2B5EF4-FFF2-40B4-BE49-F238E27FC236}">
                <a16:creationId xmlns:a16="http://schemas.microsoft.com/office/drawing/2014/main" id="{F0C37E80-284E-35C7-1B48-59B9DB5663D6}"/>
              </a:ext>
            </a:extLst>
          </p:cNvPr>
          <p:cNvSpPr/>
          <p:nvPr/>
        </p:nvSpPr>
        <p:spPr>
          <a:xfrm rot="15611557">
            <a:off x="1266727" y="2538600"/>
            <a:ext cx="457200" cy="457200"/>
          </a:xfrm>
          <a:prstGeom prst="arc">
            <a:avLst>
              <a:gd name="adj1" fmla="val 10392918"/>
              <a:gd name="adj2" fmla="val 14571822"/>
            </a:avLst>
          </a:prstGeom>
          <a:ln w="571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2" name="TextBox 31">
            <a:extLst>
              <a:ext uri="{FF2B5EF4-FFF2-40B4-BE49-F238E27FC236}">
                <a16:creationId xmlns:a16="http://schemas.microsoft.com/office/drawing/2014/main" id="{20259535-2648-A5E8-3AD4-91D3BF7EDB45}"/>
              </a:ext>
            </a:extLst>
          </p:cNvPr>
          <p:cNvSpPr txBox="1"/>
          <p:nvPr/>
        </p:nvSpPr>
        <p:spPr>
          <a:xfrm>
            <a:off x="823885" y="3669016"/>
            <a:ext cx="872355" cy="523220"/>
          </a:xfrm>
          <a:prstGeom prst="rect">
            <a:avLst/>
          </a:prstGeom>
          <a:noFill/>
        </p:spPr>
        <p:txBody>
          <a:bodyPr wrap="none" rtlCol="0">
            <a:spAutoFit/>
          </a:bodyPr>
          <a:lstStyle/>
          <a:p>
            <a:pPr algn="ctr"/>
            <a:r>
              <a:rPr lang="en-US" dirty="0"/>
              <a:t>Plasmid </a:t>
            </a:r>
            <a:br>
              <a:rPr lang="en-US" dirty="0"/>
            </a:br>
            <a:r>
              <a:rPr lang="en-US" dirty="0"/>
              <a:t>Library</a:t>
            </a:r>
          </a:p>
        </p:txBody>
      </p:sp>
      <p:sp>
        <p:nvSpPr>
          <p:cNvPr id="33" name="Arc 32">
            <a:extLst>
              <a:ext uri="{FF2B5EF4-FFF2-40B4-BE49-F238E27FC236}">
                <a16:creationId xmlns:a16="http://schemas.microsoft.com/office/drawing/2014/main" id="{6C5F7DC9-5E9A-F5BE-0615-E6EFB2139500}"/>
              </a:ext>
            </a:extLst>
          </p:cNvPr>
          <p:cNvSpPr/>
          <p:nvPr/>
        </p:nvSpPr>
        <p:spPr>
          <a:xfrm rot="15758980">
            <a:off x="874140" y="2998909"/>
            <a:ext cx="365760" cy="365760"/>
          </a:xfrm>
          <a:prstGeom prst="arc">
            <a:avLst>
              <a:gd name="adj1" fmla="val 10208053"/>
              <a:gd name="adj2" fmla="val 14571822"/>
            </a:avLst>
          </a:prstGeom>
          <a:ln w="57150">
            <a:solidFill>
              <a:srgbClr val="46B0A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3" name="Arc 22">
            <a:extLst>
              <a:ext uri="{FF2B5EF4-FFF2-40B4-BE49-F238E27FC236}">
                <a16:creationId xmlns:a16="http://schemas.microsoft.com/office/drawing/2014/main" id="{EACCCF43-35FF-A498-7115-C3B4DC7F354B}"/>
              </a:ext>
            </a:extLst>
          </p:cNvPr>
          <p:cNvSpPr/>
          <p:nvPr/>
        </p:nvSpPr>
        <p:spPr>
          <a:xfrm rot="15758980">
            <a:off x="1312558" y="2593644"/>
            <a:ext cx="365760" cy="365760"/>
          </a:xfrm>
          <a:prstGeom prst="arc">
            <a:avLst>
              <a:gd name="adj1" fmla="val 10208053"/>
              <a:gd name="adj2" fmla="val 14571822"/>
            </a:avLst>
          </a:prstGeom>
          <a:ln w="57150">
            <a:solidFill>
              <a:srgbClr val="E0CDE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2" name="Arc 21">
            <a:extLst>
              <a:ext uri="{FF2B5EF4-FFF2-40B4-BE49-F238E27FC236}">
                <a16:creationId xmlns:a16="http://schemas.microsoft.com/office/drawing/2014/main" id="{28890752-BD7D-1583-27AA-D2F97876E443}"/>
              </a:ext>
            </a:extLst>
          </p:cNvPr>
          <p:cNvSpPr/>
          <p:nvPr/>
        </p:nvSpPr>
        <p:spPr>
          <a:xfrm rot="15758980">
            <a:off x="784127" y="2315358"/>
            <a:ext cx="365760" cy="365760"/>
          </a:xfrm>
          <a:prstGeom prst="arc">
            <a:avLst>
              <a:gd name="adj1" fmla="val 10208053"/>
              <a:gd name="adj2" fmla="val 14571822"/>
            </a:avLst>
          </a:prstGeom>
          <a:ln w="57150">
            <a:solidFill>
              <a:srgbClr val="7030A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7" name="Arc 36">
            <a:extLst>
              <a:ext uri="{FF2B5EF4-FFF2-40B4-BE49-F238E27FC236}">
                <a16:creationId xmlns:a16="http://schemas.microsoft.com/office/drawing/2014/main" id="{20974D5D-F824-B298-CF4C-3D6FD21366B6}"/>
              </a:ext>
            </a:extLst>
          </p:cNvPr>
          <p:cNvSpPr/>
          <p:nvPr/>
        </p:nvSpPr>
        <p:spPr>
          <a:xfrm rot="7206464">
            <a:off x="1272879" y="2538320"/>
            <a:ext cx="457200" cy="457200"/>
          </a:xfrm>
          <a:prstGeom prst="arc">
            <a:avLst>
              <a:gd name="adj1" fmla="val 12781519"/>
              <a:gd name="adj2" fmla="val 13776796"/>
            </a:avLst>
          </a:prstGeom>
          <a:ln w="57150">
            <a:solidFill>
              <a:srgbClr val="00206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8" name="Arc 37">
            <a:extLst>
              <a:ext uri="{FF2B5EF4-FFF2-40B4-BE49-F238E27FC236}">
                <a16:creationId xmlns:a16="http://schemas.microsoft.com/office/drawing/2014/main" id="{D2B01818-2A65-BC5A-8878-FF2919535798}"/>
              </a:ext>
            </a:extLst>
          </p:cNvPr>
          <p:cNvSpPr/>
          <p:nvPr/>
        </p:nvSpPr>
        <p:spPr>
          <a:xfrm rot="7206464">
            <a:off x="737664" y="2261533"/>
            <a:ext cx="457200" cy="457200"/>
          </a:xfrm>
          <a:prstGeom prst="arc">
            <a:avLst>
              <a:gd name="adj1" fmla="val 12781519"/>
              <a:gd name="adj2" fmla="val 13776796"/>
            </a:avLst>
          </a:prstGeom>
          <a:ln w="57150">
            <a:solidFill>
              <a:srgbClr val="00206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9" name="Arc 38">
            <a:extLst>
              <a:ext uri="{FF2B5EF4-FFF2-40B4-BE49-F238E27FC236}">
                <a16:creationId xmlns:a16="http://schemas.microsoft.com/office/drawing/2014/main" id="{2E348CAB-191C-7B41-BBD5-4D1F661DD754}"/>
              </a:ext>
            </a:extLst>
          </p:cNvPr>
          <p:cNvSpPr/>
          <p:nvPr/>
        </p:nvSpPr>
        <p:spPr>
          <a:xfrm rot="7206464">
            <a:off x="828311" y="2944342"/>
            <a:ext cx="457200" cy="457200"/>
          </a:xfrm>
          <a:prstGeom prst="arc">
            <a:avLst>
              <a:gd name="adj1" fmla="val 12781519"/>
              <a:gd name="adj2" fmla="val 13776796"/>
            </a:avLst>
          </a:prstGeom>
          <a:ln w="57150">
            <a:solidFill>
              <a:srgbClr val="00206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pic>
        <p:nvPicPr>
          <p:cNvPr id="2" name="Picture 1" descr="The image depicts a simple, circular, monochromatic silhouette.&#10;&#10;AI-generated content may be incorrect.">
            <a:extLst>
              <a:ext uri="{FF2B5EF4-FFF2-40B4-BE49-F238E27FC236}">
                <a16:creationId xmlns:a16="http://schemas.microsoft.com/office/drawing/2014/main" id="{AC4468DF-8C09-1F98-8CAD-DF76BF3A4062}"/>
              </a:ext>
            </a:extLst>
          </p:cNvPr>
          <p:cNvPicPr>
            <a:picLocks noChangeAspect="1"/>
          </p:cNvPicPr>
          <p:nvPr/>
        </p:nvPicPr>
        <p:blipFill>
          <a:blip r:embed="rId3"/>
          <a:stretch>
            <a:fillRect/>
          </a:stretch>
        </p:blipFill>
        <p:spPr>
          <a:xfrm>
            <a:off x="3251215" y="1618654"/>
            <a:ext cx="1096239" cy="1176697"/>
          </a:xfrm>
          <a:prstGeom prst="rect">
            <a:avLst/>
          </a:prstGeom>
        </p:spPr>
      </p:pic>
      <p:pic>
        <p:nvPicPr>
          <p:cNvPr id="7" name="Picture 6" descr="The image depicts a simple, abstract representation of an organic, leaf-like shape with a round, smooth surface.&#10;&#10;AI-generated content may be incorrect.">
            <a:extLst>
              <a:ext uri="{FF2B5EF4-FFF2-40B4-BE49-F238E27FC236}">
                <a16:creationId xmlns:a16="http://schemas.microsoft.com/office/drawing/2014/main" id="{3D69A609-F9F1-53B9-4B3D-FACDDE2EBC7C}"/>
              </a:ext>
            </a:extLst>
          </p:cNvPr>
          <p:cNvPicPr>
            <a:picLocks noChangeAspect="1"/>
          </p:cNvPicPr>
          <p:nvPr/>
        </p:nvPicPr>
        <p:blipFill>
          <a:blip r:embed="rId4">
            <a:duotone>
              <a:prstClr val="black"/>
              <a:schemeClr val="accent6">
                <a:tint val="45000"/>
                <a:satMod val="400000"/>
              </a:schemeClr>
            </a:duotone>
          </a:blip>
          <a:srcRect l="6339" b="7120"/>
          <a:stretch>
            <a:fillRect/>
          </a:stretch>
        </p:blipFill>
        <p:spPr>
          <a:xfrm>
            <a:off x="2719999" y="3111073"/>
            <a:ext cx="2719979" cy="1072641"/>
          </a:xfrm>
          <a:prstGeom prst="rect">
            <a:avLst/>
          </a:prstGeom>
        </p:spPr>
      </p:pic>
      <p:pic>
        <p:nvPicPr>
          <p:cNvPr id="9" name="Picture 8" descr="The image depicts a simple, circular diagram with two concentric circles, one inside the other.&#10;&#10;AI-generated content may be incorrect.">
            <a:extLst>
              <a:ext uri="{FF2B5EF4-FFF2-40B4-BE49-F238E27FC236}">
                <a16:creationId xmlns:a16="http://schemas.microsoft.com/office/drawing/2014/main" id="{D86ECFE7-D8DA-2989-F624-7CE08E97C640}"/>
              </a:ext>
            </a:extLst>
          </p:cNvPr>
          <p:cNvPicPr>
            <a:picLocks noChangeAspect="1"/>
          </p:cNvPicPr>
          <p:nvPr/>
        </p:nvPicPr>
        <p:blipFill>
          <a:blip r:embed="rId5"/>
          <a:stretch>
            <a:fillRect/>
          </a:stretch>
        </p:blipFill>
        <p:spPr>
          <a:xfrm>
            <a:off x="3304233" y="1695465"/>
            <a:ext cx="982167" cy="1071455"/>
          </a:xfrm>
          <a:prstGeom prst="rect">
            <a:avLst/>
          </a:prstGeom>
        </p:spPr>
      </p:pic>
      <p:sp>
        <p:nvSpPr>
          <p:cNvPr id="19" name="Arc 18">
            <a:extLst>
              <a:ext uri="{FF2B5EF4-FFF2-40B4-BE49-F238E27FC236}">
                <a16:creationId xmlns:a16="http://schemas.microsoft.com/office/drawing/2014/main" id="{3A599877-054D-0713-B17E-368EB1D50E4C}"/>
              </a:ext>
            </a:extLst>
          </p:cNvPr>
          <p:cNvSpPr/>
          <p:nvPr/>
        </p:nvSpPr>
        <p:spPr>
          <a:xfrm rot="11416370" flipH="1">
            <a:off x="99956" y="1254515"/>
            <a:ext cx="3660869" cy="1450057"/>
          </a:xfrm>
          <a:prstGeom prst="arc">
            <a:avLst>
              <a:gd name="adj1" fmla="val 16176146"/>
              <a:gd name="adj2" fmla="val 21071442"/>
            </a:avLst>
          </a:prstGeom>
          <a:ln w="28575">
            <a:headEnd type="none" w="med" len="med"/>
            <a:tailEnd type="arrow"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dirty="0"/>
          </a:p>
        </p:txBody>
      </p:sp>
      <p:sp>
        <p:nvSpPr>
          <p:cNvPr id="20" name="Arc 19">
            <a:extLst>
              <a:ext uri="{FF2B5EF4-FFF2-40B4-BE49-F238E27FC236}">
                <a16:creationId xmlns:a16="http://schemas.microsoft.com/office/drawing/2014/main" id="{C9E781C1-4989-D5FF-9635-1878B8033100}"/>
              </a:ext>
            </a:extLst>
          </p:cNvPr>
          <p:cNvSpPr/>
          <p:nvPr/>
        </p:nvSpPr>
        <p:spPr>
          <a:xfrm rot="10183630" flipH="1" flipV="1">
            <a:off x="99955" y="2886559"/>
            <a:ext cx="3660869" cy="1450057"/>
          </a:xfrm>
          <a:prstGeom prst="arc">
            <a:avLst>
              <a:gd name="adj1" fmla="val 16176146"/>
              <a:gd name="adj2" fmla="val 21071442"/>
            </a:avLst>
          </a:prstGeom>
          <a:ln w="28575">
            <a:headEnd type="none" w="med" len="med"/>
            <a:tailEnd type="arrow"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dirty="0"/>
          </a:p>
        </p:txBody>
      </p:sp>
      <p:sp>
        <p:nvSpPr>
          <p:cNvPr id="41" name="Oval 40">
            <a:extLst>
              <a:ext uri="{FF2B5EF4-FFF2-40B4-BE49-F238E27FC236}">
                <a16:creationId xmlns:a16="http://schemas.microsoft.com/office/drawing/2014/main" id="{1F4B1399-0827-A6A0-9CB5-0B750D85D83B}"/>
              </a:ext>
            </a:extLst>
          </p:cNvPr>
          <p:cNvSpPr/>
          <p:nvPr/>
        </p:nvSpPr>
        <p:spPr>
          <a:xfrm>
            <a:off x="3566717" y="2087191"/>
            <a:ext cx="457200" cy="457200"/>
          </a:xfrm>
          <a:prstGeom prst="ellipse">
            <a:avLst/>
          </a:prstGeom>
          <a:noFill/>
          <a:ln w="381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Arc 41">
            <a:extLst>
              <a:ext uri="{FF2B5EF4-FFF2-40B4-BE49-F238E27FC236}">
                <a16:creationId xmlns:a16="http://schemas.microsoft.com/office/drawing/2014/main" id="{885BC073-5543-241B-6BAF-4AE434C9A0F1}"/>
              </a:ext>
            </a:extLst>
          </p:cNvPr>
          <p:cNvSpPr/>
          <p:nvPr/>
        </p:nvSpPr>
        <p:spPr>
          <a:xfrm rot="19487382">
            <a:off x="3566717" y="2077379"/>
            <a:ext cx="457200" cy="457200"/>
          </a:xfrm>
          <a:prstGeom prst="arc">
            <a:avLst>
              <a:gd name="adj1" fmla="val 14513924"/>
              <a:gd name="adj2" fmla="val 631815"/>
            </a:avLst>
          </a:prstGeom>
          <a:ln w="57150">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5" name="Arc 44">
            <a:extLst>
              <a:ext uri="{FF2B5EF4-FFF2-40B4-BE49-F238E27FC236}">
                <a16:creationId xmlns:a16="http://schemas.microsoft.com/office/drawing/2014/main" id="{9BE01B2D-5410-31D1-4669-889502F62114}"/>
              </a:ext>
            </a:extLst>
          </p:cNvPr>
          <p:cNvSpPr/>
          <p:nvPr/>
        </p:nvSpPr>
        <p:spPr>
          <a:xfrm rot="19487382">
            <a:off x="3566718" y="2077379"/>
            <a:ext cx="457200" cy="457200"/>
          </a:xfrm>
          <a:prstGeom prst="arc">
            <a:avLst>
              <a:gd name="adj1" fmla="val 12781519"/>
              <a:gd name="adj2" fmla="val 14571822"/>
            </a:avLst>
          </a:prstGeom>
          <a:ln w="57150">
            <a:solidFill>
              <a:srgbClr val="FFFF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9" name="Arc 48">
            <a:extLst>
              <a:ext uri="{FF2B5EF4-FFF2-40B4-BE49-F238E27FC236}">
                <a16:creationId xmlns:a16="http://schemas.microsoft.com/office/drawing/2014/main" id="{1502CE66-4E93-3714-04C7-D3EE37B500EE}"/>
              </a:ext>
            </a:extLst>
          </p:cNvPr>
          <p:cNvSpPr/>
          <p:nvPr/>
        </p:nvSpPr>
        <p:spPr>
          <a:xfrm rot="15611557">
            <a:off x="3566717" y="2086352"/>
            <a:ext cx="457200" cy="457200"/>
          </a:xfrm>
          <a:prstGeom prst="arc">
            <a:avLst>
              <a:gd name="adj1" fmla="val 10392918"/>
              <a:gd name="adj2" fmla="val 14571822"/>
            </a:avLst>
          </a:prstGeom>
          <a:ln w="571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1" name="Arc 50">
            <a:extLst>
              <a:ext uri="{FF2B5EF4-FFF2-40B4-BE49-F238E27FC236}">
                <a16:creationId xmlns:a16="http://schemas.microsoft.com/office/drawing/2014/main" id="{E91AEA3C-2824-9F92-48A8-62FAB5B20CFE}"/>
              </a:ext>
            </a:extLst>
          </p:cNvPr>
          <p:cNvSpPr/>
          <p:nvPr/>
        </p:nvSpPr>
        <p:spPr>
          <a:xfrm rot="15758980">
            <a:off x="3612548" y="2141396"/>
            <a:ext cx="365760" cy="365760"/>
          </a:xfrm>
          <a:prstGeom prst="arc">
            <a:avLst>
              <a:gd name="adj1" fmla="val 10208053"/>
              <a:gd name="adj2" fmla="val 14571822"/>
            </a:avLst>
          </a:prstGeom>
          <a:ln w="57150">
            <a:solidFill>
              <a:srgbClr val="E0CDE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3" name="Arc 52">
            <a:extLst>
              <a:ext uri="{FF2B5EF4-FFF2-40B4-BE49-F238E27FC236}">
                <a16:creationId xmlns:a16="http://schemas.microsoft.com/office/drawing/2014/main" id="{F3945647-B79D-2E72-AAFB-A492A31415A6}"/>
              </a:ext>
            </a:extLst>
          </p:cNvPr>
          <p:cNvSpPr/>
          <p:nvPr/>
        </p:nvSpPr>
        <p:spPr>
          <a:xfrm rot="7206464">
            <a:off x="3572869" y="2086072"/>
            <a:ext cx="457200" cy="457200"/>
          </a:xfrm>
          <a:prstGeom prst="arc">
            <a:avLst>
              <a:gd name="adj1" fmla="val 12781519"/>
              <a:gd name="adj2" fmla="val 13776796"/>
            </a:avLst>
          </a:prstGeom>
          <a:ln w="57150">
            <a:solidFill>
              <a:srgbClr val="00206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67" name="Oval 66">
            <a:extLst>
              <a:ext uri="{FF2B5EF4-FFF2-40B4-BE49-F238E27FC236}">
                <a16:creationId xmlns:a16="http://schemas.microsoft.com/office/drawing/2014/main" id="{6038692E-3E9D-A4D0-29DE-90596DD46357}"/>
              </a:ext>
            </a:extLst>
          </p:cNvPr>
          <p:cNvSpPr/>
          <p:nvPr/>
        </p:nvSpPr>
        <p:spPr>
          <a:xfrm>
            <a:off x="3680635" y="3312896"/>
            <a:ext cx="457200" cy="457200"/>
          </a:xfrm>
          <a:prstGeom prst="ellipse">
            <a:avLst/>
          </a:prstGeom>
          <a:noFill/>
          <a:ln w="381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Arc 67">
            <a:extLst>
              <a:ext uri="{FF2B5EF4-FFF2-40B4-BE49-F238E27FC236}">
                <a16:creationId xmlns:a16="http://schemas.microsoft.com/office/drawing/2014/main" id="{CA6F1EEA-8AB0-35EC-E352-CA7DBFE700AC}"/>
              </a:ext>
            </a:extLst>
          </p:cNvPr>
          <p:cNvSpPr/>
          <p:nvPr/>
        </p:nvSpPr>
        <p:spPr>
          <a:xfrm rot="19487382">
            <a:off x="3680635" y="3303084"/>
            <a:ext cx="457200" cy="457200"/>
          </a:xfrm>
          <a:prstGeom prst="arc">
            <a:avLst>
              <a:gd name="adj1" fmla="val 14513924"/>
              <a:gd name="adj2" fmla="val 631815"/>
            </a:avLst>
          </a:prstGeom>
          <a:ln w="57150">
            <a:solidFill>
              <a:schemeClr val="bg2">
                <a:lumMod val="9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69" name="Arc 68">
            <a:extLst>
              <a:ext uri="{FF2B5EF4-FFF2-40B4-BE49-F238E27FC236}">
                <a16:creationId xmlns:a16="http://schemas.microsoft.com/office/drawing/2014/main" id="{55293DB7-BD00-4E97-C742-D76D8C38DF55}"/>
              </a:ext>
            </a:extLst>
          </p:cNvPr>
          <p:cNvSpPr/>
          <p:nvPr/>
        </p:nvSpPr>
        <p:spPr>
          <a:xfrm rot="19487382">
            <a:off x="3680636" y="3303084"/>
            <a:ext cx="457200" cy="457200"/>
          </a:xfrm>
          <a:prstGeom prst="arc">
            <a:avLst>
              <a:gd name="adj1" fmla="val 12781519"/>
              <a:gd name="adj2" fmla="val 14571822"/>
            </a:avLst>
          </a:prstGeom>
          <a:ln w="57150">
            <a:solidFill>
              <a:srgbClr val="FFFF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70" name="Arc 69">
            <a:extLst>
              <a:ext uri="{FF2B5EF4-FFF2-40B4-BE49-F238E27FC236}">
                <a16:creationId xmlns:a16="http://schemas.microsoft.com/office/drawing/2014/main" id="{F7100685-182C-55E7-B576-B58B2EC427B6}"/>
              </a:ext>
            </a:extLst>
          </p:cNvPr>
          <p:cNvSpPr/>
          <p:nvPr/>
        </p:nvSpPr>
        <p:spPr>
          <a:xfrm rot="15611557">
            <a:off x="3680635" y="3312057"/>
            <a:ext cx="457200" cy="457200"/>
          </a:xfrm>
          <a:prstGeom prst="arc">
            <a:avLst>
              <a:gd name="adj1" fmla="val 10392918"/>
              <a:gd name="adj2" fmla="val 14571822"/>
            </a:avLst>
          </a:prstGeom>
          <a:ln w="571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71" name="Arc 70">
            <a:extLst>
              <a:ext uri="{FF2B5EF4-FFF2-40B4-BE49-F238E27FC236}">
                <a16:creationId xmlns:a16="http://schemas.microsoft.com/office/drawing/2014/main" id="{95BB5BA9-BB1B-6107-59C4-7A8EA883A477}"/>
              </a:ext>
            </a:extLst>
          </p:cNvPr>
          <p:cNvSpPr/>
          <p:nvPr/>
        </p:nvSpPr>
        <p:spPr>
          <a:xfrm rot="15758980">
            <a:off x="3726466" y="3367101"/>
            <a:ext cx="365760" cy="365760"/>
          </a:xfrm>
          <a:prstGeom prst="arc">
            <a:avLst>
              <a:gd name="adj1" fmla="val 10208053"/>
              <a:gd name="adj2" fmla="val 14571822"/>
            </a:avLst>
          </a:prstGeom>
          <a:ln w="57150">
            <a:solidFill>
              <a:srgbClr val="E0CDE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72" name="Arc 71">
            <a:extLst>
              <a:ext uri="{FF2B5EF4-FFF2-40B4-BE49-F238E27FC236}">
                <a16:creationId xmlns:a16="http://schemas.microsoft.com/office/drawing/2014/main" id="{CF9F9247-3FD2-2C68-059C-B704898DAD8A}"/>
              </a:ext>
            </a:extLst>
          </p:cNvPr>
          <p:cNvSpPr/>
          <p:nvPr/>
        </p:nvSpPr>
        <p:spPr>
          <a:xfrm rot="7206464">
            <a:off x="3686787" y="3311777"/>
            <a:ext cx="457200" cy="457200"/>
          </a:xfrm>
          <a:prstGeom prst="arc">
            <a:avLst>
              <a:gd name="adj1" fmla="val 12781519"/>
              <a:gd name="adj2" fmla="val 13776796"/>
            </a:avLst>
          </a:prstGeom>
          <a:ln w="57150">
            <a:solidFill>
              <a:srgbClr val="00206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302056669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263362-05D1-251C-BF94-6A3303001469}"/>
            </a:ext>
          </a:extLst>
        </p:cNvPr>
        <p:cNvGrpSpPr/>
        <p:nvPr/>
      </p:nvGrpSpPr>
      <p:grpSpPr>
        <a:xfrm>
          <a:off x="0" y="0"/>
          <a:ext cx="0" cy="0"/>
          <a:chOff x="0" y="0"/>
          <a:chExt cx="0" cy="0"/>
        </a:xfrm>
      </p:grpSpPr>
      <p:sp>
        <p:nvSpPr>
          <p:cNvPr id="16" name="Title 1">
            <a:extLst>
              <a:ext uri="{FF2B5EF4-FFF2-40B4-BE49-F238E27FC236}">
                <a16:creationId xmlns:a16="http://schemas.microsoft.com/office/drawing/2014/main" id="{D0E23E61-B09B-9C31-0B16-3E8F4642FBD4}"/>
              </a:ext>
            </a:extLst>
          </p:cNvPr>
          <p:cNvSpPr>
            <a:spLocks noGrp="1"/>
          </p:cNvSpPr>
          <p:nvPr>
            <p:ph type="title"/>
          </p:nvPr>
        </p:nvSpPr>
        <p:spPr>
          <a:xfrm>
            <a:off x="719999" y="523239"/>
            <a:ext cx="7704000" cy="572700"/>
          </a:xfrm>
        </p:spPr>
        <p:txBody>
          <a:bodyPr/>
          <a:lstStyle/>
          <a:p>
            <a:pPr algn="ctr"/>
            <a:r>
              <a:rPr lang="en-US" sz="2000" dirty="0"/>
              <a:t>Previous generative models of enhancers use massively parallel reporter assays (MPRAs) to label sequences</a:t>
            </a:r>
          </a:p>
        </p:txBody>
      </p:sp>
      <p:sp>
        <p:nvSpPr>
          <p:cNvPr id="3" name="Oval 2">
            <a:extLst>
              <a:ext uri="{FF2B5EF4-FFF2-40B4-BE49-F238E27FC236}">
                <a16:creationId xmlns:a16="http://schemas.microsoft.com/office/drawing/2014/main" id="{E10FF159-9B6A-65D4-76D0-806E61EE442E}"/>
              </a:ext>
            </a:extLst>
          </p:cNvPr>
          <p:cNvSpPr/>
          <p:nvPr/>
        </p:nvSpPr>
        <p:spPr>
          <a:xfrm>
            <a:off x="738329" y="2262660"/>
            <a:ext cx="457200" cy="457200"/>
          </a:xfrm>
          <a:prstGeom prst="ellipse">
            <a:avLst/>
          </a:prstGeom>
          <a:noFill/>
          <a:ln w="381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Arc 3">
            <a:extLst>
              <a:ext uri="{FF2B5EF4-FFF2-40B4-BE49-F238E27FC236}">
                <a16:creationId xmlns:a16="http://schemas.microsoft.com/office/drawing/2014/main" id="{7F8EDD63-AEFE-1C6F-E7E9-7ECAB84595F7}"/>
              </a:ext>
            </a:extLst>
          </p:cNvPr>
          <p:cNvSpPr/>
          <p:nvPr/>
        </p:nvSpPr>
        <p:spPr>
          <a:xfrm rot="19487382">
            <a:off x="738329" y="2252848"/>
            <a:ext cx="457200" cy="457200"/>
          </a:xfrm>
          <a:prstGeom prst="arc">
            <a:avLst>
              <a:gd name="adj1" fmla="val 14513924"/>
              <a:gd name="adj2" fmla="val 631815"/>
            </a:avLst>
          </a:prstGeom>
          <a:ln w="57150">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 name="Arc 4">
            <a:extLst>
              <a:ext uri="{FF2B5EF4-FFF2-40B4-BE49-F238E27FC236}">
                <a16:creationId xmlns:a16="http://schemas.microsoft.com/office/drawing/2014/main" id="{4C340C47-6B75-49FE-4E82-C81646C3EF2F}"/>
              </a:ext>
            </a:extLst>
          </p:cNvPr>
          <p:cNvSpPr/>
          <p:nvPr/>
        </p:nvSpPr>
        <p:spPr>
          <a:xfrm rot="19487382">
            <a:off x="738330" y="2252848"/>
            <a:ext cx="457200" cy="457200"/>
          </a:xfrm>
          <a:prstGeom prst="arc">
            <a:avLst>
              <a:gd name="adj1" fmla="val 12781519"/>
              <a:gd name="adj2" fmla="val 14571822"/>
            </a:avLst>
          </a:prstGeom>
          <a:ln w="57150">
            <a:solidFill>
              <a:srgbClr val="FFFF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6" name="Arc 5">
            <a:extLst>
              <a:ext uri="{FF2B5EF4-FFF2-40B4-BE49-F238E27FC236}">
                <a16:creationId xmlns:a16="http://schemas.microsoft.com/office/drawing/2014/main" id="{F4EE2AA7-C3A8-6073-4C4F-CFE66FC9473E}"/>
              </a:ext>
            </a:extLst>
          </p:cNvPr>
          <p:cNvSpPr/>
          <p:nvPr/>
        </p:nvSpPr>
        <p:spPr>
          <a:xfrm rot="15611557">
            <a:off x="738329" y="2256741"/>
            <a:ext cx="457200" cy="457200"/>
          </a:xfrm>
          <a:prstGeom prst="arc">
            <a:avLst>
              <a:gd name="adj1" fmla="val 10392918"/>
              <a:gd name="adj2" fmla="val 14571822"/>
            </a:avLst>
          </a:prstGeom>
          <a:ln w="571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0" name="Oval 9">
            <a:extLst>
              <a:ext uri="{FF2B5EF4-FFF2-40B4-BE49-F238E27FC236}">
                <a16:creationId xmlns:a16="http://schemas.microsoft.com/office/drawing/2014/main" id="{06C25A0D-7555-BC1A-F7C8-6788C9D6700F}"/>
              </a:ext>
            </a:extLst>
          </p:cNvPr>
          <p:cNvSpPr/>
          <p:nvPr/>
        </p:nvSpPr>
        <p:spPr>
          <a:xfrm>
            <a:off x="828311" y="2948003"/>
            <a:ext cx="457200" cy="457200"/>
          </a:xfrm>
          <a:prstGeom prst="ellipse">
            <a:avLst/>
          </a:prstGeom>
          <a:noFill/>
          <a:ln w="381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Arc 10">
            <a:extLst>
              <a:ext uri="{FF2B5EF4-FFF2-40B4-BE49-F238E27FC236}">
                <a16:creationId xmlns:a16="http://schemas.microsoft.com/office/drawing/2014/main" id="{56A0E7B6-5843-6F7C-0A2C-C74B915E1052}"/>
              </a:ext>
            </a:extLst>
          </p:cNvPr>
          <p:cNvSpPr/>
          <p:nvPr/>
        </p:nvSpPr>
        <p:spPr>
          <a:xfrm rot="19487382">
            <a:off x="828311" y="2938191"/>
            <a:ext cx="457200" cy="457200"/>
          </a:xfrm>
          <a:prstGeom prst="arc">
            <a:avLst>
              <a:gd name="adj1" fmla="val 14513924"/>
              <a:gd name="adj2" fmla="val 631815"/>
            </a:avLst>
          </a:prstGeom>
          <a:ln w="57150">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2" name="Arc 11">
            <a:extLst>
              <a:ext uri="{FF2B5EF4-FFF2-40B4-BE49-F238E27FC236}">
                <a16:creationId xmlns:a16="http://schemas.microsoft.com/office/drawing/2014/main" id="{30491E06-7022-B596-75DE-4A6A1252B4A2}"/>
              </a:ext>
            </a:extLst>
          </p:cNvPr>
          <p:cNvSpPr/>
          <p:nvPr/>
        </p:nvSpPr>
        <p:spPr>
          <a:xfrm rot="19487382">
            <a:off x="828312" y="2938191"/>
            <a:ext cx="457200" cy="457200"/>
          </a:xfrm>
          <a:prstGeom prst="arc">
            <a:avLst>
              <a:gd name="adj1" fmla="val 12781519"/>
              <a:gd name="adj2" fmla="val 14571822"/>
            </a:avLst>
          </a:prstGeom>
          <a:ln w="57150">
            <a:solidFill>
              <a:srgbClr val="FFFF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3" name="Arc 12">
            <a:extLst>
              <a:ext uri="{FF2B5EF4-FFF2-40B4-BE49-F238E27FC236}">
                <a16:creationId xmlns:a16="http://schemas.microsoft.com/office/drawing/2014/main" id="{96809193-E0D2-950D-907A-9D24086FC5B1}"/>
              </a:ext>
            </a:extLst>
          </p:cNvPr>
          <p:cNvSpPr/>
          <p:nvPr/>
        </p:nvSpPr>
        <p:spPr>
          <a:xfrm rot="15611557">
            <a:off x="828311" y="2947164"/>
            <a:ext cx="457200" cy="457200"/>
          </a:xfrm>
          <a:prstGeom prst="arc">
            <a:avLst>
              <a:gd name="adj1" fmla="val 10392918"/>
              <a:gd name="adj2" fmla="val 14571822"/>
            </a:avLst>
          </a:prstGeom>
          <a:ln w="571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4" name="Oval 13">
            <a:extLst>
              <a:ext uri="{FF2B5EF4-FFF2-40B4-BE49-F238E27FC236}">
                <a16:creationId xmlns:a16="http://schemas.microsoft.com/office/drawing/2014/main" id="{19B44F76-D91E-DDFA-3E89-64716391AC19}"/>
              </a:ext>
            </a:extLst>
          </p:cNvPr>
          <p:cNvSpPr/>
          <p:nvPr/>
        </p:nvSpPr>
        <p:spPr>
          <a:xfrm>
            <a:off x="1266727" y="2539439"/>
            <a:ext cx="457200" cy="457200"/>
          </a:xfrm>
          <a:prstGeom prst="ellipse">
            <a:avLst/>
          </a:prstGeom>
          <a:noFill/>
          <a:ln w="381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Arc 14">
            <a:extLst>
              <a:ext uri="{FF2B5EF4-FFF2-40B4-BE49-F238E27FC236}">
                <a16:creationId xmlns:a16="http://schemas.microsoft.com/office/drawing/2014/main" id="{9463B815-402D-C3F4-FF1B-3859F806F832}"/>
              </a:ext>
            </a:extLst>
          </p:cNvPr>
          <p:cNvSpPr/>
          <p:nvPr/>
        </p:nvSpPr>
        <p:spPr>
          <a:xfrm rot="19487382">
            <a:off x="1266727" y="2529627"/>
            <a:ext cx="457200" cy="457200"/>
          </a:xfrm>
          <a:prstGeom prst="arc">
            <a:avLst>
              <a:gd name="adj1" fmla="val 14513924"/>
              <a:gd name="adj2" fmla="val 631815"/>
            </a:avLst>
          </a:prstGeom>
          <a:ln w="57150">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7" name="Arc 16">
            <a:extLst>
              <a:ext uri="{FF2B5EF4-FFF2-40B4-BE49-F238E27FC236}">
                <a16:creationId xmlns:a16="http://schemas.microsoft.com/office/drawing/2014/main" id="{5F62FF6B-053B-6225-B1C5-D85B2907E680}"/>
              </a:ext>
            </a:extLst>
          </p:cNvPr>
          <p:cNvSpPr/>
          <p:nvPr/>
        </p:nvSpPr>
        <p:spPr>
          <a:xfrm rot="19487382">
            <a:off x="1266728" y="2529627"/>
            <a:ext cx="457200" cy="457200"/>
          </a:xfrm>
          <a:prstGeom prst="arc">
            <a:avLst>
              <a:gd name="adj1" fmla="val 12781519"/>
              <a:gd name="adj2" fmla="val 14571822"/>
            </a:avLst>
          </a:prstGeom>
          <a:ln w="57150">
            <a:solidFill>
              <a:srgbClr val="FFFF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8" name="Arc 17">
            <a:extLst>
              <a:ext uri="{FF2B5EF4-FFF2-40B4-BE49-F238E27FC236}">
                <a16:creationId xmlns:a16="http://schemas.microsoft.com/office/drawing/2014/main" id="{770390B0-D82F-71AA-6F2F-0451B38B5576}"/>
              </a:ext>
            </a:extLst>
          </p:cNvPr>
          <p:cNvSpPr/>
          <p:nvPr/>
        </p:nvSpPr>
        <p:spPr>
          <a:xfrm rot="15611557">
            <a:off x="1266727" y="2538600"/>
            <a:ext cx="457200" cy="457200"/>
          </a:xfrm>
          <a:prstGeom prst="arc">
            <a:avLst>
              <a:gd name="adj1" fmla="val 10392918"/>
              <a:gd name="adj2" fmla="val 14571822"/>
            </a:avLst>
          </a:prstGeom>
          <a:ln w="571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2" name="TextBox 31">
            <a:extLst>
              <a:ext uri="{FF2B5EF4-FFF2-40B4-BE49-F238E27FC236}">
                <a16:creationId xmlns:a16="http://schemas.microsoft.com/office/drawing/2014/main" id="{880DBCAC-95E7-BA77-7F97-9D3DF6EB0BD6}"/>
              </a:ext>
            </a:extLst>
          </p:cNvPr>
          <p:cNvSpPr txBox="1"/>
          <p:nvPr/>
        </p:nvSpPr>
        <p:spPr>
          <a:xfrm>
            <a:off x="823885" y="3669016"/>
            <a:ext cx="872355" cy="523220"/>
          </a:xfrm>
          <a:prstGeom prst="rect">
            <a:avLst/>
          </a:prstGeom>
          <a:noFill/>
        </p:spPr>
        <p:txBody>
          <a:bodyPr wrap="none" rtlCol="0">
            <a:spAutoFit/>
          </a:bodyPr>
          <a:lstStyle/>
          <a:p>
            <a:pPr algn="ctr"/>
            <a:r>
              <a:rPr lang="en-US" dirty="0"/>
              <a:t>Plasmid </a:t>
            </a:r>
            <a:br>
              <a:rPr lang="en-US" dirty="0"/>
            </a:br>
            <a:r>
              <a:rPr lang="en-US" dirty="0"/>
              <a:t>Library</a:t>
            </a:r>
          </a:p>
        </p:txBody>
      </p:sp>
      <p:sp>
        <p:nvSpPr>
          <p:cNvPr id="33" name="Arc 32">
            <a:extLst>
              <a:ext uri="{FF2B5EF4-FFF2-40B4-BE49-F238E27FC236}">
                <a16:creationId xmlns:a16="http://schemas.microsoft.com/office/drawing/2014/main" id="{AB26EA4D-2EDE-7E72-78BB-A8FA66733FAD}"/>
              </a:ext>
            </a:extLst>
          </p:cNvPr>
          <p:cNvSpPr/>
          <p:nvPr/>
        </p:nvSpPr>
        <p:spPr>
          <a:xfrm rot="15758980">
            <a:off x="874140" y="2998909"/>
            <a:ext cx="365760" cy="365760"/>
          </a:xfrm>
          <a:prstGeom prst="arc">
            <a:avLst>
              <a:gd name="adj1" fmla="val 10208053"/>
              <a:gd name="adj2" fmla="val 14571822"/>
            </a:avLst>
          </a:prstGeom>
          <a:ln w="57150">
            <a:solidFill>
              <a:srgbClr val="46B0A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3" name="Arc 22">
            <a:extLst>
              <a:ext uri="{FF2B5EF4-FFF2-40B4-BE49-F238E27FC236}">
                <a16:creationId xmlns:a16="http://schemas.microsoft.com/office/drawing/2014/main" id="{A8D9E60D-4D22-7A11-35B3-23143190FAE5}"/>
              </a:ext>
            </a:extLst>
          </p:cNvPr>
          <p:cNvSpPr/>
          <p:nvPr/>
        </p:nvSpPr>
        <p:spPr>
          <a:xfrm rot="15758980">
            <a:off x="1312558" y="2593644"/>
            <a:ext cx="365760" cy="365760"/>
          </a:xfrm>
          <a:prstGeom prst="arc">
            <a:avLst>
              <a:gd name="adj1" fmla="val 10208053"/>
              <a:gd name="adj2" fmla="val 14571822"/>
            </a:avLst>
          </a:prstGeom>
          <a:ln w="57150">
            <a:solidFill>
              <a:srgbClr val="E0CDE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2" name="Arc 21">
            <a:extLst>
              <a:ext uri="{FF2B5EF4-FFF2-40B4-BE49-F238E27FC236}">
                <a16:creationId xmlns:a16="http://schemas.microsoft.com/office/drawing/2014/main" id="{094EFBD8-9FD9-9E2A-CD0A-763A1D0036AE}"/>
              </a:ext>
            </a:extLst>
          </p:cNvPr>
          <p:cNvSpPr/>
          <p:nvPr/>
        </p:nvSpPr>
        <p:spPr>
          <a:xfrm rot="15758980">
            <a:off x="784127" y="2315358"/>
            <a:ext cx="365760" cy="365760"/>
          </a:xfrm>
          <a:prstGeom prst="arc">
            <a:avLst>
              <a:gd name="adj1" fmla="val 10208053"/>
              <a:gd name="adj2" fmla="val 14571822"/>
            </a:avLst>
          </a:prstGeom>
          <a:ln w="57150">
            <a:solidFill>
              <a:srgbClr val="7030A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7" name="Arc 36">
            <a:extLst>
              <a:ext uri="{FF2B5EF4-FFF2-40B4-BE49-F238E27FC236}">
                <a16:creationId xmlns:a16="http://schemas.microsoft.com/office/drawing/2014/main" id="{3531DA30-EB8F-3898-C04C-FF3E8DBFF52B}"/>
              </a:ext>
            </a:extLst>
          </p:cNvPr>
          <p:cNvSpPr/>
          <p:nvPr/>
        </p:nvSpPr>
        <p:spPr>
          <a:xfrm rot="7206464">
            <a:off x="1272879" y="2538320"/>
            <a:ext cx="457200" cy="457200"/>
          </a:xfrm>
          <a:prstGeom prst="arc">
            <a:avLst>
              <a:gd name="adj1" fmla="val 12781519"/>
              <a:gd name="adj2" fmla="val 13776796"/>
            </a:avLst>
          </a:prstGeom>
          <a:ln w="57150">
            <a:solidFill>
              <a:srgbClr val="00206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8" name="Arc 37">
            <a:extLst>
              <a:ext uri="{FF2B5EF4-FFF2-40B4-BE49-F238E27FC236}">
                <a16:creationId xmlns:a16="http://schemas.microsoft.com/office/drawing/2014/main" id="{511144EF-8843-979E-9CAF-92F5F4086F01}"/>
              </a:ext>
            </a:extLst>
          </p:cNvPr>
          <p:cNvSpPr/>
          <p:nvPr/>
        </p:nvSpPr>
        <p:spPr>
          <a:xfrm rot="7206464">
            <a:off x="737664" y="2261533"/>
            <a:ext cx="457200" cy="457200"/>
          </a:xfrm>
          <a:prstGeom prst="arc">
            <a:avLst>
              <a:gd name="adj1" fmla="val 12781519"/>
              <a:gd name="adj2" fmla="val 13776796"/>
            </a:avLst>
          </a:prstGeom>
          <a:ln w="57150">
            <a:solidFill>
              <a:srgbClr val="00206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9" name="Arc 38">
            <a:extLst>
              <a:ext uri="{FF2B5EF4-FFF2-40B4-BE49-F238E27FC236}">
                <a16:creationId xmlns:a16="http://schemas.microsoft.com/office/drawing/2014/main" id="{5F9BBB3B-6E26-39F4-8E5A-0A1EE0CC05F3}"/>
              </a:ext>
            </a:extLst>
          </p:cNvPr>
          <p:cNvSpPr/>
          <p:nvPr/>
        </p:nvSpPr>
        <p:spPr>
          <a:xfrm rot="7206464">
            <a:off x="828311" y="2944342"/>
            <a:ext cx="457200" cy="457200"/>
          </a:xfrm>
          <a:prstGeom prst="arc">
            <a:avLst>
              <a:gd name="adj1" fmla="val 12781519"/>
              <a:gd name="adj2" fmla="val 13776796"/>
            </a:avLst>
          </a:prstGeom>
          <a:ln w="57150">
            <a:solidFill>
              <a:srgbClr val="00206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pic>
        <p:nvPicPr>
          <p:cNvPr id="2" name="Picture 1" descr="The image depicts a simple, circular, monochromatic silhouette.&#10;&#10;AI-generated content may be incorrect.">
            <a:extLst>
              <a:ext uri="{FF2B5EF4-FFF2-40B4-BE49-F238E27FC236}">
                <a16:creationId xmlns:a16="http://schemas.microsoft.com/office/drawing/2014/main" id="{AD86D0F5-90DA-4292-4525-F22803542D36}"/>
              </a:ext>
            </a:extLst>
          </p:cNvPr>
          <p:cNvPicPr>
            <a:picLocks noChangeAspect="1"/>
          </p:cNvPicPr>
          <p:nvPr/>
        </p:nvPicPr>
        <p:blipFill>
          <a:blip r:embed="rId3"/>
          <a:stretch>
            <a:fillRect/>
          </a:stretch>
        </p:blipFill>
        <p:spPr>
          <a:xfrm>
            <a:off x="3251215" y="1618654"/>
            <a:ext cx="1096239" cy="1176697"/>
          </a:xfrm>
          <a:prstGeom prst="rect">
            <a:avLst/>
          </a:prstGeom>
        </p:spPr>
      </p:pic>
      <p:pic>
        <p:nvPicPr>
          <p:cNvPr id="7" name="Picture 6" descr="The image depicts a simple, abstract representation of an organic, leaf-like shape with a round, smooth surface.&#10;&#10;AI-generated content may be incorrect.">
            <a:extLst>
              <a:ext uri="{FF2B5EF4-FFF2-40B4-BE49-F238E27FC236}">
                <a16:creationId xmlns:a16="http://schemas.microsoft.com/office/drawing/2014/main" id="{5B8B53D1-CCDA-4640-5E6C-F61DCAD30E14}"/>
              </a:ext>
            </a:extLst>
          </p:cNvPr>
          <p:cNvPicPr>
            <a:picLocks noChangeAspect="1"/>
          </p:cNvPicPr>
          <p:nvPr/>
        </p:nvPicPr>
        <p:blipFill>
          <a:blip r:embed="rId4">
            <a:duotone>
              <a:prstClr val="black"/>
              <a:schemeClr val="accent6">
                <a:tint val="45000"/>
                <a:satMod val="400000"/>
              </a:schemeClr>
            </a:duotone>
          </a:blip>
          <a:srcRect l="6339" b="7120"/>
          <a:stretch>
            <a:fillRect/>
          </a:stretch>
        </p:blipFill>
        <p:spPr>
          <a:xfrm>
            <a:off x="2719999" y="3111073"/>
            <a:ext cx="2719979" cy="1072641"/>
          </a:xfrm>
          <a:prstGeom prst="rect">
            <a:avLst/>
          </a:prstGeom>
        </p:spPr>
      </p:pic>
      <p:pic>
        <p:nvPicPr>
          <p:cNvPr id="9" name="Picture 8" descr="The image depicts a simple, circular diagram with two concentric circles, one inside the other.&#10;&#10;AI-generated content may be incorrect.">
            <a:extLst>
              <a:ext uri="{FF2B5EF4-FFF2-40B4-BE49-F238E27FC236}">
                <a16:creationId xmlns:a16="http://schemas.microsoft.com/office/drawing/2014/main" id="{7AE0E82F-0548-7C3C-CB8A-4679EDE9706A}"/>
              </a:ext>
            </a:extLst>
          </p:cNvPr>
          <p:cNvPicPr>
            <a:picLocks noChangeAspect="1"/>
          </p:cNvPicPr>
          <p:nvPr/>
        </p:nvPicPr>
        <p:blipFill>
          <a:blip r:embed="rId5"/>
          <a:stretch>
            <a:fillRect/>
          </a:stretch>
        </p:blipFill>
        <p:spPr>
          <a:xfrm>
            <a:off x="3304233" y="1695465"/>
            <a:ext cx="982167" cy="1071455"/>
          </a:xfrm>
          <a:prstGeom prst="rect">
            <a:avLst/>
          </a:prstGeom>
        </p:spPr>
      </p:pic>
      <p:sp>
        <p:nvSpPr>
          <p:cNvPr id="19" name="Arc 18">
            <a:extLst>
              <a:ext uri="{FF2B5EF4-FFF2-40B4-BE49-F238E27FC236}">
                <a16:creationId xmlns:a16="http://schemas.microsoft.com/office/drawing/2014/main" id="{2B3AC8C8-F625-1EDF-71FF-7CA07A0F6C8D}"/>
              </a:ext>
            </a:extLst>
          </p:cNvPr>
          <p:cNvSpPr/>
          <p:nvPr/>
        </p:nvSpPr>
        <p:spPr>
          <a:xfrm rot="11416370" flipH="1">
            <a:off x="99956" y="1254515"/>
            <a:ext cx="3660869" cy="1450057"/>
          </a:xfrm>
          <a:prstGeom prst="arc">
            <a:avLst>
              <a:gd name="adj1" fmla="val 16176146"/>
              <a:gd name="adj2" fmla="val 21071442"/>
            </a:avLst>
          </a:prstGeom>
          <a:ln w="28575">
            <a:headEnd type="none" w="med" len="med"/>
            <a:tailEnd type="arrow"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dirty="0"/>
          </a:p>
        </p:txBody>
      </p:sp>
      <p:sp>
        <p:nvSpPr>
          <p:cNvPr id="20" name="Arc 19">
            <a:extLst>
              <a:ext uri="{FF2B5EF4-FFF2-40B4-BE49-F238E27FC236}">
                <a16:creationId xmlns:a16="http://schemas.microsoft.com/office/drawing/2014/main" id="{80FF1437-8A5F-2117-5F40-9E924C83C760}"/>
              </a:ext>
            </a:extLst>
          </p:cNvPr>
          <p:cNvSpPr/>
          <p:nvPr/>
        </p:nvSpPr>
        <p:spPr>
          <a:xfrm rot="10183630" flipH="1" flipV="1">
            <a:off x="99955" y="2886559"/>
            <a:ext cx="3660869" cy="1450057"/>
          </a:xfrm>
          <a:prstGeom prst="arc">
            <a:avLst>
              <a:gd name="adj1" fmla="val 16176146"/>
              <a:gd name="adj2" fmla="val 21071442"/>
            </a:avLst>
          </a:prstGeom>
          <a:ln w="28575">
            <a:headEnd type="none" w="med" len="med"/>
            <a:tailEnd type="arrow"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dirty="0"/>
          </a:p>
        </p:txBody>
      </p:sp>
      <p:sp>
        <p:nvSpPr>
          <p:cNvPr id="41" name="Oval 40">
            <a:extLst>
              <a:ext uri="{FF2B5EF4-FFF2-40B4-BE49-F238E27FC236}">
                <a16:creationId xmlns:a16="http://schemas.microsoft.com/office/drawing/2014/main" id="{316089A1-AE29-0AEC-2EC6-0C438E69D4FF}"/>
              </a:ext>
            </a:extLst>
          </p:cNvPr>
          <p:cNvSpPr/>
          <p:nvPr/>
        </p:nvSpPr>
        <p:spPr>
          <a:xfrm>
            <a:off x="3566717" y="2087191"/>
            <a:ext cx="457200" cy="457200"/>
          </a:xfrm>
          <a:prstGeom prst="ellipse">
            <a:avLst/>
          </a:prstGeom>
          <a:noFill/>
          <a:ln w="381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Arc 41">
            <a:extLst>
              <a:ext uri="{FF2B5EF4-FFF2-40B4-BE49-F238E27FC236}">
                <a16:creationId xmlns:a16="http://schemas.microsoft.com/office/drawing/2014/main" id="{2FC6DCFD-B753-C66A-64EA-A02FDF01B814}"/>
              </a:ext>
            </a:extLst>
          </p:cNvPr>
          <p:cNvSpPr/>
          <p:nvPr/>
        </p:nvSpPr>
        <p:spPr>
          <a:xfrm rot="19487382">
            <a:off x="3566717" y="2077379"/>
            <a:ext cx="457200" cy="457200"/>
          </a:xfrm>
          <a:prstGeom prst="arc">
            <a:avLst>
              <a:gd name="adj1" fmla="val 14513924"/>
              <a:gd name="adj2" fmla="val 631815"/>
            </a:avLst>
          </a:prstGeom>
          <a:ln w="57150">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5" name="Arc 44">
            <a:extLst>
              <a:ext uri="{FF2B5EF4-FFF2-40B4-BE49-F238E27FC236}">
                <a16:creationId xmlns:a16="http://schemas.microsoft.com/office/drawing/2014/main" id="{D7A47ADE-D32F-C43E-7797-226F8074BC51}"/>
              </a:ext>
            </a:extLst>
          </p:cNvPr>
          <p:cNvSpPr/>
          <p:nvPr/>
        </p:nvSpPr>
        <p:spPr>
          <a:xfrm rot="19487382">
            <a:off x="3566718" y="2077379"/>
            <a:ext cx="457200" cy="457200"/>
          </a:xfrm>
          <a:prstGeom prst="arc">
            <a:avLst>
              <a:gd name="adj1" fmla="val 12781519"/>
              <a:gd name="adj2" fmla="val 14571822"/>
            </a:avLst>
          </a:prstGeom>
          <a:ln w="57150">
            <a:solidFill>
              <a:srgbClr val="FFFF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9" name="Arc 48">
            <a:extLst>
              <a:ext uri="{FF2B5EF4-FFF2-40B4-BE49-F238E27FC236}">
                <a16:creationId xmlns:a16="http://schemas.microsoft.com/office/drawing/2014/main" id="{9F4D54F4-5198-AFB1-5CA9-38027BE1B6F7}"/>
              </a:ext>
            </a:extLst>
          </p:cNvPr>
          <p:cNvSpPr/>
          <p:nvPr/>
        </p:nvSpPr>
        <p:spPr>
          <a:xfrm rot="15611557">
            <a:off x="3566717" y="2086352"/>
            <a:ext cx="457200" cy="457200"/>
          </a:xfrm>
          <a:prstGeom prst="arc">
            <a:avLst>
              <a:gd name="adj1" fmla="val 10392918"/>
              <a:gd name="adj2" fmla="val 14571822"/>
            </a:avLst>
          </a:prstGeom>
          <a:ln w="571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1" name="Arc 50">
            <a:extLst>
              <a:ext uri="{FF2B5EF4-FFF2-40B4-BE49-F238E27FC236}">
                <a16:creationId xmlns:a16="http://schemas.microsoft.com/office/drawing/2014/main" id="{B627C9E6-718A-93D2-9B7E-3F83CCDA6552}"/>
              </a:ext>
            </a:extLst>
          </p:cNvPr>
          <p:cNvSpPr/>
          <p:nvPr/>
        </p:nvSpPr>
        <p:spPr>
          <a:xfrm rot="15758980">
            <a:off x="3612548" y="2141396"/>
            <a:ext cx="365760" cy="365760"/>
          </a:xfrm>
          <a:prstGeom prst="arc">
            <a:avLst>
              <a:gd name="adj1" fmla="val 10208053"/>
              <a:gd name="adj2" fmla="val 14571822"/>
            </a:avLst>
          </a:prstGeom>
          <a:ln w="57150">
            <a:solidFill>
              <a:srgbClr val="E0CDE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3" name="Arc 52">
            <a:extLst>
              <a:ext uri="{FF2B5EF4-FFF2-40B4-BE49-F238E27FC236}">
                <a16:creationId xmlns:a16="http://schemas.microsoft.com/office/drawing/2014/main" id="{83F11CD3-BB67-EE2A-C283-418AAF09E035}"/>
              </a:ext>
            </a:extLst>
          </p:cNvPr>
          <p:cNvSpPr/>
          <p:nvPr/>
        </p:nvSpPr>
        <p:spPr>
          <a:xfrm rot="7206464">
            <a:off x="3572869" y="2086072"/>
            <a:ext cx="457200" cy="457200"/>
          </a:xfrm>
          <a:prstGeom prst="arc">
            <a:avLst>
              <a:gd name="adj1" fmla="val 12781519"/>
              <a:gd name="adj2" fmla="val 13776796"/>
            </a:avLst>
          </a:prstGeom>
          <a:ln w="57150">
            <a:solidFill>
              <a:srgbClr val="00206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67" name="Oval 66">
            <a:extLst>
              <a:ext uri="{FF2B5EF4-FFF2-40B4-BE49-F238E27FC236}">
                <a16:creationId xmlns:a16="http://schemas.microsoft.com/office/drawing/2014/main" id="{575CCACB-3AAB-00AC-B071-98DE142A3E80}"/>
              </a:ext>
            </a:extLst>
          </p:cNvPr>
          <p:cNvSpPr/>
          <p:nvPr/>
        </p:nvSpPr>
        <p:spPr>
          <a:xfrm>
            <a:off x="3680635" y="3312896"/>
            <a:ext cx="457200" cy="457200"/>
          </a:xfrm>
          <a:prstGeom prst="ellipse">
            <a:avLst/>
          </a:prstGeom>
          <a:noFill/>
          <a:ln w="381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Arc 67">
            <a:extLst>
              <a:ext uri="{FF2B5EF4-FFF2-40B4-BE49-F238E27FC236}">
                <a16:creationId xmlns:a16="http://schemas.microsoft.com/office/drawing/2014/main" id="{8BAEB88E-1CBB-A474-6CC0-66E368A98B26}"/>
              </a:ext>
            </a:extLst>
          </p:cNvPr>
          <p:cNvSpPr/>
          <p:nvPr/>
        </p:nvSpPr>
        <p:spPr>
          <a:xfrm rot="19487382">
            <a:off x="3680635" y="3303084"/>
            <a:ext cx="457200" cy="457200"/>
          </a:xfrm>
          <a:prstGeom prst="arc">
            <a:avLst>
              <a:gd name="adj1" fmla="val 14513924"/>
              <a:gd name="adj2" fmla="val 631815"/>
            </a:avLst>
          </a:prstGeom>
          <a:ln w="57150">
            <a:solidFill>
              <a:schemeClr val="bg2">
                <a:lumMod val="9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69" name="Arc 68">
            <a:extLst>
              <a:ext uri="{FF2B5EF4-FFF2-40B4-BE49-F238E27FC236}">
                <a16:creationId xmlns:a16="http://schemas.microsoft.com/office/drawing/2014/main" id="{ECA8F6D2-D179-3EB8-E956-D23C2865B3DC}"/>
              </a:ext>
            </a:extLst>
          </p:cNvPr>
          <p:cNvSpPr/>
          <p:nvPr/>
        </p:nvSpPr>
        <p:spPr>
          <a:xfrm rot="19487382">
            <a:off x="3680636" y="3303084"/>
            <a:ext cx="457200" cy="457200"/>
          </a:xfrm>
          <a:prstGeom prst="arc">
            <a:avLst>
              <a:gd name="adj1" fmla="val 12781519"/>
              <a:gd name="adj2" fmla="val 14571822"/>
            </a:avLst>
          </a:prstGeom>
          <a:ln w="57150">
            <a:solidFill>
              <a:srgbClr val="FFFF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70" name="Arc 69">
            <a:extLst>
              <a:ext uri="{FF2B5EF4-FFF2-40B4-BE49-F238E27FC236}">
                <a16:creationId xmlns:a16="http://schemas.microsoft.com/office/drawing/2014/main" id="{9794EC65-C914-0CE6-9D11-49B0DD92BE2F}"/>
              </a:ext>
            </a:extLst>
          </p:cNvPr>
          <p:cNvSpPr/>
          <p:nvPr/>
        </p:nvSpPr>
        <p:spPr>
          <a:xfrm rot="15611557">
            <a:off x="3680635" y="3312057"/>
            <a:ext cx="457200" cy="457200"/>
          </a:xfrm>
          <a:prstGeom prst="arc">
            <a:avLst>
              <a:gd name="adj1" fmla="val 10392918"/>
              <a:gd name="adj2" fmla="val 14571822"/>
            </a:avLst>
          </a:prstGeom>
          <a:ln w="571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71" name="Arc 70">
            <a:extLst>
              <a:ext uri="{FF2B5EF4-FFF2-40B4-BE49-F238E27FC236}">
                <a16:creationId xmlns:a16="http://schemas.microsoft.com/office/drawing/2014/main" id="{9C15F922-B578-1453-4BBA-0DE118ED5651}"/>
              </a:ext>
            </a:extLst>
          </p:cNvPr>
          <p:cNvSpPr/>
          <p:nvPr/>
        </p:nvSpPr>
        <p:spPr>
          <a:xfrm rot="15758980">
            <a:off x="3726466" y="3367101"/>
            <a:ext cx="365760" cy="365760"/>
          </a:xfrm>
          <a:prstGeom prst="arc">
            <a:avLst>
              <a:gd name="adj1" fmla="val 10208053"/>
              <a:gd name="adj2" fmla="val 14571822"/>
            </a:avLst>
          </a:prstGeom>
          <a:ln w="57150">
            <a:solidFill>
              <a:srgbClr val="E0CDE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72" name="Arc 71">
            <a:extLst>
              <a:ext uri="{FF2B5EF4-FFF2-40B4-BE49-F238E27FC236}">
                <a16:creationId xmlns:a16="http://schemas.microsoft.com/office/drawing/2014/main" id="{56841605-35CE-4F1D-C574-9566ED832E2F}"/>
              </a:ext>
            </a:extLst>
          </p:cNvPr>
          <p:cNvSpPr/>
          <p:nvPr/>
        </p:nvSpPr>
        <p:spPr>
          <a:xfrm rot="7206464">
            <a:off x="3686787" y="3311777"/>
            <a:ext cx="457200" cy="457200"/>
          </a:xfrm>
          <a:prstGeom prst="arc">
            <a:avLst>
              <a:gd name="adj1" fmla="val 12781519"/>
              <a:gd name="adj2" fmla="val 13776796"/>
            </a:avLst>
          </a:prstGeom>
          <a:ln w="57150">
            <a:solidFill>
              <a:srgbClr val="00206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21" name="Straight Arrow Connector 20">
            <a:extLst>
              <a:ext uri="{FF2B5EF4-FFF2-40B4-BE49-F238E27FC236}">
                <a16:creationId xmlns:a16="http://schemas.microsoft.com/office/drawing/2014/main" id="{74F7483B-D1D6-D0D8-1B3B-01DB0C2FB721}"/>
              </a:ext>
            </a:extLst>
          </p:cNvPr>
          <p:cNvCxnSpPr>
            <a:cxnSpLocks/>
          </p:cNvCxnSpPr>
          <p:nvPr/>
        </p:nvCxnSpPr>
        <p:spPr>
          <a:xfrm>
            <a:off x="4572000" y="2262660"/>
            <a:ext cx="1366092"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25" name="Straight Arrow Connector 24">
            <a:extLst>
              <a:ext uri="{FF2B5EF4-FFF2-40B4-BE49-F238E27FC236}">
                <a16:creationId xmlns:a16="http://schemas.microsoft.com/office/drawing/2014/main" id="{8121C472-95AE-FB4A-02F0-3D70A0380272}"/>
              </a:ext>
            </a:extLst>
          </p:cNvPr>
          <p:cNvCxnSpPr>
            <a:cxnSpLocks/>
          </p:cNvCxnSpPr>
          <p:nvPr/>
        </p:nvCxnSpPr>
        <p:spPr>
          <a:xfrm>
            <a:off x="5357870" y="3531806"/>
            <a:ext cx="580222"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8" name="TextBox 7">
            <a:extLst>
              <a:ext uri="{FF2B5EF4-FFF2-40B4-BE49-F238E27FC236}">
                <a16:creationId xmlns:a16="http://schemas.microsoft.com/office/drawing/2014/main" id="{37A92248-FAE6-E6EE-B9BD-A5750EF60321}"/>
              </a:ext>
            </a:extLst>
          </p:cNvPr>
          <p:cNvSpPr txBox="1"/>
          <p:nvPr/>
        </p:nvSpPr>
        <p:spPr>
          <a:xfrm>
            <a:off x="4749940" y="2426019"/>
            <a:ext cx="1010212" cy="738664"/>
          </a:xfrm>
          <a:prstGeom prst="rect">
            <a:avLst/>
          </a:prstGeom>
          <a:noFill/>
        </p:spPr>
        <p:txBody>
          <a:bodyPr wrap="none" rtlCol="0">
            <a:spAutoFit/>
          </a:bodyPr>
          <a:lstStyle/>
          <a:p>
            <a:pPr algn="ctr"/>
            <a:r>
              <a:rPr lang="en-US" dirty="0"/>
              <a:t>Sort and </a:t>
            </a:r>
          </a:p>
          <a:p>
            <a:pPr algn="ctr"/>
            <a:r>
              <a:rPr lang="en-US" dirty="0"/>
              <a:t>sequence </a:t>
            </a:r>
            <a:br>
              <a:rPr lang="en-US" dirty="0"/>
            </a:br>
            <a:r>
              <a:rPr lang="en-US" dirty="0"/>
              <a:t>barcodes</a:t>
            </a:r>
          </a:p>
        </p:txBody>
      </p:sp>
      <p:sp>
        <p:nvSpPr>
          <p:cNvPr id="24" name="Rectangle 23">
            <a:extLst>
              <a:ext uri="{FF2B5EF4-FFF2-40B4-BE49-F238E27FC236}">
                <a16:creationId xmlns:a16="http://schemas.microsoft.com/office/drawing/2014/main" id="{8B633263-8706-C56A-9E32-D585DD714C84}"/>
              </a:ext>
            </a:extLst>
          </p:cNvPr>
          <p:cNvSpPr/>
          <p:nvPr/>
        </p:nvSpPr>
        <p:spPr>
          <a:xfrm>
            <a:off x="6162638" y="2133983"/>
            <a:ext cx="842963" cy="87159"/>
          </a:xfrm>
          <a:prstGeom prst="rect">
            <a:avLst/>
          </a:prstGeom>
          <a:solidFill>
            <a:srgbClr val="E0CDEF"/>
          </a:solidFill>
          <a:ln>
            <a:solidFill>
              <a:srgbClr val="E0CDE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33063AD1-0246-6EBC-EDD2-37322980A725}"/>
              </a:ext>
            </a:extLst>
          </p:cNvPr>
          <p:cNvSpPr/>
          <p:nvPr/>
        </p:nvSpPr>
        <p:spPr>
          <a:xfrm>
            <a:off x="6162638" y="3524428"/>
            <a:ext cx="842963" cy="87159"/>
          </a:xfrm>
          <a:prstGeom prst="rect">
            <a:avLst/>
          </a:prstGeom>
          <a:solidFill>
            <a:srgbClr val="46B0AA"/>
          </a:solidFill>
          <a:ln>
            <a:solidFill>
              <a:srgbClr val="46B0A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2321BA07-527D-B633-D9B4-CDA641D55F01}"/>
              </a:ext>
            </a:extLst>
          </p:cNvPr>
          <p:cNvSpPr/>
          <p:nvPr/>
        </p:nvSpPr>
        <p:spPr>
          <a:xfrm>
            <a:off x="6162638" y="2331095"/>
            <a:ext cx="842963" cy="87159"/>
          </a:xfrm>
          <a:prstGeom prst="rect">
            <a:avLst/>
          </a:prstGeom>
          <a:solidFill>
            <a:srgbClr val="7030A0"/>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Box 28">
            <a:extLst>
              <a:ext uri="{FF2B5EF4-FFF2-40B4-BE49-F238E27FC236}">
                <a16:creationId xmlns:a16="http://schemas.microsoft.com/office/drawing/2014/main" id="{021E4B29-36E8-04F3-F077-3CAB344E6C38}"/>
              </a:ext>
            </a:extLst>
          </p:cNvPr>
          <p:cNvSpPr txBox="1"/>
          <p:nvPr/>
        </p:nvSpPr>
        <p:spPr>
          <a:xfrm>
            <a:off x="6402018" y="2454489"/>
            <a:ext cx="364202" cy="307777"/>
          </a:xfrm>
          <a:prstGeom prst="rect">
            <a:avLst/>
          </a:prstGeom>
          <a:noFill/>
        </p:spPr>
        <p:txBody>
          <a:bodyPr wrap="none" rtlCol="0">
            <a:spAutoFit/>
          </a:bodyPr>
          <a:lstStyle/>
          <a:p>
            <a:pPr algn="ctr"/>
            <a:r>
              <a:rPr lang="en-US" dirty="0"/>
              <a:t>…</a:t>
            </a:r>
          </a:p>
        </p:txBody>
      </p:sp>
      <p:sp>
        <p:nvSpPr>
          <p:cNvPr id="30" name="TextBox 29">
            <a:extLst>
              <a:ext uri="{FF2B5EF4-FFF2-40B4-BE49-F238E27FC236}">
                <a16:creationId xmlns:a16="http://schemas.microsoft.com/office/drawing/2014/main" id="{4A72D82A-0FFA-90C1-D35A-C478C57D83BB}"/>
              </a:ext>
            </a:extLst>
          </p:cNvPr>
          <p:cNvSpPr txBox="1"/>
          <p:nvPr/>
        </p:nvSpPr>
        <p:spPr>
          <a:xfrm>
            <a:off x="6387928" y="3650967"/>
            <a:ext cx="364202" cy="307777"/>
          </a:xfrm>
          <a:prstGeom prst="rect">
            <a:avLst/>
          </a:prstGeom>
          <a:noFill/>
        </p:spPr>
        <p:txBody>
          <a:bodyPr wrap="none" rtlCol="0">
            <a:spAutoFit/>
          </a:bodyPr>
          <a:lstStyle/>
          <a:p>
            <a:pPr algn="ctr"/>
            <a:r>
              <a:rPr lang="en-US" dirty="0"/>
              <a:t>…</a:t>
            </a:r>
          </a:p>
        </p:txBody>
      </p:sp>
    </p:spTree>
    <p:extLst>
      <p:ext uri="{BB962C8B-B14F-4D97-AF65-F5344CB8AC3E}">
        <p14:creationId xmlns:p14="http://schemas.microsoft.com/office/powerpoint/2010/main" val="332704330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3EBDC0-8CD1-4A0C-68A5-9A25FFCC2A0D}"/>
            </a:ext>
          </a:extLst>
        </p:cNvPr>
        <p:cNvGrpSpPr/>
        <p:nvPr/>
      </p:nvGrpSpPr>
      <p:grpSpPr>
        <a:xfrm>
          <a:off x="0" y="0"/>
          <a:ext cx="0" cy="0"/>
          <a:chOff x="0" y="0"/>
          <a:chExt cx="0" cy="0"/>
        </a:xfrm>
      </p:grpSpPr>
      <p:sp>
        <p:nvSpPr>
          <p:cNvPr id="16" name="Title 1">
            <a:extLst>
              <a:ext uri="{FF2B5EF4-FFF2-40B4-BE49-F238E27FC236}">
                <a16:creationId xmlns:a16="http://schemas.microsoft.com/office/drawing/2014/main" id="{4253C6F5-6AB7-19A9-78BB-589427FA4214}"/>
              </a:ext>
            </a:extLst>
          </p:cNvPr>
          <p:cNvSpPr>
            <a:spLocks noGrp="1"/>
          </p:cNvSpPr>
          <p:nvPr>
            <p:ph type="title"/>
          </p:nvPr>
        </p:nvSpPr>
        <p:spPr>
          <a:xfrm>
            <a:off x="719999" y="523239"/>
            <a:ext cx="7704000" cy="572700"/>
          </a:xfrm>
        </p:spPr>
        <p:txBody>
          <a:bodyPr/>
          <a:lstStyle/>
          <a:p>
            <a:pPr algn="ctr"/>
            <a:r>
              <a:rPr lang="en-US" sz="2000" dirty="0"/>
              <a:t>Previous generative models of enhancers use massively parallel reporter assays (MPRAs) to label sequences</a:t>
            </a:r>
          </a:p>
        </p:txBody>
      </p:sp>
      <p:sp>
        <p:nvSpPr>
          <p:cNvPr id="3" name="Oval 2">
            <a:extLst>
              <a:ext uri="{FF2B5EF4-FFF2-40B4-BE49-F238E27FC236}">
                <a16:creationId xmlns:a16="http://schemas.microsoft.com/office/drawing/2014/main" id="{5F361F34-D863-E604-7912-35707DD30A90}"/>
              </a:ext>
            </a:extLst>
          </p:cNvPr>
          <p:cNvSpPr/>
          <p:nvPr/>
        </p:nvSpPr>
        <p:spPr>
          <a:xfrm>
            <a:off x="738329" y="2262660"/>
            <a:ext cx="457200" cy="457200"/>
          </a:xfrm>
          <a:prstGeom prst="ellipse">
            <a:avLst/>
          </a:prstGeom>
          <a:noFill/>
          <a:ln w="381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Arc 3">
            <a:extLst>
              <a:ext uri="{FF2B5EF4-FFF2-40B4-BE49-F238E27FC236}">
                <a16:creationId xmlns:a16="http://schemas.microsoft.com/office/drawing/2014/main" id="{9EB2C340-7C1C-695F-376F-63559E040745}"/>
              </a:ext>
            </a:extLst>
          </p:cNvPr>
          <p:cNvSpPr/>
          <p:nvPr/>
        </p:nvSpPr>
        <p:spPr>
          <a:xfrm rot="19487382">
            <a:off x="738329" y="2252848"/>
            <a:ext cx="457200" cy="457200"/>
          </a:xfrm>
          <a:prstGeom prst="arc">
            <a:avLst>
              <a:gd name="adj1" fmla="val 14513924"/>
              <a:gd name="adj2" fmla="val 631815"/>
            </a:avLst>
          </a:prstGeom>
          <a:ln w="57150">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 name="Arc 4">
            <a:extLst>
              <a:ext uri="{FF2B5EF4-FFF2-40B4-BE49-F238E27FC236}">
                <a16:creationId xmlns:a16="http://schemas.microsoft.com/office/drawing/2014/main" id="{18DBFE9D-1990-9A22-C76C-0C3C5C1FF87B}"/>
              </a:ext>
            </a:extLst>
          </p:cNvPr>
          <p:cNvSpPr/>
          <p:nvPr/>
        </p:nvSpPr>
        <p:spPr>
          <a:xfrm rot="19487382">
            <a:off x="738330" y="2252848"/>
            <a:ext cx="457200" cy="457200"/>
          </a:xfrm>
          <a:prstGeom prst="arc">
            <a:avLst>
              <a:gd name="adj1" fmla="val 12781519"/>
              <a:gd name="adj2" fmla="val 14571822"/>
            </a:avLst>
          </a:prstGeom>
          <a:ln w="57150">
            <a:solidFill>
              <a:srgbClr val="FFFF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6" name="Arc 5">
            <a:extLst>
              <a:ext uri="{FF2B5EF4-FFF2-40B4-BE49-F238E27FC236}">
                <a16:creationId xmlns:a16="http://schemas.microsoft.com/office/drawing/2014/main" id="{761B24D9-BB6D-3526-282D-B4AE01A6DB38}"/>
              </a:ext>
            </a:extLst>
          </p:cNvPr>
          <p:cNvSpPr/>
          <p:nvPr/>
        </p:nvSpPr>
        <p:spPr>
          <a:xfrm rot="15611557">
            <a:off x="738329" y="2256741"/>
            <a:ext cx="457200" cy="457200"/>
          </a:xfrm>
          <a:prstGeom prst="arc">
            <a:avLst>
              <a:gd name="adj1" fmla="val 10392918"/>
              <a:gd name="adj2" fmla="val 14571822"/>
            </a:avLst>
          </a:prstGeom>
          <a:ln w="571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0" name="Oval 9">
            <a:extLst>
              <a:ext uri="{FF2B5EF4-FFF2-40B4-BE49-F238E27FC236}">
                <a16:creationId xmlns:a16="http://schemas.microsoft.com/office/drawing/2014/main" id="{A4BC9E12-A102-96F5-445C-73F232A92C01}"/>
              </a:ext>
            </a:extLst>
          </p:cNvPr>
          <p:cNvSpPr/>
          <p:nvPr/>
        </p:nvSpPr>
        <p:spPr>
          <a:xfrm>
            <a:off x="828311" y="2948003"/>
            <a:ext cx="457200" cy="457200"/>
          </a:xfrm>
          <a:prstGeom prst="ellipse">
            <a:avLst/>
          </a:prstGeom>
          <a:noFill/>
          <a:ln w="381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Arc 10">
            <a:extLst>
              <a:ext uri="{FF2B5EF4-FFF2-40B4-BE49-F238E27FC236}">
                <a16:creationId xmlns:a16="http://schemas.microsoft.com/office/drawing/2014/main" id="{1E7AFBAB-90BB-0F1F-D918-A1F905429A8B}"/>
              </a:ext>
            </a:extLst>
          </p:cNvPr>
          <p:cNvSpPr/>
          <p:nvPr/>
        </p:nvSpPr>
        <p:spPr>
          <a:xfrm rot="19487382">
            <a:off x="828311" y="2938191"/>
            <a:ext cx="457200" cy="457200"/>
          </a:xfrm>
          <a:prstGeom prst="arc">
            <a:avLst>
              <a:gd name="adj1" fmla="val 14513924"/>
              <a:gd name="adj2" fmla="val 631815"/>
            </a:avLst>
          </a:prstGeom>
          <a:ln w="57150">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2" name="Arc 11">
            <a:extLst>
              <a:ext uri="{FF2B5EF4-FFF2-40B4-BE49-F238E27FC236}">
                <a16:creationId xmlns:a16="http://schemas.microsoft.com/office/drawing/2014/main" id="{2C28C67C-FE40-A134-4512-87806D4AC8B0}"/>
              </a:ext>
            </a:extLst>
          </p:cNvPr>
          <p:cNvSpPr/>
          <p:nvPr/>
        </p:nvSpPr>
        <p:spPr>
          <a:xfrm rot="19487382">
            <a:off x="828312" y="2938191"/>
            <a:ext cx="457200" cy="457200"/>
          </a:xfrm>
          <a:prstGeom prst="arc">
            <a:avLst>
              <a:gd name="adj1" fmla="val 12781519"/>
              <a:gd name="adj2" fmla="val 14571822"/>
            </a:avLst>
          </a:prstGeom>
          <a:ln w="57150">
            <a:solidFill>
              <a:srgbClr val="FFFF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3" name="Arc 12">
            <a:extLst>
              <a:ext uri="{FF2B5EF4-FFF2-40B4-BE49-F238E27FC236}">
                <a16:creationId xmlns:a16="http://schemas.microsoft.com/office/drawing/2014/main" id="{6B78501A-DBA1-9838-7AD4-AB1FC995BD0F}"/>
              </a:ext>
            </a:extLst>
          </p:cNvPr>
          <p:cNvSpPr/>
          <p:nvPr/>
        </p:nvSpPr>
        <p:spPr>
          <a:xfrm rot="15611557">
            <a:off x="828311" y="2947164"/>
            <a:ext cx="457200" cy="457200"/>
          </a:xfrm>
          <a:prstGeom prst="arc">
            <a:avLst>
              <a:gd name="adj1" fmla="val 10392918"/>
              <a:gd name="adj2" fmla="val 14571822"/>
            </a:avLst>
          </a:prstGeom>
          <a:ln w="571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4" name="Oval 13">
            <a:extLst>
              <a:ext uri="{FF2B5EF4-FFF2-40B4-BE49-F238E27FC236}">
                <a16:creationId xmlns:a16="http://schemas.microsoft.com/office/drawing/2014/main" id="{0E65B73C-4EEB-FCA9-F6BC-982BF9ED8BB5}"/>
              </a:ext>
            </a:extLst>
          </p:cNvPr>
          <p:cNvSpPr/>
          <p:nvPr/>
        </p:nvSpPr>
        <p:spPr>
          <a:xfrm>
            <a:off x="1266727" y="2539439"/>
            <a:ext cx="457200" cy="457200"/>
          </a:xfrm>
          <a:prstGeom prst="ellipse">
            <a:avLst/>
          </a:prstGeom>
          <a:noFill/>
          <a:ln w="381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Arc 14">
            <a:extLst>
              <a:ext uri="{FF2B5EF4-FFF2-40B4-BE49-F238E27FC236}">
                <a16:creationId xmlns:a16="http://schemas.microsoft.com/office/drawing/2014/main" id="{985DAA73-FDD5-B142-8CD1-74AA68922913}"/>
              </a:ext>
            </a:extLst>
          </p:cNvPr>
          <p:cNvSpPr/>
          <p:nvPr/>
        </p:nvSpPr>
        <p:spPr>
          <a:xfrm rot="19487382">
            <a:off x="1266727" y="2529627"/>
            <a:ext cx="457200" cy="457200"/>
          </a:xfrm>
          <a:prstGeom prst="arc">
            <a:avLst>
              <a:gd name="adj1" fmla="val 14513924"/>
              <a:gd name="adj2" fmla="val 631815"/>
            </a:avLst>
          </a:prstGeom>
          <a:ln w="57150">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7" name="Arc 16">
            <a:extLst>
              <a:ext uri="{FF2B5EF4-FFF2-40B4-BE49-F238E27FC236}">
                <a16:creationId xmlns:a16="http://schemas.microsoft.com/office/drawing/2014/main" id="{6C1DBCEF-B787-0682-FE6A-B24CCE2B120D}"/>
              </a:ext>
            </a:extLst>
          </p:cNvPr>
          <p:cNvSpPr/>
          <p:nvPr/>
        </p:nvSpPr>
        <p:spPr>
          <a:xfrm rot="19487382">
            <a:off x="1266728" y="2529627"/>
            <a:ext cx="457200" cy="457200"/>
          </a:xfrm>
          <a:prstGeom prst="arc">
            <a:avLst>
              <a:gd name="adj1" fmla="val 12781519"/>
              <a:gd name="adj2" fmla="val 14571822"/>
            </a:avLst>
          </a:prstGeom>
          <a:ln w="57150">
            <a:solidFill>
              <a:srgbClr val="FFFF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8" name="Arc 17">
            <a:extLst>
              <a:ext uri="{FF2B5EF4-FFF2-40B4-BE49-F238E27FC236}">
                <a16:creationId xmlns:a16="http://schemas.microsoft.com/office/drawing/2014/main" id="{BDAC1EA8-2F6D-6E18-E3D2-5C29DA0CC8EF}"/>
              </a:ext>
            </a:extLst>
          </p:cNvPr>
          <p:cNvSpPr/>
          <p:nvPr/>
        </p:nvSpPr>
        <p:spPr>
          <a:xfrm rot="15611557">
            <a:off x="1266727" y="2538600"/>
            <a:ext cx="457200" cy="457200"/>
          </a:xfrm>
          <a:prstGeom prst="arc">
            <a:avLst>
              <a:gd name="adj1" fmla="val 10392918"/>
              <a:gd name="adj2" fmla="val 14571822"/>
            </a:avLst>
          </a:prstGeom>
          <a:ln w="571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2" name="TextBox 31">
            <a:extLst>
              <a:ext uri="{FF2B5EF4-FFF2-40B4-BE49-F238E27FC236}">
                <a16:creationId xmlns:a16="http://schemas.microsoft.com/office/drawing/2014/main" id="{AB27E53F-D078-CF8B-99EE-2CE76D804DC8}"/>
              </a:ext>
            </a:extLst>
          </p:cNvPr>
          <p:cNvSpPr txBox="1"/>
          <p:nvPr/>
        </p:nvSpPr>
        <p:spPr>
          <a:xfrm>
            <a:off x="823885" y="3669016"/>
            <a:ext cx="872355" cy="523220"/>
          </a:xfrm>
          <a:prstGeom prst="rect">
            <a:avLst/>
          </a:prstGeom>
          <a:noFill/>
        </p:spPr>
        <p:txBody>
          <a:bodyPr wrap="none" rtlCol="0">
            <a:spAutoFit/>
          </a:bodyPr>
          <a:lstStyle/>
          <a:p>
            <a:pPr algn="ctr"/>
            <a:r>
              <a:rPr lang="en-US" dirty="0"/>
              <a:t>Plasmid </a:t>
            </a:r>
            <a:br>
              <a:rPr lang="en-US" dirty="0"/>
            </a:br>
            <a:r>
              <a:rPr lang="en-US" dirty="0"/>
              <a:t>Library</a:t>
            </a:r>
          </a:p>
        </p:txBody>
      </p:sp>
      <p:sp>
        <p:nvSpPr>
          <p:cNvPr id="33" name="Arc 32">
            <a:extLst>
              <a:ext uri="{FF2B5EF4-FFF2-40B4-BE49-F238E27FC236}">
                <a16:creationId xmlns:a16="http://schemas.microsoft.com/office/drawing/2014/main" id="{603F5FCF-E89E-DFBF-00E3-4FD83A5657BE}"/>
              </a:ext>
            </a:extLst>
          </p:cNvPr>
          <p:cNvSpPr/>
          <p:nvPr/>
        </p:nvSpPr>
        <p:spPr>
          <a:xfrm rot="15758980">
            <a:off x="874140" y="2998909"/>
            <a:ext cx="365760" cy="365760"/>
          </a:xfrm>
          <a:prstGeom prst="arc">
            <a:avLst>
              <a:gd name="adj1" fmla="val 10208053"/>
              <a:gd name="adj2" fmla="val 14571822"/>
            </a:avLst>
          </a:prstGeom>
          <a:ln w="57150">
            <a:solidFill>
              <a:srgbClr val="46B0A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3" name="Arc 22">
            <a:extLst>
              <a:ext uri="{FF2B5EF4-FFF2-40B4-BE49-F238E27FC236}">
                <a16:creationId xmlns:a16="http://schemas.microsoft.com/office/drawing/2014/main" id="{29746A9E-9E08-DAE8-A912-42F9B34860B4}"/>
              </a:ext>
            </a:extLst>
          </p:cNvPr>
          <p:cNvSpPr/>
          <p:nvPr/>
        </p:nvSpPr>
        <p:spPr>
          <a:xfrm rot="15758980">
            <a:off x="1312558" y="2593644"/>
            <a:ext cx="365760" cy="365760"/>
          </a:xfrm>
          <a:prstGeom prst="arc">
            <a:avLst>
              <a:gd name="adj1" fmla="val 10208053"/>
              <a:gd name="adj2" fmla="val 14571822"/>
            </a:avLst>
          </a:prstGeom>
          <a:ln w="57150">
            <a:solidFill>
              <a:srgbClr val="E0CDE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2" name="Arc 21">
            <a:extLst>
              <a:ext uri="{FF2B5EF4-FFF2-40B4-BE49-F238E27FC236}">
                <a16:creationId xmlns:a16="http://schemas.microsoft.com/office/drawing/2014/main" id="{B936B4B1-1DC8-0972-4D37-E717D854DD74}"/>
              </a:ext>
            </a:extLst>
          </p:cNvPr>
          <p:cNvSpPr/>
          <p:nvPr/>
        </p:nvSpPr>
        <p:spPr>
          <a:xfrm rot="15758980">
            <a:off x="784127" y="2315358"/>
            <a:ext cx="365760" cy="365760"/>
          </a:xfrm>
          <a:prstGeom prst="arc">
            <a:avLst>
              <a:gd name="adj1" fmla="val 10208053"/>
              <a:gd name="adj2" fmla="val 14571822"/>
            </a:avLst>
          </a:prstGeom>
          <a:ln w="57150">
            <a:solidFill>
              <a:srgbClr val="7030A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7" name="Arc 36">
            <a:extLst>
              <a:ext uri="{FF2B5EF4-FFF2-40B4-BE49-F238E27FC236}">
                <a16:creationId xmlns:a16="http://schemas.microsoft.com/office/drawing/2014/main" id="{2D8BD913-3328-6332-FDF3-541BBAEA154B}"/>
              </a:ext>
            </a:extLst>
          </p:cNvPr>
          <p:cNvSpPr/>
          <p:nvPr/>
        </p:nvSpPr>
        <p:spPr>
          <a:xfrm rot="7206464">
            <a:off x="1272879" y="2538320"/>
            <a:ext cx="457200" cy="457200"/>
          </a:xfrm>
          <a:prstGeom prst="arc">
            <a:avLst>
              <a:gd name="adj1" fmla="val 12781519"/>
              <a:gd name="adj2" fmla="val 13776796"/>
            </a:avLst>
          </a:prstGeom>
          <a:ln w="57150">
            <a:solidFill>
              <a:srgbClr val="00206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8" name="Arc 37">
            <a:extLst>
              <a:ext uri="{FF2B5EF4-FFF2-40B4-BE49-F238E27FC236}">
                <a16:creationId xmlns:a16="http://schemas.microsoft.com/office/drawing/2014/main" id="{91A82B31-CC81-4F31-05D2-A60495C36246}"/>
              </a:ext>
            </a:extLst>
          </p:cNvPr>
          <p:cNvSpPr/>
          <p:nvPr/>
        </p:nvSpPr>
        <p:spPr>
          <a:xfrm rot="7206464">
            <a:off x="737664" y="2261533"/>
            <a:ext cx="457200" cy="457200"/>
          </a:xfrm>
          <a:prstGeom prst="arc">
            <a:avLst>
              <a:gd name="adj1" fmla="val 12781519"/>
              <a:gd name="adj2" fmla="val 13776796"/>
            </a:avLst>
          </a:prstGeom>
          <a:ln w="57150">
            <a:solidFill>
              <a:srgbClr val="00206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9" name="Arc 38">
            <a:extLst>
              <a:ext uri="{FF2B5EF4-FFF2-40B4-BE49-F238E27FC236}">
                <a16:creationId xmlns:a16="http://schemas.microsoft.com/office/drawing/2014/main" id="{5BF63764-9399-FA6D-21BA-7704DFDFC18B}"/>
              </a:ext>
            </a:extLst>
          </p:cNvPr>
          <p:cNvSpPr/>
          <p:nvPr/>
        </p:nvSpPr>
        <p:spPr>
          <a:xfrm rot="7206464">
            <a:off x="828311" y="2944342"/>
            <a:ext cx="457200" cy="457200"/>
          </a:xfrm>
          <a:prstGeom prst="arc">
            <a:avLst>
              <a:gd name="adj1" fmla="val 12781519"/>
              <a:gd name="adj2" fmla="val 13776796"/>
            </a:avLst>
          </a:prstGeom>
          <a:ln w="57150">
            <a:solidFill>
              <a:srgbClr val="00206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pic>
        <p:nvPicPr>
          <p:cNvPr id="2" name="Picture 1" descr="The image depicts a simple, circular, monochromatic silhouette.&#10;&#10;AI-generated content may be incorrect.">
            <a:extLst>
              <a:ext uri="{FF2B5EF4-FFF2-40B4-BE49-F238E27FC236}">
                <a16:creationId xmlns:a16="http://schemas.microsoft.com/office/drawing/2014/main" id="{EA16952C-6189-AA93-6A8A-9F8552FC30B2}"/>
              </a:ext>
            </a:extLst>
          </p:cNvPr>
          <p:cNvPicPr>
            <a:picLocks noChangeAspect="1"/>
          </p:cNvPicPr>
          <p:nvPr/>
        </p:nvPicPr>
        <p:blipFill>
          <a:blip r:embed="rId3"/>
          <a:stretch>
            <a:fillRect/>
          </a:stretch>
        </p:blipFill>
        <p:spPr>
          <a:xfrm>
            <a:off x="3251215" y="1618654"/>
            <a:ext cx="1096239" cy="1176697"/>
          </a:xfrm>
          <a:prstGeom prst="rect">
            <a:avLst/>
          </a:prstGeom>
        </p:spPr>
      </p:pic>
      <p:pic>
        <p:nvPicPr>
          <p:cNvPr id="9" name="Picture 8" descr="The image depicts a simple, circular diagram with two concentric circles, one inside the other.&#10;&#10;AI-generated content may be incorrect.">
            <a:extLst>
              <a:ext uri="{FF2B5EF4-FFF2-40B4-BE49-F238E27FC236}">
                <a16:creationId xmlns:a16="http://schemas.microsoft.com/office/drawing/2014/main" id="{54C33D18-864F-DDC8-B8BE-CC6BC21D621A}"/>
              </a:ext>
            </a:extLst>
          </p:cNvPr>
          <p:cNvPicPr>
            <a:picLocks noChangeAspect="1"/>
          </p:cNvPicPr>
          <p:nvPr/>
        </p:nvPicPr>
        <p:blipFill>
          <a:blip r:embed="rId4"/>
          <a:stretch>
            <a:fillRect/>
          </a:stretch>
        </p:blipFill>
        <p:spPr>
          <a:xfrm>
            <a:off x="3304233" y="1695465"/>
            <a:ext cx="982167" cy="1071455"/>
          </a:xfrm>
          <a:prstGeom prst="rect">
            <a:avLst/>
          </a:prstGeom>
        </p:spPr>
      </p:pic>
      <p:sp>
        <p:nvSpPr>
          <p:cNvPr id="19" name="Arc 18">
            <a:extLst>
              <a:ext uri="{FF2B5EF4-FFF2-40B4-BE49-F238E27FC236}">
                <a16:creationId xmlns:a16="http://schemas.microsoft.com/office/drawing/2014/main" id="{C57CBDA7-D490-5BA9-FC46-6A11B413BC5B}"/>
              </a:ext>
            </a:extLst>
          </p:cNvPr>
          <p:cNvSpPr/>
          <p:nvPr/>
        </p:nvSpPr>
        <p:spPr>
          <a:xfrm rot="11416370" flipH="1">
            <a:off x="99956" y="1254515"/>
            <a:ext cx="3660869" cy="1450057"/>
          </a:xfrm>
          <a:prstGeom prst="arc">
            <a:avLst>
              <a:gd name="adj1" fmla="val 16176146"/>
              <a:gd name="adj2" fmla="val 21071442"/>
            </a:avLst>
          </a:prstGeom>
          <a:ln w="28575">
            <a:headEnd type="none" w="med" len="med"/>
            <a:tailEnd type="arrow"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dirty="0"/>
          </a:p>
        </p:txBody>
      </p:sp>
      <p:sp>
        <p:nvSpPr>
          <p:cNvPr id="41" name="Oval 40">
            <a:extLst>
              <a:ext uri="{FF2B5EF4-FFF2-40B4-BE49-F238E27FC236}">
                <a16:creationId xmlns:a16="http://schemas.microsoft.com/office/drawing/2014/main" id="{062CC9BA-28A1-71AA-4B64-784B969CFCD9}"/>
              </a:ext>
            </a:extLst>
          </p:cNvPr>
          <p:cNvSpPr/>
          <p:nvPr/>
        </p:nvSpPr>
        <p:spPr>
          <a:xfrm>
            <a:off x="3566717" y="2087191"/>
            <a:ext cx="457200" cy="457200"/>
          </a:xfrm>
          <a:prstGeom prst="ellipse">
            <a:avLst/>
          </a:prstGeom>
          <a:noFill/>
          <a:ln w="381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Arc 41">
            <a:extLst>
              <a:ext uri="{FF2B5EF4-FFF2-40B4-BE49-F238E27FC236}">
                <a16:creationId xmlns:a16="http://schemas.microsoft.com/office/drawing/2014/main" id="{E67BC07B-3704-B734-7FC7-C6D88D1E1CF2}"/>
              </a:ext>
            </a:extLst>
          </p:cNvPr>
          <p:cNvSpPr/>
          <p:nvPr/>
        </p:nvSpPr>
        <p:spPr>
          <a:xfrm rot="19487382">
            <a:off x="3566717" y="2077379"/>
            <a:ext cx="457200" cy="457200"/>
          </a:xfrm>
          <a:prstGeom prst="arc">
            <a:avLst>
              <a:gd name="adj1" fmla="val 14513924"/>
              <a:gd name="adj2" fmla="val 631815"/>
            </a:avLst>
          </a:prstGeom>
          <a:ln w="57150">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5" name="Arc 44">
            <a:extLst>
              <a:ext uri="{FF2B5EF4-FFF2-40B4-BE49-F238E27FC236}">
                <a16:creationId xmlns:a16="http://schemas.microsoft.com/office/drawing/2014/main" id="{AEDAA7C0-74B2-A759-4C00-2C15425E560A}"/>
              </a:ext>
            </a:extLst>
          </p:cNvPr>
          <p:cNvSpPr/>
          <p:nvPr/>
        </p:nvSpPr>
        <p:spPr>
          <a:xfrm rot="19487382">
            <a:off x="3566718" y="2077379"/>
            <a:ext cx="457200" cy="457200"/>
          </a:xfrm>
          <a:prstGeom prst="arc">
            <a:avLst>
              <a:gd name="adj1" fmla="val 12781519"/>
              <a:gd name="adj2" fmla="val 14571822"/>
            </a:avLst>
          </a:prstGeom>
          <a:ln w="57150">
            <a:solidFill>
              <a:srgbClr val="FFFF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9" name="Arc 48">
            <a:extLst>
              <a:ext uri="{FF2B5EF4-FFF2-40B4-BE49-F238E27FC236}">
                <a16:creationId xmlns:a16="http://schemas.microsoft.com/office/drawing/2014/main" id="{97AA26E7-4D00-3C49-2A72-FA34EEDAFC4A}"/>
              </a:ext>
            </a:extLst>
          </p:cNvPr>
          <p:cNvSpPr/>
          <p:nvPr/>
        </p:nvSpPr>
        <p:spPr>
          <a:xfrm rot="15611557">
            <a:off x="3566717" y="2086352"/>
            <a:ext cx="457200" cy="457200"/>
          </a:xfrm>
          <a:prstGeom prst="arc">
            <a:avLst>
              <a:gd name="adj1" fmla="val 10392918"/>
              <a:gd name="adj2" fmla="val 14571822"/>
            </a:avLst>
          </a:prstGeom>
          <a:ln w="571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1" name="Arc 50">
            <a:extLst>
              <a:ext uri="{FF2B5EF4-FFF2-40B4-BE49-F238E27FC236}">
                <a16:creationId xmlns:a16="http://schemas.microsoft.com/office/drawing/2014/main" id="{D5FB10D4-7933-6CBF-0DE1-4D8120072C86}"/>
              </a:ext>
            </a:extLst>
          </p:cNvPr>
          <p:cNvSpPr/>
          <p:nvPr/>
        </p:nvSpPr>
        <p:spPr>
          <a:xfrm rot="15758980">
            <a:off x="3612548" y="2141396"/>
            <a:ext cx="365760" cy="365760"/>
          </a:xfrm>
          <a:prstGeom prst="arc">
            <a:avLst>
              <a:gd name="adj1" fmla="val 10208053"/>
              <a:gd name="adj2" fmla="val 14571822"/>
            </a:avLst>
          </a:prstGeom>
          <a:ln w="57150">
            <a:solidFill>
              <a:srgbClr val="E0CDE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3" name="Arc 52">
            <a:extLst>
              <a:ext uri="{FF2B5EF4-FFF2-40B4-BE49-F238E27FC236}">
                <a16:creationId xmlns:a16="http://schemas.microsoft.com/office/drawing/2014/main" id="{26C8A53F-BF49-6438-4CFD-D92427FD926A}"/>
              </a:ext>
            </a:extLst>
          </p:cNvPr>
          <p:cNvSpPr/>
          <p:nvPr/>
        </p:nvSpPr>
        <p:spPr>
          <a:xfrm rot="7206464">
            <a:off x="3572869" y="2086072"/>
            <a:ext cx="457200" cy="457200"/>
          </a:xfrm>
          <a:prstGeom prst="arc">
            <a:avLst>
              <a:gd name="adj1" fmla="val 12781519"/>
              <a:gd name="adj2" fmla="val 13776796"/>
            </a:avLst>
          </a:prstGeom>
          <a:ln w="57150">
            <a:solidFill>
              <a:srgbClr val="00206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21" name="Straight Arrow Connector 20">
            <a:extLst>
              <a:ext uri="{FF2B5EF4-FFF2-40B4-BE49-F238E27FC236}">
                <a16:creationId xmlns:a16="http://schemas.microsoft.com/office/drawing/2014/main" id="{BC8231D7-F469-5097-5396-56BB17381A43}"/>
              </a:ext>
            </a:extLst>
          </p:cNvPr>
          <p:cNvCxnSpPr>
            <a:cxnSpLocks/>
          </p:cNvCxnSpPr>
          <p:nvPr/>
        </p:nvCxnSpPr>
        <p:spPr>
          <a:xfrm>
            <a:off x="4572000" y="2262660"/>
            <a:ext cx="1366092"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24" name="Rectangle 23">
            <a:extLst>
              <a:ext uri="{FF2B5EF4-FFF2-40B4-BE49-F238E27FC236}">
                <a16:creationId xmlns:a16="http://schemas.microsoft.com/office/drawing/2014/main" id="{9A5C24F5-7E02-7C87-935C-308D345B34F1}"/>
              </a:ext>
            </a:extLst>
          </p:cNvPr>
          <p:cNvSpPr/>
          <p:nvPr/>
        </p:nvSpPr>
        <p:spPr>
          <a:xfrm>
            <a:off x="6162638" y="2133983"/>
            <a:ext cx="842963" cy="87159"/>
          </a:xfrm>
          <a:prstGeom prst="rect">
            <a:avLst/>
          </a:prstGeom>
          <a:solidFill>
            <a:srgbClr val="E0CDEF"/>
          </a:solidFill>
          <a:ln>
            <a:solidFill>
              <a:srgbClr val="E0CDE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Box 28">
            <a:extLst>
              <a:ext uri="{FF2B5EF4-FFF2-40B4-BE49-F238E27FC236}">
                <a16:creationId xmlns:a16="http://schemas.microsoft.com/office/drawing/2014/main" id="{9E8C63AE-9F85-6A62-B223-CC60C31361C6}"/>
              </a:ext>
            </a:extLst>
          </p:cNvPr>
          <p:cNvSpPr txBox="1"/>
          <p:nvPr/>
        </p:nvSpPr>
        <p:spPr>
          <a:xfrm>
            <a:off x="6402018" y="2454489"/>
            <a:ext cx="364202" cy="307777"/>
          </a:xfrm>
          <a:prstGeom prst="rect">
            <a:avLst/>
          </a:prstGeom>
          <a:noFill/>
        </p:spPr>
        <p:txBody>
          <a:bodyPr wrap="none" rtlCol="0">
            <a:spAutoFit/>
          </a:bodyPr>
          <a:lstStyle/>
          <a:p>
            <a:pPr algn="ctr"/>
            <a:r>
              <a:rPr lang="en-US" dirty="0"/>
              <a:t>…</a:t>
            </a:r>
          </a:p>
        </p:txBody>
      </p:sp>
      <p:sp>
        <p:nvSpPr>
          <p:cNvPr id="31" name="Rectangle: Rounded Corners 30">
            <a:extLst>
              <a:ext uri="{FF2B5EF4-FFF2-40B4-BE49-F238E27FC236}">
                <a16:creationId xmlns:a16="http://schemas.microsoft.com/office/drawing/2014/main" id="{9CA52EC8-3583-B0D8-B9E4-C96398B8C0D3}"/>
              </a:ext>
            </a:extLst>
          </p:cNvPr>
          <p:cNvSpPr/>
          <p:nvPr/>
        </p:nvSpPr>
        <p:spPr>
          <a:xfrm>
            <a:off x="4876007" y="3212211"/>
            <a:ext cx="2124169" cy="426568"/>
          </a:xfrm>
          <a:prstGeom prst="roundRect">
            <a:avLst/>
          </a:prstGeom>
          <a:solidFill>
            <a:srgbClr val="B4E5A3"/>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lumMod val="10000"/>
                  </a:schemeClr>
                </a:solidFill>
              </a:rPr>
              <a:t>Generative Model</a:t>
            </a:r>
          </a:p>
        </p:txBody>
      </p:sp>
      <p:cxnSp>
        <p:nvCxnSpPr>
          <p:cNvPr id="34" name="Straight Arrow Connector 33">
            <a:extLst>
              <a:ext uri="{FF2B5EF4-FFF2-40B4-BE49-F238E27FC236}">
                <a16:creationId xmlns:a16="http://schemas.microsoft.com/office/drawing/2014/main" id="{56A70794-6961-53D1-5871-C7DD497D8188}"/>
              </a:ext>
            </a:extLst>
          </p:cNvPr>
          <p:cNvCxnSpPr>
            <a:cxnSpLocks/>
            <a:stCxn id="29" idx="2"/>
          </p:cNvCxnSpPr>
          <p:nvPr/>
        </p:nvCxnSpPr>
        <p:spPr>
          <a:xfrm>
            <a:off x="6584119" y="2762266"/>
            <a:ext cx="0" cy="314543"/>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pic>
        <p:nvPicPr>
          <p:cNvPr id="44" name="Picture 43" descr="The image depicts a simple, circular, monochromatic silhouette.&#10;&#10;AI-generated content may be incorrect.">
            <a:extLst>
              <a:ext uri="{FF2B5EF4-FFF2-40B4-BE49-F238E27FC236}">
                <a16:creationId xmlns:a16="http://schemas.microsoft.com/office/drawing/2014/main" id="{F1BD2CFA-B638-EB87-3BAE-DF1B60ABCB9B}"/>
              </a:ext>
            </a:extLst>
          </p:cNvPr>
          <p:cNvPicPr>
            <a:picLocks noChangeAspect="1"/>
          </p:cNvPicPr>
          <p:nvPr/>
        </p:nvPicPr>
        <p:blipFill>
          <a:blip r:embed="rId3"/>
          <a:stretch>
            <a:fillRect/>
          </a:stretch>
        </p:blipFill>
        <p:spPr>
          <a:xfrm>
            <a:off x="3891219" y="3115093"/>
            <a:ext cx="528398" cy="567180"/>
          </a:xfrm>
          <a:prstGeom prst="rect">
            <a:avLst/>
          </a:prstGeom>
        </p:spPr>
      </p:pic>
      <p:cxnSp>
        <p:nvCxnSpPr>
          <p:cNvPr id="46" name="Straight Arrow Connector 45">
            <a:extLst>
              <a:ext uri="{FF2B5EF4-FFF2-40B4-BE49-F238E27FC236}">
                <a16:creationId xmlns:a16="http://schemas.microsoft.com/office/drawing/2014/main" id="{CA963D1E-DDE4-F918-1F71-AFC854A47624}"/>
              </a:ext>
            </a:extLst>
          </p:cNvPr>
          <p:cNvCxnSpPr>
            <a:cxnSpLocks/>
          </p:cNvCxnSpPr>
          <p:nvPr/>
        </p:nvCxnSpPr>
        <p:spPr>
          <a:xfrm>
            <a:off x="4449422" y="3402088"/>
            <a:ext cx="319194"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50" name="Straight Arrow Connector 49">
            <a:extLst>
              <a:ext uri="{FF2B5EF4-FFF2-40B4-BE49-F238E27FC236}">
                <a16:creationId xmlns:a16="http://schemas.microsoft.com/office/drawing/2014/main" id="{011FC68F-343B-FFF7-63CE-3FF4D7002563}"/>
              </a:ext>
            </a:extLst>
          </p:cNvPr>
          <p:cNvCxnSpPr>
            <a:cxnSpLocks/>
          </p:cNvCxnSpPr>
          <p:nvPr/>
        </p:nvCxnSpPr>
        <p:spPr>
          <a:xfrm>
            <a:off x="7080618" y="3431984"/>
            <a:ext cx="319194"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52" name="Rectangle 51">
            <a:extLst>
              <a:ext uri="{FF2B5EF4-FFF2-40B4-BE49-F238E27FC236}">
                <a16:creationId xmlns:a16="http://schemas.microsoft.com/office/drawing/2014/main" id="{A8D6E99C-4BB2-8206-BD2D-BCBB021CAE0F}"/>
              </a:ext>
            </a:extLst>
          </p:cNvPr>
          <p:cNvSpPr/>
          <p:nvPr/>
        </p:nvSpPr>
        <p:spPr>
          <a:xfrm>
            <a:off x="7508325" y="3212211"/>
            <a:ext cx="842963" cy="87159"/>
          </a:xfrm>
          <a:prstGeom prst="rect">
            <a:avLst/>
          </a:prstGeom>
          <a:solidFill>
            <a:srgbClr val="E0CDEF"/>
          </a:solidFill>
          <a:ln>
            <a:solidFill>
              <a:srgbClr val="E0CDE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TextBox 54">
            <a:extLst>
              <a:ext uri="{FF2B5EF4-FFF2-40B4-BE49-F238E27FC236}">
                <a16:creationId xmlns:a16="http://schemas.microsoft.com/office/drawing/2014/main" id="{5EFA2BFC-7AFB-9880-C4D7-3300465790D0}"/>
              </a:ext>
            </a:extLst>
          </p:cNvPr>
          <p:cNvSpPr txBox="1"/>
          <p:nvPr/>
        </p:nvSpPr>
        <p:spPr>
          <a:xfrm>
            <a:off x="7747705" y="3532717"/>
            <a:ext cx="364202" cy="307777"/>
          </a:xfrm>
          <a:prstGeom prst="rect">
            <a:avLst/>
          </a:prstGeom>
          <a:noFill/>
        </p:spPr>
        <p:txBody>
          <a:bodyPr wrap="none" rtlCol="0">
            <a:spAutoFit/>
          </a:bodyPr>
          <a:lstStyle/>
          <a:p>
            <a:pPr algn="ctr"/>
            <a:r>
              <a:rPr lang="en-US" dirty="0"/>
              <a:t>…</a:t>
            </a:r>
          </a:p>
        </p:txBody>
      </p:sp>
      <p:sp>
        <p:nvSpPr>
          <p:cNvPr id="56" name="TextBox 55">
            <a:extLst>
              <a:ext uri="{FF2B5EF4-FFF2-40B4-BE49-F238E27FC236}">
                <a16:creationId xmlns:a16="http://schemas.microsoft.com/office/drawing/2014/main" id="{1D076992-BE01-A304-1F03-03C04F3DCD36}"/>
              </a:ext>
            </a:extLst>
          </p:cNvPr>
          <p:cNvSpPr txBox="1"/>
          <p:nvPr/>
        </p:nvSpPr>
        <p:spPr>
          <a:xfrm>
            <a:off x="3006158" y="3234320"/>
            <a:ext cx="830677" cy="307777"/>
          </a:xfrm>
          <a:prstGeom prst="rect">
            <a:avLst/>
          </a:prstGeom>
          <a:noFill/>
        </p:spPr>
        <p:txBody>
          <a:bodyPr wrap="none" rtlCol="0">
            <a:spAutoFit/>
          </a:bodyPr>
          <a:lstStyle/>
          <a:p>
            <a:pPr algn="ctr"/>
            <a:r>
              <a:rPr lang="en-US" dirty="0"/>
              <a:t>Training</a:t>
            </a:r>
          </a:p>
        </p:txBody>
      </p:sp>
      <p:sp>
        <p:nvSpPr>
          <p:cNvPr id="7" name="Rectangle 6">
            <a:extLst>
              <a:ext uri="{FF2B5EF4-FFF2-40B4-BE49-F238E27FC236}">
                <a16:creationId xmlns:a16="http://schemas.microsoft.com/office/drawing/2014/main" id="{EA80554E-FDB3-F1DF-D0DE-8420FEF7D354}"/>
              </a:ext>
            </a:extLst>
          </p:cNvPr>
          <p:cNvSpPr/>
          <p:nvPr/>
        </p:nvSpPr>
        <p:spPr>
          <a:xfrm>
            <a:off x="6162638" y="2331095"/>
            <a:ext cx="842963" cy="87159"/>
          </a:xfrm>
          <a:prstGeom prst="rect">
            <a:avLst/>
          </a:prstGeom>
          <a:solidFill>
            <a:srgbClr val="7030A0"/>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63074AA5-B671-7CFD-EA8A-7D69ED540339}"/>
              </a:ext>
            </a:extLst>
          </p:cNvPr>
          <p:cNvSpPr/>
          <p:nvPr/>
        </p:nvSpPr>
        <p:spPr>
          <a:xfrm>
            <a:off x="7508325" y="3361623"/>
            <a:ext cx="842963" cy="87159"/>
          </a:xfrm>
          <a:prstGeom prst="rect">
            <a:avLst/>
          </a:prstGeom>
          <a:solidFill>
            <a:srgbClr val="7030A0"/>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570595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590598-E719-3AA8-B56F-3632F796D030}"/>
            </a:ext>
          </a:extLst>
        </p:cNvPr>
        <p:cNvGrpSpPr/>
        <p:nvPr/>
      </p:nvGrpSpPr>
      <p:grpSpPr>
        <a:xfrm>
          <a:off x="0" y="0"/>
          <a:ext cx="0" cy="0"/>
          <a:chOff x="0" y="0"/>
          <a:chExt cx="0" cy="0"/>
        </a:xfrm>
      </p:grpSpPr>
      <p:sp>
        <p:nvSpPr>
          <p:cNvPr id="16" name="Title 1">
            <a:extLst>
              <a:ext uri="{FF2B5EF4-FFF2-40B4-BE49-F238E27FC236}">
                <a16:creationId xmlns:a16="http://schemas.microsoft.com/office/drawing/2014/main" id="{4376196C-D42D-16ED-A9AB-D86086381AF1}"/>
              </a:ext>
            </a:extLst>
          </p:cNvPr>
          <p:cNvSpPr>
            <a:spLocks noGrp="1"/>
          </p:cNvSpPr>
          <p:nvPr>
            <p:ph type="title"/>
          </p:nvPr>
        </p:nvSpPr>
        <p:spPr>
          <a:xfrm>
            <a:off x="719999" y="523239"/>
            <a:ext cx="7704000" cy="572700"/>
          </a:xfrm>
        </p:spPr>
        <p:txBody>
          <a:bodyPr/>
          <a:lstStyle/>
          <a:p>
            <a:pPr algn="ctr"/>
            <a:r>
              <a:rPr lang="en-US" sz="2000" dirty="0"/>
              <a:t>Previous generative models of enhancers use massively parallel reporter assays (MPRAs) to label sequences</a:t>
            </a:r>
          </a:p>
        </p:txBody>
      </p:sp>
      <p:sp>
        <p:nvSpPr>
          <p:cNvPr id="3" name="Oval 2">
            <a:extLst>
              <a:ext uri="{FF2B5EF4-FFF2-40B4-BE49-F238E27FC236}">
                <a16:creationId xmlns:a16="http://schemas.microsoft.com/office/drawing/2014/main" id="{94405383-CB42-391A-BF65-5A7B33FCF886}"/>
              </a:ext>
            </a:extLst>
          </p:cNvPr>
          <p:cNvSpPr/>
          <p:nvPr/>
        </p:nvSpPr>
        <p:spPr>
          <a:xfrm>
            <a:off x="738329" y="2262660"/>
            <a:ext cx="457200" cy="457200"/>
          </a:xfrm>
          <a:prstGeom prst="ellipse">
            <a:avLst/>
          </a:prstGeom>
          <a:noFill/>
          <a:ln w="381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Arc 3">
            <a:extLst>
              <a:ext uri="{FF2B5EF4-FFF2-40B4-BE49-F238E27FC236}">
                <a16:creationId xmlns:a16="http://schemas.microsoft.com/office/drawing/2014/main" id="{9CF21591-6C86-1029-20F0-3524E47F23F6}"/>
              </a:ext>
            </a:extLst>
          </p:cNvPr>
          <p:cNvSpPr/>
          <p:nvPr/>
        </p:nvSpPr>
        <p:spPr>
          <a:xfrm rot="19487382">
            <a:off x="738329" y="2252848"/>
            <a:ext cx="457200" cy="457200"/>
          </a:xfrm>
          <a:prstGeom prst="arc">
            <a:avLst>
              <a:gd name="adj1" fmla="val 14513924"/>
              <a:gd name="adj2" fmla="val 631815"/>
            </a:avLst>
          </a:prstGeom>
          <a:ln w="57150">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 name="Arc 4">
            <a:extLst>
              <a:ext uri="{FF2B5EF4-FFF2-40B4-BE49-F238E27FC236}">
                <a16:creationId xmlns:a16="http://schemas.microsoft.com/office/drawing/2014/main" id="{6624DD0A-CBDC-377D-9960-FDD4EC5FCAFC}"/>
              </a:ext>
            </a:extLst>
          </p:cNvPr>
          <p:cNvSpPr/>
          <p:nvPr/>
        </p:nvSpPr>
        <p:spPr>
          <a:xfrm rot="19487382">
            <a:off x="738330" y="2252848"/>
            <a:ext cx="457200" cy="457200"/>
          </a:xfrm>
          <a:prstGeom prst="arc">
            <a:avLst>
              <a:gd name="adj1" fmla="val 12781519"/>
              <a:gd name="adj2" fmla="val 14571822"/>
            </a:avLst>
          </a:prstGeom>
          <a:ln w="57150">
            <a:solidFill>
              <a:srgbClr val="FFFF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6" name="Arc 5">
            <a:extLst>
              <a:ext uri="{FF2B5EF4-FFF2-40B4-BE49-F238E27FC236}">
                <a16:creationId xmlns:a16="http://schemas.microsoft.com/office/drawing/2014/main" id="{3BE384DB-5B85-D211-4155-101663DCD3E3}"/>
              </a:ext>
            </a:extLst>
          </p:cNvPr>
          <p:cNvSpPr/>
          <p:nvPr/>
        </p:nvSpPr>
        <p:spPr>
          <a:xfrm rot="15611557">
            <a:off x="738329" y="2256741"/>
            <a:ext cx="457200" cy="457200"/>
          </a:xfrm>
          <a:prstGeom prst="arc">
            <a:avLst>
              <a:gd name="adj1" fmla="val 10392918"/>
              <a:gd name="adj2" fmla="val 14571822"/>
            </a:avLst>
          </a:prstGeom>
          <a:ln w="571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0" name="Oval 9">
            <a:extLst>
              <a:ext uri="{FF2B5EF4-FFF2-40B4-BE49-F238E27FC236}">
                <a16:creationId xmlns:a16="http://schemas.microsoft.com/office/drawing/2014/main" id="{B0E0B6EE-7884-F761-56EC-E59E4ED22F69}"/>
              </a:ext>
            </a:extLst>
          </p:cNvPr>
          <p:cNvSpPr/>
          <p:nvPr/>
        </p:nvSpPr>
        <p:spPr>
          <a:xfrm>
            <a:off x="828311" y="2948003"/>
            <a:ext cx="457200" cy="457200"/>
          </a:xfrm>
          <a:prstGeom prst="ellipse">
            <a:avLst/>
          </a:prstGeom>
          <a:noFill/>
          <a:ln w="381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Arc 10">
            <a:extLst>
              <a:ext uri="{FF2B5EF4-FFF2-40B4-BE49-F238E27FC236}">
                <a16:creationId xmlns:a16="http://schemas.microsoft.com/office/drawing/2014/main" id="{7E7768AD-C489-E925-2DDD-E39232E36336}"/>
              </a:ext>
            </a:extLst>
          </p:cNvPr>
          <p:cNvSpPr/>
          <p:nvPr/>
        </p:nvSpPr>
        <p:spPr>
          <a:xfrm rot="19487382">
            <a:off x="828311" y="2938191"/>
            <a:ext cx="457200" cy="457200"/>
          </a:xfrm>
          <a:prstGeom prst="arc">
            <a:avLst>
              <a:gd name="adj1" fmla="val 14513924"/>
              <a:gd name="adj2" fmla="val 631815"/>
            </a:avLst>
          </a:prstGeom>
          <a:ln w="57150">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2" name="Arc 11">
            <a:extLst>
              <a:ext uri="{FF2B5EF4-FFF2-40B4-BE49-F238E27FC236}">
                <a16:creationId xmlns:a16="http://schemas.microsoft.com/office/drawing/2014/main" id="{F2460F20-18BA-21D2-A57C-494B11846606}"/>
              </a:ext>
            </a:extLst>
          </p:cNvPr>
          <p:cNvSpPr/>
          <p:nvPr/>
        </p:nvSpPr>
        <p:spPr>
          <a:xfrm rot="19487382">
            <a:off x="828312" y="2938191"/>
            <a:ext cx="457200" cy="457200"/>
          </a:xfrm>
          <a:prstGeom prst="arc">
            <a:avLst>
              <a:gd name="adj1" fmla="val 12781519"/>
              <a:gd name="adj2" fmla="val 14571822"/>
            </a:avLst>
          </a:prstGeom>
          <a:ln w="57150">
            <a:solidFill>
              <a:srgbClr val="FFFF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3" name="Arc 12">
            <a:extLst>
              <a:ext uri="{FF2B5EF4-FFF2-40B4-BE49-F238E27FC236}">
                <a16:creationId xmlns:a16="http://schemas.microsoft.com/office/drawing/2014/main" id="{83DFA598-AA78-A53B-7BF5-2129DDB6E35F}"/>
              </a:ext>
            </a:extLst>
          </p:cNvPr>
          <p:cNvSpPr/>
          <p:nvPr/>
        </p:nvSpPr>
        <p:spPr>
          <a:xfrm rot="15611557">
            <a:off x="828311" y="2947164"/>
            <a:ext cx="457200" cy="457200"/>
          </a:xfrm>
          <a:prstGeom prst="arc">
            <a:avLst>
              <a:gd name="adj1" fmla="val 10392918"/>
              <a:gd name="adj2" fmla="val 14571822"/>
            </a:avLst>
          </a:prstGeom>
          <a:ln w="571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4" name="Oval 13">
            <a:extLst>
              <a:ext uri="{FF2B5EF4-FFF2-40B4-BE49-F238E27FC236}">
                <a16:creationId xmlns:a16="http://schemas.microsoft.com/office/drawing/2014/main" id="{BED1C299-289F-E16E-FF4C-2A29FC3AA0B6}"/>
              </a:ext>
            </a:extLst>
          </p:cNvPr>
          <p:cNvSpPr/>
          <p:nvPr/>
        </p:nvSpPr>
        <p:spPr>
          <a:xfrm>
            <a:off x="1266727" y="2539439"/>
            <a:ext cx="457200" cy="457200"/>
          </a:xfrm>
          <a:prstGeom prst="ellipse">
            <a:avLst/>
          </a:prstGeom>
          <a:noFill/>
          <a:ln w="381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Arc 14">
            <a:extLst>
              <a:ext uri="{FF2B5EF4-FFF2-40B4-BE49-F238E27FC236}">
                <a16:creationId xmlns:a16="http://schemas.microsoft.com/office/drawing/2014/main" id="{35937538-5F6B-451F-F43D-870777DE2E4F}"/>
              </a:ext>
            </a:extLst>
          </p:cNvPr>
          <p:cNvSpPr/>
          <p:nvPr/>
        </p:nvSpPr>
        <p:spPr>
          <a:xfrm rot="19487382">
            <a:off x="1266727" y="2529627"/>
            <a:ext cx="457200" cy="457200"/>
          </a:xfrm>
          <a:prstGeom prst="arc">
            <a:avLst>
              <a:gd name="adj1" fmla="val 14513924"/>
              <a:gd name="adj2" fmla="val 631815"/>
            </a:avLst>
          </a:prstGeom>
          <a:ln w="57150">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7" name="Arc 16">
            <a:extLst>
              <a:ext uri="{FF2B5EF4-FFF2-40B4-BE49-F238E27FC236}">
                <a16:creationId xmlns:a16="http://schemas.microsoft.com/office/drawing/2014/main" id="{CE8A5179-AF30-C3D0-C243-3DFDD71DB440}"/>
              </a:ext>
            </a:extLst>
          </p:cNvPr>
          <p:cNvSpPr/>
          <p:nvPr/>
        </p:nvSpPr>
        <p:spPr>
          <a:xfrm rot="19487382">
            <a:off x="1266728" y="2529627"/>
            <a:ext cx="457200" cy="457200"/>
          </a:xfrm>
          <a:prstGeom prst="arc">
            <a:avLst>
              <a:gd name="adj1" fmla="val 12781519"/>
              <a:gd name="adj2" fmla="val 14571822"/>
            </a:avLst>
          </a:prstGeom>
          <a:ln w="57150">
            <a:solidFill>
              <a:srgbClr val="FFFF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8" name="Arc 17">
            <a:extLst>
              <a:ext uri="{FF2B5EF4-FFF2-40B4-BE49-F238E27FC236}">
                <a16:creationId xmlns:a16="http://schemas.microsoft.com/office/drawing/2014/main" id="{6EEBEE9B-D429-A5A7-7D99-474BEC86BF07}"/>
              </a:ext>
            </a:extLst>
          </p:cNvPr>
          <p:cNvSpPr/>
          <p:nvPr/>
        </p:nvSpPr>
        <p:spPr>
          <a:xfrm rot="15611557">
            <a:off x="1266727" y="2538600"/>
            <a:ext cx="457200" cy="457200"/>
          </a:xfrm>
          <a:prstGeom prst="arc">
            <a:avLst>
              <a:gd name="adj1" fmla="val 10392918"/>
              <a:gd name="adj2" fmla="val 14571822"/>
            </a:avLst>
          </a:prstGeom>
          <a:ln w="571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2" name="TextBox 31">
            <a:extLst>
              <a:ext uri="{FF2B5EF4-FFF2-40B4-BE49-F238E27FC236}">
                <a16:creationId xmlns:a16="http://schemas.microsoft.com/office/drawing/2014/main" id="{9EB81A23-C74A-DB28-8FBA-89287EE15906}"/>
              </a:ext>
            </a:extLst>
          </p:cNvPr>
          <p:cNvSpPr txBox="1"/>
          <p:nvPr/>
        </p:nvSpPr>
        <p:spPr>
          <a:xfrm>
            <a:off x="823885" y="3669016"/>
            <a:ext cx="872355" cy="523220"/>
          </a:xfrm>
          <a:prstGeom prst="rect">
            <a:avLst/>
          </a:prstGeom>
          <a:noFill/>
        </p:spPr>
        <p:txBody>
          <a:bodyPr wrap="none" rtlCol="0">
            <a:spAutoFit/>
          </a:bodyPr>
          <a:lstStyle/>
          <a:p>
            <a:pPr algn="ctr"/>
            <a:r>
              <a:rPr lang="en-US" dirty="0"/>
              <a:t>Plasmid </a:t>
            </a:r>
            <a:br>
              <a:rPr lang="en-US" dirty="0"/>
            </a:br>
            <a:r>
              <a:rPr lang="en-US" dirty="0"/>
              <a:t>Library</a:t>
            </a:r>
          </a:p>
        </p:txBody>
      </p:sp>
      <p:sp>
        <p:nvSpPr>
          <p:cNvPr id="33" name="Arc 32">
            <a:extLst>
              <a:ext uri="{FF2B5EF4-FFF2-40B4-BE49-F238E27FC236}">
                <a16:creationId xmlns:a16="http://schemas.microsoft.com/office/drawing/2014/main" id="{025D5A75-D8CC-D3DE-D968-A94357EADA64}"/>
              </a:ext>
            </a:extLst>
          </p:cNvPr>
          <p:cNvSpPr/>
          <p:nvPr/>
        </p:nvSpPr>
        <p:spPr>
          <a:xfrm rot="15758980">
            <a:off x="874140" y="2998909"/>
            <a:ext cx="365760" cy="365760"/>
          </a:xfrm>
          <a:prstGeom prst="arc">
            <a:avLst>
              <a:gd name="adj1" fmla="val 10208053"/>
              <a:gd name="adj2" fmla="val 14571822"/>
            </a:avLst>
          </a:prstGeom>
          <a:ln w="57150">
            <a:solidFill>
              <a:srgbClr val="46B0A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3" name="Arc 22">
            <a:extLst>
              <a:ext uri="{FF2B5EF4-FFF2-40B4-BE49-F238E27FC236}">
                <a16:creationId xmlns:a16="http://schemas.microsoft.com/office/drawing/2014/main" id="{C40C2A6C-B422-E2BE-0BE1-A9968B726CFE}"/>
              </a:ext>
            </a:extLst>
          </p:cNvPr>
          <p:cNvSpPr/>
          <p:nvPr/>
        </p:nvSpPr>
        <p:spPr>
          <a:xfrm rot="15758980">
            <a:off x="1312558" y="2593644"/>
            <a:ext cx="365760" cy="365760"/>
          </a:xfrm>
          <a:prstGeom prst="arc">
            <a:avLst>
              <a:gd name="adj1" fmla="val 10208053"/>
              <a:gd name="adj2" fmla="val 14571822"/>
            </a:avLst>
          </a:prstGeom>
          <a:ln w="57150">
            <a:solidFill>
              <a:srgbClr val="E0CDE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2" name="Arc 21">
            <a:extLst>
              <a:ext uri="{FF2B5EF4-FFF2-40B4-BE49-F238E27FC236}">
                <a16:creationId xmlns:a16="http://schemas.microsoft.com/office/drawing/2014/main" id="{6C478892-2496-1C7D-A11B-C34C57740437}"/>
              </a:ext>
            </a:extLst>
          </p:cNvPr>
          <p:cNvSpPr/>
          <p:nvPr/>
        </p:nvSpPr>
        <p:spPr>
          <a:xfrm rot="15758980">
            <a:off x="784127" y="2315358"/>
            <a:ext cx="365760" cy="365760"/>
          </a:xfrm>
          <a:prstGeom prst="arc">
            <a:avLst>
              <a:gd name="adj1" fmla="val 10208053"/>
              <a:gd name="adj2" fmla="val 14571822"/>
            </a:avLst>
          </a:prstGeom>
          <a:ln w="57150">
            <a:solidFill>
              <a:srgbClr val="7030A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7" name="Arc 36">
            <a:extLst>
              <a:ext uri="{FF2B5EF4-FFF2-40B4-BE49-F238E27FC236}">
                <a16:creationId xmlns:a16="http://schemas.microsoft.com/office/drawing/2014/main" id="{11AA36A2-2D03-DABC-A2D9-01642CEDF725}"/>
              </a:ext>
            </a:extLst>
          </p:cNvPr>
          <p:cNvSpPr/>
          <p:nvPr/>
        </p:nvSpPr>
        <p:spPr>
          <a:xfrm rot="7206464">
            <a:off x="1272879" y="2538320"/>
            <a:ext cx="457200" cy="457200"/>
          </a:xfrm>
          <a:prstGeom prst="arc">
            <a:avLst>
              <a:gd name="adj1" fmla="val 12781519"/>
              <a:gd name="adj2" fmla="val 13776796"/>
            </a:avLst>
          </a:prstGeom>
          <a:ln w="57150">
            <a:solidFill>
              <a:srgbClr val="00206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8" name="Arc 37">
            <a:extLst>
              <a:ext uri="{FF2B5EF4-FFF2-40B4-BE49-F238E27FC236}">
                <a16:creationId xmlns:a16="http://schemas.microsoft.com/office/drawing/2014/main" id="{6CEC9BB2-0D13-8A08-7685-1BA8D0E93C85}"/>
              </a:ext>
            </a:extLst>
          </p:cNvPr>
          <p:cNvSpPr/>
          <p:nvPr/>
        </p:nvSpPr>
        <p:spPr>
          <a:xfrm rot="7206464">
            <a:off x="737664" y="2261533"/>
            <a:ext cx="457200" cy="457200"/>
          </a:xfrm>
          <a:prstGeom prst="arc">
            <a:avLst>
              <a:gd name="adj1" fmla="val 12781519"/>
              <a:gd name="adj2" fmla="val 13776796"/>
            </a:avLst>
          </a:prstGeom>
          <a:ln w="57150">
            <a:solidFill>
              <a:srgbClr val="00206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9" name="Arc 38">
            <a:extLst>
              <a:ext uri="{FF2B5EF4-FFF2-40B4-BE49-F238E27FC236}">
                <a16:creationId xmlns:a16="http://schemas.microsoft.com/office/drawing/2014/main" id="{1DA52E9C-208E-461F-FE8C-DBD7E9C8B56F}"/>
              </a:ext>
            </a:extLst>
          </p:cNvPr>
          <p:cNvSpPr/>
          <p:nvPr/>
        </p:nvSpPr>
        <p:spPr>
          <a:xfrm rot="7206464">
            <a:off x="828311" y="2944342"/>
            <a:ext cx="457200" cy="457200"/>
          </a:xfrm>
          <a:prstGeom prst="arc">
            <a:avLst>
              <a:gd name="adj1" fmla="val 12781519"/>
              <a:gd name="adj2" fmla="val 13776796"/>
            </a:avLst>
          </a:prstGeom>
          <a:ln w="57150">
            <a:solidFill>
              <a:srgbClr val="00206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pic>
        <p:nvPicPr>
          <p:cNvPr id="2" name="Picture 1" descr="The image depicts a simple, circular, monochromatic silhouette.&#10;&#10;AI-generated content may be incorrect.">
            <a:extLst>
              <a:ext uri="{FF2B5EF4-FFF2-40B4-BE49-F238E27FC236}">
                <a16:creationId xmlns:a16="http://schemas.microsoft.com/office/drawing/2014/main" id="{0D3D02DF-6673-0B02-CDCE-EB969A777C30}"/>
              </a:ext>
            </a:extLst>
          </p:cNvPr>
          <p:cNvPicPr>
            <a:picLocks noChangeAspect="1"/>
          </p:cNvPicPr>
          <p:nvPr/>
        </p:nvPicPr>
        <p:blipFill>
          <a:blip r:embed="rId3"/>
          <a:stretch>
            <a:fillRect/>
          </a:stretch>
        </p:blipFill>
        <p:spPr>
          <a:xfrm>
            <a:off x="3251215" y="1618654"/>
            <a:ext cx="1096239" cy="1176697"/>
          </a:xfrm>
          <a:prstGeom prst="rect">
            <a:avLst/>
          </a:prstGeom>
        </p:spPr>
      </p:pic>
      <p:pic>
        <p:nvPicPr>
          <p:cNvPr id="9" name="Picture 8" descr="The image depicts a simple, circular diagram with two concentric circles, one inside the other.&#10;&#10;AI-generated content may be incorrect.">
            <a:extLst>
              <a:ext uri="{FF2B5EF4-FFF2-40B4-BE49-F238E27FC236}">
                <a16:creationId xmlns:a16="http://schemas.microsoft.com/office/drawing/2014/main" id="{02EF05A1-6B49-C82D-EE40-2D4399E2EF12}"/>
              </a:ext>
            </a:extLst>
          </p:cNvPr>
          <p:cNvPicPr>
            <a:picLocks noChangeAspect="1"/>
          </p:cNvPicPr>
          <p:nvPr/>
        </p:nvPicPr>
        <p:blipFill>
          <a:blip r:embed="rId4"/>
          <a:stretch>
            <a:fillRect/>
          </a:stretch>
        </p:blipFill>
        <p:spPr>
          <a:xfrm>
            <a:off x="3304233" y="1695465"/>
            <a:ext cx="982167" cy="1071455"/>
          </a:xfrm>
          <a:prstGeom prst="rect">
            <a:avLst/>
          </a:prstGeom>
        </p:spPr>
      </p:pic>
      <p:sp>
        <p:nvSpPr>
          <p:cNvPr id="19" name="Arc 18">
            <a:extLst>
              <a:ext uri="{FF2B5EF4-FFF2-40B4-BE49-F238E27FC236}">
                <a16:creationId xmlns:a16="http://schemas.microsoft.com/office/drawing/2014/main" id="{A84E704C-BC57-9EA3-22B8-2BFFD5FE0186}"/>
              </a:ext>
            </a:extLst>
          </p:cNvPr>
          <p:cNvSpPr/>
          <p:nvPr/>
        </p:nvSpPr>
        <p:spPr>
          <a:xfrm rot="11416370" flipH="1">
            <a:off x="99956" y="1254515"/>
            <a:ext cx="3660869" cy="1450057"/>
          </a:xfrm>
          <a:prstGeom prst="arc">
            <a:avLst>
              <a:gd name="adj1" fmla="val 16176146"/>
              <a:gd name="adj2" fmla="val 21071442"/>
            </a:avLst>
          </a:prstGeom>
          <a:ln w="28575">
            <a:headEnd type="none" w="med" len="med"/>
            <a:tailEnd type="arrow"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dirty="0"/>
          </a:p>
        </p:txBody>
      </p:sp>
      <p:sp>
        <p:nvSpPr>
          <p:cNvPr id="41" name="Oval 40">
            <a:extLst>
              <a:ext uri="{FF2B5EF4-FFF2-40B4-BE49-F238E27FC236}">
                <a16:creationId xmlns:a16="http://schemas.microsoft.com/office/drawing/2014/main" id="{7B921399-1CFE-D7F8-51EC-A69AE7109353}"/>
              </a:ext>
            </a:extLst>
          </p:cNvPr>
          <p:cNvSpPr/>
          <p:nvPr/>
        </p:nvSpPr>
        <p:spPr>
          <a:xfrm>
            <a:off x="3566717" y="2087191"/>
            <a:ext cx="457200" cy="457200"/>
          </a:xfrm>
          <a:prstGeom prst="ellipse">
            <a:avLst/>
          </a:prstGeom>
          <a:noFill/>
          <a:ln w="381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Arc 41">
            <a:extLst>
              <a:ext uri="{FF2B5EF4-FFF2-40B4-BE49-F238E27FC236}">
                <a16:creationId xmlns:a16="http://schemas.microsoft.com/office/drawing/2014/main" id="{B52EB577-07DD-7E97-F04E-2074711AB8BF}"/>
              </a:ext>
            </a:extLst>
          </p:cNvPr>
          <p:cNvSpPr/>
          <p:nvPr/>
        </p:nvSpPr>
        <p:spPr>
          <a:xfrm rot="19487382">
            <a:off x="3566717" y="2077379"/>
            <a:ext cx="457200" cy="457200"/>
          </a:xfrm>
          <a:prstGeom prst="arc">
            <a:avLst>
              <a:gd name="adj1" fmla="val 14513924"/>
              <a:gd name="adj2" fmla="val 631815"/>
            </a:avLst>
          </a:prstGeom>
          <a:ln w="57150">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5" name="Arc 44">
            <a:extLst>
              <a:ext uri="{FF2B5EF4-FFF2-40B4-BE49-F238E27FC236}">
                <a16:creationId xmlns:a16="http://schemas.microsoft.com/office/drawing/2014/main" id="{EA70FE1C-AF13-BFD4-56DF-4A0D891C142D}"/>
              </a:ext>
            </a:extLst>
          </p:cNvPr>
          <p:cNvSpPr/>
          <p:nvPr/>
        </p:nvSpPr>
        <p:spPr>
          <a:xfrm rot="19487382">
            <a:off x="3566718" y="2077379"/>
            <a:ext cx="457200" cy="457200"/>
          </a:xfrm>
          <a:prstGeom prst="arc">
            <a:avLst>
              <a:gd name="adj1" fmla="val 12781519"/>
              <a:gd name="adj2" fmla="val 14571822"/>
            </a:avLst>
          </a:prstGeom>
          <a:ln w="57150">
            <a:solidFill>
              <a:srgbClr val="FFFF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9" name="Arc 48">
            <a:extLst>
              <a:ext uri="{FF2B5EF4-FFF2-40B4-BE49-F238E27FC236}">
                <a16:creationId xmlns:a16="http://schemas.microsoft.com/office/drawing/2014/main" id="{160CBAF5-D3C1-A201-D8F8-936E68FF0E3D}"/>
              </a:ext>
            </a:extLst>
          </p:cNvPr>
          <p:cNvSpPr/>
          <p:nvPr/>
        </p:nvSpPr>
        <p:spPr>
          <a:xfrm rot="15611557">
            <a:off x="3566717" y="2086352"/>
            <a:ext cx="457200" cy="457200"/>
          </a:xfrm>
          <a:prstGeom prst="arc">
            <a:avLst>
              <a:gd name="adj1" fmla="val 10392918"/>
              <a:gd name="adj2" fmla="val 14571822"/>
            </a:avLst>
          </a:prstGeom>
          <a:ln w="571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1" name="Arc 50">
            <a:extLst>
              <a:ext uri="{FF2B5EF4-FFF2-40B4-BE49-F238E27FC236}">
                <a16:creationId xmlns:a16="http://schemas.microsoft.com/office/drawing/2014/main" id="{BC1819BB-61D9-9EBC-EFF2-05EE59CEC18A}"/>
              </a:ext>
            </a:extLst>
          </p:cNvPr>
          <p:cNvSpPr/>
          <p:nvPr/>
        </p:nvSpPr>
        <p:spPr>
          <a:xfrm rot="15758980">
            <a:off x="3612548" y="2141396"/>
            <a:ext cx="365760" cy="365760"/>
          </a:xfrm>
          <a:prstGeom prst="arc">
            <a:avLst>
              <a:gd name="adj1" fmla="val 10208053"/>
              <a:gd name="adj2" fmla="val 14571822"/>
            </a:avLst>
          </a:prstGeom>
          <a:ln w="57150">
            <a:solidFill>
              <a:srgbClr val="E0CDE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3" name="Arc 52">
            <a:extLst>
              <a:ext uri="{FF2B5EF4-FFF2-40B4-BE49-F238E27FC236}">
                <a16:creationId xmlns:a16="http://schemas.microsoft.com/office/drawing/2014/main" id="{90A390A1-8365-957E-34EF-12E9ED94513A}"/>
              </a:ext>
            </a:extLst>
          </p:cNvPr>
          <p:cNvSpPr/>
          <p:nvPr/>
        </p:nvSpPr>
        <p:spPr>
          <a:xfrm rot="7206464">
            <a:off x="3572869" y="2086072"/>
            <a:ext cx="457200" cy="457200"/>
          </a:xfrm>
          <a:prstGeom prst="arc">
            <a:avLst>
              <a:gd name="adj1" fmla="val 12781519"/>
              <a:gd name="adj2" fmla="val 13776796"/>
            </a:avLst>
          </a:prstGeom>
          <a:ln w="57150">
            <a:solidFill>
              <a:srgbClr val="00206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21" name="Straight Arrow Connector 20">
            <a:extLst>
              <a:ext uri="{FF2B5EF4-FFF2-40B4-BE49-F238E27FC236}">
                <a16:creationId xmlns:a16="http://schemas.microsoft.com/office/drawing/2014/main" id="{06CB81D0-ED60-1F1F-BE7C-7CD076C3671B}"/>
              </a:ext>
            </a:extLst>
          </p:cNvPr>
          <p:cNvCxnSpPr>
            <a:cxnSpLocks/>
          </p:cNvCxnSpPr>
          <p:nvPr/>
        </p:nvCxnSpPr>
        <p:spPr>
          <a:xfrm>
            <a:off x="4572000" y="2262660"/>
            <a:ext cx="1366092"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24" name="Rectangle 23">
            <a:extLst>
              <a:ext uri="{FF2B5EF4-FFF2-40B4-BE49-F238E27FC236}">
                <a16:creationId xmlns:a16="http://schemas.microsoft.com/office/drawing/2014/main" id="{26A1B45C-9575-8CED-68CE-7F89F9894C8C}"/>
              </a:ext>
            </a:extLst>
          </p:cNvPr>
          <p:cNvSpPr/>
          <p:nvPr/>
        </p:nvSpPr>
        <p:spPr>
          <a:xfrm>
            <a:off x="6162638" y="2133983"/>
            <a:ext cx="842963" cy="87159"/>
          </a:xfrm>
          <a:prstGeom prst="rect">
            <a:avLst/>
          </a:prstGeom>
          <a:solidFill>
            <a:srgbClr val="E0CDEF"/>
          </a:solidFill>
          <a:ln>
            <a:solidFill>
              <a:srgbClr val="E0CDE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Box 28">
            <a:extLst>
              <a:ext uri="{FF2B5EF4-FFF2-40B4-BE49-F238E27FC236}">
                <a16:creationId xmlns:a16="http://schemas.microsoft.com/office/drawing/2014/main" id="{C70B25A1-9B90-36AA-301E-B3CFECCDCD35}"/>
              </a:ext>
            </a:extLst>
          </p:cNvPr>
          <p:cNvSpPr txBox="1"/>
          <p:nvPr/>
        </p:nvSpPr>
        <p:spPr>
          <a:xfrm>
            <a:off x="6402018" y="2454489"/>
            <a:ext cx="364202" cy="307777"/>
          </a:xfrm>
          <a:prstGeom prst="rect">
            <a:avLst/>
          </a:prstGeom>
          <a:noFill/>
        </p:spPr>
        <p:txBody>
          <a:bodyPr wrap="none" rtlCol="0">
            <a:spAutoFit/>
          </a:bodyPr>
          <a:lstStyle/>
          <a:p>
            <a:pPr algn="ctr"/>
            <a:r>
              <a:rPr lang="en-US" dirty="0"/>
              <a:t>…</a:t>
            </a:r>
          </a:p>
        </p:txBody>
      </p:sp>
      <p:sp>
        <p:nvSpPr>
          <p:cNvPr id="31" name="Rectangle: Rounded Corners 30">
            <a:extLst>
              <a:ext uri="{FF2B5EF4-FFF2-40B4-BE49-F238E27FC236}">
                <a16:creationId xmlns:a16="http://schemas.microsoft.com/office/drawing/2014/main" id="{853A3472-9B66-C68E-7874-F7A4A4A4B561}"/>
              </a:ext>
            </a:extLst>
          </p:cNvPr>
          <p:cNvSpPr/>
          <p:nvPr/>
        </p:nvSpPr>
        <p:spPr>
          <a:xfrm>
            <a:off x="4876007" y="3212211"/>
            <a:ext cx="2124169" cy="426568"/>
          </a:xfrm>
          <a:prstGeom prst="roundRect">
            <a:avLst/>
          </a:prstGeom>
          <a:solidFill>
            <a:srgbClr val="B4E5A3"/>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lumMod val="10000"/>
                  </a:schemeClr>
                </a:solidFill>
              </a:rPr>
              <a:t>Generative Model</a:t>
            </a:r>
          </a:p>
        </p:txBody>
      </p:sp>
      <p:cxnSp>
        <p:nvCxnSpPr>
          <p:cNvPr id="34" name="Straight Arrow Connector 33">
            <a:extLst>
              <a:ext uri="{FF2B5EF4-FFF2-40B4-BE49-F238E27FC236}">
                <a16:creationId xmlns:a16="http://schemas.microsoft.com/office/drawing/2014/main" id="{E89A0ACC-E6BC-E149-0827-B1B65D787D28}"/>
              </a:ext>
            </a:extLst>
          </p:cNvPr>
          <p:cNvCxnSpPr>
            <a:cxnSpLocks/>
            <a:stCxn id="29" idx="2"/>
          </p:cNvCxnSpPr>
          <p:nvPr/>
        </p:nvCxnSpPr>
        <p:spPr>
          <a:xfrm>
            <a:off x="6584119" y="2762266"/>
            <a:ext cx="0" cy="314543"/>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pic>
        <p:nvPicPr>
          <p:cNvPr id="44" name="Picture 43" descr="The image depicts a simple, circular, monochromatic silhouette.&#10;&#10;AI-generated content may be incorrect.">
            <a:extLst>
              <a:ext uri="{FF2B5EF4-FFF2-40B4-BE49-F238E27FC236}">
                <a16:creationId xmlns:a16="http://schemas.microsoft.com/office/drawing/2014/main" id="{5CB742BA-6FAC-3AB8-3CBE-B642BDE93CCA}"/>
              </a:ext>
            </a:extLst>
          </p:cNvPr>
          <p:cNvPicPr>
            <a:picLocks noChangeAspect="1"/>
          </p:cNvPicPr>
          <p:nvPr/>
        </p:nvPicPr>
        <p:blipFill>
          <a:blip r:embed="rId3"/>
          <a:stretch>
            <a:fillRect/>
          </a:stretch>
        </p:blipFill>
        <p:spPr>
          <a:xfrm>
            <a:off x="3891219" y="3115093"/>
            <a:ext cx="528398" cy="567180"/>
          </a:xfrm>
          <a:prstGeom prst="rect">
            <a:avLst/>
          </a:prstGeom>
        </p:spPr>
      </p:pic>
      <p:cxnSp>
        <p:nvCxnSpPr>
          <p:cNvPr id="46" name="Straight Arrow Connector 45">
            <a:extLst>
              <a:ext uri="{FF2B5EF4-FFF2-40B4-BE49-F238E27FC236}">
                <a16:creationId xmlns:a16="http://schemas.microsoft.com/office/drawing/2014/main" id="{5464FEFD-CD2A-3E55-039C-B51A056088BC}"/>
              </a:ext>
            </a:extLst>
          </p:cNvPr>
          <p:cNvCxnSpPr>
            <a:cxnSpLocks/>
          </p:cNvCxnSpPr>
          <p:nvPr/>
        </p:nvCxnSpPr>
        <p:spPr>
          <a:xfrm>
            <a:off x="4449422" y="3402088"/>
            <a:ext cx="319194"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50" name="Straight Arrow Connector 49">
            <a:extLst>
              <a:ext uri="{FF2B5EF4-FFF2-40B4-BE49-F238E27FC236}">
                <a16:creationId xmlns:a16="http://schemas.microsoft.com/office/drawing/2014/main" id="{B3E822B0-76B4-924F-9990-837AD062BAC7}"/>
              </a:ext>
            </a:extLst>
          </p:cNvPr>
          <p:cNvCxnSpPr>
            <a:cxnSpLocks/>
          </p:cNvCxnSpPr>
          <p:nvPr/>
        </p:nvCxnSpPr>
        <p:spPr>
          <a:xfrm>
            <a:off x="7080618" y="3431984"/>
            <a:ext cx="319194"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52" name="Rectangle 51">
            <a:extLst>
              <a:ext uri="{FF2B5EF4-FFF2-40B4-BE49-F238E27FC236}">
                <a16:creationId xmlns:a16="http://schemas.microsoft.com/office/drawing/2014/main" id="{2C5EA1B5-ADEC-9D30-A849-083F8E901A4A}"/>
              </a:ext>
            </a:extLst>
          </p:cNvPr>
          <p:cNvSpPr/>
          <p:nvPr/>
        </p:nvSpPr>
        <p:spPr>
          <a:xfrm>
            <a:off x="7508325" y="3212211"/>
            <a:ext cx="842963" cy="87159"/>
          </a:xfrm>
          <a:prstGeom prst="rect">
            <a:avLst/>
          </a:prstGeom>
          <a:solidFill>
            <a:srgbClr val="E0CDEF"/>
          </a:solidFill>
          <a:ln>
            <a:solidFill>
              <a:srgbClr val="E0CDE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TextBox 54">
            <a:extLst>
              <a:ext uri="{FF2B5EF4-FFF2-40B4-BE49-F238E27FC236}">
                <a16:creationId xmlns:a16="http://schemas.microsoft.com/office/drawing/2014/main" id="{18D25CD3-8ABB-7FCA-D16B-D279BABD76FD}"/>
              </a:ext>
            </a:extLst>
          </p:cNvPr>
          <p:cNvSpPr txBox="1"/>
          <p:nvPr/>
        </p:nvSpPr>
        <p:spPr>
          <a:xfrm>
            <a:off x="7747705" y="3532717"/>
            <a:ext cx="364202" cy="307777"/>
          </a:xfrm>
          <a:prstGeom prst="rect">
            <a:avLst/>
          </a:prstGeom>
          <a:noFill/>
        </p:spPr>
        <p:txBody>
          <a:bodyPr wrap="none" rtlCol="0">
            <a:spAutoFit/>
          </a:bodyPr>
          <a:lstStyle/>
          <a:p>
            <a:pPr algn="ctr"/>
            <a:r>
              <a:rPr lang="en-US" dirty="0"/>
              <a:t>…</a:t>
            </a:r>
          </a:p>
        </p:txBody>
      </p:sp>
      <p:sp>
        <p:nvSpPr>
          <p:cNvPr id="56" name="TextBox 55">
            <a:extLst>
              <a:ext uri="{FF2B5EF4-FFF2-40B4-BE49-F238E27FC236}">
                <a16:creationId xmlns:a16="http://schemas.microsoft.com/office/drawing/2014/main" id="{16AE46B2-4C08-53D6-B3E0-588FBC5C173D}"/>
              </a:ext>
            </a:extLst>
          </p:cNvPr>
          <p:cNvSpPr txBox="1"/>
          <p:nvPr/>
        </p:nvSpPr>
        <p:spPr>
          <a:xfrm>
            <a:off x="3006158" y="3234320"/>
            <a:ext cx="830677" cy="307777"/>
          </a:xfrm>
          <a:prstGeom prst="rect">
            <a:avLst/>
          </a:prstGeom>
          <a:noFill/>
        </p:spPr>
        <p:txBody>
          <a:bodyPr wrap="none" rtlCol="0">
            <a:spAutoFit/>
          </a:bodyPr>
          <a:lstStyle/>
          <a:p>
            <a:pPr algn="ctr"/>
            <a:r>
              <a:rPr lang="en-US" dirty="0"/>
              <a:t>Training</a:t>
            </a:r>
          </a:p>
        </p:txBody>
      </p:sp>
      <p:sp>
        <p:nvSpPr>
          <p:cNvPr id="7" name="Rectangle: Rounded Corners 6">
            <a:extLst>
              <a:ext uri="{FF2B5EF4-FFF2-40B4-BE49-F238E27FC236}">
                <a16:creationId xmlns:a16="http://schemas.microsoft.com/office/drawing/2014/main" id="{0306572C-EEDA-4D23-762B-5ABC077FFE67}"/>
              </a:ext>
            </a:extLst>
          </p:cNvPr>
          <p:cNvSpPr/>
          <p:nvPr/>
        </p:nvSpPr>
        <p:spPr>
          <a:xfrm>
            <a:off x="4871333" y="3962072"/>
            <a:ext cx="2124169" cy="426568"/>
          </a:xfrm>
          <a:prstGeom prst="roundRect">
            <a:avLst/>
          </a:prstGeom>
          <a:solidFill>
            <a:srgbClr val="B4E5A3"/>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lumMod val="10000"/>
                  </a:schemeClr>
                </a:solidFill>
              </a:rPr>
              <a:t>Generative Model</a:t>
            </a:r>
          </a:p>
        </p:txBody>
      </p:sp>
      <p:pic>
        <p:nvPicPr>
          <p:cNvPr id="8" name="Picture 7" descr="The image depicts a simple, circular, monochromatic silhouette.&#10;&#10;AI-generated content may be incorrect.">
            <a:extLst>
              <a:ext uri="{FF2B5EF4-FFF2-40B4-BE49-F238E27FC236}">
                <a16:creationId xmlns:a16="http://schemas.microsoft.com/office/drawing/2014/main" id="{89C87518-FA47-1ECB-6B20-C057294A2C59}"/>
              </a:ext>
            </a:extLst>
          </p:cNvPr>
          <p:cNvPicPr>
            <a:picLocks noChangeAspect="1"/>
          </p:cNvPicPr>
          <p:nvPr/>
        </p:nvPicPr>
        <p:blipFill>
          <a:blip r:embed="rId3"/>
          <a:stretch>
            <a:fillRect/>
          </a:stretch>
        </p:blipFill>
        <p:spPr>
          <a:xfrm>
            <a:off x="3886545" y="3864954"/>
            <a:ext cx="528398" cy="567180"/>
          </a:xfrm>
          <a:prstGeom prst="rect">
            <a:avLst/>
          </a:prstGeom>
        </p:spPr>
      </p:pic>
      <p:cxnSp>
        <p:nvCxnSpPr>
          <p:cNvPr id="20" name="Straight Arrow Connector 19">
            <a:extLst>
              <a:ext uri="{FF2B5EF4-FFF2-40B4-BE49-F238E27FC236}">
                <a16:creationId xmlns:a16="http://schemas.microsoft.com/office/drawing/2014/main" id="{44313002-AC9E-578B-DB76-4479296677AD}"/>
              </a:ext>
            </a:extLst>
          </p:cNvPr>
          <p:cNvCxnSpPr>
            <a:cxnSpLocks/>
          </p:cNvCxnSpPr>
          <p:nvPr/>
        </p:nvCxnSpPr>
        <p:spPr>
          <a:xfrm>
            <a:off x="4444748" y="4151949"/>
            <a:ext cx="319194"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25" name="Straight Arrow Connector 24">
            <a:extLst>
              <a:ext uri="{FF2B5EF4-FFF2-40B4-BE49-F238E27FC236}">
                <a16:creationId xmlns:a16="http://schemas.microsoft.com/office/drawing/2014/main" id="{0F503371-9B39-AB60-4EB1-52B8D03B9FEB}"/>
              </a:ext>
            </a:extLst>
          </p:cNvPr>
          <p:cNvCxnSpPr>
            <a:cxnSpLocks/>
          </p:cNvCxnSpPr>
          <p:nvPr/>
        </p:nvCxnSpPr>
        <p:spPr>
          <a:xfrm>
            <a:off x="7075944" y="4181845"/>
            <a:ext cx="319194"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27" name="Rectangle 26">
            <a:extLst>
              <a:ext uri="{FF2B5EF4-FFF2-40B4-BE49-F238E27FC236}">
                <a16:creationId xmlns:a16="http://schemas.microsoft.com/office/drawing/2014/main" id="{1551C6F7-D092-E49C-B5FC-3F47C6813B92}"/>
              </a:ext>
            </a:extLst>
          </p:cNvPr>
          <p:cNvSpPr/>
          <p:nvPr/>
        </p:nvSpPr>
        <p:spPr>
          <a:xfrm>
            <a:off x="7508324" y="4131776"/>
            <a:ext cx="842963" cy="87159"/>
          </a:xfrm>
          <a:prstGeom prst="rect">
            <a:avLst/>
          </a:prstGeom>
          <a:solidFill>
            <a:srgbClr val="C40EC8"/>
          </a:solidFill>
          <a:ln>
            <a:solidFill>
              <a:srgbClr val="C40EC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TextBox 34">
            <a:extLst>
              <a:ext uri="{FF2B5EF4-FFF2-40B4-BE49-F238E27FC236}">
                <a16:creationId xmlns:a16="http://schemas.microsoft.com/office/drawing/2014/main" id="{173F5587-E107-D32A-C83C-E7EF0FBAB7E7}"/>
              </a:ext>
            </a:extLst>
          </p:cNvPr>
          <p:cNvSpPr txBox="1"/>
          <p:nvPr/>
        </p:nvSpPr>
        <p:spPr>
          <a:xfrm>
            <a:off x="3150564" y="3984181"/>
            <a:ext cx="532518" cy="307777"/>
          </a:xfrm>
          <a:prstGeom prst="rect">
            <a:avLst/>
          </a:prstGeom>
          <a:noFill/>
        </p:spPr>
        <p:txBody>
          <a:bodyPr wrap="none" rtlCol="0">
            <a:spAutoFit/>
          </a:bodyPr>
          <a:lstStyle/>
          <a:p>
            <a:pPr algn="ctr"/>
            <a:r>
              <a:rPr lang="en-US" dirty="0"/>
              <a:t>Test</a:t>
            </a:r>
          </a:p>
        </p:txBody>
      </p:sp>
      <p:sp>
        <p:nvSpPr>
          <p:cNvPr id="28" name="Rectangle 27">
            <a:extLst>
              <a:ext uri="{FF2B5EF4-FFF2-40B4-BE49-F238E27FC236}">
                <a16:creationId xmlns:a16="http://schemas.microsoft.com/office/drawing/2014/main" id="{66C63614-0247-DE6F-0638-E45172483A06}"/>
              </a:ext>
            </a:extLst>
          </p:cNvPr>
          <p:cNvSpPr/>
          <p:nvPr/>
        </p:nvSpPr>
        <p:spPr>
          <a:xfrm>
            <a:off x="6162638" y="2331095"/>
            <a:ext cx="842963" cy="87159"/>
          </a:xfrm>
          <a:prstGeom prst="rect">
            <a:avLst/>
          </a:prstGeom>
          <a:solidFill>
            <a:srgbClr val="7030A0"/>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66A979E6-DAC9-5F86-1D38-32ED8615E9D3}"/>
              </a:ext>
            </a:extLst>
          </p:cNvPr>
          <p:cNvSpPr/>
          <p:nvPr/>
        </p:nvSpPr>
        <p:spPr>
          <a:xfrm>
            <a:off x="7508325" y="3361623"/>
            <a:ext cx="842963" cy="87159"/>
          </a:xfrm>
          <a:prstGeom prst="rect">
            <a:avLst/>
          </a:prstGeom>
          <a:solidFill>
            <a:srgbClr val="7030A0"/>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4464803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654A7C-FB93-8D23-D7C1-4AAD662144D9}"/>
            </a:ext>
          </a:extLst>
        </p:cNvPr>
        <p:cNvGrpSpPr/>
        <p:nvPr/>
      </p:nvGrpSpPr>
      <p:grpSpPr>
        <a:xfrm>
          <a:off x="0" y="0"/>
          <a:ext cx="0" cy="0"/>
          <a:chOff x="0" y="0"/>
          <a:chExt cx="0" cy="0"/>
        </a:xfrm>
      </p:grpSpPr>
      <p:sp>
        <p:nvSpPr>
          <p:cNvPr id="16" name="Title 1">
            <a:extLst>
              <a:ext uri="{FF2B5EF4-FFF2-40B4-BE49-F238E27FC236}">
                <a16:creationId xmlns:a16="http://schemas.microsoft.com/office/drawing/2014/main" id="{F7B14FFA-95E5-2D69-C2A5-76525B194FE5}"/>
              </a:ext>
            </a:extLst>
          </p:cNvPr>
          <p:cNvSpPr>
            <a:spLocks noGrp="1"/>
          </p:cNvSpPr>
          <p:nvPr>
            <p:ph type="title"/>
          </p:nvPr>
        </p:nvSpPr>
        <p:spPr>
          <a:xfrm>
            <a:off x="719999" y="523239"/>
            <a:ext cx="7704000" cy="572700"/>
          </a:xfrm>
        </p:spPr>
        <p:txBody>
          <a:bodyPr/>
          <a:lstStyle/>
          <a:p>
            <a:pPr algn="ctr"/>
            <a:r>
              <a:rPr lang="en-US" sz="2000" dirty="0"/>
              <a:t>Label-conditioned generative models create a </a:t>
            </a:r>
            <a:br>
              <a:rPr lang="en-US" sz="2000" dirty="0"/>
            </a:br>
            <a:r>
              <a:rPr lang="en-US" sz="2000" dirty="0"/>
              <a:t>chicken and egg problem with experimentation</a:t>
            </a:r>
          </a:p>
        </p:txBody>
      </p:sp>
      <p:pic>
        <p:nvPicPr>
          <p:cNvPr id="2" name="Picture 1" descr="The image depicts a simple, circular, monochromatic silhouette.&#10;&#10;AI-generated content may be incorrect.">
            <a:extLst>
              <a:ext uri="{FF2B5EF4-FFF2-40B4-BE49-F238E27FC236}">
                <a16:creationId xmlns:a16="http://schemas.microsoft.com/office/drawing/2014/main" id="{7DD0752D-DEE3-A023-DF67-ABF03DB4D27E}"/>
              </a:ext>
            </a:extLst>
          </p:cNvPr>
          <p:cNvPicPr>
            <a:picLocks noChangeAspect="1"/>
          </p:cNvPicPr>
          <p:nvPr/>
        </p:nvPicPr>
        <p:blipFill>
          <a:blip r:embed="rId3"/>
          <a:stretch>
            <a:fillRect/>
          </a:stretch>
        </p:blipFill>
        <p:spPr>
          <a:xfrm>
            <a:off x="3251215" y="1618654"/>
            <a:ext cx="1096239" cy="1176697"/>
          </a:xfrm>
          <a:prstGeom prst="rect">
            <a:avLst/>
          </a:prstGeom>
        </p:spPr>
      </p:pic>
      <p:pic>
        <p:nvPicPr>
          <p:cNvPr id="9" name="Picture 8" descr="The image depicts a simple, circular diagram with two concentric circles, one inside the other.&#10;&#10;AI-generated content may be incorrect.">
            <a:extLst>
              <a:ext uri="{FF2B5EF4-FFF2-40B4-BE49-F238E27FC236}">
                <a16:creationId xmlns:a16="http://schemas.microsoft.com/office/drawing/2014/main" id="{E7416190-A001-AA7F-1982-22033C836542}"/>
              </a:ext>
            </a:extLst>
          </p:cNvPr>
          <p:cNvPicPr>
            <a:picLocks noChangeAspect="1"/>
          </p:cNvPicPr>
          <p:nvPr/>
        </p:nvPicPr>
        <p:blipFill>
          <a:blip r:embed="rId4"/>
          <a:stretch>
            <a:fillRect/>
          </a:stretch>
        </p:blipFill>
        <p:spPr>
          <a:xfrm>
            <a:off x="3304233" y="1695465"/>
            <a:ext cx="982167" cy="1071455"/>
          </a:xfrm>
          <a:prstGeom prst="rect">
            <a:avLst/>
          </a:prstGeom>
        </p:spPr>
      </p:pic>
      <p:sp>
        <p:nvSpPr>
          <p:cNvPr id="41" name="Oval 40">
            <a:extLst>
              <a:ext uri="{FF2B5EF4-FFF2-40B4-BE49-F238E27FC236}">
                <a16:creationId xmlns:a16="http://schemas.microsoft.com/office/drawing/2014/main" id="{71C48D6C-1417-9CCD-DC06-ABE3F915F598}"/>
              </a:ext>
            </a:extLst>
          </p:cNvPr>
          <p:cNvSpPr/>
          <p:nvPr/>
        </p:nvSpPr>
        <p:spPr>
          <a:xfrm>
            <a:off x="3566717" y="2087191"/>
            <a:ext cx="457200" cy="457200"/>
          </a:xfrm>
          <a:prstGeom prst="ellipse">
            <a:avLst/>
          </a:prstGeom>
          <a:noFill/>
          <a:ln w="381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Arc 41">
            <a:extLst>
              <a:ext uri="{FF2B5EF4-FFF2-40B4-BE49-F238E27FC236}">
                <a16:creationId xmlns:a16="http://schemas.microsoft.com/office/drawing/2014/main" id="{C0B03EBE-4924-5AA4-A272-3B80F331D2D6}"/>
              </a:ext>
            </a:extLst>
          </p:cNvPr>
          <p:cNvSpPr/>
          <p:nvPr/>
        </p:nvSpPr>
        <p:spPr>
          <a:xfrm rot="19487382">
            <a:off x="3566717" y="2077379"/>
            <a:ext cx="457200" cy="457200"/>
          </a:xfrm>
          <a:prstGeom prst="arc">
            <a:avLst>
              <a:gd name="adj1" fmla="val 14513924"/>
              <a:gd name="adj2" fmla="val 631815"/>
            </a:avLst>
          </a:prstGeom>
          <a:ln w="57150">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5" name="Arc 44">
            <a:extLst>
              <a:ext uri="{FF2B5EF4-FFF2-40B4-BE49-F238E27FC236}">
                <a16:creationId xmlns:a16="http://schemas.microsoft.com/office/drawing/2014/main" id="{FADFAA5F-4CA9-8F83-19B7-FA48E1A8B38E}"/>
              </a:ext>
            </a:extLst>
          </p:cNvPr>
          <p:cNvSpPr/>
          <p:nvPr/>
        </p:nvSpPr>
        <p:spPr>
          <a:xfrm rot="19487382">
            <a:off x="3566718" y="2077379"/>
            <a:ext cx="457200" cy="457200"/>
          </a:xfrm>
          <a:prstGeom prst="arc">
            <a:avLst>
              <a:gd name="adj1" fmla="val 12781519"/>
              <a:gd name="adj2" fmla="val 14571822"/>
            </a:avLst>
          </a:prstGeom>
          <a:ln w="57150">
            <a:solidFill>
              <a:srgbClr val="FFFF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9" name="Arc 48">
            <a:extLst>
              <a:ext uri="{FF2B5EF4-FFF2-40B4-BE49-F238E27FC236}">
                <a16:creationId xmlns:a16="http://schemas.microsoft.com/office/drawing/2014/main" id="{C000E48E-FB73-82D7-2FEF-7D89DBD2CB6F}"/>
              </a:ext>
            </a:extLst>
          </p:cNvPr>
          <p:cNvSpPr/>
          <p:nvPr/>
        </p:nvSpPr>
        <p:spPr>
          <a:xfrm rot="15611557">
            <a:off x="3566717" y="2086352"/>
            <a:ext cx="457200" cy="457200"/>
          </a:xfrm>
          <a:prstGeom prst="arc">
            <a:avLst>
              <a:gd name="adj1" fmla="val 10392918"/>
              <a:gd name="adj2" fmla="val 14571822"/>
            </a:avLst>
          </a:prstGeom>
          <a:ln w="571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1" name="Arc 50">
            <a:extLst>
              <a:ext uri="{FF2B5EF4-FFF2-40B4-BE49-F238E27FC236}">
                <a16:creationId xmlns:a16="http://schemas.microsoft.com/office/drawing/2014/main" id="{2660C09B-057A-2F1B-5781-F1F0A88F591E}"/>
              </a:ext>
            </a:extLst>
          </p:cNvPr>
          <p:cNvSpPr/>
          <p:nvPr/>
        </p:nvSpPr>
        <p:spPr>
          <a:xfrm rot="15758980">
            <a:off x="3612548" y="2141396"/>
            <a:ext cx="365760" cy="365760"/>
          </a:xfrm>
          <a:prstGeom prst="arc">
            <a:avLst>
              <a:gd name="adj1" fmla="val 10208053"/>
              <a:gd name="adj2" fmla="val 14571822"/>
            </a:avLst>
          </a:prstGeom>
          <a:ln w="57150">
            <a:solidFill>
              <a:srgbClr val="E0CDE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3" name="Arc 52">
            <a:extLst>
              <a:ext uri="{FF2B5EF4-FFF2-40B4-BE49-F238E27FC236}">
                <a16:creationId xmlns:a16="http://schemas.microsoft.com/office/drawing/2014/main" id="{C627F46E-04BC-6C80-6F66-1DEC916B6436}"/>
              </a:ext>
            </a:extLst>
          </p:cNvPr>
          <p:cNvSpPr/>
          <p:nvPr/>
        </p:nvSpPr>
        <p:spPr>
          <a:xfrm rot="7206464">
            <a:off x="3572869" y="2086072"/>
            <a:ext cx="457200" cy="457200"/>
          </a:xfrm>
          <a:prstGeom prst="arc">
            <a:avLst>
              <a:gd name="adj1" fmla="val 12781519"/>
              <a:gd name="adj2" fmla="val 13776796"/>
            </a:avLst>
          </a:prstGeom>
          <a:ln w="57150">
            <a:solidFill>
              <a:srgbClr val="00206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21" name="Straight Arrow Connector 20">
            <a:extLst>
              <a:ext uri="{FF2B5EF4-FFF2-40B4-BE49-F238E27FC236}">
                <a16:creationId xmlns:a16="http://schemas.microsoft.com/office/drawing/2014/main" id="{C7703FE0-D795-EAB4-3082-A0809F09EB3B}"/>
              </a:ext>
            </a:extLst>
          </p:cNvPr>
          <p:cNvCxnSpPr>
            <a:cxnSpLocks/>
          </p:cNvCxnSpPr>
          <p:nvPr/>
        </p:nvCxnSpPr>
        <p:spPr>
          <a:xfrm>
            <a:off x="4572000" y="2262660"/>
            <a:ext cx="1366092"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24" name="Rectangle 23">
            <a:extLst>
              <a:ext uri="{FF2B5EF4-FFF2-40B4-BE49-F238E27FC236}">
                <a16:creationId xmlns:a16="http://schemas.microsoft.com/office/drawing/2014/main" id="{93A5EA11-1A43-912F-90BD-721BC79CC643}"/>
              </a:ext>
            </a:extLst>
          </p:cNvPr>
          <p:cNvSpPr/>
          <p:nvPr/>
        </p:nvSpPr>
        <p:spPr>
          <a:xfrm>
            <a:off x="6162638" y="2133983"/>
            <a:ext cx="842963" cy="87159"/>
          </a:xfrm>
          <a:prstGeom prst="rect">
            <a:avLst/>
          </a:prstGeom>
          <a:solidFill>
            <a:srgbClr val="E0CDEF"/>
          </a:solidFill>
          <a:ln>
            <a:solidFill>
              <a:srgbClr val="E0CDE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Box 28">
            <a:extLst>
              <a:ext uri="{FF2B5EF4-FFF2-40B4-BE49-F238E27FC236}">
                <a16:creationId xmlns:a16="http://schemas.microsoft.com/office/drawing/2014/main" id="{F33EEF2B-A304-F61E-2672-55D87E1C2085}"/>
              </a:ext>
            </a:extLst>
          </p:cNvPr>
          <p:cNvSpPr txBox="1"/>
          <p:nvPr/>
        </p:nvSpPr>
        <p:spPr>
          <a:xfrm>
            <a:off x="6402018" y="2454489"/>
            <a:ext cx="364202" cy="307777"/>
          </a:xfrm>
          <a:prstGeom prst="rect">
            <a:avLst/>
          </a:prstGeom>
          <a:noFill/>
        </p:spPr>
        <p:txBody>
          <a:bodyPr wrap="none" rtlCol="0">
            <a:spAutoFit/>
          </a:bodyPr>
          <a:lstStyle/>
          <a:p>
            <a:pPr algn="ctr"/>
            <a:r>
              <a:rPr lang="en-US" dirty="0"/>
              <a:t>…</a:t>
            </a:r>
          </a:p>
        </p:txBody>
      </p:sp>
      <p:sp>
        <p:nvSpPr>
          <p:cNvPr id="31" name="Rectangle: Rounded Corners 30">
            <a:extLst>
              <a:ext uri="{FF2B5EF4-FFF2-40B4-BE49-F238E27FC236}">
                <a16:creationId xmlns:a16="http://schemas.microsoft.com/office/drawing/2014/main" id="{569D072C-243B-2F4F-9A4C-D2823392616D}"/>
              </a:ext>
            </a:extLst>
          </p:cNvPr>
          <p:cNvSpPr/>
          <p:nvPr/>
        </p:nvSpPr>
        <p:spPr>
          <a:xfrm>
            <a:off x="4876007" y="3212211"/>
            <a:ext cx="2124169" cy="426568"/>
          </a:xfrm>
          <a:prstGeom prst="roundRect">
            <a:avLst/>
          </a:prstGeom>
          <a:solidFill>
            <a:srgbClr val="B4E5A3"/>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lumMod val="10000"/>
                  </a:schemeClr>
                </a:solidFill>
              </a:rPr>
              <a:t>Generative Model</a:t>
            </a:r>
          </a:p>
        </p:txBody>
      </p:sp>
      <p:cxnSp>
        <p:nvCxnSpPr>
          <p:cNvPr id="34" name="Straight Arrow Connector 33">
            <a:extLst>
              <a:ext uri="{FF2B5EF4-FFF2-40B4-BE49-F238E27FC236}">
                <a16:creationId xmlns:a16="http://schemas.microsoft.com/office/drawing/2014/main" id="{BB56CE64-D09D-FBE4-0411-4328846EE3EE}"/>
              </a:ext>
            </a:extLst>
          </p:cNvPr>
          <p:cNvCxnSpPr>
            <a:cxnSpLocks/>
            <a:stCxn id="29" idx="2"/>
          </p:cNvCxnSpPr>
          <p:nvPr/>
        </p:nvCxnSpPr>
        <p:spPr>
          <a:xfrm>
            <a:off x="6584119" y="2762266"/>
            <a:ext cx="0" cy="314543"/>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pic>
        <p:nvPicPr>
          <p:cNvPr id="44" name="Picture 43" descr="The image depicts a simple, circular, monochromatic silhouette.&#10;&#10;AI-generated content may be incorrect.">
            <a:extLst>
              <a:ext uri="{FF2B5EF4-FFF2-40B4-BE49-F238E27FC236}">
                <a16:creationId xmlns:a16="http://schemas.microsoft.com/office/drawing/2014/main" id="{C7EDD9ED-E25D-F45E-5416-F6AE814E7F6F}"/>
              </a:ext>
            </a:extLst>
          </p:cNvPr>
          <p:cNvPicPr>
            <a:picLocks noChangeAspect="1"/>
          </p:cNvPicPr>
          <p:nvPr/>
        </p:nvPicPr>
        <p:blipFill>
          <a:blip r:embed="rId3"/>
          <a:stretch>
            <a:fillRect/>
          </a:stretch>
        </p:blipFill>
        <p:spPr>
          <a:xfrm>
            <a:off x="3891219" y="3115093"/>
            <a:ext cx="528398" cy="567180"/>
          </a:xfrm>
          <a:prstGeom prst="rect">
            <a:avLst/>
          </a:prstGeom>
        </p:spPr>
      </p:pic>
      <p:cxnSp>
        <p:nvCxnSpPr>
          <p:cNvPr id="46" name="Straight Arrow Connector 45">
            <a:extLst>
              <a:ext uri="{FF2B5EF4-FFF2-40B4-BE49-F238E27FC236}">
                <a16:creationId xmlns:a16="http://schemas.microsoft.com/office/drawing/2014/main" id="{782E9FE8-504E-6468-C556-E8299645E042}"/>
              </a:ext>
            </a:extLst>
          </p:cNvPr>
          <p:cNvCxnSpPr>
            <a:cxnSpLocks/>
          </p:cNvCxnSpPr>
          <p:nvPr/>
        </p:nvCxnSpPr>
        <p:spPr>
          <a:xfrm>
            <a:off x="4449422" y="3402088"/>
            <a:ext cx="319194"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50" name="Straight Arrow Connector 49">
            <a:extLst>
              <a:ext uri="{FF2B5EF4-FFF2-40B4-BE49-F238E27FC236}">
                <a16:creationId xmlns:a16="http://schemas.microsoft.com/office/drawing/2014/main" id="{06606C36-3175-99D5-A0F9-2265ABF2F8AF}"/>
              </a:ext>
            </a:extLst>
          </p:cNvPr>
          <p:cNvCxnSpPr>
            <a:cxnSpLocks/>
          </p:cNvCxnSpPr>
          <p:nvPr/>
        </p:nvCxnSpPr>
        <p:spPr>
          <a:xfrm>
            <a:off x="7080618" y="3431984"/>
            <a:ext cx="319194"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52" name="Rectangle 51">
            <a:extLst>
              <a:ext uri="{FF2B5EF4-FFF2-40B4-BE49-F238E27FC236}">
                <a16:creationId xmlns:a16="http://schemas.microsoft.com/office/drawing/2014/main" id="{34B12579-A046-8C4F-D2B0-CAAE20E72FF3}"/>
              </a:ext>
            </a:extLst>
          </p:cNvPr>
          <p:cNvSpPr/>
          <p:nvPr/>
        </p:nvSpPr>
        <p:spPr>
          <a:xfrm>
            <a:off x="7508325" y="3212211"/>
            <a:ext cx="842963" cy="87159"/>
          </a:xfrm>
          <a:prstGeom prst="rect">
            <a:avLst/>
          </a:prstGeom>
          <a:solidFill>
            <a:srgbClr val="E0CDEF"/>
          </a:solidFill>
          <a:ln>
            <a:solidFill>
              <a:srgbClr val="E0CDE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TextBox 54">
            <a:extLst>
              <a:ext uri="{FF2B5EF4-FFF2-40B4-BE49-F238E27FC236}">
                <a16:creationId xmlns:a16="http://schemas.microsoft.com/office/drawing/2014/main" id="{10208A18-921F-6BCF-93B0-18E3208F29DD}"/>
              </a:ext>
            </a:extLst>
          </p:cNvPr>
          <p:cNvSpPr txBox="1"/>
          <p:nvPr/>
        </p:nvSpPr>
        <p:spPr>
          <a:xfrm>
            <a:off x="7747705" y="3532717"/>
            <a:ext cx="364202" cy="307777"/>
          </a:xfrm>
          <a:prstGeom prst="rect">
            <a:avLst/>
          </a:prstGeom>
          <a:noFill/>
        </p:spPr>
        <p:txBody>
          <a:bodyPr wrap="none" rtlCol="0">
            <a:spAutoFit/>
          </a:bodyPr>
          <a:lstStyle/>
          <a:p>
            <a:pPr algn="ctr"/>
            <a:r>
              <a:rPr lang="en-US" dirty="0"/>
              <a:t>…</a:t>
            </a:r>
          </a:p>
        </p:txBody>
      </p:sp>
      <p:sp>
        <p:nvSpPr>
          <p:cNvPr id="56" name="TextBox 55">
            <a:extLst>
              <a:ext uri="{FF2B5EF4-FFF2-40B4-BE49-F238E27FC236}">
                <a16:creationId xmlns:a16="http://schemas.microsoft.com/office/drawing/2014/main" id="{AE03B993-F843-43BB-C088-CEDCDCFE4AC7}"/>
              </a:ext>
            </a:extLst>
          </p:cNvPr>
          <p:cNvSpPr txBox="1"/>
          <p:nvPr/>
        </p:nvSpPr>
        <p:spPr>
          <a:xfrm>
            <a:off x="3006158" y="3234320"/>
            <a:ext cx="830677" cy="307777"/>
          </a:xfrm>
          <a:prstGeom prst="rect">
            <a:avLst/>
          </a:prstGeom>
          <a:noFill/>
        </p:spPr>
        <p:txBody>
          <a:bodyPr wrap="none" rtlCol="0">
            <a:spAutoFit/>
          </a:bodyPr>
          <a:lstStyle/>
          <a:p>
            <a:pPr algn="ctr"/>
            <a:r>
              <a:rPr lang="en-US" dirty="0"/>
              <a:t>Training</a:t>
            </a:r>
          </a:p>
        </p:txBody>
      </p:sp>
      <p:sp>
        <p:nvSpPr>
          <p:cNvPr id="7" name="Rectangle: Rounded Corners 6">
            <a:extLst>
              <a:ext uri="{FF2B5EF4-FFF2-40B4-BE49-F238E27FC236}">
                <a16:creationId xmlns:a16="http://schemas.microsoft.com/office/drawing/2014/main" id="{2DE6B3D1-E795-789B-0BD8-A4F33EBCF409}"/>
              </a:ext>
            </a:extLst>
          </p:cNvPr>
          <p:cNvSpPr/>
          <p:nvPr/>
        </p:nvSpPr>
        <p:spPr>
          <a:xfrm>
            <a:off x="4871333" y="3962072"/>
            <a:ext cx="2124169" cy="426568"/>
          </a:xfrm>
          <a:prstGeom prst="roundRect">
            <a:avLst/>
          </a:prstGeom>
          <a:solidFill>
            <a:srgbClr val="B4E5A3"/>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lumMod val="10000"/>
                  </a:schemeClr>
                </a:solidFill>
              </a:rPr>
              <a:t>Generative Model</a:t>
            </a:r>
          </a:p>
        </p:txBody>
      </p:sp>
      <p:pic>
        <p:nvPicPr>
          <p:cNvPr id="8" name="Picture 7" descr="The image depicts a simple, circular, monochromatic silhouette.&#10;&#10;AI-generated content may be incorrect.">
            <a:extLst>
              <a:ext uri="{FF2B5EF4-FFF2-40B4-BE49-F238E27FC236}">
                <a16:creationId xmlns:a16="http://schemas.microsoft.com/office/drawing/2014/main" id="{7D57B2FE-6E18-4E6C-14BC-EAC868F4892B}"/>
              </a:ext>
            </a:extLst>
          </p:cNvPr>
          <p:cNvPicPr>
            <a:picLocks noChangeAspect="1"/>
          </p:cNvPicPr>
          <p:nvPr/>
        </p:nvPicPr>
        <p:blipFill>
          <a:blip r:embed="rId3"/>
          <a:stretch>
            <a:fillRect/>
          </a:stretch>
        </p:blipFill>
        <p:spPr>
          <a:xfrm>
            <a:off x="3886545" y="3864954"/>
            <a:ext cx="528398" cy="567180"/>
          </a:xfrm>
          <a:prstGeom prst="rect">
            <a:avLst/>
          </a:prstGeom>
        </p:spPr>
      </p:pic>
      <p:cxnSp>
        <p:nvCxnSpPr>
          <p:cNvPr id="20" name="Straight Arrow Connector 19">
            <a:extLst>
              <a:ext uri="{FF2B5EF4-FFF2-40B4-BE49-F238E27FC236}">
                <a16:creationId xmlns:a16="http://schemas.microsoft.com/office/drawing/2014/main" id="{FD1919CA-5458-A577-B783-943E51CEC6CE}"/>
              </a:ext>
            </a:extLst>
          </p:cNvPr>
          <p:cNvCxnSpPr>
            <a:cxnSpLocks/>
          </p:cNvCxnSpPr>
          <p:nvPr/>
        </p:nvCxnSpPr>
        <p:spPr>
          <a:xfrm>
            <a:off x="4444748" y="4151949"/>
            <a:ext cx="319194"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25" name="Straight Arrow Connector 24">
            <a:extLst>
              <a:ext uri="{FF2B5EF4-FFF2-40B4-BE49-F238E27FC236}">
                <a16:creationId xmlns:a16="http://schemas.microsoft.com/office/drawing/2014/main" id="{57CC3769-CA84-E264-BC57-79A9F5AC22B0}"/>
              </a:ext>
            </a:extLst>
          </p:cNvPr>
          <p:cNvCxnSpPr>
            <a:cxnSpLocks/>
          </p:cNvCxnSpPr>
          <p:nvPr/>
        </p:nvCxnSpPr>
        <p:spPr>
          <a:xfrm>
            <a:off x="7075944" y="4181845"/>
            <a:ext cx="319194"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27" name="Rectangle 26">
            <a:extLst>
              <a:ext uri="{FF2B5EF4-FFF2-40B4-BE49-F238E27FC236}">
                <a16:creationId xmlns:a16="http://schemas.microsoft.com/office/drawing/2014/main" id="{C4C8562D-A482-B112-BDCF-3A68B0705F64}"/>
              </a:ext>
            </a:extLst>
          </p:cNvPr>
          <p:cNvSpPr/>
          <p:nvPr/>
        </p:nvSpPr>
        <p:spPr>
          <a:xfrm>
            <a:off x="7508324" y="4131776"/>
            <a:ext cx="842963" cy="87159"/>
          </a:xfrm>
          <a:prstGeom prst="rect">
            <a:avLst/>
          </a:prstGeom>
          <a:solidFill>
            <a:srgbClr val="C40EC8"/>
          </a:solidFill>
          <a:ln>
            <a:solidFill>
              <a:srgbClr val="C40EC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TextBox 34">
            <a:extLst>
              <a:ext uri="{FF2B5EF4-FFF2-40B4-BE49-F238E27FC236}">
                <a16:creationId xmlns:a16="http://schemas.microsoft.com/office/drawing/2014/main" id="{575DB163-D9E3-2B66-1ED3-15D5B0103F66}"/>
              </a:ext>
            </a:extLst>
          </p:cNvPr>
          <p:cNvSpPr txBox="1"/>
          <p:nvPr/>
        </p:nvSpPr>
        <p:spPr>
          <a:xfrm>
            <a:off x="3150564" y="3984181"/>
            <a:ext cx="532518" cy="307777"/>
          </a:xfrm>
          <a:prstGeom prst="rect">
            <a:avLst/>
          </a:prstGeom>
          <a:noFill/>
        </p:spPr>
        <p:txBody>
          <a:bodyPr wrap="none" rtlCol="0">
            <a:spAutoFit/>
          </a:bodyPr>
          <a:lstStyle/>
          <a:p>
            <a:pPr algn="ctr"/>
            <a:r>
              <a:rPr lang="en-US" dirty="0"/>
              <a:t>Test</a:t>
            </a:r>
          </a:p>
        </p:txBody>
      </p:sp>
      <p:cxnSp>
        <p:nvCxnSpPr>
          <p:cNvPr id="28" name="Straight Arrow Connector 27">
            <a:extLst>
              <a:ext uri="{FF2B5EF4-FFF2-40B4-BE49-F238E27FC236}">
                <a16:creationId xmlns:a16="http://schemas.microsoft.com/office/drawing/2014/main" id="{5DECE5F9-E539-7865-62E1-755DB66A75A5}"/>
              </a:ext>
            </a:extLst>
          </p:cNvPr>
          <p:cNvCxnSpPr>
            <a:cxnSpLocks/>
          </p:cNvCxnSpPr>
          <p:nvPr/>
        </p:nvCxnSpPr>
        <p:spPr>
          <a:xfrm>
            <a:off x="2561422" y="2237484"/>
            <a:ext cx="589142"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36" name="TextBox 35">
            <a:extLst>
              <a:ext uri="{FF2B5EF4-FFF2-40B4-BE49-F238E27FC236}">
                <a16:creationId xmlns:a16="http://schemas.microsoft.com/office/drawing/2014/main" id="{02A484FE-03D9-FB4D-D164-47FC5ED36C82}"/>
              </a:ext>
            </a:extLst>
          </p:cNvPr>
          <p:cNvSpPr txBox="1"/>
          <p:nvPr/>
        </p:nvSpPr>
        <p:spPr>
          <a:xfrm>
            <a:off x="487694" y="1931269"/>
            <a:ext cx="1896673" cy="523220"/>
          </a:xfrm>
          <a:prstGeom prst="rect">
            <a:avLst/>
          </a:prstGeom>
          <a:noFill/>
        </p:spPr>
        <p:txBody>
          <a:bodyPr wrap="none" rtlCol="0">
            <a:spAutoFit/>
          </a:bodyPr>
          <a:lstStyle/>
          <a:p>
            <a:pPr algn="ctr"/>
            <a:r>
              <a:rPr lang="en-US" dirty="0"/>
              <a:t>This is probably a cell</a:t>
            </a:r>
            <a:br>
              <a:rPr lang="en-US" dirty="0"/>
            </a:br>
            <a:r>
              <a:rPr lang="en-US" dirty="0"/>
              <a:t>line that cultures well!</a:t>
            </a:r>
          </a:p>
        </p:txBody>
      </p:sp>
      <p:sp>
        <p:nvSpPr>
          <p:cNvPr id="3" name="Rectangle 2">
            <a:extLst>
              <a:ext uri="{FF2B5EF4-FFF2-40B4-BE49-F238E27FC236}">
                <a16:creationId xmlns:a16="http://schemas.microsoft.com/office/drawing/2014/main" id="{92A2BA62-C00A-E8B3-1599-E2BE36525DA2}"/>
              </a:ext>
            </a:extLst>
          </p:cNvPr>
          <p:cNvSpPr/>
          <p:nvPr/>
        </p:nvSpPr>
        <p:spPr>
          <a:xfrm>
            <a:off x="6162638" y="2331095"/>
            <a:ext cx="842963" cy="87159"/>
          </a:xfrm>
          <a:prstGeom prst="rect">
            <a:avLst/>
          </a:prstGeom>
          <a:solidFill>
            <a:srgbClr val="7030A0"/>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E3F3968D-C3EB-E0B2-6E21-5ED154858785}"/>
              </a:ext>
            </a:extLst>
          </p:cNvPr>
          <p:cNvSpPr/>
          <p:nvPr/>
        </p:nvSpPr>
        <p:spPr>
          <a:xfrm>
            <a:off x="7508325" y="3361623"/>
            <a:ext cx="842963" cy="87159"/>
          </a:xfrm>
          <a:prstGeom prst="rect">
            <a:avLst/>
          </a:prstGeom>
          <a:solidFill>
            <a:srgbClr val="7030A0"/>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7492532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CF172D-26EC-43B9-B74D-AE60CCE0C158}"/>
            </a:ext>
          </a:extLst>
        </p:cNvPr>
        <p:cNvGrpSpPr/>
        <p:nvPr/>
      </p:nvGrpSpPr>
      <p:grpSpPr>
        <a:xfrm>
          <a:off x="0" y="0"/>
          <a:ext cx="0" cy="0"/>
          <a:chOff x="0" y="0"/>
          <a:chExt cx="0" cy="0"/>
        </a:xfrm>
      </p:grpSpPr>
      <p:sp>
        <p:nvSpPr>
          <p:cNvPr id="16" name="Title 1">
            <a:extLst>
              <a:ext uri="{FF2B5EF4-FFF2-40B4-BE49-F238E27FC236}">
                <a16:creationId xmlns:a16="http://schemas.microsoft.com/office/drawing/2014/main" id="{0F520B8B-5C77-049F-D058-043D115409D3}"/>
              </a:ext>
            </a:extLst>
          </p:cNvPr>
          <p:cNvSpPr>
            <a:spLocks noGrp="1"/>
          </p:cNvSpPr>
          <p:nvPr>
            <p:ph type="title"/>
          </p:nvPr>
        </p:nvSpPr>
        <p:spPr>
          <a:xfrm>
            <a:off x="719999" y="523239"/>
            <a:ext cx="7704000" cy="572700"/>
          </a:xfrm>
        </p:spPr>
        <p:txBody>
          <a:bodyPr/>
          <a:lstStyle/>
          <a:p>
            <a:pPr algn="ctr"/>
            <a:r>
              <a:rPr lang="en-US" sz="2000" dirty="0"/>
              <a:t>Label-conditioned generative models create a </a:t>
            </a:r>
            <a:br>
              <a:rPr lang="en-US" sz="2000" dirty="0"/>
            </a:br>
            <a:r>
              <a:rPr lang="en-US" sz="2000" dirty="0"/>
              <a:t>chicken and egg problem with experimentation</a:t>
            </a:r>
          </a:p>
        </p:txBody>
      </p:sp>
      <p:pic>
        <p:nvPicPr>
          <p:cNvPr id="2" name="Picture 1" descr="The image depicts a simple, circular, monochromatic silhouette.&#10;&#10;AI-generated content may be incorrect.">
            <a:extLst>
              <a:ext uri="{FF2B5EF4-FFF2-40B4-BE49-F238E27FC236}">
                <a16:creationId xmlns:a16="http://schemas.microsoft.com/office/drawing/2014/main" id="{C9BDA200-C3F2-8197-69C8-10A45B9025BC}"/>
              </a:ext>
            </a:extLst>
          </p:cNvPr>
          <p:cNvPicPr>
            <a:picLocks noChangeAspect="1"/>
          </p:cNvPicPr>
          <p:nvPr/>
        </p:nvPicPr>
        <p:blipFill>
          <a:blip r:embed="rId3"/>
          <a:stretch>
            <a:fillRect/>
          </a:stretch>
        </p:blipFill>
        <p:spPr>
          <a:xfrm>
            <a:off x="3251215" y="1618654"/>
            <a:ext cx="1096239" cy="1176697"/>
          </a:xfrm>
          <a:prstGeom prst="rect">
            <a:avLst/>
          </a:prstGeom>
        </p:spPr>
      </p:pic>
      <p:pic>
        <p:nvPicPr>
          <p:cNvPr id="9" name="Picture 8" descr="The image depicts a simple, circular diagram with two concentric circles, one inside the other.&#10;&#10;AI-generated content may be incorrect.">
            <a:extLst>
              <a:ext uri="{FF2B5EF4-FFF2-40B4-BE49-F238E27FC236}">
                <a16:creationId xmlns:a16="http://schemas.microsoft.com/office/drawing/2014/main" id="{31FF2C3A-0B34-12BC-E9CE-49640A37C11B}"/>
              </a:ext>
            </a:extLst>
          </p:cNvPr>
          <p:cNvPicPr>
            <a:picLocks noChangeAspect="1"/>
          </p:cNvPicPr>
          <p:nvPr/>
        </p:nvPicPr>
        <p:blipFill>
          <a:blip r:embed="rId4"/>
          <a:stretch>
            <a:fillRect/>
          </a:stretch>
        </p:blipFill>
        <p:spPr>
          <a:xfrm>
            <a:off x="3304233" y="1695465"/>
            <a:ext cx="982167" cy="1071455"/>
          </a:xfrm>
          <a:prstGeom prst="rect">
            <a:avLst/>
          </a:prstGeom>
        </p:spPr>
      </p:pic>
      <p:sp>
        <p:nvSpPr>
          <p:cNvPr id="41" name="Oval 40">
            <a:extLst>
              <a:ext uri="{FF2B5EF4-FFF2-40B4-BE49-F238E27FC236}">
                <a16:creationId xmlns:a16="http://schemas.microsoft.com/office/drawing/2014/main" id="{13FC3D8B-507C-EA5C-2D8D-1D015C5BF1B3}"/>
              </a:ext>
            </a:extLst>
          </p:cNvPr>
          <p:cNvSpPr/>
          <p:nvPr/>
        </p:nvSpPr>
        <p:spPr>
          <a:xfrm>
            <a:off x="3566717" y="2087191"/>
            <a:ext cx="457200" cy="457200"/>
          </a:xfrm>
          <a:prstGeom prst="ellipse">
            <a:avLst/>
          </a:prstGeom>
          <a:noFill/>
          <a:ln w="381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Arc 41">
            <a:extLst>
              <a:ext uri="{FF2B5EF4-FFF2-40B4-BE49-F238E27FC236}">
                <a16:creationId xmlns:a16="http://schemas.microsoft.com/office/drawing/2014/main" id="{B0224F69-C336-6BE7-8BC8-D0BF643925DA}"/>
              </a:ext>
            </a:extLst>
          </p:cNvPr>
          <p:cNvSpPr/>
          <p:nvPr/>
        </p:nvSpPr>
        <p:spPr>
          <a:xfrm rot="19487382">
            <a:off x="3566717" y="2077379"/>
            <a:ext cx="457200" cy="457200"/>
          </a:xfrm>
          <a:prstGeom prst="arc">
            <a:avLst>
              <a:gd name="adj1" fmla="val 14513924"/>
              <a:gd name="adj2" fmla="val 631815"/>
            </a:avLst>
          </a:prstGeom>
          <a:ln w="57150">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5" name="Arc 44">
            <a:extLst>
              <a:ext uri="{FF2B5EF4-FFF2-40B4-BE49-F238E27FC236}">
                <a16:creationId xmlns:a16="http://schemas.microsoft.com/office/drawing/2014/main" id="{6E2FBD83-3F07-1B56-3B6B-EB3E037052E3}"/>
              </a:ext>
            </a:extLst>
          </p:cNvPr>
          <p:cNvSpPr/>
          <p:nvPr/>
        </p:nvSpPr>
        <p:spPr>
          <a:xfrm rot="19487382">
            <a:off x="3566718" y="2077379"/>
            <a:ext cx="457200" cy="457200"/>
          </a:xfrm>
          <a:prstGeom prst="arc">
            <a:avLst>
              <a:gd name="adj1" fmla="val 12781519"/>
              <a:gd name="adj2" fmla="val 14571822"/>
            </a:avLst>
          </a:prstGeom>
          <a:ln w="57150">
            <a:solidFill>
              <a:srgbClr val="FFFF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9" name="Arc 48">
            <a:extLst>
              <a:ext uri="{FF2B5EF4-FFF2-40B4-BE49-F238E27FC236}">
                <a16:creationId xmlns:a16="http://schemas.microsoft.com/office/drawing/2014/main" id="{DA1CFF1F-B652-18B3-8DE8-B77343CD2E7D}"/>
              </a:ext>
            </a:extLst>
          </p:cNvPr>
          <p:cNvSpPr/>
          <p:nvPr/>
        </p:nvSpPr>
        <p:spPr>
          <a:xfrm rot="15611557">
            <a:off x="3566717" y="2086352"/>
            <a:ext cx="457200" cy="457200"/>
          </a:xfrm>
          <a:prstGeom prst="arc">
            <a:avLst>
              <a:gd name="adj1" fmla="val 10392918"/>
              <a:gd name="adj2" fmla="val 14571822"/>
            </a:avLst>
          </a:prstGeom>
          <a:ln w="571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1" name="Arc 50">
            <a:extLst>
              <a:ext uri="{FF2B5EF4-FFF2-40B4-BE49-F238E27FC236}">
                <a16:creationId xmlns:a16="http://schemas.microsoft.com/office/drawing/2014/main" id="{73364731-5531-B6FD-73F3-D6E64365CEB2}"/>
              </a:ext>
            </a:extLst>
          </p:cNvPr>
          <p:cNvSpPr/>
          <p:nvPr/>
        </p:nvSpPr>
        <p:spPr>
          <a:xfrm rot="15758980">
            <a:off x="3612548" y="2141396"/>
            <a:ext cx="365760" cy="365760"/>
          </a:xfrm>
          <a:prstGeom prst="arc">
            <a:avLst>
              <a:gd name="adj1" fmla="val 10208053"/>
              <a:gd name="adj2" fmla="val 14571822"/>
            </a:avLst>
          </a:prstGeom>
          <a:ln w="57150">
            <a:solidFill>
              <a:srgbClr val="E0CDE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3" name="Arc 52">
            <a:extLst>
              <a:ext uri="{FF2B5EF4-FFF2-40B4-BE49-F238E27FC236}">
                <a16:creationId xmlns:a16="http://schemas.microsoft.com/office/drawing/2014/main" id="{52A16C6B-2701-1ACF-BCD3-271BA6FC0FF1}"/>
              </a:ext>
            </a:extLst>
          </p:cNvPr>
          <p:cNvSpPr/>
          <p:nvPr/>
        </p:nvSpPr>
        <p:spPr>
          <a:xfrm rot="7206464">
            <a:off x="3572869" y="2086072"/>
            <a:ext cx="457200" cy="457200"/>
          </a:xfrm>
          <a:prstGeom prst="arc">
            <a:avLst>
              <a:gd name="adj1" fmla="val 12781519"/>
              <a:gd name="adj2" fmla="val 13776796"/>
            </a:avLst>
          </a:prstGeom>
          <a:ln w="57150">
            <a:solidFill>
              <a:srgbClr val="00206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21" name="Straight Arrow Connector 20">
            <a:extLst>
              <a:ext uri="{FF2B5EF4-FFF2-40B4-BE49-F238E27FC236}">
                <a16:creationId xmlns:a16="http://schemas.microsoft.com/office/drawing/2014/main" id="{C2D03F63-69C5-25F5-3EAD-FEC552AA9458}"/>
              </a:ext>
            </a:extLst>
          </p:cNvPr>
          <p:cNvCxnSpPr>
            <a:cxnSpLocks/>
          </p:cNvCxnSpPr>
          <p:nvPr/>
        </p:nvCxnSpPr>
        <p:spPr>
          <a:xfrm>
            <a:off x="4572000" y="2262660"/>
            <a:ext cx="1366092"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24" name="Rectangle 23">
            <a:extLst>
              <a:ext uri="{FF2B5EF4-FFF2-40B4-BE49-F238E27FC236}">
                <a16:creationId xmlns:a16="http://schemas.microsoft.com/office/drawing/2014/main" id="{0EECE1D6-9623-A535-3EB7-464667A7F758}"/>
              </a:ext>
            </a:extLst>
          </p:cNvPr>
          <p:cNvSpPr/>
          <p:nvPr/>
        </p:nvSpPr>
        <p:spPr>
          <a:xfrm>
            <a:off x="6162638" y="2133983"/>
            <a:ext cx="842963" cy="87159"/>
          </a:xfrm>
          <a:prstGeom prst="rect">
            <a:avLst/>
          </a:prstGeom>
          <a:solidFill>
            <a:srgbClr val="E0CDEF"/>
          </a:solidFill>
          <a:ln>
            <a:solidFill>
              <a:srgbClr val="E0CDE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Box 28">
            <a:extLst>
              <a:ext uri="{FF2B5EF4-FFF2-40B4-BE49-F238E27FC236}">
                <a16:creationId xmlns:a16="http://schemas.microsoft.com/office/drawing/2014/main" id="{D1ECF248-2934-E6CC-2EB1-184E11C6B1D1}"/>
              </a:ext>
            </a:extLst>
          </p:cNvPr>
          <p:cNvSpPr txBox="1"/>
          <p:nvPr/>
        </p:nvSpPr>
        <p:spPr>
          <a:xfrm>
            <a:off x="6402018" y="2454489"/>
            <a:ext cx="364202" cy="307777"/>
          </a:xfrm>
          <a:prstGeom prst="rect">
            <a:avLst/>
          </a:prstGeom>
          <a:noFill/>
        </p:spPr>
        <p:txBody>
          <a:bodyPr wrap="none" rtlCol="0">
            <a:spAutoFit/>
          </a:bodyPr>
          <a:lstStyle/>
          <a:p>
            <a:pPr algn="ctr"/>
            <a:r>
              <a:rPr lang="en-US" dirty="0"/>
              <a:t>…</a:t>
            </a:r>
          </a:p>
        </p:txBody>
      </p:sp>
      <p:sp>
        <p:nvSpPr>
          <p:cNvPr id="31" name="Rectangle: Rounded Corners 30">
            <a:extLst>
              <a:ext uri="{FF2B5EF4-FFF2-40B4-BE49-F238E27FC236}">
                <a16:creationId xmlns:a16="http://schemas.microsoft.com/office/drawing/2014/main" id="{C4B5BDD1-86B8-8654-45E6-1CB9FB75D444}"/>
              </a:ext>
            </a:extLst>
          </p:cNvPr>
          <p:cNvSpPr/>
          <p:nvPr/>
        </p:nvSpPr>
        <p:spPr>
          <a:xfrm>
            <a:off x="4876007" y="3212211"/>
            <a:ext cx="2124169" cy="426568"/>
          </a:xfrm>
          <a:prstGeom prst="roundRect">
            <a:avLst/>
          </a:prstGeom>
          <a:solidFill>
            <a:srgbClr val="B4E5A3"/>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lumMod val="10000"/>
                  </a:schemeClr>
                </a:solidFill>
              </a:rPr>
              <a:t>Generative Model</a:t>
            </a:r>
          </a:p>
        </p:txBody>
      </p:sp>
      <p:cxnSp>
        <p:nvCxnSpPr>
          <p:cNvPr id="34" name="Straight Arrow Connector 33">
            <a:extLst>
              <a:ext uri="{FF2B5EF4-FFF2-40B4-BE49-F238E27FC236}">
                <a16:creationId xmlns:a16="http://schemas.microsoft.com/office/drawing/2014/main" id="{08909883-9390-4034-9D64-D799F197E3A0}"/>
              </a:ext>
            </a:extLst>
          </p:cNvPr>
          <p:cNvCxnSpPr>
            <a:cxnSpLocks/>
            <a:stCxn id="29" idx="2"/>
          </p:cNvCxnSpPr>
          <p:nvPr/>
        </p:nvCxnSpPr>
        <p:spPr>
          <a:xfrm>
            <a:off x="6584119" y="2762266"/>
            <a:ext cx="0" cy="314543"/>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pic>
        <p:nvPicPr>
          <p:cNvPr id="44" name="Picture 43" descr="The image depicts a simple, circular, monochromatic silhouette.&#10;&#10;AI-generated content may be incorrect.">
            <a:extLst>
              <a:ext uri="{FF2B5EF4-FFF2-40B4-BE49-F238E27FC236}">
                <a16:creationId xmlns:a16="http://schemas.microsoft.com/office/drawing/2014/main" id="{4FE7579F-A6D0-79D8-93AE-D4E4A494ECE8}"/>
              </a:ext>
            </a:extLst>
          </p:cNvPr>
          <p:cNvPicPr>
            <a:picLocks noChangeAspect="1"/>
          </p:cNvPicPr>
          <p:nvPr/>
        </p:nvPicPr>
        <p:blipFill>
          <a:blip r:embed="rId3"/>
          <a:stretch>
            <a:fillRect/>
          </a:stretch>
        </p:blipFill>
        <p:spPr>
          <a:xfrm>
            <a:off x="3891219" y="3115093"/>
            <a:ext cx="528398" cy="567180"/>
          </a:xfrm>
          <a:prstGeom prst="rect">
            <a:avLst/>
          </a:prstGeom>
        </p:spPr>
      </p:pic>
      <p:cxnSp>
        <p:nvCxnSpPr>
          <p:cNvPr id="46" name="Straight Arrow Connector 45">
            <a:extLst>
              <a:ext uri="{FF2B5EF4-FFF2-40B4-BE49-F238E27FC236}">
                <a16:creationId xmlns:a16="http://schemas.microsoft.com/office/drawing/2014/main" id="{57D34F5B-7C8B-7A84-67D0-44C52C66068A}"/>
              </a:ext>
            </a:extLst>
          </p:cNvPr>
          <p:cNvCxnSpPr>
            <a:cxnSpLocks/>
          </p:cNvCxnSpPr>
          <p:nvPr/>
        </p:nvCxnSpPr>
        <p:spPr>
          <a:xfrm>
            <a:off x="4449422" y="3402088"/>
            <a:ext cx="319194"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50" name="Straight Arrow Connector 49">
            <a:extLst>
              <a:ext uri="{FF2B5EF4-FFF2-40B4-BE49-F238E27FC236}">
                <a16:creationId xmlns:a16="http://schemas.microsoft.com/office/drawing/2014/main" id="{DC116F5D-1217-C5C1-B2E7-FDB1EF435D4B}"/>
              </a:ext>
            </a:extLst>
          </p:cNvPr>
          <p:cNvCxnSpPr>
            <a:cxnSpLocks/>
          </p:cNvCxnSpPr>
          <p:nvPr/>
        </p:nvCxnSpPr>
        <p:spPr>
          <a:xfrm>
            <a:off x="7080618" y="3431984"/>
            <a:ext cx="319194"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52" name="Rectangle 51">
            <a:extLst>
              <a:ext uri="{FF2B5EF4-FFF2-40B4-BE49-F238E27FC236}">
                <a16:creationId xmlns:a16="http://schemas.microsoft.com/office/drawing/2014/main" id="{316B355A-7C96-62B2-4BDB-65AAD2D3925D}"/>
              </a:ext>
            </a:extLst>
          </p:cNvPr>
          <p:cNvSpPr/>
          <p:nvPr/>
        </p:nvSpPr>
        <p:spPr>
          <a:xfrm>
            <a:off x="7508325" y="3212211"/>
            <a:ext cx="842963" cy="87159"/>
          </a:xfrm>
          <a:prstGeom prst="rect">
            <a:avLst/>
          </a:prstGeom>
          <a:solidFill>
            <a:srgbClr val="E0CDEF"/>
          </a:solidFill>
          <a:ln>
            <a:solidFill>
              <a:srgbClr val="E0CDE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TextBox 54">
            <a:extLst>
              <a:ext uri="{FF2B5EF4-FFF2-40B4-BE49-F238E27FC236}">
                <a16:creationId xmlns:a16="http://schemas.microsoft.com/office/drawing/2014/main" id="{F22C931C-2787-D5B2-A206-85A22E83843C}"/>
              </a:ext>
            </a:extLst>
          </p:cNvPr>
          <p:cNvSpPr txBox="1"/>
          <p:nvPr/>
        </p:nvSpPr>
        <p:spPr>
          <a:xfrm>
            <a:off x="7747705" y="3532717"/>
            <a:ext cx="364202" cy="307777"/>
          </a:xfrm>
          <a:prstGeom prst="rect">
            <a:avLst/>
          </a:prstGeom>
          <a:noFill/>
        </p:spPr>
        <p:txBody>
          <a:bodyPr wrap="none" rtlCol="0">
            <a:spAutoFit/>
          </a:bodyPr>
          <a:lstStyle/>
          <a:p>
            <a:pPr algn="ctr"/>
            <a:r>
              <a:rPr lang="en-US" dirty="0"/>
              <a:t>…</a:t>
            </a:r>
          </a:p>
        </p:txBody>
      </p:sp>
      <p:sp>
        <p:nvSpPr>
          <p:cNvPr id="56" name="TextBox 55">
            <a:extLst>
              <a:ext uri="{FF2B5EF4-FFF2-40B4-BE49-F238E27FC236}">
                <a16:creationId xmlns:a16="http://schemas.microsoft.com/office/drawing/2014/main" id="{ADDE2A9C-544A-C8D4-7BDF-8D49B2D741CB}"/>
              </a:ext>
            </a:extLst>
          </p:cNvPr>
          <p:cNvSpPr txBox="1"/>
          <p:nvPr/>
        </p:nvSpPr>
        <p:spPr>
          <a:xfrm>
            <a:off x="3006158" y="3234320"/>
            <a:ext cx="830677" cy="307777"/>
          </a:xfrm>
          <a:prstGeom prst="rect">
            <a:avLst/>
          </a:prstGeom>
          <a:noFill/>
        </p:spPr>
        <p:txBody>
          <a:bodyPr wrap="none" rtlCol="0">
            <a:spAutoFit/>
          </a:bodyPr>
          <a:lstStyle/>
          <a:p>
            <a:pPr algn="ctr"/>
            <a:r>
              <a:rPr lang="en-US" dirty="0"/>
              <a:t>Training</a:t>
            </a:r>
          </a:p>
        </p:txBody>
      </p:sp>
      <p:sp>
        <p:nvSpPr>
          <p:cNvPr id="7" name="Rectangle: Rounded Corners 6">
            <a:extLst>
              <a:ext uri="{FF2B5EF4-FFF2-40B4-BE49-F238E27FC236}">
                <a16:creationId xmlns:a16="http://schemas.microsoft.com/office/drawing/2014/main" id="{AF63A213-4841-BE76-E01D-0DCA31B26479}"/>
              </a:ext>
            </a:extLst>
          </p:cNvPr>
          <p:cNvSpPr/>
          <p:nvPr/>
        </p:nvSpPr>
        <p:spPr>
          <a:xfrm>
            <a:off x="4871333" y="3962072"/>
            <a:ext cx="2124169" cy="426568"/>
          </a:xfrm>
          <a:prstGeom prst="roundRect">
            <a:avLst/>
          </a:prstGeom>
          <a:solidFill>
            <a:srgbClr val="B4E5A3"/>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lumMod val="10000"/>
                  </a:schemeClr>
                </a:solidFill>
              </a:rPr>
              <a:t>Generative Model</a:t>
            </a:r>
          </a:p>
        </p:txBody>
      </p:sp>
      <p:pic>
        <p:nvPicPr>
          <p:cNvPr id="8" name="Picture 7" descr="The image depicts a simple, circular, monochromatic silhouette.&#10;&#10;AI-generated content may be incorrect.">
            <a:extLst>
              <a:ext uri="{FF2B5EF4-FFF2-40B4-BE49-F238E27FC236}">
                <a16:creationId xmlns:a16="http://schemas.microsoft.com/office/drawing/2014/main" id="{ECFA9FD5-BC32-0DC2-5FCF-1A08B027328B}"/>
              </a:ext>
            </a:extLst>
          </p:cNvPr>
          <p:cNvPicPr>
            <a:picLocks noChangeAspect="1"/>
          </p:cNvPicPr>
          <p:nvPr/>
        </p:nvPicPr>
        <p:blipFill>
          <a:blip r:embed="rId3"/>
          <a:stretch>
            <a:fillRect/>
          </a:stretch>
        </p:blipFill>
        <p:spPr>
          <a:xfrm>
            <a:off x="3886545" y="3864954"/>
            <a:ext cx="528398" cy="567180"/>
          </a:xfrm>
          <a:prstGeom prst="rect">
            <a:avLst/>
          </a:prstGeom>
        </p:spPr>
      </p:pic>
      <p:cxnSp>
        <p:nvCxnSpPr>
          <p:cNvPr id="20" name="Straight Arrow Connector 19">
            <a:extLst>
              <a:ext uri="{FF2B5EF4-FFF2-40B4-BE49-F238E27FC236}">
                <a16:creationId xmlns:a16="http://schemas.microsoft.com/office/drawing/2014/main" id="{B4E37521-E780-ACA6-1B6C-B3FDF439494B}"/>
              </a:ext>
            </a:extLst>
          </p:cNvPr>
          <p:cNvCxnSpPr>
            <a:cxnSpLocks/>
          </p:cNvCxnSpPr>
          <p:nvPr/>
        </p:nvCxnSpPr>
        <p:spPr>
          <a:xfrm>
            <a:off x="4444748" y="4151949"/>
            <a:ext cx="319194"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25" name="Straight Arrow Connector 24">
            <a:extLst>
              <a:ext uri="{FF2B5EF4-FFF2-40B4-BE49-F238E27FC236}">
                <a16:creationId xmlns:a16="http://schemas.microsoft.com/office/drawing/2014/main" id="{BFE63C03-CB93-5161-4176-2A51F3EA25DE}"/>
              </a:ext>
            </a:extLst>
          </p:cNvPr>
          <p:cNvCxnSpPr>
            <a:cxnSpLocks/>
          </p:cNvCxnSpPr>
          <p:nvPr/>
        </p:nvCxnSpPr>
        <p:spPr>
          <a:xfrm>
            <a:off x="7075944" y="4181845"/>
            <a:ext cx="319194"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27" name="Rectangle 26">
            <a:extLst>
              <a:ext uri="{FF2B5EF4-FFF2-40B4-BE49-F238E27FC236}">
                <a16:creationId xmlns:a16="http://schemas.microsoft.com/office/drawing/2014/main" id="{74DA4437-64B7-7562-5A01-17399358A8D2}"/>
              </a:ext>
            </a:extLst>
          </p:cNvPr>
          <p:cNvSpPr/>
          <p:nvPr/>
        </p:nvSpPr>
        <p:spPr>
          <a:xfrm>
            <a:off x="7508324" y="4131776"/>
            <a:ext cx="842963" cy="87159"/>
          </a:xfrm>
          <a:prstGeom prst="rect">
            <a:avLst/>
          </a:prstGeom>
          <a:solidFill>
            <a:srgbClr val="C40EC8"/>
          </a:solidFill>
          <a:ln>
            <a:solidFill>
              <a:srgbClr val="C40EC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TextBox 34">
            <a:extLst>
              <a:ext uri="{FF2B5EF4-FFF2-40B4-BE49-F238E27FC236}">
                <a16:creationId xmlns:a16="http://schemas.microsoft.com/office/drawing/2014/main" id="{66C06256-1F96-DB88-6426-14AE3866BD53}"/>
              </a:ext>
            </a:extLst>
          </p:cNvPr>
          <p:cNvSpPr txBox="1"/>
          <p:nvPr/>
        </p:nvSpPr>
        <p:spPr>
          <a:xfrm>
            <a:off x="3150564" y="3984181"/>
            <a:ext cx="532518" cy="307777"/>
          </a:xfrm>
          <a:prstGeom prst="rect">
            <a:avLst/>
          </a:prstGeom>
          <a:noFill/>
        </p:spPr>
        <p:txBody>
          <a:bodyPr wrap="none" rtlCol="0">
            <a:spAutoFit/>
          </a:bodyPr>
          <a:lstStyle/>
          <a:p>
            <a:pPr algn="ctr"/>
            <a:r>
              <a:rPr lang="en-US" dirty="0"/>
              <a:t>Test</a:t>
            </a:r>
          </a:p>
        </p:txBody>
      </p:sp>
      <p:cxnSp>
        <p:nvCxnSpPr>
          <p:cNvPr id="28" name="Straight Arrow Connector 27">
            <a:extLst>
              <a:ext uri="{FF2B5EF4-FFF2-40B4-BE49-F238E27FC236}">
                <a16:creationId xmlns:a16="http://schemas.microsoft.com/office/drawing/2014/main" id="{101C975A-0682-AD2A-3D16-69909DCD2D48}"/>
              </a:ext>
            </a:extLst>
          </p:cNvPr>
          <p:cNvCxnSpPr>
            <a:cxnSpLocks/>
          </p:cNvCxnSpPr>
          <p:nvPr/>
        </p:nvCxnSpPr>
        <p:spPr>
          <a:xfrm>
            <a:off x="2561422" y="2237484"/>
            <a:ext cx="589142"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36" name="TextBox 35">
            <a:extLst>
              <a:ext uri="{FF2B5EF4-FFF2-40B4-BE49-F238E27FC236}">
                <a16:creationId xmlns:a16="http://schemas.microsoft.com/office/drawing/2014/main" id="{40E1A20B-F590-6AA1-B55A-BFE5ED2B129E}"/>
              </a:ext>
            </a:extLst>
          </p:cNvPr>
          <p:cNvSpPr txBox="1"/>
          <p:nvPr/>
        </p:nvSpPr>
        <p:spPr>
          <a:xfrm>
            <a:off x="487694" y="1931269"/>
            <a:ext cx="1896673" cy="523220"/>
          </a:xfrm>
          <a:prstGeom prst="rect">
            <a:avLst/>
          </a:prstGeom>
          <a:noFill/>
        </p:spPr>
        <p:txBody>
          <a:bodyPr wrap="none" rtlCol="0">
            <a:spAutoFit/>
          </a:bodyPr>
          <a:lstStyle/>
          <a:p>
            <a:pPr algn="ctr"/>
            <a:r>
              <a:rPr lang="en-US" dirty="0"/>
              <a:t>This is probably a cell</a:t>
            </a:r>
            <a:br>
              <a:rPr lang="en-US" dirty="0"/>
            </a:br>
            <a:r>
              <a:rPr lang="en-US" dirty="0"/>
              <a:t>line that cultures well!</a:t>
            </a:r>
          </a:p>
        </p:txBody>
      </p:sp>
      <p:sp>
        <p:nvSpPr>
          <p:cNvPr id="40" name="TextBox 39">
            <a:extLst>
              <a:ext uri="{FF2B5EF4-FFF2-40B4-BE49-F238E27FC236}">
                <a16:creationId xmlns:a16="http://schemas.microsoft.com/office/drawing/2014/main" id="{904B046E-EC48-434F-6BAC-A7FF7500E02D}"/>
              </a:ext>
            </a:extLst>
          </p:cNvPr>
          <p:cNvSpPr txBox="1"/>
          <p:nvPr/>
        </p:nvSpPr>
        <p:spPr>
          <a:xfrm>
            <a:off x="330468" y="2660019"/>
            <a:ext cx="2204451" cy="738664"/>
          </a:xfrm>
          <a:prstGeom prst="rect">
            <a:avLst/>
          </a:prstGeom>
          <a:noFill/>
        </p:spPr>
        <p:txBody>
          <a:bodyPr wrap="none" rtlCol="0">
            <a:spAutoFit/>
          </a:bodyPr>
          <a:lstStyle/>
          <a:p>
            <a:pPr algn="ctr"/>
            <a:r>
              <a:rPr lang="en-US" dirty="0"/>
              <a:t>Rare cells, transient</a:t>
            </a:r>
            <a:br>
              <a:rPr lang="en-US" dirty="0"/>
            </a:br>
            <a:r>
              <a:rPr lang="en-US" dirty="0"/>
              <a:t>cell states, </a:t>
            </a:r>
            <a:r>
              <a:rPr lang="en-US" i="1" dirty="0"/>
              <a:t>etc</a:t>
            </a:r>
            <a:r>
              <a:rPr lang="en-US" dirty="0"/>
              <a:t>. may be</a:t>
            </a:r>
            <a:br>
              <a:rPr lang="en-US" dirty="0"/>
            </a:br>
            <a:r>
              <a:rPr lang="en-US" dirty="0"/>
              <a:t>difficult to collect data for.</a:t>
            </a:r>
          </a:p>
        </p:txBody>
      </p:sp>
      <p:sp>
        <p:nvSpPr>
          <p:cNvPr id="3" name="Rectangle 2">
            <a:extLst>
              <a:ext uri="{FF2B5EF4-FFF2-40B4-BE49-F238E27FC236}">
                <a16:creationId xmlns:a16="http://schemas.microsoft.com/office/drawing/2014/main" id="{F3CB8A41-D51A-D51F-9E23-527418B5B22D}"/>
              </a:ext>
            </a:extLst>
          </p:cNvPr>
          <p:cNvSpPr/>
          <p:nvPr/>
        </p:nvSpPr>
        <p:spPr>
          <a:xfrm>
            <a:off x="6162638" y="2331095"/>
            <a:ext cx="842963" cy="87159"/>
          </a:xfrm>
          <a:prstGeom prst="rect">
            <a:avLst/>
          </a:prstGeom>
          <a:solidFill>
            <a:srgbClr val="7030A0"/>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DB2A39FF-AAFB-3D7F-1613-6BABEB06CB24}"/>
              </a:ext>
            </a:extLst>
          </p:cNvPr>
          <p:cNvSpPr/>
          <p:nvPr/>
        </p:nvSpPr>
        <p:spPr>
          <a:xfrm>
            <a:off x="7508325" y="3361623"/>
            <a:ext cx="842963" cy="87159"/>
          </a:xfrm>
          <a:prstGeom prst="rect">
            <a:avLst/>
          </a:prstGeom>
          <a:solidFill>
            <a:srgbClr val="7030A0"/>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0323930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C1EA94-DCAA-A0E8-779F-00963025D018}"/>
            </a:ext>
          </a:extLst>
        </p:cNvPr>
        <p:cNvGrpSpPr/>
        <p:nvPr/>
      </p:nvGrpSpPr>
      <p:grpSpPr>
        <a:xfrm>
          <a:off x="0" y="0"/>
          <a:ext cx="0" cy="0"/>
          <a:chOff x="0" y="0"/>
          <a:chExt cx="0" cy="0"/>
        </a:xfrm>
      </p:grpSpPr>
      <p:sp>
        <p:nvSpPr>
          <p:cNvPr id="16" name="Title 1">
            <a:extLst>
              <a:ext uri="{FF2B5EF4-FFF2-40B4-BE49-F238E27FC236}">
                <a16:creationId xmlns:a16="http://schemas.microsoft.com/office/drawing/2014/main" id="{661F5498-8797-55DE-2FE5-507606363631}"/>
              </a:ext>
            </a:extLst>
          </p:cNvPr>
          <p:cNvSpPr>
            <a:spLocks noGrp="1"/>
          </p:cNvSpPr>
          <p:nvPr>
            <p:ph type="title"/>
          </p:nvPr>
        </p:nvSpPr>
        <p:spPr>
          <a:xfrm>
            <a:off x="719999" y="523239"/>
            <a:ext cx="7704000" cy="572700"/>
          </a:xfrm>
        </p:spPr>
        <p:txBody>
          <a:bodyPr/>
          <a:lstStyle/>
          <a:p>
            <a:pPr algn="ctr"/>
            <a:r>
              <a:rPr lang="en-US" sz="2000" dirty="0"/>
              <a:t>Label-conditioned generative models create a </a:t>
            </a:r>
            <a:br>
              <a:rPr lang="en-US" sz="2000" dirty="0"/>
            </a:br>
            <a:r>
              <a:rPr lang="en-US" sz="2000" dirty="0"/>
              <a:t>chicken and egg problem with experimentation</a:t>
            </a:r>
          </a:p>
        </p:txBody>
      </p:sp>
      <p:pic>
        <p:nvPicPr>
          <p:cNvPr id="2" name="Picture 1" descr="The image depicts a simple, circular, monochromatic silhouette.&#10;&#10;AI-generated content may be incorrect.">
            <a:extLst>
              <a:ext uri="{FF2B5EF4-FFF2-40B4-BE49-F238E27FC236}">
                <a16:creationId xmlns:a16="http://schemas.microsoft.com/office/drawing/2014/main" id="{EA8A4B2C-CEFA-BA10-6858-998EB1BA8E43}"/>
              </a:ext>
            </a:extLst>
          </p:cNvPr>
          <p:cNvPicPr>
            <a:picLocks noChangeAspect="1"/>
          </p:cNvPicPr>
          <p:nvPr/>
        </p:nvPicPr>
        <p:blipFill>
          <a:blip r:embed="rId3"/>
          <a:stretch>
            <a:fillRect/>
          </a:stretch>
        </p:blipFill>
        <p:spPr>
          <a:xfrm>
            <a:off x="3251215" y="1618654"/>
            <a:ext cx="1096239" cy="1176697"/>
          </a:xfrm>
          <a:prstGeom prst="rect">
            <a:avLst/>
          </a:prstGeom>
        </p:spPr>
      </p:pic>
      <p:pic>
        <p:nvPicPr>
          <p:cNvPr id="9" name="Picture 8" descr="The image depicts a simple, circular diagram with two concentric circles, one inside the other.&#10;&#10;AI-generated content may be incorrect.">
            <a:extLst>
              <a:ext uri="{FF2B5EF4-FFF2-40B4-BE49-F238E27FC236}">
                <a16:creationId xmlns:a16="http://schemas.microsoft.com/office/drawing/2014/main" id="{5B1FFAFA-201C-88FA-D1B0-8C952BB6A5F4}"/>
              </a:ext>
            </a:extLst>
          </p:cNvPr>
          <p:cNvPicPr>
            <a:picLocks noChangeAspect="1"/>
          </p:cNvPicPr>
          <p:nvPr/>
        </p:nvPicPr>
        <p:blipFill>
          <a:blip r:embed="rId4"/>
          <a:stretch>
            <a:fillRect/>
          </a:stretch>
        </p:blipFill>
        <p:spPr>
          <a:xfrm>
            <a:off x="3304233" y="1695465"/>
            <a:ext cx="982167" cy="1071455"/>
          </a:xfrm>
          <a:prstGeom prst="rect">
            <a:avLst/>
          </a:prstGeom>
        </p:spPr>
      </p:pic>
      <p:sp>
        <p:nvSpPr>
          <p:cNvPr id="41" name="Oval 40">
            <a:extLst>
              <a:ext uri="{FF2B5EF4-FFF2-40B4-BE49-F238E27FC236}">
                <a16:creationId xmlns:a16="http://schemas.microsoft.com/office/drawing/2014/main" id="{AE8C6859-47A3-022F-6B3D-7669CB83AC7E}"/>
              </a:ext>
            </a:extLst>
          </p:cNvPr>
          <p:cNvSpPr/>
          <p:nvPr/>
        </p:nvSpPr>
        <p:spPr>
          <a:xfrm>
            <a:off x="3566717" y="2087191"/>
            <a:ext cx="457200" cy="457200"/>
          </a:xfrm>
          <a:prstGeom prst="ellipse">
            <a:avLst/>
          </a:prstGeom>
          <a:noFill/>
          <a:ln w="381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Arc 41">
            <a:extLst>
              <a:ext uri="{FF2B5EF4-FFF2-40B4-BE49-F238E27FC236}">
                <a16:creationId xmlns:a16="http://schemas.microsoft.com/office/drawing/2014/main" id="{212D9E78-DC99-CEE6-4E17-597711833471}"/>
              </a:ext>
            </a:extLst>
          </p:cNvPr>
          <p:cNvSpPr/>
          <p:nvPr/>
        </p:nvSpPr>
        <p:spPr>
          <a:xfrm rot="19487382">
            <a:off x="3566717" y="2077379"/>
            <a:ext cx="457200" cy="457200"/>
          </a:xfrm>
          <a:prstGeom prst="arc">
            <a:avLst>
              <a:gd name="adj1" fmla="val 14513924"/>
              <a:gd name="adj2" fmla="val 631815"/>
            </a:avLst>
          </a:prstGeom>
          <a:ln w="57150">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5" name="Arc 44">
            <a:extLst>
              <a:ext uri="{FF2B5EF4-FFF2-40B4-BE49-F238E27FC236}">
                <a16:creationId xmlns:a16="http://schemas.microsoft.com/office/drawing/2014/main" id="{1391CF69-9235-1ED8-B9E9-023BDD7E5A45}"/>
              </a:ext>
            </a:extLst>
          </p:cNvPr>
          <p:cNvSpPr/>
          <p:nvPr/>
        </p:nvSpPr>
        <p:spPr>
          <a:xfrm rot="19487382">
            <a:off x="3566718" y="2077379"/>
            <a:ext cx="457200" cy="457200"/>
          </a:xfrm>
          <a:prstGeom prst="arc">
            <a:avLst>
              <a:gd name="adj1" fmla="val 12781519"/>
              <a:gd name="adj2" fmla="val 14571822"/>
            </a:avLst>
          </a:prstGeom>
          <a:ln w="57150">
            <a:solidFill>
              <a:srgbClr val="FFFF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9" name="Arc 48">
            <a:extLst>
              <a:ext uri="{FF2B5EF4-FFF2-40B4-BE49-F238E27FC236}">
                <a16:creationId xmlns:a16="http://schemas.microsoft.com/office/drawing/2014/main" id="{0B6B7256-F6A3-DE7E-44E9-EB83C8536E96}"/>
              </a:ext>
            </a:extLst>
          </p:cNvPr>
          <p:cNvSpPr/>
          <p:nvPr/>
        </p:nvSpPr>
        <p:spPr>
          <a:xfrm rot="15611557">
            <a:off x="3566717" y="2086352"/>
            <a:ext cx="457200" cy="457200"/>
          </a:xfrm>
          <a:prstGeom prst="arc">
            <a:avLst>
              <a:gd name="adj1" fmla="val 10392918"/>
              <a:gd name="adj2" fmla="val 14571822"/>
            </a:avLst>
          </a:prstGeom>
          <a:ln w="571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1" name="Arc 50">
            <a:extLst>
              <a:ext uri="{FF2B5EF4-FFF2-40B4-BE49-F238E27FC236}">
                <a16:creationId xmlns:a16="http://schemas.microsoft.com/office/drawing/2014/main" id="{579309BF-35E2-F9ED-FEC5-F0D3090B1781}"/>
              </a:ext>
            </a:extLst>
          </p:cNvPr>
          <p:cNvSpPr/>
          <p:nvPr/>
        </p:nvSpPr>
        <p:spPr>
          <a:xfrm rot="15758980">
            <a:off x="3612548" y="2141396"/>
            <a:ext cx="365760" cy="365760"/>
          </a:xfrm>
          <a:prstGeom prst="arc">
            <a:avLst>
              <a:gd name="adj1" fmla="val 10208053"/>
              <a:gd name="adj2" fmla="val 14571822"/>
            </a:avLst>
          </a:prstGeom>
          <a:ln w="57150">
            <a:solidFill>
              <a:srgbClr val="E0CDE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3" name="Arc 52">
            <a:extLst>
              <a:ext uri="{FF2B5EF4-FFF2-40B4-BE49-F238E27FC236}">
                <a16:creationId xmlns:a16="http://schemas.microsoft.com/office/drawing/2014/main" id="{09CBA610-A895-650D-55A1-46C39327E29C}"/>
              </a:ext>
            </a:extLst>
          </p:cNvPr>
          <p:cNvSpPr/>
          <p:nvPr/>
        </p:nvSpPr>
        <p:spPr>
          <a:xfrm rot="7206464">
            <a:off x="3572869" y="2086072"/>
            <a:ext cx="457200" cy="457200"/>
          </a:xfrm>
          <a:prstGeom prst="arc">
            <a:avLst>
              <a:gd name="adj1" fmla="val 12781519"/>
              <a:gd name="adj2" fmla="val 13776796"/>
            </a:avLst>
          </a:prstGeom>
          <a:ln w="57150">
            <a:solidFill>
              <a:srgbClr val="00206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21" name="Straight Arrow Connector 20">
            <a:extLst>
              <a:ext uri="{FF2B5EF4-FFF2-40B4-BE49-F238E27FC236}">
                <a16:creationId xmlns:a16="http://schemas.microsoft.com/office/drawing/2014/main" id="{9C277811-E3A1-D0AC-B5D2-89852D7E53F6}"/>
              </a:ext>
            </a:extLst>
          </p:cNvPr>
          <p:cNvCxnSpPr>
            <a:cxnSpLocks/>
          </p:cNvCxnSpPr>
          <p:nvPr/>
        </p:nvCxnSpPr>
        <p:spPr>
          <a:xfrm>
            <a:off x="4572000" y="2262660"/>
            <a:ext cx="1366092"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24" name="Rectangle 23">
            <a:extLst>
              <a:ext uri="{FF2B5EF4-FFF2-40B4-BE49-F238E27FC236}">
                <a16:creationId xmlns:a16="http://schemas.microsoft.com/office/drawing/2014/main" id="{1EF20125-0341-D6B4-8C08-63D481518E36}"/>
              </a:ext>
            </a:extLst>
          </p:cNvPr>
          <p:cNvSpPr/>
          <p:nvPr/>
        </p:nvSpPr>
        <p:spPr>
          <a:xfrm>
            <a:off x="6162638" y="2133983"/>
            <a:ext cx="842963" cy="87159"/>
          </a:xfrm>
          <a:prstGeom prst="rect">
            <a:avLst/>
          </a:prstGeom>
          <a:solidFill>
            <a:srgbClr val="E0CDEF"/>
          </a:solidFill>
          <a:ln>
            <a:solidFill>
              <a:srgbClr val="E0CDE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Box 28">
            <a:extLst>
              <a:ext uri="{FF2B5EF4-FFF2-40B4-BE49-F238E27FC236}">
                <a16:creationId xmlns:a16="http://schemas.microsoft.com/office/drawing/2014/main" id="{F282C155-D2D0-F72B-7D3B-A11946653A45}"/>
              </a:ext>
            </a:extLst>
          </p:cNvPr>
          <p:cNvSpPr txBox="1"/>
          <p:nvPr/>
        </p:nvSpPr>
        <p:spPr>
          <a:xfrm>
            <a:off x="6402018" y="2454489"/>
            <a:ext cx="364202" cy="307777"/>
          </a:xfrm>
          <a:prstGeom prst="rect">
            <a:avLst/>
          </a:prstGeom>
          <a:noFill/>
        </p:spPr>
        <p:txBody>
          <a:bodyPr wrap="none" rtlCol="0">
            <a:spAutoFit/>
          </a:bodyPr>
          <a:lstStyle/>
          <a:p>
            <a:pPr algn="ctr"/>
            <a:r>
              <a:rPr lang="en-US" dirty="0"/>
              <a:t>…</a:t>
            </a:r>
          </a:p>
        </p:txBody>
      </p:sp>
      <p:sp>
        <p:nvSpPr>
          <p:cNvPr id="31" name="Rectangle: Rounded Corners 30">
            <a:extLst>
              <a:ext uri="{FF2B5EF4-FFF2-40B4-BE49-F238E27FC236}">
                <a16:creationId xmlns:a16="http://schemas.microsoft.com/office/drawing/2014/main" id="{17D5E5E3-E41B-3EFA-9326-D5FFFC4673FA}"/>
              </a:ext>
            </a:extLst>
          </p:cNvPr>
          <p:cNvSpPr/>
          <p:nvPr/>
        </p:nvSpPr>
        <p:spPr>
          <a:xfrm>
            <a:off x="4876007" y="3212211"/>
            <a:ext cx="2124169" cy="426568"/>
          </a:xfrm>
          <a:prstGeom prst="roundRect">
            <a:avLst/>
          </a:prstGeom>
          <a:solidFill>
            <a:srgbClr val="B4E5A3"/>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lumMod val="10000"/>
                  </a:schemeClr>
                </a:solidFill>
              </a:rPr>
              <a:t>Generative Model</a:t>
            </a:r>
          </a:p>
        </p:txBody>
      </p:sp>
      <p:cxnSp>
        <p:nvCxnSpPr>
          <p:cNvPr id="34" name="Straight Arrow Connector 33">
            <a:extLst>
              <a:ext uri="{FF2B5EF4-FFF2-40B4-BE49-F238E27FC236}">
                <a16:creationId xmlns:a16="http://schemas.microsoft.com/office/drawing/2014/main" id="{5354CC52-46B4-750C-B56C-9ED72BB84E4E}"/>
              </a:ext>
            </a:extLst>
          </p:cNvPr>
          <p:cNvCxnSpPr>
            <a:cxnSpLocks/>
            <a:stCxn id="29" idx="2"/>
          </p:cNvCxnSpPr>
          <p:nvPr/>
        </p:nvCxnSpPr>
        <p:spPr>
          <a:xfrm>
            <a:off x="6584119" y="2762266"/>
            <a:ext cx="0" cy="314543"/>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pic>
        <p:nvPicPr>
          <p:cNvPr id="44" name="Picture 43" descr="The image depicts a simple, circular, monochromatic silhouette.&#10;&#10;AI-generated content may be incorrect.">
            <a:extLst>
              <a:ext uri="{FF2B5EF4-FFF2-40B4-BE49-F238E27FC236}">
                <a16:creationId xmlns:a16="http://schemas.microsoft.com/office/drawing/2014/main" id="{3B193458-EDF4-A7C7-28C7-0D752BA2E668}"/>
              </a:ext>
            </a:extLst>
          </p:cNvPr>
          <p:cNvPicPr>
            <a:picLocks noChangeAspect="1"/>
          </p:cNvPicPr>
          <p:nvPr/>
        </p:nvPicPr>
        <p:blipFill>
          <a:blip r:embed="rId3"/>
          <a:stretch>
            <a:fillRect/>
          </a:stretch>
        </p:blipFill>
        <p:spPr>
          <a:xfrm>
            <a:off x="3891219" y="3115093"/>
            <a:ext cx="528398" cy="567180"/>
          </a:xfrm>
          <a:prstGeom prst="rect">
            <a:avLst/>
          </a:prstGeom>
        </p:spPr>
      </p:pic>
      <p:cxnSp>
        <p:nvCxnSpPr>
          <p:cNvPr id="46" name="Straight Arrow Connector 45">
            <a:extLst>
              <a:ext uri="{FF2B5EF4-FFF2-40B4-BE49-F238E27FC236}">
                <a16:creationId xmlns:a16="http://schemas.microsoft.com/office/drawing/2014/main" id="{EB64B7BC-78A1-6E4C-EA41-F61700A02A92}"/>
              </a:ext>
            </a:extLst>
          </p:cNvPr>
          <p:cNvCxnSpPr>
            <a:cxnSpLocks/>
          </p:cNvCxnSpPr>
          <p:nvPr/>
        </p:nvCxnSpPr>
        <p:spPr>
          <a:xfrm>
            <a:off x="4449422" y="3402088"/>
            <a:ext cx="319194"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50" name="Straight Arrow Connector 49">
            <a:extLst>
              <a:ext uri="{FF2B5EF4-FFF2-40B4-BE49-F238E27FC236}">
                <a16:creationId xmlns:a16="http://schemas.microsoft.com/office/drawing/2014/main" id="{232E72DD-9131-073A-A30B-C4B728CC99B7}"/>
              </a:ext>
            </a:extLst>
          </p:cNvPr>
          <p:cNvCxnSpPr>
            <a:cxnSpLocks/>
          </p:cNvCxnSpPr>
          <p:nvPr/>
        </p:nvCxnSpPr>
        <p:spPr>
          <a:xfrm>
            <a:off x="7080618" y="3431984"/>
            <a:ext cx="319194"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52" name="Rectangle 51">
            <a:extLst>
              <a:ext uri="{FF2B5EF4-FFF2-40B4-BE49-F238E27FC236}">
                <a16:creationId xmlns:a16="http://schemas.microsoft.com/office/drawing/2014/main" id="{4912622C-D5B2-FF94-4887-ABA85CCEAB0A}"/>
              </a:ext>
            </a:extLst>
          </p:cNvPr>
          <p:cNvSpPr/>
          <p:nvPr/>
        </p:nvSpPr>
        <p:spPr>
          <a:xfrm>
            <a:off x="7508325" y="3212211"/>
            <a:ext cx="842963" cy="87159"/>
          </a:xfrm>
          <a:prstGeom prst="rect">
            <a:avLst/>
          </a:prstGeom>
          <a:solidFill>
            <a:srgbClr val="E0CDEF"/>
          </a:solidFill>
          <a:ln>
            <a:solidFill>
              <a:srgbClr val="E0CDE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TextBox 54">
            <a:extLst>
              <a:ext uri="{FF2B5EF4-FFF2-40B4-BE49-F238E27FC236}">
                <a16:creationId xmlns:a16="http://schemas.microsoft.com/office/drawing/2014/main" id="{530F7A40-00A7-9863-F2D6-77D85056B008}"/>
              </a:ext>
            </a:extLst>
          </p:cNvPr>
          <p:cNvSpPr txBox="1"/>
          <p:nvPr/>
        </p:nvSpPr>
        <p:spPr>
          <a:xfrm>
            <a:off x="7747705" y="3532717"/>
            <a:ext cx="364202" cy="307777"/>
          </a:xfrm>
          <a:prstGeom prst="rect">
            <a:avLst/>
          </a:prstGeom>
          <a:noFill/>
        </p:spPr>
        <p:txBody>
          <a:bodyPr wrap="none" rtlCol="0">
            <a:spAutoFit/>
          </a:bodyPr>
          <a:lstStyle/>
          <a:p>
            <a:pPr algn="ctr"/>
            <a:r>
              <a:rPr lang="en-US" dirty="0"/>
              <a:t>…</a:t>
            </a:r>
          </a:p>
        </p:txBody>
      </p:sp>
      <p:sp>
        <p:nvSpPr>
          <p:cNvPr id="56" name="TextBox 55">
            <a:extLst>
              <a:ext uri="{FF2B5EF4-FFF2-40B4-BE49-F238E27FC236}">
                <a16:creationId xmlns:a16="http://schemas.microsoft.com/office/drawing/2014/main" id="{454A0C46-5FE8-974B-B851-7C0D5FAE7943}"/>
              </a:ext>
            </a:extLst>
          </p:cNvPr>
          <p:cNvSpPr txBox="1"/>
          <p:nvPr/>
        </p:nvSpPr>
        <p:spPr>
          <a:xfrm>
            <a:off x="3006158" y="3234320"/>
            <a:ext cx="830677" cy="307777"/>
          </a:xfrm>
          <a:prstGeom prst="rect">
            <a:avLst/>
          </a:prstGeom>
          <a:noFill/>
        </p:spPr>
        <p:txBody>
          <a:bodyPr wrap="none" rtlCol="0">
            <a:spAutoFit/>
          </a:bodyPr>
          <a:lstStyle/>
          <a:p>
            <a:pPr algn="ctr"/>
            <a:r>
              <a:rPr lang="en-US" dirty="0"/>
              <a:t>Training</a:t>
            </a:r>
          </a:p>
        </p:txBody>
      </p:sp>
      <p:sp>
        <p:nvSpPr>
          <p:cNvPr id="7" name="Rectangle: Rounded Corners 6">
            <a:extLst>
              <a:ext uri="{FF2B5EF4-FFF2-40B4-BE49-F238E27FC236}">
                <a16:creationId xmlns:a16="http://schemas.microsoft.com/office/drawing/2014/main" id="{1676206B-02E4-D1CB-0B8E-BCE6E147CD81}"/>
              </a:ext>
            </a:extLst>
          </p:cNvPr>
          <p:cNvSpPr/>
          <p:nvPr/>
        </p:nvSpPr>
        <p:spPr>
          <a:xfrm>
            <a:off x="4871333" y="3962072"/>
            <a:ext cx="2124169" cy="426568"/>
          </a:xfrm>
          <a:prstGeom prst="roundRect">
            <a:avLst/>
          </a:prstGeom>
          <a:solidFill>
            <a:srgbClr val="B4E5A3"/>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lumMod val="10000"/>
                  </a:schemeClr>
                </a:solidFill>
              </a:rPr>
              <a:t>Generative Model</a:t>
            </a:r>
          </a:p>
        </p:txBody>
      </p:sp>
      <p:pic>
        <p:nvPicPr>
          <p:cNvPr id="8" name="Picture 7" descr="The image depicts a simple, circular, monochromatic silhouette.&#10;&#10;AI-generated content may be incorrect.">
            <a:extLst>
              <a:ext uri="{FF2B5EF4-FFF2-40B4-BE49-F238E27FC236}">
                <a16:creationId xmlns:a16="http://schemas.microsoft.com/office/drawing/2014/main" id="{811948C1-7D11-87E9-1B84-7CF7518A7BAA}"/>
              </a:ext>
            </a:extLst>
          </p:cNvPr>
          <p:cNvPicPr>
            <a:picLocks noChangeAspect="1"/>
          </p:cNvPicPr>
          <p:nvPr/>
        </p:nvPicPr>
        <p:blipFill>
          <a:blip r:embed="rId3"/>
          <a:stretch>
            <a:fillRect/>
          </a:stretch>
        </p:blipFill>
        <p:spPr>
          <a:xfrm>
            <a:off x="3886545" y="3864954"/>
            <a:ext cx="528398" cy="567180"/>
          </a:xfrm>
          <a:prstGeom prst="rect">
            <a:avLst/>
          </a:prstGeom>
        </p:spPr>
      </p:pic>
      <p:cxnSp>
        <p:nvCxnSpPr>
          <p:cNvPr id="20" name="Straight Arrow Connector 19">
            <a:extLst>
              <a:ext uri="{FF2B5EF4-FFF2-40B4-BE49-F238E27FC236}">
                <a16:creationId xmlns:a16="http://schemas.microsoft.com/office/drawing/2014/main" id="{304AAB3C-6BFD-8048-DB0A-2CD3E3D84A05}"/>
              </a:ext>
            </a:extLst>
          </p:cNvPr>
          <p:cNvCxnSpPr>
            <a:cxnSpLocks/>
          </p:cNvCxnSpPr>
          <p:nvPr/>
        </p:nvCxnSpPr>
        <p:spPr>
          <a:xfrm>
            <a:off x="4444748" y="4151949"/>
            <a:ext cx="319194"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25" name="Straight Arrow Connector 24">
            <a:extLst>
              <a:ext uri="{FF2B5EF4-FFF2-40B4-BE49-F238E27FC236}">
                <a16:creationId xmlns:a16="http://schemas.microsoft.com/office/drawing/2014/main" id="{CCD2A42B-52B6-24CD-A916-672948F281D2}"/>
              </a:ext>
            </a:extLst>
          </p:cNvPr>
          <p:cNvCxnSpPr>
            <a:cxnSpLocks/>
          </p:cNvCxnSpPr>
          <p:nvPr/>
        </p:nvCxnSpPr>
        <p:spPr>
          <a:xfrm>
            <a:off x="7075944" y="4181845"/>
            <a:ext cx="319194"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27" name="Rectangle 26">
            <a:extLst>
              <a:ext uri="{FF2B5EF4-FFF2-40B4-BE49-F238E27FC236}">
                <a16:creationId xmlns:a16="http://schemas.microsoft.com/office/drawing/2014/main" id="{BF9747C7-C8AC-6B7E-644B-A313D1203747}"/>
              </a:ext>
            </a:extLst>
          </p:cNvPr>
          <p:cNvSpPr/>
          <p:nvPr/>
        </p:nvSpPr>
        <p:spPr>
          <a:xfrm>
            <a:off x="7508324" y="4131776"/>
            <a:ext cx="842963" cy="87159"/>
          </a:xfrm>
          <a:prstGeom prst="rect">
            <a:avLst/>
          </a:prstGeom>
          <a:solidFill>
            <a:srgbClr val="C40EC8"/>
          </a:solidFill>
          <a:ln>
            <a:solidFill>
              <a:srgbClr val="C40EC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TextBox 34">
            <a:extLst>
              <a:ext uri="{FF2B5EF4-FFF2-40B4-BE49-F238E27FC236}">
                <a16:creationId xmlns:a16="http://schemas.microsoft.com/office/drawing/2014/main" id="{0B35FE8D-CFBD-0999-8023-41EA70110C80}"/>
              </a:ext>
            </a:extLst>
          </p:cNvPr>
          <p:cNvSpPr txBox="1"/>
          <p:nvPr/>
        </p:nvSpPr>
        <p:spPr>
          <a:xfrm>
            <a:off x="3150564" y="3984181"/>
            <a:ext cx="532518" cy="307777"/>
          </a:xfrm>
          <a:prstGeom prst="rect">
            <a:avLst/>
          </a:prstGeom>
          <a:noFill/>
        </p:spPr>
        <p:txBody>
          <a:bodyPr wrap="none" rtlCol="0">
            <a:spAutoFit/>
          </a:bodyPr>
          <a:lstStyle/>
          <a:p>
            <a:pPr algn="ctr"/>
            <a:r>
              <a:rPr lang="en-US" dirty="0"/>
              <a:t>Test</a:t>
            </a:r>
          </a:p>
        </p:txBody>
      </p:sp>
      <p:cxnSp>
        <p:nvCxnSpPr>
          <p:cNvPr id="28" name="Straight Arrow Connector 27">
            <a:extLst>
              <a:ext uri="{FF2B5EF4-FFF2-40B4-BE49-F238E27FC236}">
                <a16:creationId xmlns:a16="http://schemas.microsoft.com/office/drawing/2014/main" id="{3017F7FC-C100-80B9-CB29-0DA4906763F4}"/>
              </a:ext>
            </a:extLst>
          </p:cNvPr>
          <p:cNvCxnSpPr>
            <a:cxnSpLocks/>
          </p:cNvCxnSpPr>
          <p:nvPr/>
        </p:nvCxnSpPr>
        <p:spPr>
          <a:xfrm>
            <a:off x="2561422" y="2237484"/>
            <a:ext cx="589142"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36" name="TextBox 35">
            <a:extLst>
              <a:ext uri="{FF2B5EF4-FFF2-40B4-BE49-F238E27FC236}">
                <a16:creationId xmlns:a16="http://schemas.microsoft.com/office/drawing/2014/main" id="{8AFD9A38-C904-943F-8A9A-3646083D5495}"/>
              </a:ext>
            </a:extLst>
          </p:cNvPr>
          <p:cNvSpPr txBox="1"/>
          <p:nvPr/>
        </p:nvSpPr>
        <p:spPr>
          <a:xfrm>
            <a:off x="487694" y="1931269"/>
            <a:ext cx="1896673" cy="523220"/>
          </a:xfrm>
          <a:prstGeom prst="rect">
            <a:avLst/>
          </a:prstGeom>
          <a:noFill/>
        </p:spPr>
        <p:txBody>
          <a:bodyPr wrap="none" rtlCol="0">
            <a:spAutoFit/>
          </a:bodyPr>
          <a:lstStyle/>
          <a:p>
            <a:pPr algn="ctr"/>
            <a:r>
              <a:rPr lang="en-US" dirty="0"/>
              <a:t>This is probably a cell</a:t>
            </a:r>
            <a:br>
              <a:rPr lang="en-US" dirty="0"/>
            </a:br>
            <a:r>
              <a:rPr lang="en-US" dirty="0"/>
              <a:t>line that cultures well!</a:t>
            </a:r>
          </a:p>
        </p:txBody>
      </p:sp>
      <p:sp>
        <p:nvSpPr>
          <p:cNvPr id="40" name="TextBox 39">
            <a:extLst>
              <a:ext uri="{FF2B5EF4-FFF2-40B4-BE49-F238E27FC236}">
                <a16:creationId xmlns:a16="http://schemas.microsoft.com/office/drawing/2014/main" id="{E8607E75-9AF2-5108-A029-9AE8EBFA525C}"/>
              </a:ext>
            </a:extLst>
          </p:cNvPr>
          <p:cNvSpPr txBox="1"/>
          <p:nvPr/>
        </p:nvSpPr>
        <p:spPr>
          <a:xfrm>
            <a:off x="330468" y="2660019"/>
            <a:ext cx="2204451" cy="738664"/>
          </a:xfrm>
          <a:prstGeom prst="rect">
            <a:avLst/>
          </a:prstGeom>
          <a:noFill/>
        </p:spPr>
        <p:txBody>
          <a:bodyPr wrap="none" rtlCol="0">
            <a:spAutoFit/>
          </a:bodyPr>
          <a:lstStyle/>
          <a:p>
            <a:pPr algn="ctr"/>
            <a:r>
              <a:rPr lang="en-US" dirty="0"/>
              <a:t>Rare cells, transient</a:t>
            </a:r>
            <a:br>
              <a:rPr lang="en-US" dirty="0"/>
            </a:br>
            <a:r>
              <a:rPr lang="en-US" dirty="0"/>
              <a:t>cell states,</a:t>
            </a:r>
            <a:r>
              <a:rPr lang="en-US" i="1" dirty="0"/>
              <a:t> etc</a:t>
            </a:r>
            <a:r>
              <a:rPr lang="en-US" dirty="0"/>
              <a:t>. may be</a:t>
            </a:r>
            <a:br>
              <a:rPr lang="en-US" dirty="0"/>
            </a:br>
            <a:r>
              <a:rPr lang="en-US" dirty="0"/>
              <a:t>difficult to collect data for.</a:t>
            </a:r>
          </a:p>
        </p:txBody>
      </p:sp>
      <p:sp>
        <p:nvSpPr>
          <p:cNvPr id="43" name="TextBox 42">
            <a:extLst>
              <a:ext uri="{FF2B5EF4-FFF2-40B4-BE49-F238E27FC236}">
                <a16:creationId xmlns:a16="http://schemas.microsoft.com/office/drawing/2014/main" id="{7C5D0344-905B-B4C0-1E0B-9C9C0CE13952}"/>
              </a:ext>
            </a:extLst>
          </p:cNvPr>
          <p:cNvSpPr txBox="1"/>
          <p:nvPr/>
        </p:nvSpPr>
        <p:spPr>
          <a:xfrm>
            <a:off x="344894" y="3638779"/>
            <a:ext cx="2175597" cy="954107"/>
          </a:xfrm>
          <a:prstGeom prst="rect">
            <a:avLst/>
          </a:prstGeom>
          <a:noFill/>
        </p:spPr>
        <p:txBody>
          <a:bodyPr wrap="none" rtlCol="0">
            <a:spAutoFit/>
          </a:bodyPr>
          <a:lstStyle/>
          <a:p>
            <a:pPr algn="ctr"/>
            <a:r>
              <a:rPr lang="en-US" dirty="0"/>
              <a:t>Cell context space grows</a:t>
            </a:r>
            <a:br>
              <a:rPr lang="en-US" dirty="0"/>
            </a:br>
            <a:r>
              <a:rPr lang="en-US" dirty="0"/>
              <a:t>combinatorically: </a:t>
            </a:r>
            <a:br>
              <a:rPr lang="en-US" dirty="0"/>
            </a:br>
            <a:r>
              <a:rPr lang="en-US" dirty="0"/>
              <a:t>cell type, environment, </a:t>
            </a:r>
            <a:br>
              <a:rPr lang="en-US" dirty="0"/>
            </a:br>
            <a:r>
              <a:rPr lang="en-US" dirty="0"/>
              <a:t>epigenetic state, </a:t>
            </a:r>
            <a:r>
              <a:rPr lang="en-US" i="1" dirty="0"/>
              <a:t>etc</a:t>
            </a:r>
            <a:r>
              <a:rPr lang="en-US" dirty="0"/>
              <a:t>.</a:t>
            </a:r>
          </a:p>
        </p:txBody>
      </p:sp>
      <p:sp>
        <p:nvSpPr>
          <p:cNvPr id="3" name="Rectangle 2">
            <a:extLst>
              <a:ext uri="{FF2B5EF4-FFF2-40B4-BE49-F238E27FC236}">
                <a16:creationId xmlns:a16="http://schemas.microsoft.com/office/drawing/2014/main" id="{D03980A8-5EE8-1CC8-31D3-F7CD456EEBE1}"/>
              </a:ext>
            </a:extLst>
          </p:cNvPr>
          <p:cNvSpPr/>
          <p:nvPr/>
        </p:nvSpPr>
        <p:spPr>
          <a:xfrm>
            <a:off x="6162638" y="2331095"/>
            <a:ext cx="842963" cy="87159"/>
          </a:xfrm>
          <a:prstGeom prst="rect">
            <a:avLst/>
          </a:prstGeom>
          <a:solidFill>
            <a:srgbClr val="7030A0"/>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F2CDA965-4E66-047A-DF4E-F37325744D45}"/>
              </a:ext>
            </a:extLst>
          </p:cNvPr>
          <p:cNvSpPr/>
          <p:nvPr/>
        </p:nvSpPr>
        <p:spPr>
          <a:xfrm>
            <a:off x="7508325" y="3361623"/>
            <a:ext cx="842963" cy="87159"/>
          </a:xfrm>
          <a:prstGeom prst="rect">
            <a:avLst/>
          </a:prstGeom>
          <a:solidFill>
            <a:srgbClr val="7030A0"/>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25901818"/>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E62798-2792-08B7-00DE-93DDBE1ABF68}"/>
            </a:ext>
          </a:extLst>
        </p:cNvPr>
        <p:cNvGrpSpPr/>
        <p:nvPr/>
      </p:nvGrpSpPr>
      <p:grpSpPr>
        <a:xfrm>
          <a:off x="0" y="0"/>
          <a:ext cx="0" cy="0"/>
          <a:chOff x="0" y="0"/>
          <a:chExt cx="0" cy="0"/>
        </a:xfrm>
      </p:grpSpPr>
      <p:sp>
        <p:nvSpPr>
          <p:cNvPr id="16" name="Title 1">
            <a:extLst>
              <a:ext uri="{FF2B5EF4-FFF2-40B4-BE49-F238E27FC236}">
                <a16:creationId xmlns:a16="http://schemas.microsoft.com/office/drawing/2014/main" id="{0C9E4851-7749-A728-BAC5-3461588C387A}"/>
              </a:ext>
            </a:extLst>
          </p:cNvPr>
          <p:cNvSpPr>
            <a:spLocks noGrp="1"/>
          </p:cNvSpPr>
          <p:nvPr>
            <p:ph type="title"/>
          </p:nvPr>
        </p:nvSpPr>
        <p:spPr>
          <a:xfrm>
            <a:off x="719999" y="523239"/>
            <a:ext cx="7704000" cy="572700"/>
          </a:xfrm>
        </p:spPr>
        <p:txBody>
          <a:bodyPr/>
          <a:lstStyle/>
          <a:p>
            <a:pPr algn="ctr"/>
            <a:r>
              <a:rPr lang="en-US" sz="2000" dirty="0"/>
              <a:t>Can we conditionally generate enhancers through </a:t>
            </a:r>
            <a:br>
              <a:rPr lang="en-US" sz="2000" dirty="0"/>
            </a:br>
            <a:r>
              <a:rPr lang="en-US" sz="2000" i="1" dirty="0"/>
              <a:t>examples</a:t>
            </a:r>
            <a:r>
              <a:rPr lang="en-US" sz="2000" dirty="0"/>
              <a:t>, rather than through specification?</a:t>
            </a:r>
          </a:p>
        </p:txBody>
      </p:sp>
      <p:sp>
        <p:nvSpPr>
          <p:cNvPr id="31" name="Rectangle: Rounded Corners 30">
            <a:extLst>
              <a:ext uri="{FF2B5EF4-FFF2-40B4-BE49-F238E27FC236}">
                <a16:creationId xmlns:a16="http://schemas.microsoft.com/office/drawing/2014/main" id="{30841E67-EA41-CCD6-B03C-FF9E9C89439C}"/>
              </a:ext>
            </a:extLst>
          </p:cNvPr>
          <p:cNvSpPr/>
          <p:nvPr/>
        </p:nvSpPr>
        <p:spPr>
          <a:xfrm>
            <a:off x="2143952" y="2085162"/>
            <a:ext cx="2124169" cy="426568"/>
          </a:xfrm>
          <a:prstGeom prst="roundRect">
            <a:avLst/>
          </a:prstGeom>
          <a:solidFill>
            <a:srgbClr val="B4E5A3"/>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lumMod val="10000"/>
                  </a:schemeClr>
                </a:solidFill>
              </a:rPr>
              <a:t>Generative Model</a:t>
            </a:r>
          </a:p>
        </p:txBody>
      </p:sp>
      <p:pic>
        <p:nvPicPr>
          <p:cNvPr id="44" name="Picture 43" descr="The image depicts a simple, circular, monochromatic silhouette.&#10;&#10;AI-generated content may be incorrect.">
            <a:extLst>
              <a:ext uri="{FF2B5EF4-FFF2-40B4-BE49-F238E27FC236}">
                <a16:creationId xmlns:a16="http://schemas.microsoft.com/office/drawing/2014/main" id="{992C3687-C887-9CA4-F5B1-87132B8A19B2}"/>
              </a:ext>
            </a:extLst>
          </p:cNvPr>
          <p:cNvPicPr>
            <a:picLocks noChangeAspect="1"/>
          </p:cNvPicPr>
          <p:nvPr/>
        </p:nvPicPr>
        <p:blipFill>
          <a:blip r:embed="rId3"/>
          <a:stretch>
            <a:fillRect/>
          </a:stretch>
        </p:blipFill>
        <p:spPr>
          <a:xfrm>
            <a:off x="1159164" y="1988044"/>
            <a:ext cx="528398" cy="567180"/>
          </a:xfrm>
          <a:prstGeom prst="rect">
            <a:avLst/>
          </a:prstGeom>
        </p:spPr>
      </p:pic>
      <p:cxnSp>
        <p:nvCxnSpPr>
          <p:cNvPr id="46" name="Straight Arrow Connector 45">
            <a:extLst>
              <a:ext uri="{FF2B5EF4-FFF2-40B4-BE49-F238E27FC236}">
                <a16:creationId xmlns:a16="http://schemas.microsoft.com/office/drawing/2014/main" id="{260DF9EF-E7F2-61B3-6F8F-9631B22A8FF8}"/>
              </a:ext>
            </a:extLst>
          </p:cNvPr>
          <p:cNvCxnSpPr>
            <a:cxnSpLocks/>
          </p:cNvCxnSpPr>
          <p:nvPr/>
        </p:nvCxnSpPr>
        <p:spPr>
          <a:xfrm>
            <a:off x="1717367" y="2275039"/>
            <a:ext cx="319194"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50" name="Straight Arrow Connector 49">
            <a:extLst>
              <a:ext uri="{FF2B5EF4-FFF2-40B4-BE49-F238E27FC236}">
                <a16:creationId xmlns:a16="http://schemas.microsoft.com/office/drawing/2014/main" id="{C6AF0E71-D382-5745-6448-5AC3C1D7EED9}"/>
              </a:ext>
            </a:extLst>
          </p:cNvPr>
          <p:cNvCxnSpPr>
            <a:cxnSpLocks/>
          </p:cNvCxnSpPr>
          <p:nvPr/>
        </p:nvCxnSpPr>
        <p:spPr>
          <a:xfrm>
            <a:off x="4348563" y="2304935"/>
            <a:ext cx="319194"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52" name="Rectangle 51">
            <a:extLst>
              <a:ext uri="{FF2B5EF4-FFF2-40B4-BE49-F238E27FC236}">
                <a16:creationId xmlns:a16="http://schemas.microsoft.com/office/drawing/2014/main" id="{2D99A22A-212E-E053-CC06-176F43F6252D}"/>
              </a:ext>
            </a:extLst>
          </p:cNvPr>
          <p:cNvSpPr/>
          <p:nvPr/>
        </p:nvSpPr>
        <p:spPr>
          <a:xfrm>
            <a:off x="4776270" y="2085162"/>
            <a:ext cx="842963" cy="87159"/>
          </a:xfrm>
          <a:prstGeom prst="rect">
            <a:avLst/>
          </a:prstGeom>
          <a:solidFill>
            <a:srgbClr val="E0CDEF"/>
          </a:solidFill>
          <a:ln>
            <a:solidFill>
              <a:srgbClr val="E0CDE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CE6E95C7-D81B-D440-BEBF-4FCB148FB10D}"/>
              </a:ext>
            </a:extLst>
          </p:cNvPr>
          <p:cNvSpPr txBox="1"/>
          <p:nvPr/>
        </p:nvSpPr>
        <p:spPr>
          <a:xfrm>
            <a:off x="5015650" y="2357841"/>
            <a:ext cx="364202" cy="307777"/>
          </a:xfrm>
          <a:prstGeom prst="rect">
            <a:avLst/>
          </a:prstGeom>
          <a:noFill/>
        </p:spPr>
        <p:txBody>
          <a:bodyPr wrap="none" rtlCol="0">
            <a:spAutoFit/>
          </a:bodyPr>
          <a:lstStyle/>
          <a:p>
            <a:pPr algn="ctr"/>
            <a:r>
              <a:rPr lang="en-US" dirty="0"/>
              <a:t>…</a:t>
            </a:r>
          </a:p>
        </p:txBody>
      </p:sp>
      <p:sp>
        <p:nvSpPr>
          <p:cNvPr id="4" name="TextBox 3">
            <a:extLst>
              <a:ext uri="{FF2B5EF4-FFF2-40B4-BE49-F238E27FC236}">
                <a16:creationId xmlns:a16="http://schemas.microsoft.com/office/drawing/2014/main" id="{DD0BF772-37AA-5CE4-E95A-622137BF1E45}"/>
              </a:ext>
            </a:extLst>
          </p:cNvPr>
          <p:cNvSpPr txBox="1"/>
          <p:nvPr/>
        </p:nvSpPr>
        <p:spPr>
          <a:xfrm>
            <a:off x="6232954" y="1910711"/>
            <a:ext cx="2184060" cy="523220"/>
          </a:xfrm>
          <a:prstGeom prst="rect">
            <a:avLst/>
          </a:prstGeom>
          <a:noFill/>
        </p:spPr>
        <p:txBody>
          <a:bodyPr wrap="square" rtlCol="0">
            <a:spAutoFit/>
          </a:bodyPr>
          <a:lstStyle/>
          <a:p>
            <a:pPr algn="ctr"/>
            <a:r>
              <a:rPr lang="en-US" dirty="0"/>
              <a:t>Generation through specifying cell context</a:t>
            </a:r>
          </a:p>
        </p:txBody>
      </p:sp>
      <p:sp>
        <p:nvSpPr>
          <p:cNvPr id="5" name="Rectangle: Rounded Corners 4">
            <a:extLst>
              <a:ext uri="{FF2B5EF4-FFF2-40B4-BE49-F238E27FC236}">
                <a16:creationId xmlns:a16="http://schemas.microsoft.com/office/drawing/2014/main" id="{1D2A135A-DD06-F2C5-31F6-6E8488E0C380}"/>
              </a:ext>
            </a:extLst>
          </p:cNvPr>
          <p:cNvSpPr/>
          <p:nvPr/>
        </p:nvSpPr>
        <p:spPr>
          <a:xfrm>
            <a:off x="2143951" y="3377323"/>
            <a:ext cx="2124169" cy="426568"/>
          </a:xfrm>
          <a:prstGeom prst="roundRect">
            <a:avLst/>
          </a:prstGeom>
          <a:solidFill>
            <a:srgbClr val="B4E5A3"/>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lumMod val="10000"/>
                  </a:schemeClr>
                </a:solidFill>
              </a:rPr>
              <a:t>Generative Model</a:t>
            </a:r>
          </a:p>
        </p:txBody>
      </p:sp>
      <p:cxnSp>
        <p:nvCxnSpPr>
          <p:cNvPr id="10" name="Straight Arrow Connector 9">
            <a:extLst>
              <a:ext uri="{FF2B5EF4-FFF2-40B4-BE49-F238E27FC236}">
                <a16:creationId xmlns:a16="http://schemas.microsoft.com/office/drawing/2014/main" id="{6DBFB70B-568A-2BBF-319D-158BC417B431}"/>
              </a:ext>
            </a:extLst>
          </p:cNvPr>
          <p:cNvCxnSpPr>
            <a:cxnSpLocks/>
          </p:cNvCxnSpPr>
          <p:nvPr/>
        </p:nvCxnSpPr>
        <p:spPr>
          <a:xfrm>
            <a:off x="1717366" y="3567200"/>
            <a:ext cx="319194"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11" name="Straight Arrow Connector 10">
            <a:extLst>
              <a:ext uri="{FF2B5EF4-FFF2-40B4-BE49-F238E27FC236}">
                <a16:creationId xmlns:a16="http://schemas.microsoft.com/office/drawing/2014/main" id="{B9A49E53-29E5-B62A-4E81-FB51694D2DF5}"/>
              </a:ext>
            </a:extLst>
          </p:cNvPr>
          <p:cNvCxnSpPr>
            <a:cxnSpLocks/>
          </p:cNvCxnSpPr>
          <p:nvPr/>
        </p:nvCxnSpPr>
        <p:spPr>
          <a:xfrm>
            <a:off x="4348562" y="3597096"/>
            <a:ext cx="319194"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15" name="Rectangle 14">
            <a:extLst>
              <a:ext uri="{FF2B5EF4-FFF2-40B4-BE49-F238E27FC236}">
                <a16:creationId xmlns:a16="http://schemas.microsoft.com/office/drawing/2014/main" id="{4B625A96-0636-19CB-9CBD-C041496CAF49}"/>
              </a:ext>
            </a:extLst>
          </p:cNvPr>
          <p:cNvSpPr/>
          <p:nvPr/>
        </p:nvSpPr>
        <p:spPr>
          <a:xfrm>
            <a:off x="793961" y="3367947"/>
            <a:ext cx="842963" cy="87159"/>
          </a:xfrm>
          <a:prstGeom prst="rect">
            <a:avLst/>
          </a:prstGeom>
          <a:solidFill>
            <a:srgbClr val="E0CDEF"/>
          </a:solidFill>
          <a:ln>
            <a:solidFill>
              <a:srgbClr val="E0CDE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C543B946-D1B8-51C3-714C-177A836296BB}"/>
              </a:ext>
            </a:extLst>
          </p:cNvPr>
          <p:cNvSpPr txBox="1"/>
          <p:nvPr/>
        </p:nvSpPr>
        <p:spPr>
          <a:xfrm>
            <a:off x="1033341" y="3640626"/>
            <a:ext cx="364202" cy="307777"/>
          </a:xfrm>
          <a:prstGeom prst="rect">
            <a:avLst/>
          </a:prstGeom>
          <a:noFill/>
        </p:spPr>
        <p:txBody>
          <a:bodyPr wrap="none" rtlCol="0">
            <a:spAutoFit/>
          </a:bodyPr>
          <a:lstStyle/>
          <a:p>
            <a:pPr algn="ctr"/>
            <a:r>
              <a:rPr lang="en-US" dirty="0"/>
              <a:t>…</a:t>
            </a:r>
          </a:p>
        </p:txBody>
      </p:sp>
      <p:sp>
        <p:nvSpPr>
          <p:cNvPr id="19" name="Rectangle 18">
            <a:extLst>
              <a:ext uri="{FF2B5EF4-FFF2-40B4-BE49-F238E27FC236}">
                <a16:creationId xmlns:a16="http://schemas.microsoft.com/office/drawing/2014/main" id="{8C5171DD-4A7D-9936-DB98-FBE38E5DABB0}"/>
              </a:ext>
            </a:extLst>
          </p:cNvPr>
          <p:cNvSpPr/>
          <p:nvPr/>
        </p:nvSpPr>
        <p:spPr>
          <a:xfrm>
            <a:off x="4832548" y="3547027"/>
            <a:ext cx="842963" cy="87159"/>
          </a:xfrm>
          <a:prstGeom prst="rect">
            <a:avLst/>
          </a:prstGeom>
          <a:solidFill>
            <a:srgbClr val="C40EC8"/>
          </a:solidFill>
          <a:ln>
            <a:solidFill>
              <a:srgbClr val="C40EC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F39B9892-69F7-D780-2ADF-EEBB3BCEBE82}"/>
              </a:ext>
            </a:extLst>
          </p:cNvPr>
          <p:cNvSpPr txBox="1"/>
          <p:nvPr/>
        </p:nvSpPr>
        <p:spPr>
          <a:xfrm>
            <a:off x="6239939" y="3305590"/>
            <a:ext cx="2184060" cy="523220"/>
          </a:xfrm>
          <a:prstGeom prst="rect">
            <a:avLst/>
          </a:prstGeom>
          <a:noFill/>
        </p:spPr>
        <p:txBody>
          <a:bodyPr wrap="square" rtlCol="0">
            <a:spAutoFit/>
          </a:bodyPr>
          <a:lstStyle/>
          <a:p>
            <a:pPr algn="ctr"/>
            <a:r>
              <a:rPr lang="en-US" dirty="0"/>
              <a:t>Generation through example</a:t>
            </a:r>
          </a:p>
        </p:txBody>
      </p:sp>
      <p:sp>
        <p:nvSpPr>
          <p:cNvPr id="2" name="Rectangle 1">
            <a:extLst>
              <a:ext uri="{FF2B5EF4-FFF2-40B4-BE49-F238E27FC236}">
                <a16:creationId xmlns:a16="http://schemas.microsoft.com/office/drawing/2014/main" id="{2CA6E9B4-6F6A-9F3A-5426-858251F08C42}"/>
              </a:ext>
            </a:extLst>
          </p:cNvPr>
          <p:cNvSpPr/>
          <p:nvPr/>
        </p:nvSpPr>
        <p:spPr>
          <a:xfrm>
            <a:off x="4775147" y="2265764"/>
            <a:ext cx="842963" cy="87159"/>
          </a:xfrm>
          <a:prstGeom prst="rect">
            <a:avLst/>
          </a:prstGeom>
          <a:solidFill>
            <a:srgbClr val="7030A0"/>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FADE00B4-3B6E-42DC-B7DA-EF755F70E347}"/>
              </a:ext>
            </a:extLst>
          </p:cNvPr>
          <p:cNvSpPr/>
          <p:nvPr/>
        </p:nvSpPr>
        <p:spPr>
          <a:xfrm>
            <a:off x="790895" y="3539680"/>
            <a:ext cx="842963" cy="87159"/>
          </a:xfrm>
          <a:prstGeom prst="rect">
            <a:avLst/>
          </a:prstGeom>
          <a:solidFill>
            <a:srgbClr val="7030A0"/>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31670173"/>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A8287A-4B55-E42C-AB8E-7E2198267419}"/>
            </a:ext>
          </a:extLst>
        </p:cNvPr>
        <p:cNvGrpSpPr/>
        <p:nvPr/>
      </p:nvGrpSpPr>
      <p:grpSpPr>
        <a:xfrm>
          <a:off x="0" y="0"/>
          <a:ext cx="0" cy="0"/>
          <a:chOff x="0" y="0"/>
          <a:chExt cx="0" cy="0"/>
        </a:xfrm>
      </p:grpSpPr>
      <p:sp>
        <p:nvSpPr>
          <p:cNvPr id="16" name="Title 1">
            <a:extLst>
              <a:ext uri="{FF2B5EF4-FFF2-40B4-BE49-F238E27FC236}">
                <a16:creationId xmlns:a16="http://schemas.microsoft.com/office/drawing/2014/main" id="{66BD8633-4200-316F-E25F-7575B42D4A32}"/>
              </a:ext>
            </a:extLst>
          </p:cNvPr>
          <p:cNvSpPr>
            <a:spLocks noGrp="1"/>
          </p:cNvSpPr>
          <p:nvPr>
            <p:ph type="title"/>
          </p:nvPr>
        </p:nvSpPr>
        <p:spPr>
          <a:xfrm>
            <a:off x="719999" y="523239"/>
            <a:ext cx="7704000" cy="572700"/>
          </a:xfrm>
        </p:spPr>
        <p:txBody>
          <a:bodyPr/>
          <a:lstStyle/>
          <a:p>
            <a:pPr algn="ctr"/>
            <a:r>
              <a:rPr lang="en-US" sz="2000" dirty="0"/>
              <a:t>Can we conditionally generate enhancers through </a:t>
            </a:r>
            <a:br>
              <a:rPr lang="en-US" sz="2000" dirty="0"/>
            </a:br>
            <a:r>
              <a:rPr lang="en-US" sz="2000" i="1" dirty="0"/>
              <a:t>examples</a:t>
            </a:r>
            <a:r>
              <a:rPr lang="en-US" sz="2000" dirty="0"/>
              <a:t>, rather than through specification?</a:t>
            </a:r>
          </a:p>
        </p:txBody>
      </p:sp>
      <p:sp>
        <p:nvSpPr>
          <p:cNvPr id="5" name="Rectangle: Rounded Corners 4">
            <a:extLst>
              <a:ext uri="{FF2B5EF4-FFF2-40B4-BE49-F238E27FC236}">
                <a16:creationId xmlns:a16="http://schemas.microsoft.com/office/drawing/2014/main" id="{E9605AC7-C144-EFD3-1FB4-37851192DECE}"/>
              </a:ext>
            </a:extLst>
          </p:cNvPr>
          <p:cNvSpPr/>
          <p:nvPr/>
        </p:nvSpPr>
        <p:spPr>
          <a:xfrm>
            <a:off x="2143951" y="3377323"/>
            <a:ext cx="2124169" cy="426568"/>
          </a:xfrm>
          <a:prstGeom prst="roundRect">
            <a:avLst/>
          </a:prstGeom>
          <a:solidFill>
            <a:srgbClr val="B4E5A3"/>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lumMod val="10000"/>
                  </a:schemeClr>
                </a:solidFill>
              </a:rPr>
              <a:t>Generative Model</a:t>
            </a:r>
          </a:p>
        </p:txBody>
      </p:sp>
      <p:cxnSp>
        <p:nvCxnSpPr>
          <p:cNvPr id="10" name="Straight Arrow Connector 9">
            <a:extLst>
              <a:ext uri="{FF2B5EF4-FFF2-40B4-BE49-F238E27FC236}">
                <a16:creationId xmlns:a16="http://schemas.microsoft.com/office/drawing/2014/main" id="{18538669-3B87-59B3-0D91-713701D9BF57}"/>
              </a:ext>
            </a:extLst>
          </p:cNvPr>
          <p:cNvCxnSpPr>
            <a:cxnSpLocks/>
          </p:cNvCxnSpPr>
          <p:nvPr/>
        </p:nvCxnSpPr>
        <p:spPr>
          <a:xfrm>
            <a:off x="1717366" y="3567200"/>
            <a:ext cx="319194"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11" name="Straight Arrow Connector 10">
            <a:extLst>
              <a:ext uri="{FF2B5EF4-FFF2-40B4-BE49-F238E27FC236}">
                <a16:creationId xmlns:a16="http://schemas.microsoft.com/office/drawing/2014/main" id="{0A9994A6-C8B9-CFA2-1DD2-88B0DB63C379}"/>
              </a:ext>
            </a:extLst>
          </p:cNvPr>
          <p:cNvCxnSpPr>
            <a:cxnSpLocks/>
          </p:cNvCxnSpPr>
          <p:nvPr/>
        </p:nvCxnSpPr>
        <p:spPr>
          <a:xfrm>
            <a:off x="4348562" y="3597096"/>
            <a:ext cx="319194"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15" name="Rectangle 14">
            <a:extLst>
              <a:ext uri="{FF2B5EF4-FFF2-40B4-BE49-F238E27FC236}">
                <a16:creationId xmlns:a16="http://schemas.microsoft.com/office/drawing/2014/main" id="{52AF96F3-C2DC-5C2D-7C86-87BC65E79758}"/>
              </a:ext>
            </a:extLst>
          </p:cNvPr>
          <p:cNvSpPr/>
          <p:nvPr/>
        </p:nvSpPr>
        <p:spPr>
          <a:xfrm>
            <a:off x="793961" y="3367947"/>
            <a:ext cx="842963" cy="87159"/>
          </a:xfrm>
          <a:prstGeom prst="rect">
            <a:avLst/>
          </a:prstGeom>
          <a:solidFill>
            <a:srgbClr val="E0CDEF"/>
          </a:solidFill>
          <a:ln>
            <a:solidFill>
              <a:srgbClr val="E0CDE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003AEBEE-443E-DDAB-A2D8-E0BB61CDC348}"/>
              </a:ext>
            </a:extLst>
          </p:cNvPr>
          <p:cNvSpPr txBox="1"/>
          <p:nvPr/>
        </p:nvSpPr>
        <p:spPr>
          <a:xfrm>
            <a:off x="1033341" y="3640626"/>
            <a:ext cx="364202" cy="307777"/>
          </a:xfrm>
          <a:prstGeom prst="rect">
            <a:avLst/>
          </a:prstGeom>
          <a:noFill/>
        </p:spPr>
        <p:txBody>
          <a:bodyPr wrap="none" rtlCol="0">
            <a:spAutoFit/>
          </a:bodyPr>
          <a:lstStyle/>
          <a:p>
            <a:pPr algn="ctr"/>
            <a:r>
              <a:rPr lang="en-US" dirty="0"/>
              <a:t>…</a:t>
            </a:r>
          </a:p>
        </p:txBody>
      </p:sp>
      <p:sp>
        <p:nvSpPr>
          <p:cNvPr id="19" name="Rectangle 18">
            <a:extLst>
              <a:ext uri="{FF2B5EF4-FFF2-40B4-BE49-F238E27FC236}">
                <a16:creationId xmlns:a16="http://schemas.microsoft.com/office/drawing/2014/main" id="{48FB831C-BC63-A632-210C-19B457A8C615}"/>
              </a:ext>
            </a:extLst>
          </p:cNvPr>
          <p:cNvSpPr/>
          <p:nvPr/>
        </p:nvSpPr>
        <p:spPr>
          <a:xfrm>
            <a:off x="4832548" y="3547027"/>
            <a:ext cx="842963" cy="87159"/>
          </a:xfrm>
          <a:prstGeom prst="rect">
            <a:avLst/>
          </a:prstGeom>
          <a:solidFill>
            <a:srgbClr val="C40EC8"/>
          </a:solidFill>
          <a:ln>
            <a:solidFill>
              <a:srgbClr val="C40EC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07119AB3-8CD3-6E60-15A0-50B809ABDFDD}"/>
              </a:ext>
            </a:extLst>
          </p:cNvPr>
          <p:cNvSpPr txBox="1"/>
          <p:nvPr/>
        </p:nvSpPr>
        <p:spPr>
          <a:xfrm>
            <a:off x="2216094" y="2471312"/>
            <a:ext cx="4715385" cy="738664"/>
          </a:xfrm>
          <a:prstGeom prst="rect">
            <a:avLst/>
          </a:prstGeom>
          <a:noFill/>
        </p:spPr>
        <p:txBody>
          <a:bodyPr wrap="square" rtlCol="0">
            <a:spAutoFit/>
          </a:bodyPr>
          <a:lstStyle/>
          <a:p>
            <a:pPr algn="ctr"/>
            <a:r>
              <a:rPr lang="en-US" dirty="0"/>
              <a:t>To train this model, we need sets of different enhancer sequences that have similar (and diverse) functions </a:t>
            </a:r>
            <a:br>
              <a:rPr lang="en-US" dirty="0"/>
            </a:br>
            <a:endParaRPr lang="en-US" dirty="0"/>
          </a:p>
        </p:txBody>
      </p:sp>
      <p:sp>
        <p:nvSpPr>
          <p:cNvPr id="2" name="Rectangle 1">
            <a:extLst>
              <a:ext uri="{FF2B5EF4-FFF2-40B4-BE49-F238E27FC236}">
                <a16:creationId xmlns:a16="http://schemas.microsoft.com/office/drawing/2014/main" id="{9A01C4AB-C2DE-0240-A720-1CA984E935F4}"/>
              </a:ext>
            </a:extLst>
          </p:cNvPr>
          <p:cNvSpPr/>
          <p:nvPr/>
        </p:nvSpPr>
        <p:spPr>
          <a:xfrm>
            <a:off x="1213534" y="1733415"/>
            <a:ext cx="842963" cy="87159"/>
          </a:xfrm>
          <a:prstGeom prst="rect">
            <a:avLst/>
          </a:prstGeom>
          <a:solidFill>
            <a:srgbClr val="E0CDEF"/>
          </a:solidFill>
          <a:ln>
            <a:solidFill>
              <a:srgbClr val="E0CDE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ouble Bracket 7">
            <a:extLst>
              <a:ext uri="{FF2B5EF4-FFF2-40B4-BE49-F238E27FC236}">
                <a16:creationId xmlns:a16="http://schemas.microsoft.com/office/drawing/2014/main" id="{838ACD5B-EC32-8CC8-FAFD-D2840980CA52}"/>
              </a:ext>
            </a:extLst>
          </p:cNvPr>
          <p:cNvSpPr/>
          <p:nvPr/>
        </p:nvSpPr>
        <p:spPr>
          <a:xfrm>
            <a:off x="1033341" y="1642955"/>
            <a:ext cx="1182753" cy="661010"/>
          </a:xfrm>
          <a:prstGeom prst="bracketPair">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9" name="Rectangle 8">
            <a:extLst>
              <a:ext uri="{FF2B5EF4-FFF2-40B4-BE49-F238E27FC236}">
                <a16:creationId xmlns:a16="http://schemas.microsoft.com/office/drawing/2014/main" id="{F53898B5-3553-4F06-21F4-EFEA9E7D3608}"/>
              </a:ext>
            </a:extLst>
          </p:cNvPr>
          <p:cNvSpPr/>
          <p:nvPr/>
        </p:nvSpPr>
        <p:spPr>
          <a:xfrm>
            <a:off x="2584100" y="1739883"/>
            <a:ext cx="842963" cy="87159"/>
          </a:xfrm>
          <a:prstGeom prst="rect">
            <a:avLst/>
          </a:prstGeom>
          <a:solidFill>
            <a:srgbClr val="FFC0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3CE43841-1FDC-02EA-CE43-A0B22046A077}"/>
              </a:ext>
            </a:extLst>
          </p:cNvPr>
          <p:cNvSpPr/>
          <p:nvPr/>
        </p:nvSpPr>
        <p:spPr>
          <a:xfrm>
            <a:off x="2588343" y="1917079"/>
            <a:ext cx="842963" cy="87159"/>
          </a:xfrm>
          <a:prstGeom prst="rect">
            <a:avLst/>
          </a:prstGeom>
          <a:solidFill>
            <a:srgbClr val="FFD85D"/>
          </a:solidFill>
          <a:ln>
            <a:solidFill>
              <a:srgbClr val="FFD85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13326845-168C-E532-51F3-F55615027A7B}"/>
              </a:ext>
            </a:extLst>
          </p:cNvPr>
          <p:cNvSpPr/>
          <p:nvPr/>
        </p:nvSpPr>
        <p:spPr>
          <a:xfrm>
            <a:off x="2584100" y="2081884"/>
            <a:ext cx="842963" cy="87159"/>
          </a:xfrm>
          <a:prstGeom prst="rect">
            <a:avLst/>
          </a:prstGeom>
          <a:solidFill>
            <a:srgbClr val="FFFF00"/>
          </a:solid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Double Bracket 13">
            <a:extLst>
              <a:ext uri="{FF2B5EF4-FFF2-40B4-BE49-F238E27FC236}">
                <a16:creationId xmlns:a16="http://schemas.microsoft.com/office/drawing/2014/main" id="{0921422A-F3FB-EEBA-AF98-4911FBF7568C}"/>
              </a:ext>
            </a:extLst>
          </p:cNvPr>
          <p:cNvSpPr/>
          <p:nvPr/>
        </p:nvSpPr>
        <p:spPr>
          <a:xfrm>
            <a:off x="2403907" y="1649423"/>
            <a:ext cx="1182753" cy="661010"/>
          </a:xfrm>
          <a:prstGeom prst="bracketPair">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0" name="Rectangle 19">
            <a:extLst>
              <a:ext uri="{FF2B5EF4-FFF2-40B4-BE49-F238E27FC236}">
                <a16:creationId xmlns:a16="http://schemas.microsoft.com/office/drawing/2014/main" id="{AD1E87FA-2743-0F6C-7D14-17D145BDC560}"/>
              </a:ext>
            </a:extLst>
          </p:cNvPr>
          <p:cNvSpPr/>
          <p:nvPr/>
        </p:nvSpPr>
        <p:spPr>
          <a:xfrm>
            <a:off x="3954666" y="1718807"/>
            <a:ext cx="842963" cy="87159"/>
          </a:xfrm>
          <a:prstGeom prst="rect">
            <a:avLst/>
          </a:prstGeom>
          <a:solidFill>
            <a:srgbClr val="92D050"/>
          </a:solidFill>
          <a:ln>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5B54AA26-8297-EF9D-6FBC-295BA65C71D6}"/>
              </a:ext>
            </a:extLst>
          </p:cNvPr>
          <p:cNvSpPr/>
          <p:nvPr/>
        </p:nvSpPr>
        <p:spPr>
          <a:xfrm>
            <a:off x="3958909" y="1896003"/>
            <a:ext cx="842963" cy="87159"/>
          </a:xfrm>
          <a:prstGeom prst="rect">
            <a:avLst/>
          </a:prstGeom>
          <a:solidFill>
            <a:srgbClr val="34CE28"/>
          </a:solidFill>
          <a:ln>
            <a:solidFill>
              <a:srgbClr val="34CE2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8EE9355B-14F4-0AAA-45D3-A3612F40ED11}"/>
              </a:ext>
            </a:extLst>
          </p:cNvPr>
          <p:cNvSpPr/>
          <p:nvPr/>
        </p:nvSpPr>
        <p:spPr>
          <a:xfrm>
            <a:off x="3954666" y="2060808"/>
            <a:ext cx="842963" cy="87159"/>
          </a:xfrm>
          <a:prstGeom prst="rect">
            <a:avLst/>
          </a:prstGeom>
          <a:solidFill>
            <a:srgbClr val="84E37D"/>
          </a:solidFill>
          <a:ln>
            <a:solidFill>
              <a:srgbClr val="84E37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Double Bracket 23">
            <a:extLst>
              <a:ext uri="{FF2B5EF4-FFF2-40B4-BE49-F238E27FC236}">
                <a16:creationId xmlns:a16="http://schemas.microsoft.com/office/drawing/2014/main" id="{8B225D03-C15A-AF82-E1A3-FB81FD861949}"/>
              </a:ext>
            </a:extLst>
          </p:cNvPr>
          <p:cNvSpPr/>
          <p:nvPr/>
        </p:nvSpPr>
        <p:spPr>
          <a:xfrm>
            <a:off x="3774473" y="1628347"/>
            <a:ext cx="1182753" cy="661010"/>
          </a:xfrm>
          <a:prstGeom prst="bracketPair">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5" name="Rectangle 24">
            <a:extLst>
              <a:ext uri="{FF2B5EF4-FFF2-40B4-BE49-F238E27FC236}">
                <a16:creationId xmlns:a16="http://schemas.microsoft.com/office/drawing/2014/main" id="{845DA02F-1713-9EDA-9238-D3185A7A99B5}"/>
              </a:ext>
            </a:extLst>
          </p:cNvPr>
          <p:cNvSpPr/>
          <p:nvPr/>
        </p:nvSpPr>
        <p:spPr>
          <a:xfrm>
            <a:off x="5325232" y="1718807"/>
            <a:ext cx="842963" cy="87159"/>
          </a:xfrm>
          <a:prstGeom prst="rect">
            <a:avLst/>
          </a:prstGeom>
          <a:solidFill>
            <a:srgbClr val="0070C0"/>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3F6ED8B9-83A8-D1A6-8638-DC3A4EF032A8}"/>
              </a:ext>
            </a:extLst>
          </p:cNvPr>
          <p:cNvSpPr/>
          <p:nvPr/>
        </p:nvSpPr>
        <p:spPr>
          <a:xfrm>
            <a:off x="5329475" y="1896003"/>
            <a:ext cx="842963" cy="87159"/>
          </a:xfrm>
          <a:prstGeom prst="rect">
            <a:avLst/>
          </a:prstGeom>
          <a:solidFill>
            <a:srgbClr val="002060"/>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A60CE941-18FF-A144-CA8D-EEA547D8BB80}"/>
              </a:ext>
            </a:extLst>
          </p:cNvPr>
          <p:cNvSpPr/>
          <p:nvPr/>
        </p:nvSpPr>
        <p:spPr>
          <a:xfrm>
            <a:off x="5325232" y="2060808"/>
            <a:ext cx="842963" cy="87159"/>
          </a:xfrm>
          <a:prstGeom prst="rect">
            <a:avLst/>
          </a:prstGeom>
          <a:solidFill>
            <a:srgbClr val="00B0F0"/>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Double Bracket 27">
            <a:extLst>
              <a:ext uri="{FF2B5EF4-FFF2-40B4-BE49-F238E27FC236}">
                <a16:creationId xmlns:a16="http://schemas.microsoft.com/office/drawing/2014/main" id="{016B8620-2954-A14B-DAD7-E53B65D623B0}"/>
              </a:ext>
            </a:extLst>
          </p:cNvPr>
          <p:cNvSpPr/>
          <p:nvPr/>
        </p:nvSpPr>
        <p:spPr>
          <a:xfrm>
            <a:off x="5145039" y="1628347"/>
            <a:ext cx="1182753" cy="661010"/>
          </a:xfrm>
          <a:prstGeom prst="bracketPair">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9" name="Rectangle 28">
            <a:extLst>
              <a:ext uri="{FF2B5EF4-FFF2-40B4-BE49-F238E27FC236}">
                <a16:creationId xmlns:a16="http://schemas.microsoft.com/office/drawing/2014/main" id="{0A1B7BE8-9CDE-F74C-F841-09035A44414C}"/>
              </a:ext>
            </a:extLst>
          </p:cNvPr>
          <p:cNvSpPr/>
          <p:nvPr/>
        </p:nvSpPr>
        <p:spPr>
          <a:xfrm>
            <a:off x="6695798" y="1718807"/>
            <a:ext cx="842963" cy="87159"/>
          </a:xfrm>
          <a:prstGeom prst="rect">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773B27AA-DB66-9666-C34D-20D03F566AB1}"/>
              </a:ext>
            </a:extLst>
          </p:cNvPr>
          <p:cNvSpPr/>
          <p:nvPr/>
        </p:nvSpPr>
        <p:spPr>
          <a:xfrm>
            <a:off x="6700041" y="1896003"/>
            <a:ext cx="842963" cy="87159"/>
          </a:xfrm>
          <a:prstGeom prst="rect">
            <a:avLst/>
          </a:prstGeom>
          <a:solidFill>
            <a:srgbClr val="CC2E2E"/>
          </a:solidFill>
          <a:ln>
            <a:solidFill>
              <a:srgbClr val="CC2E2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57BFEBDC-102B-65E4-F45F-990AA424B2D3}"/>
              </a:ext>
            </a:extLst>
          </p:cNvPr>
          <p:cNvSpPr/>
          <p:nvPr/>
        </p:nvSpPr>
        <p:spPr>
          <a:xfrm>
            <a:off x="6695798" y="2060808"/>
            <a:ext cx="842963" cy="87159"/>
          </a:xfrm>
          <a:prstGeom prst="rect">
            <a:avLst/>
          </a:prstGeom>
          <a:solidFill>
            <a:srgbClr val="EDAEAE"/>
          </a:solidFill>
          <a:ln>
            <a:solidFill>
              <a:srgbClr val="EDAEA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Double Bracket 32">
            <a:extLst>
              <a:ext uri="{FF2B5EF4-FFF2-40B4-BE49-F238E27FC236}">
                <a16:creationId xmlns:a16="http://schemas.microsoft.com/office/drawing/2014/main" id="{10A4F377-F161-EE78-142E-321FB1257A1D}"/>
              </a:ext>
            </a:extLst>
          </p:cNvPr>
          <p:cNvSpPr/>
          <p:nvPr/>
        </p:nvSpPr>
        <p:spPr>
          <a:xfrm>
            <a:off x="6515605" y="1628347"/>
            <a:ext cx="1182753" cy="661010"/>
          </a:xfrm>
          <a:prstGeom prst="bracketPair">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 name="Rectangle 2">
            <a:extLst>
              <a:ext uri="{FF2B5EF4-FFF2-40B4-BE49-F238E27FC236}">
                <a16:creationId xmlns:a16="http://schemas.microsoft.com/office/drawing/2014/main" id="{F09A100F-D1FD-F242-7352-3DD0B909A89F}"/>
              </a:ext>
            </a:extLst>
          </p:cNvPr>
          <p:cNvSpPr/>
          <p:nvPr/>
        </p:nvSpPr>
        <p:spPr>
          <a:xfrm>
            <a:off x="790895" y="3539680"/>
            <a:ext cx="842963" cy="87159"/>
          </a:xfrm>
          <a:prstGeom prst="rect">
            <a:avLst/>
          </a:prstGeom>
          <a:solidFill>
            <a:srgbClr val="7030A0"/>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B5272328-F2DD-4F3D-7346-05F6DC7DE298}"/>
              </a:ext>
            </a:extLst>
          </p:cNvPr>
          <p:cNvSpPr/>
          <p:nvPr/>
        </p:nvSpPr>
        <p:spPr>
          <a:xfrm>
            <a:off x="1213534" y="1915272"/>
            <a:ext cx="842963" cy="87159"/>
          </a:xfrm>
          <a:prstGeom prst="rect">
            <a:avLst/>
          </a:prstGeom>
          <a:solidFill>
            <a:srgbClr val="7030A0"/>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D89CD8A9-F606-4EEE-B7A4-E2E344F45728}"/>
              </a:ext>
            </a:extLst>
          </p:cNvPr>
          <p:cNvSpPr/>
          <p:nvPr/>
        </p:nvSpPr>
        <p:spPr>
          <a:xfrm>
            <a:off x="1212376" y="2087070"/>
            <a:ext cx="842963" cy="87159"/>
          </a:xfrm>
          <a:prstGeom prst="rect">
            <a:avLst/>
          </a:prstGeom>
          <a:solidFill>
            <a:srgbClr val="A66BD3"/>
          </a:solidFill>
          <a:ln>
            <a:solidFill>
              <a:srgbClr val="A66BD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10896178"/>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5779B3-4691-E3DF-DD1D-AA1D91536CDC}"/>
            </a:ext>
          </a:extLst>
        </p:cNvPr>
        <p:cNvGrpSpPr/>
        <p:nvPr/>
      </p:nvGrpSpPr>
      <p:grpSpPr>
        <a:xfrm>
          <a:off x="0" y="0"/>
          <a:ext cx="0" cy="0"/>
          <a:chOff x="0" y="0"/>
          <a:chExt cx="0" cy="0"/>
        </a:xfrm>
      </p:grpSpPr>
      <p:sp>
        <p:nvSpPr>
          <p:cNvPr id="16" name="Title 1">
            <a:extLst>
              <a:ext uri="{FF2B5EF4-FFF2-40B4-BE49-F238E27FC236}">
                <a16:creationId xmlns:a16="http://schemas.microsoft.com/office/drawing/2014/main" id="{3044A178-ABA6-B3F2-E636-10A48C08B9B3}"/>
              </a:ext>
            </a:extLst>
          </p:cNvPr>
          <p:cNvSpPr>
            <a:spLocks noGrp="1"/>
          </p:cNvSpPr>
          <p:nvPr>
            <p:ph type="title"/>
          </p:nvPr>
        </p:nvSpPr>
        <p:spPr>
          <a:xfrm>
            <a:off x="719999" y="523239"/>
            <a:ext cx="7704000" cy="572700"/>
          </a:xfrm>
        </p:spPr>
        <p:txBody>
          <a:bodyPr/>
          <a:lstStyle/>
          <a:p>
            <a:pPr algn="ctr"/>
            <a:r>
              <a:rPr lang="en-US" sz="2000" dirty="0"/>
              <a:t>Can we conditionally generate enhancers through </a:t>
            </a:r>
            <a:br>
              <a:rPr lang="en-US" sz="2000" dirty="0"/>
            </a:br>
            <a:r>
              <a:rPr lang="en-US" sz="2000" i="1" dirty="0"/>
              <a:t>examples</a:t>
            </a:r>
            <a:r>
              <a:rPr lang="en-US" sz="2000" dirty="0"/>
              <a:t>, rather than through specification?</a:t>
            </a:r>
          </a:p>
        </p:txBody>
      </p:sp>
      <p:sp>
        <p:nvSpPr>
          <p:cNvPr id="5" name="Rectangle: Rounded Corners 4">
            <a:extLst>
              <a:ext uri="{FF2B5EF4-FFF2-40B4-BE49-F238E27FC236}">
                <a16:creationId xmlns:a16="http://schemas.microsoft.com/office/drawing/2014/main" id="{59FBC6DA-24C8-08C9-0A3B-A7CF6EAD5F99}"/>
              </a:ext>
            </a:extLst>
          </p:cNvPr>
          <p:cNvSpPr/>
          <p:nvPr/>
        </p:nvSpPr>
        <p:spPr>
          <a:xfrm>
            <a:off x="2143951" y="3377323"/>
            <a:ext cx="2124169" cy="426568"/>
          </a:xfrm>
          <a:prstGeom prst="roundRect">
            <a:avLst/>
          </a:prstGeom>
          <a:solidFill>
            <a:srgbClr val="B4E5A3"/>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lumMod val="10000"/>
                  </a:schemeClr>
                </a:solidFill>
              </a:rPr>
              <a:t>Generative Model</a:t>
            </a:r>
          </a:p>
        </p:txBody>
      </p:sp>
      <p:cxnSp>
        <p:nvCxnSpPr>
          <p:cNvPr id="10" name="Straight Arrow Connector 9">
            <a:extLst>
              <a:ext uri="{FF2B5EF4-FFF2-40B4-BE49-F238E27FC236}">
                <a16:creationId xmlns:a16="http://schemas.microsoft.com/office/drawing/2014/main" id="{64C2B7E5-ABD6-2249-2D4A-D8C59E9B1E4D}"/>
              </a:ext>
            </a:extLst>
          </p:cNvPr>
          <p:cNvCxnSpPr>
            <a:cxnSpLocks/>
          </p:cNvCxnSpPr>
          <p:nvPr/>
        </p:nvCxnSpPr>
        <p:spPr>
          <a:xfrm>
            <a:off x="1717366" y="3567200"/>
            <a:ext cx="319194"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11" name="Straight Arrow Connector 10">
            <a:extLst>
              <a:ext uri="{FF2B5EF4-FFF2-40B4-BE49-F238E27FC236}">
                <a16:creationId xmlns:a16="http://schemas.microsoft.com/office/drawing/2014/main" id="{E7E640BE-4036-B985-5E22-310AAAEE86C8}"/>
              </a:ext>
            </a:extLst>
          </p:cNvPr>
          <p:cNvCxnSpPr>
            <a:cxnSpLocks/>
          </p:cNvCxnSpPr>
          <p:nvPr/>
        </p:nvCxnSpPr>
        <p:spPr>
          <a:xfrm>
            <a:off x="4348562" y="3597096"/>
            <a:ext cx="319194"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15" name="Rectangle 14">
            <a:extLst>
              <a:ext uri="{FF2B5EF4-FFF2-40B4-BE49-F238E27FC236}">
                <a16:creationId xmlns:a16="http://schemas.microsoft.com/office/drawing/2014/main" id="{2C1D9F04-7893-525C-EDC4-014AAB2FF883}"/>
              </a:ext>
            </a:extLst>
          </p:cNvPr>
          <p:cNvSpPr/>
          <p:nvPr/>
        </p:nvSpPr>
        <p:spPr>
          <a:xfrm>
            <a:off x="793961" y="3367947"/>
            <a:ext cx="842963" cy="87159"/>
          </a:xfrm>
          <a:prstGeom prst="rect">
            <a:avLst/>
          </a:prstGeom>
          <a:solidFill>
            <a:srgbClr val="E0CDEF"/>
          </a:solidFill>
          <a:ln>
            <a:solidFill>
              <a:srgbClr val="E0CDE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C09FB7A5-1AC0-28A7-E0F5-DF7054C4B878}"/>
              </a:ext>
            </a:extLst>
          </p:cNvPr>
          <p:cNvSpPr txBox="1"/>
          <p:nvPr/>
        </p:nvSpPr>
        <p:spPr>
          <a:xfrm>
            <a:off x="1033341" y="3640626"/>
            <a:ext cx="364202" cy="307777"/>
          </a:xfrm>
          <a:prstGeom prst="rect">
            <a:avLst/>
          </a:prstGeom>
          <a:noFill/>
        </p:spPr>
        <p:txBody>
          <a:bodyPr wrap="none" rtlCol="0">
            <a:spAutoFit/>
          </a:bodyPr>
          <a:lstStyle/>
          <a:p>
            <a:pPr algn="ctr"/>
            <a:r>
              <a:rPr lang="en-US" dirty="0"/>
              <a:t>…</a:t>
            </a:r>
          </a:p>
        </p:txBody>
      </p:sp>
      <p:sp>
        <p:nvSpPr>
          <p:cNvPr id="19" name="Rectangle 18">
            <a:extLst>
              <a:ext uri="{FF2B5EF4-FFF2-40B4-BE49-F238E27FC236}">
                <a16:creationId xmlns:a16="http://schemas.microsoft.com/office/drawing/2014/main" id="{A5CCF802-6AAE-B355-ACBE-4611B42F73BC}"/>
              </a:ext>
            </a:extLst>
          </p:cNvPr>
          <p:cNvSpPr/>
          <p:nvPr/>
        </p:nvSpPr>
        <p:spPr>
          <a:xfrm>
            <a:off x="4832548" y="3547027"/>
            <a:ext cx="842963" cy="87159"/>
          </a:xfrm>
          <a:prstGeom prst="rect">
            <a:avLst/>
          </a:prstGeom>
          <a:solidFill>
            <a:srgbClr val="C40EC8"/>
          </a:solidFill>
          <a:ln>
            <a:solidFill>
              <a:srgbClr val="C40EC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1">
            <a:extLst>
              <a:ext uri="{FF2B5EF4-FFF2-40B4-BE49-F238E27FC236}">
                <a16:creationId xmlns:a16="http://schemas.microsoft.com/office/drawing/2014/main" id="{CF82F6B5-2F51-F669-A558-189E1AAF938C}"/>
              </a:ext>
            </a:extLst>
          </p:cNvPr>
          <p:cNvSpPr txBox="1">
            <a:spLocks/>
          </p:cNvSpPr>
          <p:nvPr/>
        </p:nvSpPr>
        <p:spPr>
          <a:xfrm>
            <a:off x="719999" y="4188369"/>
            <a:ext cx="7704000"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Figtree Black"/>
              <a:buNone/>
              <a:defRPr sz="2800" b="0" i="0" u="none" strike="noStrike" cap="none">
                <a:solidFill>
                  <a:schemeClr val="dk1"/>
                </a:solidFill>
                <a:latin typeface="Figtree Black"/>
                <a:ea typeface="Figtree Black"/>
                <a:cs typeface="Figtree Black"/>
                <a:sym typeface="Figtree Black"/>
              </a:defRPr>
            </a:lvl1pPr>
            <a:lvl2pPr marR="0" lvl="1" algn="l" rtl="0">
              <a:lnSpc>
                <a:spcPct val="100000"/>
              </a:lnSpc>
              <a:spcBef>
                <a:spcPts val="0"/>
              </a:spcBef>
              <a:spcAft>
                <a:spcPts val="0"/>
              </a:spcAft>
              <a:buClr>
                <a:schemeClr val="dk1"/>
              </a:buClr>
              <a:buSzPts val="3000"/>
              <a:buFont typeface="Figtree Black"/>
              <a:buNone/>
              <a:defRPr sz="3000" b="0" i="0" u="none" strike="noStrike" cap="none">
                <a:solidFill>
                  <a:schemeClr val="dk1"/>
                </a:solidFill>
                <a:latin typeface="Figtree Black"/>
                <a:ea typeface="Figtree Black"/>
                <a:cs typeface="Figtree Black"/>
                <a:sym typeface="Figtree Black"/>
              </a:defRPr>
            </a:lvl2pPr>
            <a:lvl3pPr marR="0" lvl="2" algn="l" rtl="0">
              <a:lnSpc>
                <a:spcPct val="100000"/>
              </a:lnSpc>
              <a:spcBef>
                <a:spcPts val="0"/>
              </a:spcBef>
              <a:spcAft>
                <a:spcPts val="0"/>
              </a:spcAft>
              <a:buClr>
                <a:schemeClr val="dk1"/>
              </a:buClr>
              <a:buSzPts val="3000"/>
              <a:buFont typeface="Figtree Black"/>
              <a:buNone/>
              <a:defRPr sz="3000" b="0" i="0" u="none" strike="noStrike" cap="none">
                <a:solidFill>
                  <a:schemeClr val="dk1"/>
                </a:solidFill>
                <a:latin typeface="Figtree Black"/>
                <a:ea typeface="Figtree Black"/>
                <a:cs typeface="Figtree Black"/>
                <a:sym typeface="Figtree Black"/>
              </a:defRPr>
            </a:lvl3pPr>
            <a:lvl4pPr marR="0" lvl="3" algn="l" rtl="0">
              <a:lnSpc>
                <a:spcPct val="100000"/>
              </a:lnSpc>
              <a:spcBef>
                <a:spcPts val="0"/>
              </a:spcBef>
              <a:spcAft>
                <a:spcPts val="0"/>
              </a:spcAft>
              <a:buClr>
                <a:schemeClr val="dk1"/>
              </a:buClr>
              <a:buSzPts val="3000"/>
              <a:buFont typeface="Figtree Black"/>
              <a:buNone/>
              <a:defRPr sz="3000" b="0" i="0" u="none" strike="noStrike" cap="none">
                <a:solidFill>
                  <a:schemeClr val="dk1"/>
                </a:solidFill>
                <a:latin typeface="Figtree Black"/>
                <a:ea typeface="Figtree Black"/>
                <a:cs typeface="Figtree Black"/>
                <a:sym typeface="Figtree Black"/>
              </a:defRPr>
            </a:lvl4pPr>
            <a:lvl5pPr marR="0" lvl="4" algn="l" rtl="0">
              <a:lnSpc>
                <a:spcPct val="100000"/>
              </a:lnSpc>
              <a:spcBef>
                <a:spcPts val="0"/>
              </a:spcBef>
              <a:spcAft>
                <a:spcPts val="0"/>
              </a:spcAft>
              <a:buClr>
                <a:schemeClr val="dk1"/>
              </a:buClr>
              <a:buSzPts val="3000"/>
              <a:buFont typeface="Figtree Black"/>
              <a:buNone/>
              <a:defRPr sz="3000" b="0" i="0" u="none" strike="noStrike" cap="none">
                <a:solidFill>
                  <a:schemeClr val="dk1"/>
                </a:solidFill>
                <a:latin typeface="Figtree Black"/>
                <a:ea typeface="Figtree Black"/>
                <a:cs typeface="Figtree Black"/>
                <a:sym typeface="Figtree Black"/>
              </a:defRPr>
            </a:lvl5pPr>
            <a:lvl6pPr marR="0" lvl="5" algn="l" rtl="0">
              <a:lnSpc>
                <a:spcPct val="100000"/>
              </a:lnSpc>
              <a:spcBef>
                <a:spcPts val="0"/>
              </a:spcBef>
              <a:spcAft>
                <a:spcPts val="0"/>
              </a:spcAft>
              <a:buClr>
                <a:schemeClr val="dk1"/>
              </a:buClr>
              <a:buSzPts val="3000"/>
              <a:buFont typeface="Figtree Black"/>
              <a:buNone/>
              <a:defRPr sz="3000" b="0" i="0" u="none" strike="noStrike" cap="none">
                <a:solidFill>
                  <a:schemeClr val="dk1"/>
                </a:solidFill>
                <a:latin typeface="Figtree Black"/>
                <a:ea typeface="Figtree Black"/>
                <a:cs typeface="Figtree Black"/>
                <a:sym typeface="Figtree Black"/>
              </a:defRPr>
            </a:lvl6pPr>
            <a:lvl7pPr marR="0" lvl="6" algn="l" rtl="0">
              <a:lnSpc>
                <a:spcPct val="100000"/>
              </a:lnSpc>
              <a:spcBef>
                <a:spcPts val="0"/>
              </a:spcBef>
              <a:spcAft>
                <a:spcPts val="0"/>
              </a:spcAft>
              <a:buClr>
                <a:schemeClr val="dk1"/>
              </a:buClr>
              <a:buSzPts val="3000"/>
              <a:buFont typeface="Figtree Black"/>
              <a:buNone/>
              <a:defRPr sz="3000" b="0" i="0" u="none" strike="noStrike" cap="none">
                <a:solidFill>
                  <a:schemeClr val="dk1"/>
                </a:solidFill>
                <a:latin typeface="Figtree Black"/>
                <a:ea typeface="Figtree Black"/>
                <a:cs typeface="Figtree Black"/>
                <a:sym typeface="Figtree Black"/>
              </a:defRPr>
            </a:lvl7pPr>
            <a:lvl8pPr marR="0" lvl="7" algn="l" rtl="0">
              <a:lnSpc>
                <a:spcPct val="100000"/>
              </a:lnSpc>
              <a:spcBef>
                <a:spcPts val="0"/>
              </a:spcBef>
              <a:spcAft>
                <a:spcPts val="0"/>
              </a:spcAft>
              <a:buClr>
                <a:schemeClr val="dk1"/>
              </a:buClr>
              <a:buSzPts val="3000"/>
              <a:buFont typeface="Figtree Black"/>
              <a:buNone/>
              <a:defRPr sz="3000" b="0" i="0" u="none" strike="noStrike" cap="none">
                <a:solidFill>
                  <a:schemeClr val="dk1"/>
                </a:solidFill>
                <a:latin typeface="Figtree Black"/>
                <a:ea typeface="Figtree Black"/>
                <a:cs typeface="Figtree Black"/>
                <a:sym typeface="Figtree Black"/>
              </a:defRPr>
            </a:lvl8pPr>
            <a:lvl9pPr marR="0" lvl="8" algn="l" rtl="0">
              <a:lnSpc>
                <a:spcPct val="100000"/>
              </a:lnSpc>
              <a:spcBef>
                <a:spcPts val="0"/>
              </a:spcBef>
              <a:spcAft>
                <a:spcPts val="0"/>
              </a:spcAft>
              <a:buClr>
                <a:schemeClr val="dk1"/>
              </a:buClr>
              <a:buSzPts val="3000"/>
              <a:buFont typeface="Figtree Black"/>
              <a:buNone/>
              <a:defRPr sz="3000" b="0" i="0" u="none" strike="noStrike" cap="none">
                <a:solidFill>
                  <a:schemeClr val="dk1"/>
                </a:solidFill>
                <a:latin typeface="Figtree Black"/>
                <a:ea typeface="Figtree Black"/>
                <a:cs typeface="Figtree Black"/>
                <a:sym typeface="Figtree Black"/>
              </a:defRPr>
            </a:lvl9pPr>
          </a:lstStyle>
          <a:p>
            <a:pPr algn="ctr"/>
            <a:r>
              <a:rPr lang="en-US" sz="1800" dirty="0">
                <a:solidFill>
                  <a:srgbClr val="C00000"/>
                </a:solidFill>
              </a:rPr>
              <a:t>Evolution provides us with these observations!</a:t>
            </a:r>
          </a:p>
        </p:txBody>
      </p:sp>
      <p:sp>
        <p:nvSpPr>
          <p:cNvPr id="4" name="TextBox 3">
            <a:extLst>
              <a:ext uri="{FF2B5EF4-FFF2-40B4-BE49-F238E27FC236}">
                <a16:creationId xmlns:a16="http://schemas.microsoft.com/office/drawing/2014/main" id="{5BBE908C-FD7A-CE10-6161-1BB37766703D}"/>
              </a:ext>
            </a:extLst>
          </p:cNvPr>
          <p:cNvSpPr txBox="1"/>
          <p:nvPr/>
        </p:nvSpPr>
        <p:spPr>
          <a:xfrm>
            <a:off x="2216094" y="2471312"/>
            <a:ext cx="4715385" cy="738664"/>
          </a:xfrm>
          <a:prstGeom prst="rect">
            <a:avLst/>
          </a:prstGeom>
          <a:noFill/>
        </p:spPr>
        <p:txBody>
          <a:bodyPr wrap="square" rtlCol="0">
            <a:spAutoFit/>
          </a:bodyPr>
          <a:lstStyle/>
          <a:p>
            <a:pPr algn="ctr"/>
            <a:r>
              <a:rPr lang="en-US" dirty="0"/>
              <a:t>To train this model, we need sets of different enhancer sequences that have similar (and diverse) functions </a:t>
            </a:r>
            <a:br>
              <a:rPr lang="en-US" dirty="0"/>
            </a:br>
            <a:endParaRPr lang="en-US" dirty="0"/>
          </a:p>
        </p:txBody>
      </p:sp>
      <p:sp>
        <p:nvSpPr>
          <p:cNvPr id="22" name="Rectangle 21">
            <a:extLst>
              <a:ext uri="{FF2B5EF4-FFF2-40B4-BE49-F238E27FC236}">
                <a16:creationId xmlns:a16="http://schemas.microsoft.com/office/drawing/2014/main" id="{6FAA390F-89F9-AFF4-FE73-7B7A42F527DC}"/>
              </a:ext>
            </a:extLst>
          </p:cNvPr>
          <p:cNvSpPr/>
          <p:nvPr/>
        </p:nvSpPr>
        <p:spPr>
          <a:xfrm>
            <a:off x="790895" y="3539680"/>
            <a:ext cx="842963" cy="87159"/>
          </a:xfrm>
          <a:prstGeom prst="rect">
            <a:avLst/>
          </a:prstGeom>
          <a:solidFill>
            <a:srgbClr val="7030A0"/>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4AD12A24-D07B-0722-2482-84F793407319}"/>
              </a:ext>
            </a:extLst>
          </p:cNvPr>
          <p:cNvSpPr/>
          <p:nvPr/>
        </p:nvSpPr>
        <p:spPr>
          <a:xfrm>
            <a:off x="1213534" y="1733415"/>
            <a:ext cx="842963" cy="87159"/>
          </a:xfrm>
          <a:prstGeom prst="rect">
            <a:avLst/>
          </a:prstGeom>
          <a:solidFill>
            <a:srgbClr val="E0CDEF"/>
          </a:solidFill>
          <a:ln>
            <a:solidFill>
              <a:srgbClr val="E0CDE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Double Bracket 33">
            <a:extLst>
              <a:ext uri="{FF2B5EF4-FFF2-40B4-BE49-F238E27FC236}">
                <a16:creationId xmlns:a16="http://schemas.microsoft.com/office/drawing/2014/main" id="{754F0A29-7029-E75B-7C2C-4F5FC31819A1}"/>
              </a:ext>
            </a:extLst>
          </p:cNvPr>
          <p:cNvSpPr/>
          <p:nvPr/>
        </p:nvSpPr>
        <p:spPr>
          <a:xfrm>
            <a:off x="1033341" y="1642955"/>
            <a:ext cx="1182753" cy="661010"/>
          </a:xfrm>
          <a:prstGeom prst="bracketPair">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5" name="Rectangle 34">
            <a:extLst>
              <a:ext uri="{FF2B5EF4-FFF2-40B4-BE49-F238E27FC236}">
                <a16:creationId xmlns:a16="http://schemas.microsoft.com/office/drawing/2014/main" id="{2814D02A-AC81-BA75-004E-977E9F403CC7}"/>
              </a:ext>
            </a:extLst>
          </p:cNvPr>
          <p:cNvSpPr/>
          <p:nvPr/>
        </p:nvSpPr>
        <p:spPr>
          <a:xfrm>
            <a:off x="2584100" y="1739883"/>
            <a:ext cx="842963" cy="87159"/>
          </a:xfrm>
          <a:prstGeom prst="rect">
            <a:avLst/>
          </a:prstGeom>
          <a:solidFill>
            <a:srgbClr val="FFC0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B97F82DB-A15F-C235-7A04-3795A7621451}"/>
              </a:ext>
            </a:extLst>
          </p:cNvPr>
          <p:cNvSpPr/>
          <p:nvPr/>
        </p:nvSpPr>
        <p:spPr>
          <a:xfrm>
            <a:off x="2588343" y="1917079"/>
            <a:ext cx="842963" cy="87159"/>
          </a:xfrm>
          <a:prstGeom prst="rect">
            <a:avLst/>
          </a:prstGeom>
          <a:solidFill>
            <a:srgbClr val="FFD85D"/>
          </a:solidFill>
          <a:ln>
            <a:solidFill>
              <a:srgbClr val="FFD85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C3EF9931-103D-798A-E504-43180D0AE21F}"/>
              </a:ext>
            </a:extLst>
          </p:cNvPr>
          <p:cNvSpPr/>
          <p:nvPr/>
        </p:nvSpPr>
        <p:spPr>
          <a:xfrm>
            <a:off x="2584100" y="2081884"/>
            <a:ext cx="842963" cy="87159"/>
          </a:xfrm>
          <a:prstGeom prst="rect">
            <a:avLst/>
          </a:prstGeom>
          <a:solidFill>
            <a:srgbClr val="FFFF00"/>
          </a:solid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Double Bracket 37">
            <a:extLst>
              <a:ext uri="{FF2B5EF4-FFF2-40B4-BE49-F238E27FC236}">
                <a16:creationId xmlns:a16="http://schemas.microsoft.com/office/drawing/2014/main" id="{D9A172B7-7074-1843-46EC-7EBE6F1E88EC}"/>
              </a:ext>
            </a:extLst>
          </p:cNvPr>
          <p:cNvSpPr/>
          <p:nvPr/>
        </p:nvSpPr>
        <p:spPr>
          <a:xfrm>
            <a:off x="2403907" y="1649423"/>
            <a:ext cx="1182753" cy="661010"/>
          </a:xfrm>
          <a:prstGeom prst="bracketPair">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9" name="Rectangle 38">
            <a:extLst>
              <a:ext uri="{FF2B5EF4-FFF2-40B4-BE49-F238E27FC236}">
                <a16:creationId xmlns:a16="http://schemas.microsoft.com/office/drawing/2014/main" id="{1829CBB1-DEA8-C64E-4F3F-5E65A15628B8}"/>
              </a:ext>
            </a:extLst>
          </p:cNvPr>
          <p:cNvSpPr/>
          <p:nvPr/>
        </p:nvSpPr>
        <p:spPr>
          <a:xfrm>
            <a:off x="3954666" y="1718807"/>
            <a:ext cx="842963" cy="87159"/>
          </a:xfrm>
          <a:prstGeom prst="rect">
            <a:avLst/>
          </a:prstGeom>
          <a:solidFill>
            <a:srgbClr val="92D050"/>
          </a:solidFill>
          <a:ln>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26E61459-884D-3400-67E8-B8FC38774EB1}"/>
              </a:ext>
            </a:extLst>
          </p:cNvPr>
          <p:cNvSpPr/>
          <p:nvPr/>
        </p:nvSpPr>
        <p:spPr>
          <a:xfrm>
            <a:off x="3958909" y="1896003"/>
            <a:ext cx="842963" cy="87159"/>
          </a:xfrm>
          <a:prstGeom prst="rect">
            <a:avLst/>
          </a:prstGeom>
          <a:solidFill>
            <a:srgbClr val="34CE28"/>
          </a:solidFill>
          <a:ln>
            <a:solidFill>
              <a:srgbClr val="34CE2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893E2608-E07B-44CE-3548-FE31587FF792}"/>
              </a:ext>
            </a:extLst>
          </p:cNvPr>
          <p:cNvSpPr/>
          <p:nvPr/>
        </p:nvSpPr>
        <p:spPr>
          <a:xfrm>
            <a:off x="3954666" y="2060808"/>
            <a:ext cx="842963" cy="87159"/>
          </a:xfrm>
          <a:prstGeom prst="rect">
            <a:avLst/>
          </a:prstGeom>
          <a:solidFill>
            <a:srgbClr val="84E37D"/>
          </a:solidFill>
          <a:ln>
            <a:solidFill>
              <a:srgbClr val="84E37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Double Bracket 41">
            <a:extLst>
              <a:ext uri="{FF2B5EF4-FFF2-40B4-BE49-F238E27FC236}">
                <a16:creationId xmlns:a16="http://schemas.microsoft.com/office/drawing/2014/main" id="{5B22855C-7515-CE70-9976-571796603501}"/>
              </a:ext>
            </a:extLst>
          </p:cNvPr>
          <p:cNvSpPr/>
          <p:nvPr/>
        </p:nvSpPr>
        <p:spPr>
          <a:xfrm>
            <a:off x="3774473" y="1628347"/>
            <a:ext cx="1182753" cy="661010"/>
          </a:xfrm>
          <a:prstGeom prst="bracketPair">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3" name="Rectangle 42">
            <a:extLst>
              <a:ext uri="{FF2B5EF4-FFF2-40B4-BE49-F238E27FC236}">
                <a16:creationId xmlns:a16="http://schemas.microsoft.com/office/drawing/2014/main" id="{62639529-E227-0DF8-B6DD-88D4E0FDE388}"/>
              </a:ext>
            </a:extLst>
          </p:cNvPr>
          <p:cNvSpPr/>
          <p:nvPr/>
        </p:nvSpPr>
        <p:spPr>
          <a:xfrm>
            <a:off x="5325232" y="1718807"/>
            <a:ext cx="842963" cy="87159"/>
          </a:xfrm>
          <a:prstGeom prst="rect">
            <a:avLst/>
          </a:prstGeom>
          <a:solidFill>
            <a:srgbClr val="0070C0"/>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a:extLst>
              <a:ext uri="{FF2B5EF4-FFF2-40B4-BE49-F238E27FC236}">
                <a16:creationId xmlns:a16="http://schemas.microsoft.com/office/drawing/2014/main" id="{1A602FA6-D11B-237B-C6BF-640A823ACB9B}"/>
              </a:ext>
            </a:extLst>
          </p:cNvPr>
          <p:cNvSpPr/>
          <p:nvPr/>
        </p:nvSpPr>
        <p:spPr>
          <a:xfrm>
            <a:off x="5329475" y="1896003"/>
            <a:ext cx="842963" cy="87159"/>
          </a:xfrm>
          <a:prstGeom prst="rect">
            <a:avLst/>
          </a:prstGeom>
          <a:solidFill>
            <a:srgbClr val="002060"/>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44">
            <a:extLst>
              <a:ext uri="{FF2B5EF4-FFF2-40B4-BE49-F238E27FC236}">
                <a16:creationId xmlns:a16="http://schemas.microsoft.com/office/drawing/2014/main" id="{CEA2B08D-3D4E-E5FA-2EC6-7E15B34EAC4E}"/>
              </a:ext>
            </a:extLst>
          </p:cNvPr>
          <p:cNvSpPr/>
          <p:nvPr/>
        </p:nvSpPr>
        <p:spPr>
          <a:xfrm>
            <a:off x="5325232" y="2060808"/>
            <a:ext cx="842963" cy="87159"/>
          </a:xfrm>
          <a:prstGeom prst="rect">
            <a:avLst/>
          </a:prstGeom>
          <a:solidFill>
            <a:srgbClr val="00B0F0"/>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Double Bracket 45">
            <a:extLst>
              <a:ext uri="{FF2B5EF4-FFF2-40B4-BE49-F238E27FC236}">
                <a16:creationId xmlns:a16="http://schemas.microsoft.com/office/drawing/2014/main" id="{017CED81-147A-4724-B5B5-22E42AC124FD}"/>
              </a:ext>
            </a:extLst>
          </p:cNvPr>
          <p:cNvSpPr/>
          <p:nvPr/>
        </p:nvSpPr>
        <p:spPr>
          <a:xfrm>
            <a:off x="5145039" y="1628347"/>
            <a:ext cx="1182753" cy="661010"/>
          </a:xfrm>
          <a:prstGeom prst="bracketPair">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7" name="Rectangle 46">
            <a:extLst>
              <a:ext uri="{FF2B5EF4-FFF2-40B4-BE49-F238E27FC236}">
                <a16:creationId xmlns:a16="http://schemas.microsoft.com/office/drawing/2014/main" id="{5CAE5826-9EAC-BA6E-ED5A-EEA534D7F396}"/>
              </a:ext>
            </a:extLst>
          </p:cNvPr>
          <p:cNvSpPr/>
          <p:nvPr/>
        </p:nvSpPr>
        <p:spPr>
          <a:xfrm>
            <a:off x="6695798" y="1718807"/>
            <a:ext cx="842963" cy="87159"/>
          </a:xfrm>
          <a:prstGeom prst="rect">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a:extLst>
              <a:ext uri="{FF2B5EF4-FFF2-40B4-BE49-F238E27FC236}">
                <a16:creationId xmlns:a16="http://schemas.microsoft.com/office/drawing/2014/main" id="{44607889-A1D2-5656-5724-21B628698EB2}"/>
              </a:ext>
            </a:extLst>
          </p:cNvPr>
          <p:cNvSpPr/>
          <p:nvPr/>
        </p:nvSpPr>
        <p:spPr>
          <a:xfrm>
            <a:off x="6700041" y="1896003"/>
            <a:ext cx="842963" cy="87159"/>
          </a:xfrm>
          <a:prstGeom prst="rect">
            <a:avLst/>
          </a:prstGeom>
          <a:solidFill>
            <a:srgbClr val="CC2E2E"/>
          </a:solidFill>
          <a:ln>
            <a:solidFill>
              <a:srgbClr val="CC2E2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ectangle 48">
            <a:extLst>
              <a:ext uri="{FF2B5EF4-FFF2-40B4-BE49-F238E27FC236}">
                <a16:creationId xmlns:a16="http://schemas.microsoft.com/office/drawing/2014/main" id="{110F5BD5-DA5C-F5CC-331E-3658ADD8C739}"/>
              </a:ext>
            </a:extLst>
          </p:cNvPr>
          <p:cNvSpPr/>
          <p:nvPr/>
        </p:nvSpPr>
        <p:spPr>
          <a:xfrm>
            <a:off x="6695798" y="2060808"/>
            <a:ext cx="842963" cy="87159"/>
          </a:xfrm>
          <a:prstGeom prst="rect">
            <a:avLst/>
          </a:prstGeom>
          <a:solidFill>
            <a:srgbClr val="EDAEAE"/>
          </a:solidFill>
          <a:ln>
            <a:solidFill>
              <a:srgbClr val="EDAEA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Double Bracket 49">
            <a:extLst>
              <a:ext uri="{FF2B5EF4-FFF2-40B4-BE49-F238E27FC236}">
                <a16:creationId xmlns:a16="http://schemas.microsoft.com/office/drawing/2014/main" id="{1EC5FF88-FA3E-7BE8-853D-5E6646CABAC3}"/>
              </a:ext>
            </a:extLst>
          </p:cNvPr>
          <p:cNvSpPr/>
          <p:nvPr/>
        </p:nvSpPr>
        <p:spPr>
          <a:xfrm>
            <a:off x="6515605" y="1628347"/>
            <a:ext cx="1182753" cy="661010"/>
          </a:xfrm>
          <a:prstGeom prst="bracketPair">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1" name="Rectangle 50">
            <a:extLst>
              <a:ext uri="{FF2B5EF4-FFF2-40B4-BE49-F238E27FC236}">
                <a16:creationId xmlns:a16="http://schemas.microsoft.com/office/drawing/2014/main" id="{2115FFB3-463A-8FAE-53E9-D93187041AA3}"/>
              </a:ext>
            </a:extLst>
          </p:cNvPr>
          <p:cNvSpPr/>
          <p:nvPr/>
        </p:nvSpPr>
        <p:spPr>
          <a:xfrm>
            <a:off x="1213534" y="1915272"/>
            <a:ext cx="842963" cy="87159"/>
          </a:xfrm>
          <a:prstGeom prst="rect">
            <a:avLst/>
          </a:prstGeom>
          <a:solidFill>
            <a:srgbClr val="7030A0"/>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ectangle 51">
            <a:extLst>
              <a:ext uri="{FF2B5EF4-FFF2-40B4-BE49-F238E27FC236}">
                <a16:creationId xmlns:a16="http://schemas.microsoft.com/office/drawing/2014/main" id="{53ACD1CF-EC30-903C-BA94-63EA860430E6}"/>
              </a:ext>
            </a:extLst>
          </p:cNvPr>
          <p:cNvSpPr/>
          <p:nvPr/>
        </p:nvSpPr>
        <p:spPr>
          <a:xfrm>
            <a:off x="1212376" y="2087070"/>
            <a:ext cx="842963" cy="87159"/>
          </a:xfrm>
          <a:prstGeom prst="rect">
            <a:avLst/>
          </a:prstGeom>
          <a:solidFill>
            <a:srgbClr val="A66BD3"/>
          </a:solidFill>
          <a:ln>
            <a:solidFill>
              <a:srgbClr val="A66BD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05813139"/>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5DAE54-0B6C-5CD1-262B-241843F69A8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62750B5-0CF4-61C4-02B3-D7468123A553}"/>
              </a:ext>
            </a:extLst>
          </p:cNvPr>
          <p:cNvSpPr>
            <a:spLocks noGrp="1"/>
          </p:cNvSpPr>
          <p:nvPr>
            <p:ph type="title"/>
          </p:nvPr>
        </p:nvSpPr>
        <p:spPr/>
        <p:txBody>
          <a:bodyPr/>
          <a:lstStyle/>
          <a:p>
            <a:pPr algn="ctr"/>
            <a:r>
              <a:rPr lang="en-US" sz="2400" dirty="0"/>
              <a:t>Multiple sequence alignments identify </a:t>
            </a:r>
            <a:br>
              <a:rPr lang="en-US" sz="2400" dirty="0"/>
            </a:br>
            <a:r>
              <a:rPr lang="en-US" sz="2400" dirty="0"/>
              <a:t>the same enhancer across species</a:t>
            </a:r>
          </a:p>
        </p:txBody>
      </p:sp>
      <p:sp>
        <p:nvSpPr>
          <p:cNvPr id="4" name="Rectangle 3">
            <a:extLst>
              <a:ext uri="{FF2B5EF4-FFF2-40B4-BE49-F238E27FC236}">
                <a16:creationId xmlns:a16="http://schemas.microsoft.com/office/drawing/2014/main" id="{29E614DC-B6A1-0EE9-9233-3BA7C38BEAC5}"/>
              </a:ext>
            </a:extLst>
          </p:cNvPr>
          <p:cNvSpPr/>
          <p:nvPr/>
        </p:nvSpPr>
        <p:spPr>
          <a:xfrm>
            <a:off x="892367" y="3244466"/>
            <a:ext cx="6822117" cy="119165"/>
          </a:xfrm>
          <a:prstGeom prst="rect">
            <a:avLst/>
          </a:prstGeom>
          <a:solidFill>
            <a:srgbClr val="71DAFF"/>
          </a:solidFill>
          <a:ln>
            <a:solidFill>
              <a:srgbClr val="71DA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8F4F27C4-2905-F59C-610F-7BD40CC95EEE}"/>
              </a:ext>
            </a:extLst>
          </p:cNvPr>
          <p:cNvSpPr/>
          <p:nvPr/>
        </p:nvSpPr>
        <p:spPr>
          <a:xfrm>
            <a:off x="1816865" y="3244466"/>
            <a:ext cx="262658" cy="121186"/>
          </a:xfrm>
          <a:prstGeom prst="rect">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A74FA91C-77FE-2C55-1DC8-04B766BD77B4}"/>
              </a:ext>
            </a:extLst>
          </p:cNvPr>
          <p:cNvSpPr/>
          <p:nvPr/>
        </p:nvSpPr>
        <p:spPr>
          <a:xfrm>
            <a:off x="3842310" y="3244466"/>
            <a:ext cx="262658" cy="121186"/>
          </a:xfrm>
          <a:prstGeom prst="rect">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17BB3618-EE4A-36EC-C7D8-4B3BE6EF1F4F}"/>
              </a:ext>
            </a:extLst>
          </p:cNvPr>
          <p:cNvSpPr/>
          <p:nvPr/>
        </p:nvSpPr>
        <p:spPr>
          <a:xfrm>
            <a:off x="5322065" y="3244466"/>
            <a:ext cx="262658" cy="121186"/>
          </a:xfrm>
          <a:prstGeom prst="rect">
            <a:avLst/>
          </a:prstGeom>
          <a:solidFill>
            <a:srgbClr val="FFFF00"/>
          </a:solid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481791DE-2C68-0C8F-1732-48C26D7406FB}"/>
              </a:ext>
            </a:extLst>
          </p:cNvPr>
          <p:cNvSpPr/>
          <p:nvPr/>
        </p:nvSpPr>
        <p:spPr>
          <a:xfrm>
            <a:off x="5605096" y="3244466"/>
            <a:ext cx="1196723" cy="121186"/>
          </a:xfrm>
          <a:prstGeom prst="rect">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 Placeholder 2">
            <a:extLst>
              <a:ext uri="{FF2B5EF4-FFF2-40B4-BE49-F238E27FC236}">
                <a16:creationId xmlns:a16="http://schemas.microsoft.com/office/drawing/2014/main" id="{784BFCE0-0979-555A-078C-C1916C7E99EF}"/>
              </a:ext>
            </a:extLst>
          </p:cNvPr>
          <p:cNvSpPr txBox="1">
            <a:spLocks/>
          </p:cNvSpPr>
          <p:nvPr/>
        </p:nvSpPr>
        <p:spPr>
          <a:xfrm>
            <a:off x="1206143" y="3432020"/>
            <a:ext cx="1380863" cy="40457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79400" algn="l" rtl="0">
              <a:lnSpc>
                <a:spcPct val="115000"/>
              </a:lnSpc>
              <a:spcBef>
                <a:spcPts val="0"/>
              </a:spcBef>
              <a:spcAft>
                <a:spcPts val="0"/>
              </a:spcAft>
              <a:buClr>
                <a:schemeClr val="dk1"/>
              </a:buClr>
              <a:buSzPts val="800"/>
              <a:buFont typeface="Hanken Grotesk"/>
              <a:buChar char="●"/>
              <a:defRPr sz="1400" b="0" i="0" u="none" strike="noStrike" cap="none">
                <a:solidFill>
                  <a:schemeClr val="dk1"/>
                </a:solidFill>
                <a:latin typeface="Hanken Grotesk"/>
                <a:ea typeface="Hanken Grotesk"/>
                <a:cs typeface="Hanken Grotesk"/>
                <a:sym typeface="Hanken Grotesk"/>
              </a:defRPr>
            </a:lvl1pPr>
            <a:lvl2pPr marL="914400" marR="0" lvl="1"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2pPr>
            <a:lvl3pPr marL="1371600" marR="0" lvl="2"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3pPr>
            <a:lvl4pPr marL="1828800" marR="0" lvl="3"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4pPr>
            <a:lvl5pPr marL="2286000" marR="0" lvl="4"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5pPr>
            <a:lvl6pPr marL="2743200" marR="0" lvl="5"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6pPr>
            <a:lvl7pPr marL="3200400" marR="0" lvl="6"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7pPr>
            <a:lvl8pPr marL="3657600" marR="0" lvl="7"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8pPr>
            <a:lvl9pPr marL="4114800" marR="0" lvl="8"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9pPr>
          </a:lstStyle>
          <a:p>
            <a:pPr marL="177800" indent="0" algn="ctr">
              <a:buFont typeface="Hanken Grotesk"/>
              <a:buNone/>
            </a:pPr>
            <a:r>
              <a:rPr lang="en-US" dirty="0"/>
              <a:t>Enhancer</a:t>
            </a:r>
          </a:p>
        </p:txBody>
      </p:sp>
      <p:sp>
        <p:nvSpPr>
          <p:cNvPr id="10" name="Text Placeholder 2">
            <a:extLst>
              <a:ext uri="{FF2B5EF4-FFF2-40B4-BE49-F238E27FC236}">
                <a16:creationId xmlns:a16="http://schemas.microsoft.com/office/drawing/2014/main" id="{666348BD-AF5C-790B-1D77-F707B506B162}"/>
              </a:ext>
            </a:extLst>
          </p:cNvPr>
          <p:cNvSpPr txBox="1">
            <a:spLocks/>
          </p:cNvSpPr>
          <p:nvPr/>
        </p:nvSpPr>
        <p:spPr>
          <a:xfrm>
            <a:off x="3191137" y="3432020"/>
            <a:ext cx="1380863" cy="40457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79400" algn="l" rtl="0">
              <a:lnSpc>
                <a:spcPct val="115000"/>
              </a:lnSpc>
              <a:spcBef>
                <a:spcPts val="0"/>
              </a:spcBef>
              <a:spcAft>
                <a:spcPts val="0"/>
              </a:spcAft>
              <a:buClr>
                <a:schemeClr val="dk1"/>
              </a:buClr>
              <a:buSzPts val="800"/>
              <a:buFont typeface="Hanken Grotesk"/>
              <a:buChar char="●"/>
              <a:defRPr sz="1400" b="0" i="0" u="none" strike="noStrike" cap="none">
                <a:solidFill>
                  <a:schemeClr val="dk1"/>
                </a:solidFill>
                <a:latin typeface="Hanken Grotesk"/>
                <a:ea typeface="Hanken Grotesk"/>
                <a:cs typeface="Hanken Grotesk"/>
                <a:sym typeface="Hanken Grotesk"/>
              </a:defRPr>
            </a:lvl1pPr>
            <a:lvl2pPr marL="914400" marR="0" lvl="1"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2pPr>
            <a:lvl3pPr marL="1371600" marR="0" lvl="2"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3pPr>
            <a:lvl4pPr marL="1828800" marR="0" lvl="3"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4pPr>
            <a:lvl5pPr marL="2286000" marR="0" lvl="4"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5pPr>
            <a:lvl6pPr marL="2743200" marR="0" lvl="5"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6pPr>
            <a:lvl7pPr marL="3200400" marR="0" lvl="6"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7pPr>
            <a:lvl8pPr marL="3657600" marR="0" lvl="7"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8pPr>
            <a:lvl9pPr marL="4114800" marR="0" lvl="8"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9pPr>
          </a:lstStyle>
          <a:p>
            <a:pPr marL="177800" indent="0" algn="ctr">
              <a:buFont typeface="Hanken Grotesk"/>
              <a:buNone/>
            </a:pPr>
            <a:r>
              <a:rPr lang="en-US" dirty="0"/>
              <a:t>Enhancer</a:t>
            </a:r>
          </a:p>
        </p:txBody>
      </p:sp>
      <p:sp>
        <p:nvSpPr>
          <p:cNvPr id="11" name="Text Placeholder 2">
            <a:extLst>
              <a:ext uri="{FF2B5EF4-FFF2-40B4-BE49-F238E27FC236}">
                <a16:creationId xmlns:a16="http://schemas.microsoft.com/office/drawing/2014/main" id="{91493108-D007-6D6A-657F-82F02540A7E4}"/>
              </a:ext>
            </a:extLst>
          </p:cNvPr>
          <p:cNvSpPr txBox="1">
            <a:spLocks/>
          </p:cNvSpPr>
          <p:nvPr/>
        </p:nvSpPr>
        <p:spPr>
          <a:xfrm>
            <a:off x="4762962" y="3432019"/>
            <a:ext cx="1380863" cy="40457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79400" algn="l" rtl="0">
              <a:lnSpc>
                <a:spcPct val="115000"/>
              </a:lnSpc>
              <a:spcBef>
                <a:spcPts val="0"/>
              </a:spcBef>
              <a:spcAft>
                <a:spcPts val="0"/>
              </a:spcAft>
              <a:buClr>
                <a:schemeClr val="dk1"/>
              </a:buClr>
              <a:buSzPts val="800"/>
              <a:buFont typeface="Hanken Grotesk"/>
              <a:buChar char="●"/>
              <a:defRPr sz="1400" b="0" i="0" u="none" strike="noStrike" cap="none">
                <a:solidFill>
                  <a:schemeClr val="dk1"/>
                </a:solidFill>
                <a:latin typeface="Hanken Grotesk"/>
                <a:ea typeface="Hanken Grotesk"/>
                <a:cs typeface="Hanken Grotesk"/>
                <a:sym typeface="Hanken Grotesk"/>
              </a:defRPr>
            </a:lvl1pPr>
            <a:lvl2pPr marL="914400" marR="0" lvl="1"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2pPr>
            <a:lvl3pPr marL="1371600" marR="0" lvl="2"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3pPr>
            <a:lvl4pPr marL="1828800" marR="0" lvl="3"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4pPr>
            <a:lvl5pPr marL="2286000" marR="0" lvl="4"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5pPr>
            <a:lvl6pPr marL="2743200" marR="0" lvl="5"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6pPr>
            <a:lvl7pPr marL="3200400" marR="0" lvl="6"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7pPr>
            <a:lvl8pPr marL="3657600" marR="0" lvl="7"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8pPr>
            <a:lvl9pPr marL="4114800" marR="0" lvl="8"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9pPr>
          </a:lstStyle>
          <a:p>
            <a:pPr marL="177800" indent="0" algn="ctr">
              <a:buFont typeface="Hanken Grotesk"/>
              <a:buNone/>
            </a:pPr>
            <a:r>
              <a:rPr lang="en-US" dirty="0"/>
              <a:t>Promoter</a:t>
            </a:r>
          </a:p>
        </p:txBody>
      </p:sp>
      <p:sp>
        <p:nvSpPr>
          <p:cNvPr id="12" name="Text Placeholder 2">
            <a:extLst>
              <a:ext uri="{FF2B5EF4-FFF2-40B4-BE49-F238E27FC236}">
                <a16:creationId xmlns:a16="http://schemas.microsoft.com/office/drawing/2014/main" id="{4C9F9067-9B99-6A58-5D82-829A849E96E1}"/>
              </a:ext>
            </a:extLst>
          </p:cNvPr>
          <p:cNvSpPr txBox="1">
            <a:spLocks/>
          </p:cNvSpPr>
          <p:nvPr/>
        </p:nvSpPr>
        <p:spPr>
          <a:xfrm>
            <a:off x="5513025" y="3432019"/>
            <a:ext cx="1380863" cy="40457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79400" algn="l" rtl="0">
              <a:lnSpc>
                <a:spcPct val="115000"/>
              </a:lnSpc>
              <a:spcBef>
                <a:spcPts val="0"/>
              </a:spcBef>
              <a:spcAft>
                <a:spcPts val="0"/>
              </a:spcAft>
              <a:buClr>
                <a:schemeClr val="dk1"/>
              </a:buClr>
              <a:buSzPts val="800"/>
              <a:buFont typeface="Hanken Grotesk"/>
              <a:buChar char="●"/>
              <a:defRPr sz="1400" b="0" i="0" u="none" strike="noStrike" cap="none">
                <a:solidFill>
                  <a:schemeClr val="dk1"/>
                </a:solidFill>
                <a:latin typeface="Hanken Grotesk"/>
                <a:ea typeface="Hanken Grotesk"/>
                <a:cs typeface="Hanken Grotesk"/>
                <a:sym typeface="Hanken Grotesk"/>
              </a:defRPr>
            </a:lvl1pPr>
            <a:lvl2pPr marL="914400" marR="0" lvl="1"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2pPr>
            <a:lvl3pPr marL="1371600" marR="0" lvl="2"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3pPr>
            <a:lvl4pPr marL="1828800" marR="0" lvl="3"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4pPr>
            <a:lvl5pPr marL="2286000" marR="0" lvl="4"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5pPr>
            <a:lvl6pPr marL="2743200" marR="0" lvl="5"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6pPr>
            <a:lvl7pPr marL="3200400" marR="0" lvl="6"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7pPr>
            <a:lvl8pPr marL="3657600" marR="0" lvl="7"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8pPr>
            <a:lvl9pPr marL="4114800" marR="0" lvl="8"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9pPr>
          </a:lstStyle>
          <a:p>
            <a:pPr marL="177800" indent="0" algn="ctr">
              <a:buFont typeface="Hanken Grotesk"/>
              <a:buNone/>
            </a:pPr>
            <a:r>
              <a:rPr lang="en-US" dirty="0"/>
              <a:t>Gene</a:t>
            </a:r>
          </a:p>
        </p:txBody>
      </p:sp>
      <p:sp>
        <p:nvSpPr>
          <p:cNvPr id="13" name="Rectangle 12">
            <a:extLst>
              <a:ext uri="{FF2B5EF4-FFF2-40B4-BE49-F238E27FC236}">
                <a16:creationId xmlns:a16="http://schemas.microsoft.com/office/drawing/2014/main" id="{4972111F-697D-6091-DF89-DE7EC1478F30}"/>
              </a:ext>
            </a:extLst>
          </p:cNvPr>
          <p:cNvSpPr/>
          <p:nvPr/>
        </p:nvSpPr>
        <p:spPr>
          <a:xfrm>
            <a:off x="1045771" y="3244466"/>
            <a:ext cx="577290" cy="121186"/>
          </a:xfrm>
          <a:prstGeom prst="rect">
            <a:avLst/>
          </a:prstGeom>
          <a:solidFill>
            <a:srgbClr val="002060"/>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19C7F256-4CDC-BE56-CDE7-7F0427AF2028}"/>
              </a:ext>
            </a:extLst>
          </p:cNvPr>
          <p:cNvSpPr/>
          <p:nvPr/>
        </p:nvSpPr>
        <p:spPr>
          <a:xfrm>
            <a:off x="7038490" y="3242445"/>
            <a:ext cx="262658" cy="121186"/>
          </a:xfrm>
          <a:prstGeom prst="rect">
            <a:avLst/>
          </a:prstGeom>
          <a:solidFill>
            <a:srgbClr val="002060"/>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279B47E5-4C60-C971-83F9-17DEED2B9EA6}"/>
              </a:ext>
            </a:extLst>
          </p:cNvPr>
          <p:cNvSpPr/>
          <p:nvPr/>
        </p:nvSpPr>
        <p:spPr>
          <a:xfrm>
            <a:off x="7395397" y="3242445"/>
            <a:ext cx="319088" cy="119165"/>
          </a:xfrm>
          <a:prstGeom prst="rect">
            <a:avLst/>
          </a:prstGeom>
          <a:solidFill>
            <a:srgbClr val="002060"/>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B7E4F934-B3AB-0746-21AE-798CEB51BC39}"/>
              </a:ext>
            </a:extLst>
          </p:cNvPr>
          <p:cNvSpPr/>
          <p:nvPr/>
        </p:nvSpPr>
        <p:spPr>
          <a:xfrm>
            <a:off x="2273327" y="3242445"/>
            <a:ext cx="194511" cy="121186"/>
          </a:xfrm>
          <a:prstGeom prst="rect">
            <a:avLst/>
          </a:prstGeom>
          <a:solidFill>
            <a:srgbClr val="002060"/>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B4187B19-C4EC-0332-EE08-2CAEA3F73935}"/>
              </a:ext>
            </a:extLst>
          </p:cNvPr>
          <p:cNvSpPr/>
          <p:nvPr/>
        </p:nvSpPr>
        <p:spPr>
          <a:xfrm>
            <a:off x="2559172" y="3242445"/>
            <a:ext cx="422382" cy="121186"/>
          </a:xfrm>
          <a:prstGeom prst="rect">
            <a:avLst/>
          </a:prstGeom>
          <a:solidFill>
            <a:srgbClr val="002060"/>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4BCC55BB-5EF3-DD2A-BEB8-174CB8EA8022}"/>
              </a:ext>
            </a:extLst>
          </p:cNvPr>
          <p:cNvSpPr/>
          <p:nvPr/>
        </p:nvSpPr>
        <p:spPr>
          <a:xfrm>
            <a:off x="3141297" y="3242445"/>
            <a:ext cx="262658" cy="121186"/>
          </a:xfrm>
          <a:prstGeom prst="rect">
            <a:avLst/>
          </a:prstGeom>
          <a:solidFill>
            <a:srgbClr val="002060"/>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ADDC6982-648E-6780-26EA-3890740BD612}"/>
              </a:ext>
            </a:extLst>
          </p:cNvPr>
          <p:cNvSpPr/>
          <p:nvPr/>
        </p:nvSpPr>
        <p:spPr>
          <a:xfrm>
            <a:off x="4789431" y="3242445"/>
            <a:ext cx="262658" cy="121186"/>
          </a:xfrm>
          <a:prstGeom prst="rect">
            <a:avLst/>
          </a:prstGeom>
          <a:solidFill>
            <a:srgbClr val="002060"/>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CC68B77B-7BF3-922D-D9A7-4A9764EB9179}"/>
              </a:ext>
            </a:extLst>
          </p:cNvPr>
          <p:cNvSpPr/>
          <p:nvPr/>
        </p:nvSpPr>
        <p:spPr>
          <a:xfrm>
            <a:off x="892367" y="2680586"/>
            <a:ext cx="6822117" cy="119165"/>
          </a:xfrm>
          <a:prstGeom prst="rect">
            <a:avLst/>
          </a:prstGeom>
          <a:solidFill>
            <a:srgbClr val="71DAFF"/>
          </a:solidFill>
          <a:ln>
            <a:solidFill>
              <a:srgbClr val="71DA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AA726AC0-C9B6-822A-4BF8-B71BDCD85C89}"/>
              </a:ext>
            </a:extLst>
          </p:cNvPr>
          <p:cNvSpPr/>
          <p:nvPr/>
        </p:nvSpPr>
        <p:spPr>
          <a:xfrm>
            <a:off x="1451518" y="2678565"/>
            <a:ext cx="262658" cy="121186"/>
          </a:xfrm>
          <a:prstGeom prst="rect">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A7334387-3673-6FAE-E063-E915484A9E1F}"/>
              </a:ext>
            </a:extLst>
          </p:cNvPr>
          <p:cNvSpPr/>
          <p:nvPr/>
        </p:nvSpPr>
        <p:spPr>
          <a:xfrm>
            <a:off x="4563757" y="2678565"/>
            <a:ext cx="262658" cy="121186"/>
          </a:xfrm>
          <a:prstGeom prst="rect">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3A202DB3-E420-2066-C5EC-C96C6894CFB8}"/>
              </a:ext>
            </a:extLst>
          </p:cNvPr>
          <p:cNvSpPr/>
          <p:nvPr/>
        </p:nvSpPr>
        <p:spPr>
          <a:xfrm>
            <a:off x="5683723" y="2678565"/>
            <a:ext cx="262658" cy="121186"/>
          </a:xfrm>
          <a:prstGeom prst="rect">
            <a:avLst/>
          </a:prstGeom>
          <a:solidFill>
            <a:srgbClr val="FFFF00"/>
          </a:solid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1EFA887E-01BE-C5E1-CCAB-6C56608B9DE9}"/>
              </a:ext>
            </a:extLst>
          </p:cNvPr>
          <p:cNvSpPr/>
          <p:nvPr/>
        </p:nvSpPr>
        <p:spPr>
          <a:xfrm>
            <a:off x="5973096" y="2678565"/>
            <a:ext cx="1196723" cy="121186"/>
          </a:xfrm>
          <a:prstGeom prst="rect">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3155FC4B-CFE9-4ABD-8D59-6F99E5106F02}"/>
              </a:ext>
            </a:extLst>
          </p:cNvPr>
          <p:cNvSpPr/>
          <p:nvPr/>
        </p:nvSpPr>
        <p:spPr>
          <a:xfrm>
            <a:off x="1086170" y="2680586"/>
            <a:ext cx="224494" cy="119165"/>
          </a:xfrm>
          <a:prstGeom prst="rect">
            <a:avLst/>
          </a:prstGeom>
          <a:solidFill>
            <a:srgbClr val="002060"/>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AFF02F01-0805-A797-C8B5-F5CE353C1417}"/>
              </a:ext>
            </a:extLst>
          </p:cNvPr>
          <p:cNvSpPr/>
          <p:nvPr/>
        </p:nvSpPr>
        <p:spPr>
          <a:xfrm>
            <a:off x="7327135" y="2678565"/>
            <a:ext cx="387349" cy="119165"/>
          </a:xfrm>
          <a:prstGeom prst="rect">
            <a:avLst/>
          </a:prstGeom>
          <a:solidFill>
            <a:srgbClr val="002060"/>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C9ED69A8-6CCD-C702-7070-8B142266B276}"/>
              </a:ext>
            </a:extLst>
          </p:cNvPr>
          <p:cNvSpPr/>
          <p:nvPr/>
        </p:nvSpPr>
        <p:spPr>
          <a:xfrm>
            <a:off x="2273327" y="2678565"/>
            <a:ext cx="650006" cy="121186"/>
          </a:xfrm>
          <a:prstGeom prst="rect">
            <a:avLst/>
          </a:prstGeom>
          <a:solidFill>
            <a:srgbClr val="002060"/>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D379BFEB-34F4-3C41-2116-02DB0ECFA732}"/>
              </a:ext>
            </a:extLst>
          </p:cNvPr>
          <p:cNvSpPr/>
          <p:nvPr/>
        </p:nvSpPr>
        <p:spPr>
          <a:xfrm>
            <a:off x="3141297" y="2678565"/>
            <a:ext cx="262658" cy="121186"/>
          </a:xfrm>
          <a:prstGeom prst="rect">
            <a:avLst/>
          </a:prstGeom>
          <a:solidFill>
            <a:srgbClr val="002060"/>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E957954B-2A3C-A6B7-43DF-AEF3BF00DEFC}"/>
              </a:ext>
            </a:extLst>
          </p:cNvPr>
          <p:cNvSpPr/>
          <p:nvPr/>
        </p:nvSpPr>
        <p:spPr>
          <a:xfrm>
            <a:off x="3621919" y="2678565"/>
            <a:ext cx="703440" cy="121186"/>
          </a:xfrm>
          <a:prstGeom prst="rect">
            <a:avLst/>
          </a:prstGeom>
          <a:solidFill>
            <a:srgbClr val="002060"/>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C596D883-66E2-5B02-AAF5-506288D7400C}"/>
              </a:ext>
            </a:extLst>
          </p:cNvPr>
          <p:cNvSpPr/>
          <p:nvPr/>
        </p:nvSpPr>
        <p:spPr>
          <a:xfrm>
            <a:off x="5064813" y="2678565"/>
            <a:ext cx="200612" cy="121186"/>
          </a:xfrm>
          <a:prstGeom prst="rect">
            <a:avLst/>
          </a:prstGeom>
          <a:solidFill>
            <a:srgbClr val="002060"/>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4A2E62D9-5B68-A221-C90E-1290B2AC1FDD}"/>
              </a:ext>
            </a:extLst>
          </p:cNvPr>
          <p:cNvSpPr/>
          <p:nvPr/>
        </p:nvSpPr>
        <p:spPr>
          <a:xfrm>
            <a:off x="892368" y="2141123"/>
            <a:ext cx="6822116" cy="119165"/>
          </a:xfrm>
          <a:prstGeom prst="rect">
            <a:avLst/>
          </a:prstGeom>
          <a:solidFill>
            <a:srgbClr val="71DAFF"/>
          </a:solidFill>
          <a:ln>
            <a:solidFill>
              <a:srgbClr val="71DA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3833144D-9AB5-B1DB-F265-C018BAEF982B}"/>
              </a:ext>
            </a:extLst>
          </p:cNvPr>
          <p:cNvSpPr/>
          <p:nvPr/>
        </p:nvSpPr>
        <p:spPr>
          <a:xfrm>
            <a:off x="2474623" y="2139102"/>
            <a:ext cx="262658" cy="121186"/>
          </a:xfrm>
          <a:prstGeom prst="rect">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9AE183E9-C135-FB23-52B0-D7527BEF0E44}"/>
              </a:ext>
            </a:extLst>
          </p:cNvPr>
          <p:cNvSpPr/>
          <p:nvPr/>
        </p:nvSpPr>
        <p:spPr>
          <a:xfrm>
            <a:off x="3813916" y="2139102"/>
            <a:ext cx="262658" cy="121186"/>
          </a:xfrm>
          <a:prstGeom prst="rect">
            <a:avLst/>
          </a:prstGeom>
          <a:solidFill>
            <a:srgbClr val="FFFF00"/>
          </a:solid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C982DDEC-4345-E97D-3892-4D3565D3D1FE}"/>
              </a:ext>
            </a:extLst>
          </p:cNvPr>
          <p:cNvSpPr/>
          <p:nvPr/>
        </p:nvSpPr>
        <p:spPr>
          <a:xfrm>
            <a:off x="4076575" y="2139102"/>
            <a:ext cx="823086" cy="121186"/>
          </a:xfrm>
          <a:prstGeom prst="rect">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B0EBE206-70BE-2341-D348-3BC428A8E53F}"/>
              </a:ext>
            </a:extLst>
          </p:cNvPr>
          <p:cNvSpPr/>
          <p:nvPr/>
        </p:nvSpPr>
        <p:spPr>
          <a:xfrm>
            <a:off x="1086170" y="2141123"/>
            <a:ext cx="224494" cy="119165"/>
          </a:xfrm>
          <a:prstGeom prst="rect">
            <a:avLst/>
          </a:prstGeom>
          <a:solidFill>
            <a:srgbClr val="002060"/>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90153792-D5E1-B046-B707-3EB36B38378B}"/>
              </a:ext>
            </a:extLst>
          </p:cNvPr>
          <p:cNvSpPr/>
          <p:nvPr/>
        </p:nvSpPr>
        <p:spPr>
          <a:xfrm>
            <a:off x="5946382" y="2139102"/>
            <a:ext cx="1768102" cy="121186"/>
          </a:xfrm>
          <a:prstGeom prst="rect">
            <a:avLst/>
          </a:prstGeom>
          <a:solidFill>
            <a:srgbClr val="002060"/>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a:extLst>
              <a:ext uri="{FF2B5EF4-FFF2-40B4-BE49-F238E27FC236}">
                <a16:creationId xmlns:a16="http://schemas.microsoft.com/office/drawing/2014/main" id="{3394A0A2-BD9E-54C5-8509-46FB2D878673}"/>
              </a:ext>
            </a:extLst>
          </p:cNvPr>
          <p:cNvSpPr/>
          <p:nvPr/>
        </p:nvSpPr>
        <p:spPr>
          <a:xfrm>
            <a:off x="1429517" y="2139102"/>
            <a:ext cx="650006" cy="121186"/>
          </a:xfrm>
          <a:prstGeom prst="rect">
            <a:avLst/>
          </a:prstGeom>
          <a:solidFill>
            <a:srgbClr val="002060"/>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Rectangle 56">
            <a:extLst>
              <a:ext uri="{FF2B5EF4-FFF2-40B4-BE49-F238E27FC236}">
                <a16:creationId xmlns:a16="http://schemas.microsoft.com/office/drawing/2014/main" id="{BD6DC230-A635-DD0B-9E0F-9FBACFAF5A37}"/>
              </a:ext>
            </a:extLst>
          </p:cNvPr>
          <p:cNvSpPr/>
          <p:nvPr/>
        </p:nvSpPr>
        <p:spPr>
          <a:xfrm>
            <a:off x="3378966" y="2139102"/>
            <a:ext cx="223400" cy="121186"/>
          </a:xfrm>
          <a:prstGeom prst="rect">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Rectangle 68">
            <a:extLst>
              <a:ext uri="{FF2B5EF4-FFF2-40B4-BE49-F238E27FC236}">
                <a16:creationId xmlns:a16="http://schemas.microsoft.com/office/drawing/2014/main" id="{1D2874F0-0F27-A68C-3BE4-16EA1AFEF022}"/>
              </a:ext>
            </a:extLst>
          </p:cNvPr>
          <p:cNvSpPr/>
          <p:nvPr/>
        </p:nvSpPr>
        <p:spPr>
          <a:xfrm>
            <a:off x="892367" y="1609107"/>
            <a:ext cx="6822117" cy="119165"/>
          </a:xfrm>
          <a:prstGeom prst="rect">
            <a:avLst/>
          </a:prstGeom>
          <a:solidFill>
            <a:srgbClr val="71DAFF"/>
          </a:solidFill>
          <a:ln>
            <a:solidFill>
              <a:srgbClr val="71DA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Rectangle 69">
            <a:extLst>
              <a:ext uri="{FF2B5EF4-FFF2-40B4-BE49-F238E27FC236}">
                <a16:creationId xmlns:a16="http://schemas.microsoft.com/office/drawing/2014/main" id="{A1E3CE53-A6BC-826B-3D31-A9E5D0F1CD9C}"/>
              </a:ext>
            </a:extLst>
          </p:cNvPr>
          <p:cNvSpPr/>
          <p:nvPr/>
        </p:nvSpPr>
        <p:spPr>
          <a:xfrm>
            <a:off x="3215603" y="1607086"/>
            <a:ext cx="262658" cy="121186"/>
          </a:xfrm>
          <a:prstGeom prst="rect">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Rectangle 70">
            <a:extLst>
              <a:ext uri="{FF2B5EF4-FFF2-40B4-BE49-F238E27FC236}">
                <a16:creationId xmlns:a16="http://schemas.microsoft.com/office/drawing/2014/main" id="{AE4447FC-6C44-0359-4897-32127A7BF43F}"/>
              </a:ext>
            </a:extLst>
          </p:cNvPr>
          <p:cNvSpPr/>
          <p:nvPr/>
        </p:nvSpPr>
        <p:spPr>
          <a:xfrm>
            <a:off x="4751341" y="1609107"/>
            <a:ext cx="262658" cy="121186"/>
          </a:xfrm>
          <a:prstGeom prst="rect">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Rectangle 71">
            <a:extLst>
              <a:ext uri="{FF2B5EF4-FFF2-40B4-BE49-F238E27FC236}">
                <a16:creationId xmlns:a16="http://schemas.microsoft.com/office/drawing/2014/main" id="{BA707B43-C0E4-5F03-31A0-0E93EF3D8DDD}"/>
              </a:ext>
            </a:extLst>
          </p:cNvPr>
          <p:cNvSpPr/>
          <p:nvPr/>
        </p:nvSpPr>
        <p:spPr>
          <a:xfrm>
            <a:off x="5322065" y="1609107"/>
            <a:ext cx="262658" cy="121186"/>
          </a:xfrm>
          <a:prstGeom prst="rect">
            <a:avLst/>
          </a:prstGeom>
          <a:solidFill>
            <a:srgbClr val="FFFF00"/>
          </a:solid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Rectangle 72">
            <a:extLst>
              <a:ext uri="{FF2B5EF4-FFF2-40B4-BE49-F238E27FC236}">
                <a16:creationId xmlns:a16="http://schemas.microsoft.com/office/drawing/2014/main" id="{E536FE63-DA6F-A957-2013-8FD9E44E6CAE}"/>
              </a:ext>
            </a:extLst>
          </p:cNvPr>
          <p:cNvSpPr/>
          <p:nvPr/>
        </p:nvSpPr>
        <p:spPr>
          <a:xfrm>
            <a:off x="5605096" y="1609107"/>
            <a:ext cx="1196723" cy="121186"/>
          </a:xfrm>
          <a:prstGeom prst="rect">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Rectangle 73">
            <a:extLst>
              <a:ext uri="{FF2B5EF4-FFF2-40B4-BE49-F238E27FC236}">
                <a16:creationId xmlns:a16="http://schemas.microsoft.com/office/drawing/2014/main" id="{0C187F4F-2595-9B10-C10B-4F1832AF40A1}"/>
              </a:ext>
            </a:extLst>
          </p:cNvPr>
          <p:cNvSpPr/>
          <p:nvPr/>
        </p:nvSpPr>
        <p:spPr>
          <a:xfrm>
            <a:off x="2339482" y="1609107"/>
            <a:ext cx="577290" cy="121186"/>
          </a:xfrm>
          <a:prstGeom prst="rect">
            <a:avLst/>
          </a:prstGeom>
          <a:solidFill>
            <a:srgbClr val="002060"/>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Rectangle 76">
            <a:extLst>
              <a:ext uri="{FF2B5EF4-FFF2-40B4-BE49-F238E27FC236}">
                <a16:creationId xmlns:a16="http://schemas.microsoft.com/office/drawing/2014/main" id="{0C6E6E28-8927-9F50-BFA2-D6EF2E244FFE}"/>
              </a:ext>
            </a:extLst>
          </p:cNvPr>
          <p:cNvSpPr/>
          <p:nvPr/>
        </p:nvSpPr>
        <p:spPr>
          <a:xfrm>
            <a:off x="1845267" y="1609107"/>
            <a:ext cx="194511" cy="121186"/>
          </a:xfrm>
          <a:prstGeom prst="rect">
            <a:avLst/>
          </a:prstGeom>
          <a:solidFill>
            <a:srgbClr val="002060"/>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0" name="Rectangle 79">
            <a:extLst>
              <a:ext uri="{FF2B5EF4-FFF2-40B4-BE49-F238E27FC236}">
                <a16:creationId xmlns:a16="http://schemas.microsoft.com/office/drawing/2014/main" id="{7D8AF4FF-1BC1-2498-B473-D5616DE527D8}"/>
              </a:ext>
            </a:extLst>
          </p:cNvPr>
          <p:cNvSpPr/>
          <p:nvPr/>
        </p:nvSpPr>
        <p:spPr>
          <a:xfrm>
            <a:off x="3728957" y="1607086"/>
            <a:ext cx="963473" cy="119165"/>
          </a:xfrm>
          <a:prstGeom prst="rect">
            <a:avLst/>
          </a:prstGeom>
          <a:solidFill>
            <a:srgbClr val="002060"/>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2" name="Graphic 81" descr="Horse with solid fill">
            <a:extLst>
              <a:ext uri="{FF2B5EF4-FFF2-40B4-BE49-F238E27FC236}">
                <a16:creationId xmlns:a16="http://schemas.microsoft.com/office/drawing/2014/main" id="{16DEE6F9-5A28-55F7-E9A0-8060FE39230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966800" y="1390317"/>
            <a:ext cx="457200" cy="457200"/>
          </a:xfrm>
          <a:prstGeom prst="rect">
            <a:avLst/>
          </a:prstGeom>
        </p:spPr>
      </p:pic>
      <p:pic>
        <p:nvPicPr>
          <p:cNvPr id="84" name="Graphic 83" descr="Beaver with solid fill">
            <a:extLst>
              <a:ext uri="{FF2B5EF4-FFF2-40B4-BE49-F238E27FC236}">
                <a16:creationId xmlns:a16="http://schemas.microsoft.com/office/drawing/2014/main" id="{3308CB3F-032F-A794-E188-EA99A0760B5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907550" y="1949932"/>
            <a:ext cx="457200" cy="457200"/>
          </a:xfrm>
          <a:prstGeom prst="rect">
            <a:avLst/>
          </a:prstGeom>
        </p:spPr>
      </p:pic>
      <p:pic>
        <p:nvPicPr>
          <p:cNvPr id="86" name="Graphic 85" descr="Bear with solid fill">
            <a:extLst>
              <a:ext uri="{FF2B5EF4-FFF2-40B4-BE49-F238E27FC236}">
                <a16:creationId xmlns:a16="http://schemas.microsoft.com/office/drawing/2014/main" id="{CAAB556A-9B1A-3DFC-05D2-4E3876E5DA89}"/>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952882" y="2509547"/>
            <a:ext cx="457200" cy="457200"/>
          </a:xfrm>
          <a:prstGeom prst="rect">
            <a:avLst/>
          </a:prstGeom>
        </p:spPr>
      </p:pic>
      <p:pic>
        <p:nvPicPr>
          <p:cNvPr id="88" name="Graphic 87" descr="Man with solid fill">
            <a:extLst>
              <a:ext uri="{FF2B5EF4-FFF2-40B4-BE49-F238E27FC236}">
                <a16:creationId xmlns:a16="http://schemas.microsoft.com/office/drawing/2014/main" id="{2FCB1EE8-0F96-3196-78C5-FDB773064F2E}"/>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907550" y="3073427"/>
            <a:ext cx="457200" cy="457200"/>
          </a:xfrm>
          <a:prstGeom prst="rect">
            <a:avLst/>
          </a:prstGeom>
        </p:spPr>
      </p:pic>
      <p:cxnSp>
        <p:nvCxnSpPr>
          <p:cNvPr id="90" name="Straight Connector 89">
            <a:extLst>
              <a:ext uri="{FF2B5EF4-FFF2-40B4-BE49-F238E27FC236}">
                <a16:creationId xmlns:a16="http://schemas.microsoft.com/office/drawing/2014/main" id="{B5B1EA7A-7B66-20BC-A58D-802068B5B432}"/>
              </a:ext>
            </a:extLst>
          </p:cNvPr>
          <p:cNvCxnSpPr>
            <a:cxnSpLocks/>
            <a:stCxn id="70" idx="1"/>
            <a:endCxn id="36" idx="1"/>
          </p:cNvCxnSpPr>
          <p:nvPr/>
        </p:nvCxnSpPr>
        <p:spPr>
          <a:xfrm flipH="1">
            <a:off x="2474623" y="1667679"/>
            <a:ext cx="740980" cy="532016"/>
          </a:xfrm>
          <a:prstGeom prst="line">
            <a:avLst/>
          </a:prstGeom>
          <a:ln w="28575">
            <a:solidFill>
              <a:schemeClr val="bg1">
                <a:lumMod val="10000"/>
                <a:alpha val="7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8E7D9DB6-CD84-91FE-5BF7-9B6D1F716119}"/>
              </a:ext>
            </a:extLst>
          </p:cNvPr>
          <p:cNvCxnSpPr>
            <a:cxnSpLocks/>
            <a:endCxn id="36" idx="3"/>
          </p:cNvCxnSpPr>
          <p:nvPr/>
        </p:nvCxnSpPr>
        <p:spPr>
          <a:xfrm flipH="1">
            <a:off x="2737281" y="1682304"/>
            <a:ext cx="753342" cy="517391"/>
          </a:xfrm>
          <a:prstGeom prst="line">
            <a:avLst/>
          </a:prstGeom>
          <a:ln w="28575">
            <a:solidFill>
              <a:schemeClr val="bg1">
                <a:lumMod val="10000"/>
                <a:alpha val="7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84C523C8-5EE5-6335-E82A-1CB835709FD7}"/>
              </a:ext>
            </a:extLst>
          </p:cNvPr>
          <p:cNvCxnSpPr>
            <a:cxnSpLocks/>
            <a:stCxn id="36" idx="1"/>
            <a:endCxn id="21" idx="1"/>
          </p:cNvCxnSpPr>
          <p:nvPr/>
        </p:nvCxnSpPr>
        <p:spPr>
          <a:xfrm flipH="1">
            <a:off x="1451518" y="2199695"/>
            <a:ext cx="1023105" cy="539463"/>
          </a:xfrm>
          <a:prstGeom prst="line">
            <a:avLst/>
          </a:prstGeom>
          <a:ln w="28575">
            <a:solidFill>
              <a:schemeClr val="bg1">
                <a:lumMod val="10000"/>
                <a:alpha val="7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96" name="Straight Connector 95">
            <a:extLst>
              <a:ext uri="{FF2B5EF4-FFF2-40B4-BE49-F238E27FC236}">
                <a16:creationId xmlns:a16="http://schemas.microsoft.com/office/drawing/2014/main" id="{CAE08D36-4B05-1F83-0B30-B4850313028A}"/>
              </a:ext>
            </a:extLst>
          </p:cNvPr>
          <p:cNvCxnSpPr>
            <a:cxnSpLocks/>
            <a:stCxn id="36" idx="3"/>
            <a:endCxn id="21" idx="3"/>
          </p:cNvCxnSpPr>
          <p:nvPr/>
        </p:nvCxnSpPr>
        <p:spPr>
          <a:xfrm flipH="1">
            <a:off x="1714176" y="2199695"/>
            <a:ext cx="1023105" cy="539463"/>
          </a:xfrm>
          <a:prstGeom prst="line">
            <a:avLst/>
          </a:prstGeom>
          <a:ln w="28575">
            <a:solidFill>
              <a:schemeClr val="bg1">
                <a:lumMod val="10000"/>
                <a:alpha val="7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100" name="Straight Connector 99">
            <a:extLst>
              <a:ext uri="{FF2B5EF4-FFF2-40B4-BE49-F238E27FC236}">
                <a16:creationId xmlns:a16="http://schemas.microsoft.com/office/drawing/2014/main" id="{A3E6B65B-3F00-CE33-F4B7-F22B0545B870}"/>
              </a:ext>
            </a:extLst>
          </p:cNvPr>
          <p:cNvCxnSpPr>
            <a:cxnSpLocks/>
            <a:stCxn id="21" idx="1"/>
            <a:endCxn id="5" idx="1"/>
          </p:cNvCxnSpPr>
          <p:nvPr/>
        </p:nvCxnSpPr>
        <p:spPr>
          <a:xfrm>
            <a:off x="1451518" y="2739158"/>
            <a:ext cx="365347" cy="565901"/>
          </a:xfrm>
          <a:prstGeom prst="line">
            <a:avLst/>
          </a:prstGeom>
          <a:ln w="28575">
            <a:solidFill>
              <a:schemeClr val="bg1">
                <a:lumMod val="10000"/>
                <a:alpha val="7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104" name="Straight Connector 103">
            <a:extLst>
              <a:ext uri="{FF2B5EF4-FFF2-40B4-BE49-F238E27FC236}">
                <a16:creationId xmlns:a16="http://schemas.microsoft.com/office/drawing/2014/main" id="{8A5276F6-7C6A-4D7E-3E9D-909C365A653D}"/>
              </a:ext>
            </a:extLst>
          </p:cNvPr>
          <p:cNvCxnSpPr>
            <a:cxnSpLocks/>
            <a:endCxn id="5" idx="3"/>
          </p:cNvCxnSpPr>
          <p:nvPr/>
        </p:nvCxnSpPr>
        <p:spPr>
          <a:xfrm>
            <a:off x="1716970" y="2739157"/>
            <a:ext cx="362553" cy="565902"/>
          </a:xfrm>
          <a:prstGeom prst="line">
            <a:avLst/>
          </a:prstGeom>
          <a:ln w="28575">
            <a:solidFill>
              <a:schemeClr val="bg1">
                <a:lumMod val="10000"/>
                <a:alpha val="7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106" name="Straight Connector 105">
            <a:extLst>
              <a:ext uri="{FF2B5EF4-FFF2-40B4-BE49-F238E27FC236}">
                <a16:creationId xmlns:a16="http://schemas.microsoft.com/office/drawing/2014/main" id="{DF56FFFB-C450-EEF9-5226-AA5BD3422974}"/>
              </a:ext>
            </a:extLst>
          </p:cNvPr>
          <p:cNvCxnSpPr>
            <a:cxnSpLocks/>
            <a:stCxn id="72" idx="1"/>
            <a:endCxn id="38" idx="1"/>
          </p:cNvCxnSpPr>
          <p:nvPr/>
        </p:nvCxnSpPr>
        <p:spPr>
          <a:xfrm flipH="1">
            <a:off x="3813916" y="1669700"/>
            <a:ext cx="1508149" cy="529995"/>
          </a:xfrm>
          <a:prstGeom prst="line">
            <a:avLst/>
          </a:prstGeom>
          <a:ln w="28575">
            <a:solidFill>
              <a:schemeClr val="bg1">
                <a:lumMod val="10000"/>
                <a:alpha val="7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109" name="Straight Connector 108">
            <a:extLst>
              <a:ext uri="{FF2B5EF4-FFF2-40B4-BE49-F238E27FC236}">
                <a16:creationId xmlns:a16="http://schemas.microsoft.com/office/drawing/2014/main" id="{FFFD01C6-3732-6B04-C0BE-925E9F45AB07}"/>
              </a:ext>
            </a:extLst>
          </p:cNvPr>
          <p:cNvCxnSpPr>
            <a:cxnSpLocks/>
            <a:stCxn id="72" idx="3"/>
            <a:endCxn id="39" idx="1"/>
          </p:cNvCxnSpPr>
          <p:nvPr/>
        </p:nvCxnSpPr>
        <p:spPr>
          <a:xfrm flipH="1">
            <a:off x="4076575" y="1669700"/>
            <a:ext cx="1508148" cy="529995"/>
          </a:xfrm>
          <a:prstGeom prst="line">
            <a:avLst/>
          </a:prstGeom>
          <a:ln w="28575">
            <a:solidFill>
              <a:schemeClr val="bg1">
                <a:lumMod val="10000"/>
                <a:alpha val="7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112" name="Straight Connector 111">
            <a:extLst>
              <a:ext uri="{FF2B5EF4-FFF2-40B4-BE49-F238E27FC236}">
                <a16:creationId xmlns:a16="http://schemas.microsoft.com/office/drawing/2014/main" id="{9074FF05-65CE-F013-9760-34E4C439AA98}"/>
              </a:ext>
            </a:extLst>
          </p:cNvPr>
          <p:cNvCxnSpPr>
            <a:cxnSpLocks/>
            <a:stCxn id="73" idx="3"/>
            <a:endCxn id="39" idx="3"/>
          </p:cNvCxnSpPr>
          <p:nvPr/>
        </p:nvCxnSpPr>
        <p:spPr>
          <a:xfrm flipH="1">
            <a:off x="4899661" y="1669700"/>
            <a:ext cx="1902158" cy="529995"/>
          </a:xfrm>
          <a:prstGeom prst="line">
            <a:avLst/>
          </a:prstGeom>
          <a:ln w="28575">
            <a:solidFill>
              <a:schemeClr val="bg1">
                <a:lumMod val="10000"/>
                <a:alpha val="7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115" name="Straight Connector 114">
            <a:extLst>
              <a:ext uri="{FF2B5EF4-FFF2-40B4-BE49-F238E27FC236}">
                <a16:creationId xmlns:a16="http://schemas.microsoft.com/office/drawing/2014/main" id="{607FEF72-9532-B90A-7EE3-A15762489037}"/>
              </a:ext>
            </a:extLst>
          </p:cNvPr>
          <p:cNvCxnSpPr>
            <a:cxnSpLocks/>
            <a:stCxn id="38" idx="1"/>
          </p:cNvCxnSpPr>
          <p:nvPr/>
        </p:nvCxnSpPr>
        <p:spPr>
          <a:xfrm>
            <a:off x="3813916" y="2199695"/>
            <a:ext cx="1843092" cy="538452"/>
          </a:xfrm>
          <a:prstGeom prst="line">
            <a:avLst/>
          </a:prstGeom>
          <a:ln w="28575">
            <a:solidFill>
              <a:schemeClr val="bg1">
                <a:lumMod val="10000"/>
                <a:alpha val="7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118" name="Straight Connector 117">
            <a:extLst>
              <a:ext uri="{FF2B5EF4-FFF2-40B4-BE49-F238E27FC236}">
                <a16:creationId xmlns:a16="http://schemas.microsoft.com/office/drawing/2014/main" id="{FC6C5A81-AD59-3CA2-87E8-A17E683FA347}"/>
              </a:ext>
            </a:extLst>
          </p:cNvPr>
          <p:cNvCxnSpPr>
            <a:cxnSpLocks/>
            <a:endCxn id="24" idx="1"/>
          </p:cNvCxnSpPr>
          <p:nvPr/>
        </p:nvCxnSpPr>
        <p:spPr>
          <a:xfrm>
            <a:off x="4084149" y="2199695"/>
            <a:ext cx="1888947" cy="539463"/>
          </a:xfrm>
          <a:prstGeom prst="line">
            <a:avLst/>
          </a:prstGeom>
          <a:ln w="28575">
            <a:solidFill>
              <a:schemeClr val="bg1">
                <a:lumMod val="10000"/>
                <a:alpha val="7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120" name="Straight Connector 119">
            <a:extLst>
              <a:ext uri="{FF2B5EF4-FFF2-40B4-BE49-F238E27FC236}">
                <a16:creationId xmlns:a16="http://schemas.microsoft.com/office/drawing/2014/main" id="{BA24FFD7-DED6-1B62-6C43-AB119505319A}"/>
              </a:ext>
            </a:extLst>
          </p:cNvPr>
          <p:cNvCxnSpPr>
            <a:cxnSpLocks/>
            <a:endCxn id="24" idx="3"/>
          </p:cNvCxnSpPr>
          <p:nvPr/>
        </p:nvCxnSpPr>
        <p:spPr>
          <a:xfrm>
            <a:off x="4914032" y="2199189"/>
            <a:ext cx="2255787" cy="539969"/>
          </a:xfrm>
          <a:prstGeom prst="line">
            <a:avLst/>
          </a:prstGeom>
          <a:ln w="28575">
            <a:solidFill>
              <a:schemeClr val="bg1">
                <a:lumMod val="10000"/>
                <a:alpha val="7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122" name="Straight Connector 121">
            <a:extLst>
              <a:ext uri="{FF2B5EF4-FFF2-40B4-BE49-F238E27FC236}">
                <a16:creationId xmlns:a16="http://schemas.microsoft.com/office/drawing/2014/main" id="{52D9AEE5-8449-0BFE-D2AB-2B8B8252C36F}"/>
              </a:ext>
            </a:extLst>
          </p:cNvPr>
          <p:cNvCxnSpPr>
            <a:cxnSpLocks/>
            <a:endCxn id="7" idx="1"/>
          </p:cNvCxnSpPr>
          <p:nvPr/>
        </p:nvCxnSpPr>
        <p:spPr>
          <a:xfrm flipH="1">
            <a:off x="5322065" y="2749851"/>
            <a:ext cx="345769" cy="555208"/>
          </a:xfrm>
          <a:prstGeom prst="line">
            <a:avLst/>
          </a:prstGeom>
          <a:ln w="28575">
            <a:solidFill>
              <a:schemeClr val="bg1">
                <a:lumMod val="10000"/>
                <a:alpha val="7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124" name="Straight Connector 123">
            <a:extLst>
              <a:ext uri="{FF2B5EF4-FFF2-40B4-BE49-F238E27FC236}">
                <a16:creationId xmlns:a16="http://schemas.microsoft.com/office/drawing/2014/main" id="{EF19FB59-0D55-ABEF-8509-5A43D668D921}"/>
              </a:ext>
            </a:extLst>
          </p:cNvPr>
          <p:cNvCxnSpPr>
            <a:cxnSpLocks/>
            <a:endCxn id="7" idx="3"/>
          </p:cNvCxnSpPr>
          <p:nvPr/>
        </p:nvCxnSpPr>
        <p:spPr>
          <a:xfrm flipH="1">
            <a:off x="5584723" y="2755035"/>
            <a:ext cx="388372" cy="550024"/>
          </a:xfrm>
          <a:prstGeom prst="line">
            <a:avLst/>
          </a:prstGeom>
          <a:ln w="28575">
            <a:solidFill>
              <a:schemeClr val="bg1">
                <a:lumMod val="10000"/>
                <a:alpha val="7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126" name="Straight Connector 125">
            <a:extLst>
              <a:ext uri="{FF2B5EF4-FFF2-40B4-BE49-F238E27FC236}">
                <a16:creationId xmlns:a16="http://schemas.microsoft.com/office/drawing/2014/main" id="{5C427393-E906-D922-2C31-0AC38526EAF9}"/>
              </a:ext>
            </a:extLst>
          </p:cNvPr>
          <p:cNvCxnSpPr>
            <a:cxnSpLocks/>
            <a:endCxn id="8" idx="3"/>
          </p:cNvCxnSpPr>
          <p:nvPr/>
        </p:nvCxnSpPr>
        <p:spPr>
          <a:xfrm flipH="1">
            <a:off x="6801819" y="2755035"/>
            <a:ext cx="359965" cy="550024"/>
          </a:xfrm>
          <a:prstGeom prst="line">
            <a:avLst/>
          </a:prstGeom>
          <a:ln w="28575">
            <a:solidFill>
              <a:schemeClr val="bg1">
                <a:lumMod val="10000"/>
                <a:alpha val="7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128" name="Straight Connector 127">
            <a:extLst>
              <a:ext uri="{FF2B5EF4-FFF2-40B4-BE49-F238E27FC236}">
                <a16:creationId xmlns:a16="http://schemas.microsoft.com/office/drawing/2014/main" id="{558E672F-B8AE-7D4F-A13E-DE71FBC9D7D7}"/>
              </a:ext>
            </a:extLst>
          </p:cNvPr>
          <p:cNvCxnSpPr>
            <a:cxnSpLocks/>
            <a:endCxn id="6" idx="1"/>
          </p:cNvCxnSpPr>
          <p:nvPr/>
        </p:nvCxnSpPr>
        <p:spPr>
          <a:xfrm flipH="1">
            <a:off x="3842310" y="2738147"/>
            <a:ext cx="736641" cy="566912"/>
          </a:xfrm>
          <a:prstGeom prst="line">
            <a:avLst/>
          </a:prstGeom>
          <a:ln w="28575">
            <a:solidFill>
              <a:schemeClr val="bg1">
                <a:lumMod val="10000"/>
                <a:alpha val="7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132" name="Straight Connector 131">
            <a:extLst>
              <a:ext uri="{FF2B5EF4-FFF2-40B4-BE49-F238E27FC236}">
                <a16:creationId xmlns:a16="http://schemas.microsoft.com/office/drawing/2014/main" id="{0AF50382-21D3-8065-2CF2-8762EFA1798F}"/>
              </a:ext>
            </a:extLst>
          </p:cNvPr>
          <p:cNvCxnSpPr>
            <a:cxnSpLocks/>
            <a:stCxn id="22" idx="3"/>
          </p:cNvCxnSpPr>
          <p:nvPr/>
        </p:nvCxnSpPr>
        <p:spPr>
          <a:xfrm flipH="1">
            <a:off x="4110201" y="2739158"/>
            <a:ext cx="716214" cy="577605"/>
          </a:xfrm>
          <a:prstGeom prst="line">
            <a:avLst/>
          </a:prstGeom>
          <a:ln w="28575">
            <a:solidFill>
              <a:schemeClr val="bg1">
                <a:lumMod val="10000"/>
                <a:alpha val="7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134" name="Straight Connector 133">
            <a:extLst>
              <a:ext uri="{FF2B5EF4-FFF2-40B4-BE49-F238E27FC236}">
                <a16:creationId xmlns:a16="http://schemas.microsoft.com/office/drawing/2014/main" id="{2FC81608-C739-DE24-A973-A91226FA1BF8}"/>
              </a:ext>
            </a:extLst>
          </p:cNvPr>
          <p:cNvCxnSpPr>
            <a:cxnSpLocks/>
            <a:endCxn id="22" idx="1"/>
          </p:cNvCxnSpPr>
          <p:nvPr/>
        </p:nvCxnSpPr>
        <p:spPr>
          <a:xfrm>
            <a:off x="3378965" y="2199189"/>
            <a:ext cx="1184792" cy="539969"/>
          </a:xfrm>
          <a:prstGeom prst="line">
            <a:avLst/>
          </a:prstGeom>
          <a:ln w="28575">
            <a:solidFill>
              <a:schemeClr val="bg1">
                <a:lumMod val="10000"/>
                <a:alpha val="7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136" name="Straight Connector 135">
            <a:extLst>
              <a:ext uri="{FF2B5EF4-FFF2-40B4-BE49-F238E27FC236}">
                <a16:creationId xmlns:a16="http://schemas.microsoft.com/office/drawing/2014/main" id="{97AEA123-F013-FFA7-49C5-D4588953A9E4}"/>
              </a:ext>
            </a:extLst>
          </p:cNvPr>
          <p:cNvCxnSpPr>
            <a:cxnSpLocks/>
            <a:endCxn id="22" idx="0"/>
          </p:cNvCxnSpPr>
          <p:nvPr/>
        </p:nvCxnSpPr>
        <p:spPr>
          <a:xfrm>
            <a:off x="3591581" y="2196157"/>
            <a:ext cx="1103505" cy="482408"/>
          </a:xfrm>
          <a:prstGeom prst="line">
            <a:avLst/>
          </a:prstGeom>
          <a:ln w="28575">
            <a:solidFill>
              <a:schemeClr val="bg1">
                <a:lumMod val="10000"/>
                <a:alpha val="7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138" name="Straight Connector 137">
            <a:extLst>
              <a:ext uri="{FF2B5EF4-FFF2-40B4-BE49-F238E27FC236}">
                <a16:creationId xmlns:a16="http://schemas.microsoft.com/office/drawing/2014/main" id="{BD00FF55-F6B1-BB41-CC53-5F364D94FAF0}"/>
              </a:ext>
            </a:extLst>
          </p:cNvPr>
          <p:cNvCxnSpPr>
            <a:cxnSpLocks/>
            <a:endCxn id="57" idx="3"/>
          </p:cNvCxnSpPr>
          <p:nvPr/>
        </p:nvCxnSpPr>
        <p:spPr>
          <a:xfrm flipH="1">
            <a:off x="3602366" y="1655684"/>
            <a:ext cx="1405946" cy="544011"/>
          </a:xfrm>
          <a:prstGeom prst="line">
            <a:avLst/>
          </a:prstGeom>
          <a:ln w="28575">
            <a:solidFill>
              <a:schemeClr val="bg1">
                <a:lumMod val="10000"/>
                <a:alpha val="7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140" name="Straight Connector 139">
            <a:extLst>
              <a:ext uri="{FF2B5EF4-FFF2-40B4-BE49-F238E27FC236}">
                <a16:creationId xmlns:a16="http://schemas.microsoft.com/office/drawing/2014/main" id="{ADA9479C-23C4-16A1-CBD1-3384668D3694}"/>
              </a:ext>
            </a:extLst>
          </p:cNvPr>
          <p:cNvCxnSpPr>
            <a:cxnSpLocks/>
            <a:endCxn id="57" idx="1"/>
          </p:cNvCxnSpPr>
          <p:nvPr/>
        </p:nvCxnSpPr>
        <p:spPr>
          <a:xfrm flipH="1">
            <a:off x="3378966" y="1678103"/>
            <a:ext cx="1398721" cy="521592"/>
          </a:xfrm>
          <a:prstGeom prst="line">
            <a:avLst/>
          </a:prstGeom>
          <a:ln w="28575">
            <a:solidFill>
              <a:schemeClr val="bg1">
                <a:lumMod val="10000"/>
                <a:alpha val="7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31" name="Double Bracket 30">
            <a:extLst>
              <a:ext uri="{FF2B5EF4-FFF2-40B4-BE49-F238E27FC236}">
                <a16:creationId xmlns:a16="http://schemas.microsoft.com/office/drawing/2014/main" id="{8C1FE0C5-38B0-8C33-4E2F-4BA5E1EEE505}"/>
              </a:ext>
            </a:extLst>
          </p:cNvPr>
          <p:cNvSpPr/>
          <p:nvPr/>
        </p:nvSpPr>
        <p:spPr>
          <a:xfrm>
            <a:off x="1719684" y="4004629"/>
            <a:ext cx="481337" cy="834477"/>
          </a:xfrm>
          <a:prstGeom prst="bracketPair">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4" name="Rectangle 33">
            <a:extLst>
              <a:ext uri="{FF2B5EF4-FFF2-40B4-BE49-F238E27FC236}">
                <a16:creationId xmlns:a16="http://schemas.microsoft.com/office/drawing/2014/main" id="{174ECE1B-6CB8-E922-80C4-84E8E96CC6EB}"/>
              </a:ext>
            </a:extLst>
          </p:cNvPr>
          <p:cNvSpPr/>
          <p:nvPr/>
        </p:nvSpPr>
        <p:spPr>
          <a:xfrm>
            <a:off x="1831741" y="4078824"/>
            <a:ext cx="262658" cy="121186"/>
          </a:xfrm>
          <a:prstGeom prst="rect">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226CF1B4-A4CC-C4F8-D729-09D9F6E551C3}"/>
              </a:ext>
            </a:extLst>
          </p:cNvPr>
          <p:cNvSpPr/>
          <p:nvPr/>
        </p:nvSpPr>
        <p:spPr>
          <a:xfrm>
            <a:off x="1831741" y="4267463"/>
            <a:ext cx="262658" cy="121186"/>
          </a:xfrm>
          <a:prstGeom prst="rect">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a:extLst>
              <a:ext uri="{FF2B5EF4-FFF2-40B4-BE49-F238E27FC236}">
                <a16:creationId xmlns:a16="http://schemas.microsoft.com/office/drawing/2014/main" id="{C65296AA-3442-21F7-708B-A92E7732D0CF}"/>
              </a:ext>
            </a:extLst>
          </p:cNvPr>
          <p:cNvSpPr/>
          <p:nvPr/>
        </p:nvSpPr>
        <p:spPr>
          <a:xfrm>
            <a:off x="1831741" y="4456102"/>
            <a:ext cx="262658" cy="121186"/>
          </a:xfrm>
          <a:prstGeom prst="rect">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a:extLst>
              <a:ext uri="{FF2B5EF4-FFF2-40B4-BE49-F238E27FC236}">
                <a16:creationId xmlns:a16="http://schemas.microsoft.com/office/drawing/2014/main" id="{77A18844-4524-FBEF-5984-C5B1EE50316B}"/>
              </a:ext>
            </a:extLst>
          </p:cNvPr>
          <p:cNvSpPr/>
          <p:nvPr/>
        </p:nvSpPr>
        <p:spPr>
          <a:xfrm>
            <a:off x="1831741" y="4644742"/>
            <a:ext cx="262658" cy="121186"/>
          </a:xfrm>
          <a:prstGeom prst="rect">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Double Bracket 44">
            <a:extLst>
              <a:ext uri="{FF2B5EF4-FFF2-40B4-BE49-F238E27FC236}">
                <a16:creationId xmlns:a16="http://schemas.microsoft.com/office/drawing/2014/main" id="{ED650278-0548-D79F-FF2A-C729EE4B08DC}"/>
              </a:ext>
            </a:extLst>
          </p:cNvPr>
          <p:cNvSpPr/>
          <p:nvPr/>
        </p:nvSpPr>
        <p:spPr>
          <a:xfrm>
            <a:off x="3728957" y="4004629"/>
            <a:ext cx="481337" cy="834477"/>
          </a:xfrm>
          <a:prstGeom prst="bracketPair">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6" name="Rectangle 45">
            <a:extLst>
              <a:ext uri="{FF2B5EF4-FFF2-40B4-BE49-F238E27FC236}">
                <a16:creationId xmlns:a16="http://schemas.microsoft.com/office/drawing/2014/main" id="{234E25FB-2A60-1BEA-4C30-6CD1DC31B63C}"/>
              </a:ext>
            </a:extLst>
          </p:cNvPr>
          <p:cNvSpPr/>
          <p:nvPr/>
        </p:nvSpPr>
        <p:spPr>
          <a:xfrm>
            <a:off x="3841014" y="4078824"/>
            <a:ext cx="262658" cy="121186"/>
          </a:xfrm>
          <a:prstGeom prst="rect">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a:extLst>
              <a:ext uri="{FF2B5EF4-FFF2-40B4-BE49-F238E27FC236}">
                <a16:creationId xmlns:a16="http://schemas.microsoft.com/office/drawing/2014/main" id="{9A12D153-840B-D4CD-D0E6-00959CAFD0C7}"/>
              </a:ext>
            </a:extLst>
          </p:cNvPr>
          <p:cNvSpPr/>
          <p:nvPr/>
        </p:nvSpPr>
        <p:spPr>
          <a:xfrm>
            <a:off x="3841014" y="4267463"/>
            <a:ext cx="262658" cy="121186"/>
          </a:xfrm>
          <a:prstGeom prst="rect">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a:extLst>
              <a:ext uri="{FF2B5EF4-FFF2-40B4-BE49-F238E27FC236}">
                <a16:creationId xmlns:a16="http://schemas.microsoft.com/office/drawing/2014/main" id="{4A450BBD-4593-2736-8F8C-610D2AA72327}"/>
              </a:ext>
            </a:extLst>
          </p:cNvPr>
          <p:cNvSpPr/>
          <p:nvPr/>
        </p:nvSpPr>
        <p:spPr>
          <a:xfrm>
            <a:off x="3841014" y="4456102"/>
            <a:ext cx="262658" cy="121186"/>
          </a:xfrm>
          <a:prstGeom prst="rect">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ectangle 48">
            <a:extLst>
              <a:ext uri="{FF2B5EF4-FFF2-40B4-BE49-F238E27FC236}">
                <a16:creationId xmlns:a16="http://schemas.microsoft.com/office/drawing/2014/main" id="{916481E7-166C-24C3-F46D-B3669508012A}"/>
              </a:ext>
            </a:extLst>
          </p:cNvPr>
          <p:cNvSpPr/>
          <p:nvPr/>
        </p:nvSpPr>
        <p:spPr>
          <a:xfrm>
            <a:off x="3841014" y="4644742"/>
            <a:ext cx="262658" cy="121186"/>
          </a:xfrm>
          <a:prstGeom prst="rect">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0" name="Straight Arrow Connector 49">
            <a:extLst>
              <a:ext uri="{FF2B5EF4-FFF2-40B4-BE49-F238E27FC236}">
                <a16:creationId xmlns:a16="http://schemas.microsoft.com/office/drawing/2014/main" id="{36D2E4C1-030E-4652-492C-5BF7871675F5}"/>
              </a:ext>
            </a:extLst>
          </p:cNvPr>
          <p:cNvCxnSpPr>
            <a:cxnSpLocks/>
          </p:cNvCxnSpPr>
          <p:nvPr/>
        </p:nvCxnSpPr>
        <p:spPr>
          <a:xfrm>
            <a:off x="1969186" y="3776269"/>
            <a:ext cx="0" cy="189844"/>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53" name="Straight Arrow Connector 52">
            <a:extLst>
              <a:ext uri="{FF2B5EF4-FFF2-40B4-BE49-F238E27FC236}">
                <a16:creationId xmlns:a16="http://schemas.microsoft.com/office/drawing/2014/main" id="{38438886-9A65-63C3-2175-2DADB871C82D}"/>
              </a:ext>
            </a:extLst>
          </p:cNvPr>
          <p:cNvCxnSpPr>
            <a:cxnSpLocks/>
          </p:cNvCxnSpPr>
          <p:nvPr/>
        </p:nvCxnSpPr>
        <p:spPr>
          <a:xfrm>
            <a:off x="3976661" y="3782619"/>
            <a:ext cx="0" cy="189844"/>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54" name="Text Placeholder 2">
            <a:extLst>
              <a:ext uri="{FF2B5EF4-FFF2-40B4-BE49-F238E27FC236}">
                <a16:creationId xmlns:a16="http://schemas.microsoft.com/office/drawing/2014/main" id="{941FCC06-36FA-19B5-45CD-30B1EDE5505E}"/>
              </a:ext>
            </a:extLst>
          </p:cNvPr>
          <p:cNvSpPr txBox="1">
            <a:spLocks/>
          </p:cNvSpPr>
          <p:nvPr/>
        </p:nvSpPr>
        <p:spPr>
          <a:xfrm>
            <a:off x="4735462" y="4125768"/>
            <a:ext cx="1380863" cy="40457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79400" algn="l" rtl="0">
              <a:lnSpc>
                <a:spcPct val="115000"/>
              </a:lnSpc>
              <a:spcBef>
                <a:spcPts val="0"/>
              </a:spcBef>
              <a:spcAft>
                <a:spcPts val="0"/>
              </a:spcAft>
              <a:buClr>
                <a:schemeClr val="dk1"/>
              </a:buClr>
              <a:buSzPts val="800"/>
              <a:buFont typeface="Hanken Grotesk"/>
              <a:buChar char="●"/>
              <a:defRPr sz="1400" b="0" i="0" u="none" strike="noStrike" cap="none">
                <a:solidFill>
                  <a:schemeClr val="dk1"/>
                </a:solidFill>
                <a:latin typeface="Hanken Grotesk"/>
                <a:ea typeface="Hanken Grotesk"/>
                <a:cs typeface="Hanken Grotesk"/>
                <a:sym typeface="Hanken Grotesk"/>
              </a:defRPr>
            </a:lvl1pPr>
            <a:lvl2pPr marL="914400" marR="0" lvl="1"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2pPr>
            <a:lvl3pPr marL="1371600" marR="0" lvl="2"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3pPr>
            <a:lvl4pPr marL="1828800" marR="0" lvl="3"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4pPr>
            <a:lvl5pPr marL="2286000" marR="0" lvl="4"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5pPr>
            <a:lvl6pPr marL="2743200" marR="0" lvl="5"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6pPr>
            <a:lvl7pPr marL="3200400" marR="0" lvl="6"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7pPr>
            <a:lvl8pPr marL="3657600" marR="0" lvl="7"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8pPr>
            <a:lvl9pPr marL="4114800" marR="0" lvl="8"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9pPr>
          </a:lstStyle>
          <a:p>
            <a:pPr marL="177800" indent="0" algn="ctr">
              <a:buFont typeface="Hanken Grotesk"/>
              <a:buNone/>
            </a:pPr>
            <a:endParaRPr lang="en-US" dirty="0"/>
          </a:p>
        </p:txBody>
      </p:sp>
      <p:sp>
        <p:nvSpPr>
          <p:cNvPr id="55" name="Text Placeholder 2">
            <a:extLst>
              <a:ext uri="{FF2B5EF4-FFF2-40B4-BE49-F238E27FC236}">
                <a16:creationId xmlns:a16="http://schemas.microsoft.com/office/drawing/2014/main" id="{5482B673-2FDC-1085-7108-5F4A4F31D0E8}"/>
              </a:ext>
            </a:extLst>
          </p:cNvPr>
          <p:cNvSpPr txBox="1">
            <a:spLocks/>
          </p:cNvSpPr>
          <p:nvPr/>
        </p:nvSpPr>
        <p:spPr>
          <a:xfrm>
            <a:off x="5033164" y="3876536"/>
            <a:ext cx="2706172" cy="40457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79400" algn="l" rtl="0">
              <a:lnSpc>
                <a:spcPct val="115000"/>
              </a:lnSpc>
              <a:spcBef>
                <a:spcPts val="0"/>
              </a:spcBef>
              <a:spcAft>
                <a:spcPts val="0"/>
              </a:spcAft>
              <a:buClr>
                <a:schemeClr val="dk1"/>
              </a:buClr>
              <a:buSzPts val="800"/>
              <a:buFont typeface="Hanken Grotesk"/>
              <a:buChar char="●"/>
              <a:defRPr sz="1400" b="0" i="0" u="none" strike="noStrike" cap="none">
                <a:solidFill>
                  <a:schemeClr val="dk1"/>
                </a:solidFill>
                <a:latin typeface="Hanken Grotesk"/>
                <a:ea typeface="Hanken Grotesk"/>
                <a:cs typeface="Hanken Grotesk"/>
                <a:sym typeface="Hanken Grotesk"/>
              </a:defRPr>
            </a:lvl1pPr>
            <a:lvl2pPr marL="914400" marR="0" lvl="1"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2pPr>
            <a:lvl3pPr marL="1371600" marR="0" lvl="2"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3pPr>
            <a:lvl4pPr marL="1828800" marR="0" lvl="3"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4pPr>
            <a:lvl5pPr marL="2286000" marR="0" lvl="4"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5pPr>
            <a:lvl6pPr marL="2743200" marR="0" lvl="5"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6pPr>
            <a:lvl7pPr marL="3200400" marR="0" lvl="6"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7pPr>
            <a:lvl8pPr marL="3657600" marR="0" lvl="7"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8pPr>
            <a:lvl9pPr marL="4114800" marR="0" lvl="8"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9pPr>
          </a:lstStyle>
          <a:p>
            <a:pPr marL="0" indent="0" algn="ctr">
              <a:buFont typeface="Hanken Grotesk"/>
              <a:buNone/>
            </a:pPr>
            <a:r>
              <a:rPr lang="en-US" dirty="0"/>
              <a:t>Evolution provides observations of diverged sequences with similar function</a:t>
            </a:r>
          </a:p>
        </p:txBody>
      </p:sp>
    </p:spTree>
    <p:extLst>
      <p:ext uri="{BB962C8B-B14F-4D97-AF65-F5344CB8AC3E}">
        <p14:creationId xmlns:p14="http://schemas.microsoft.com/office/powerpoint/2010/main" val="26054542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77"/>
                                        </p:tgtEl>
                                      </p:cBhvr>
                                    </p:animEffect>
                                    <p:set>
                                      <p:cBhvr>
                                        <p:cTn id="7" dur="1" fill="hold">
                                          <p:stCondLst>
                                            <p:cond delay="499"/>
                                          </p:stCondLst>
                                        </p:cTn>
                                        <p:tgtEl>
                                          <p:spTgt spid="77"/>
                                        </p:tgtEl>
                                        <p:attrNameLst>
                                          <p:attrName>style.visibility</p:attrName>
                                        </p:attrNameLst>
                                      </p:cBhvr>
                                      <p:to>
                                        <p:strVal val="hidden"/>
                                      </p:to>
                                    </p:set>
                                  </p:childTnLst>
                                </p:cTn>
                              </p:par>
                              <p:par>
                                <p:cTn id="8" presetID="10" presetClass="exit" presetSubtype="0" fill="hold" grpId="0" nodeType="withEffect">
                                  <p:stCondLst>
                                    <p:cond delay="0"/>
                                  </p:stCondLst>
                                  <p:childTnLst>
                                    <p:animEffect transition="out" filter="fade">
                                      <p:cBhvr>
                                        <p:cTn id="9" dur="500"/>
                                        <p:tgtEl>
                                          <p:spTgt spid="74"/>
                                        </p:tgtEl>
                                      </p:cBhvr>
                                    </p:animEffect>
                                    <p:set>
                                      <p:cBhvr>
                                        <p:cTn id="10" dur="1" fill="hold">
                                          <p:stCondLst>
                                            <p:cond delay="499"/>
                                          </p:stCondLst>
                                        </p:cTn>
                                        <p:tgtEl>
                                          <p:spTgt spid="74"/>
                                        </p:tgtEl>
                                        <p:attrNameLst>
                                          <p:attrName>style.visibility</p:attrName>
                                        </p:attrNameLst>
                                      </p:cBhvr>
                                      <p:to>
                                        <p:strVal val="hidden"/>
                                      </p:to>
                                    </p:set>
                                  </p:childTnLst>
                                </p:cTn>
                              </p:par>
                              <p:par>
                                <p:cTn id="11" presetID="10" presetClass="exit" presetSubtype="0" fill="hold" grpId="0" nodeType="withEffect">
                                  <p:stCondLst>
                                    <p:cond delay="0"/>
                                  </p:stCondLst>
                                  <p:childTnLst>
                                    <p:animEffect transition="out" filter="fade">
                                      <p:cBhvr>
                                        <p:cTn id="12" dur="500"/>
                                        <p:tgtEl>
                                          <p:spTgt spid="80"/>
                                        </p:tgtEl>
                                      </p:cBhvr>
                                    </p:animEffect>
                                    <p:set>
                                      <p:cBhvr>
                                        <p:cTn id="13" dur="1" fill="hold">
                                          <p:stCondLst>
                                            <p:cond delay="499"/>
                                          </p:stCondLst>
                                        </p:cTn>
                                        <p:tgtEl>
                                          <p:spTgt spid="80"/>
                                        </p:tgtEl>
                                        <p:attrNameLst>
                                          <p:attrName>style.visibility</p:attrName>
                                        </p:attrNameLst>
                                      </p:cBhvr>
                                      <p:to>
                                        <p:strVal val="hidden"/>
                                      </p:to>
                                    </p:set>
                                  </p:childTnLst>
                                </p:cTn>
                              </p:par>
                              <p:par>
                                <p:cTn id="14" presetID="10" presetClass="exit" presetSubtype="0" fill="hold" grpId="0" nodeType="withEffect">
                                  <p:stCondLst>
                                    <p:cond delay="0"/>
                                  </p:stCondLst>
                                  <p:childTnLst>
                                    <p:animEffect transition="out" filter="fade">
                                      <p:cBhvr>
                                        <p:cTn id="15" dur="500"/>
                                        <p:tgtEl>
                                          <p:spTgt spid="42"/>
                                        </p:tgtEl>
                                      </p:cBhvr>
                                    </p:animEffect>
                                    <p:set>
                                      <p:cBhvr>
                                        <p:cTn id="16" dur="1" fill="hold">
                                          <p:stCondLst>
                                            <p:cond delay="499"/>
                                          </p:stCondLst>
                                        </p:cTn>
                                        <p:tgtEl>
                                          <p:spTgt spid="42"/>
                                        </p:tgtEl>
                                        <p:attrNameLst>
                                          <p:attrName>style.visibility</p:attrName>
                                        </p:attrNameLst>
                                      </p:cBhvr>
                                      <p:to>
                                        <p:strVal val="hidden"/>
                                      </p:to>
                                    </p:set>
                                  </p:childTnLst>
                                </p:cTn>
                              </p:par>
                              <p:par>
                                <p:cTn id="17" presetID="10" presetClass="exit" presetSubtype="0" fill="hold" grpId="0" nodeType="withEffect">
                                  <p:stCondLst>
                                    <p:cond delay="0"/>
                                  </p:stCondLst>
                                  <p:childTnLst>
                                    <p:animEffect transition="out" filter="fade">
                                      <p:cBhvr>
                                        <p:cTn id="18" dur="500"/>
                                        <p:tgtEl>
                                          <p:spTgt spid="41"/>
                                        </p:tgtEl>
                                      </p:cBhvr>
                                    </p:animEffect>
                                    <p:set>
                                      <p:cBhvr>
                                        <p:cTn id="19" dur="1" fill="hold">
                                          <p:stCondLst>
                                            <p:cond delay="499"/>
                                          </p:stCondLst>
                                        </p:cTn>
                                        <p:tgtEl>
                                          <p:spTgt spid="41"/>
                                        </p:tgtEl>
                                        <p:attrNameLst>
                                          <p:attrName>style.visibility</p:attrName>
                                        </p:attrNameLst>
                                      </p:cBhvr>
                                      <p:to>
                                        <p:strVal val="hidden"/>
                                      </p:to>
                                    </p:set>
                                  </p:childTnLst>
                                </p:cTn>
                              </p:par>
                              <p:par>
                                <p:cTn id="20" presetID="10" presetClass="exit" presetSubtype="0" fill="hold" grpId="0" nodeType="withEffect">
                                  <p:stCondLst>
                                    <p:cond delay="0"/>
                                  </p:stCondLst>
                                  <p:childTnLst>
                                    <p:animEffect transition="out" filter="fade">
                                      <p:cBhvr>
                                        <p:cTn id="21" dur="500"/>
                                        <p:tgtEl>
                                          <p:spTgt spid="28"/>
                                        </p:tgtEl>
                                      </p:cBhvr>
                                    </p:animEffect>
                                    <p:set>
                                      <p:cBhvr>
                                        <p:cTn id="22" dur="1" fill="hold">
                                          <p:stCondLst>
                                            <p:cond delay="499"/>
                                          </p:stCondLst>
                                        </p:cTn>
                                        <p:tgtEl>
                                          <p:spTgt spid="28"/>
                                        </p:tgtEl>
                                        <p:attrNameLst>
                                          <p:attrName>style.visibility</p:attrName>
                                        </p:attrNameLst>
                                      </p:cBhvr>
                                      <p:to>
                                        <p:strVal val="hidden"/>
                                      </p:to>
                                    </p:set>
                                  </p:childTnLst>
                                </p:cTn>
                              </p:par>
                              <p:par>
                                <p:cTn id="23" presetID="10" presetClass="exit" presetSubtype="0" fill="hold" grpId="0" nodeType="withEffect">
                                  <p:stCondLst>
                                    <p:cond delay="0"/>
                                  </p:stCondLst>
                                  <p:childTnLst>
                                    <p:animEffect transition="out" filter="fade">
                                      <p:cBhvr>
                                        <p:cTn id="24" dur="500"/>
                                        <p:tgtEl>
                                          <p:spTgt spid="30"/>
                                        </p:tgtEl>
                                      </p:cBhvr>
                                    </p:animEffect>
                                    <p:set>
                                      <p:cBhvr>
                                        <p:cTn id="25" dur="1" fill="hold">
                                          <p:stCondLst>
                                            <p:cond delay="499"/>
                                          </p:stCondLst>
                                        </p:cTn>
                                        <p:tgtEl>
                                          <p:spTgt spid="30"/>
                                        </p:tgtEl>
                                        <p:attrNameLst>
                                          <p:attrName>style.visibility</p:attrName>
                                        </p:attrNameLst>
                                      </p:cBhvr>
                                      <p:to>
                                        <p:strVal val="hidden"/>
                                      </p:to>
                                    </p:set>
                                  </p:childTnLst>
                                </p:cTn>
                              </p:par>
                              <p:par>
                                <p:cTn id="26" presetID="10" presetClass="exit" presetSubtype="0" fill="hold" grpId="0" nodeType="withEffect">
                                  <p:stCondLst>
                                    <p:cond delay="0"/>
                                  </p:stCondLst>
                                  <p:childTnLst>
                                    <p:animEffect transition="out" filter="fade">
                                      <p:cBhvr>
                                        <p:cTn id="27" dur="500"/>
                                        <p:tgtEl>
                                          <p:spTgt spid="32"/>
                                        </p:tgtEl>
                                      </p:cBhvr>
                                    </p:animEffect>
                                    <p:set>
                                      <p:cBhvr>
                                        <p:cTn id="28" dur="1" fill="hold">
                                          <p:stCondLst>
                                            <p:cond delay="499"/>
                                          </p:stCondLst>
                                        </p:cTn>
                                        <p:tgtEl>
                                          <p:spTgt spid="32"/>
                                        </p:tgtEl>
                                        <p:attrNameLst>
                                          <p:attrName>style.visibility</p:attrName>
                                        </p:attrNameLst>
                                      </p:cBhvr>
                                      <p:to>
                                        <p:strVal val="hidden"/>
                                      </p:to>
                                    </p:set>
                                  </p:childTnLst>
                                </p:cTn>
                              </p:par>
                              <p:par>
                                <p:cTn id="29" presetID="10" presetClass="exit" presetSubtype="0" fill="hold" grpId="0" nodeType="withEffect">
                                  <p:stCondLst>
                                    <p:cond delay="0"/>
                                  </p:stCondLst>
                                  <p:childTnLst>
                                    <p:animEffect transition="out" filter="fade">
                                      <p:cBhvr>
                                        <p:cTn id="30" dur="500"/>
                                        <p:tgtEl>
                                          <p:spTgt spid="33"/>
                                        </p:tgtEl>
                                      </p:cBhvr>
                                    </p:animEffect>
                                    <p:set>
                                      <p:cBhvr>
                                        <p:cTn id="31" dur="1" fill="hold">
                                          <p:stCondLst>
                                            <p:cond delay="499"/>
                                          </p:stCondLst>
                                        </p:cTn>
                                        <p:tgtEl>
                                          <p:spTgt spid="33"/>
                                        </p:tgtEl>
                                        <p:attrNameLst>
                                          <p:attrName>style.visibility</p:attrName>
                                        </p:attrNameLst>
                                      </p:cBhvr>
                                      <p:to>
                                        <p:strVal val="hidden"/>
                                      </p:to>
                                    </p:set>
                                  </p:childTnLst>
                                </p:cTn>
                              </p:par>
                              <p:par>
                                <p:cTn id="32" presetID="10" presetClass="exit" presetSubtype="0" fill="hold" grpId="0" nodeType="withEffect">
                                  <p:stCondLst>
                                    <p:cond delay="0"/>
                                  </p:stCondLst>
                                  <p:childTnLst>
                                    <p:animEffect transition="out" filter="fade">
                                      <p:cBhvr>
                                        <p:cTn id="33" dur="500"/>
                                        <p:tgtEl>
                                          <p:spTgt spid="26"/>
                                        </p:tgtEl>
                                      </p:cBhvr>
                                    </p:animEffect>
                                    <p:set>
                                      <p:cBhvr>
                                        <p:cTn id="34" dur="1" fill="hold">
                                          <p:stCondLst>
                                            <p:cond delay="499"/>
                                          </p:stCondLst>
                                        </p:cTn>
                                        <p:tgtEl>
                                          <p:spTgt spid="26"/>
                                        </p:tgtEl>
                                        <p:attrNameLst>
                                          <p:attrName>style.visibility</p:attrName>
                                        </p:attrNameLst>
                                      </p:cBhvr>
                                      <p:to>
                                        <p:strVal val="hidden"/>
                                      </p:to>
                                    </p:set>
                                  </p:childTnLst>
                                </p:cTn>
                              </p:par>
                              <p:par>
                                <p:cTn id="35" presetID="10" presetClass="exit" presetSubtype="0" fill="hold" grpId="0" nodeType="withEffect">
                                  <p:stCondLst>
                                    <p:cond delay="0"/>
                                  </p:stCondLst>
                                  <p:childTnLst>
                                    <p:animEffect transition="out" filter="fade">
                                      <p:cBhvr>
                                        <p:cTn id="36" dur="500"/>
                                        <p:tgtEl>
                                          <p:spTgt spid="15"/>
                                        </p:tgtEl>
                                      </p:cBhvr>
                                    </p:animEffect>
                                    <p:set>
                                      <p:cBhvr>
                                        <p:cTn id="37" dur="1" fill="hold">
                                          <p:stCondLst>
                                            <p:cond delay="499"/>
                                          </p:stCondLst>
                                        </p:cTn>
                                        <p:tgtEl>
                                          <p:spTgt spid="15"/>
                                        </p:tgtEl>
                                        <p:attrNameLst>
                                          <p:attrName>style.visibility</p:attrName>
                                        </p:attrNameLst>
                                      </p:cBhvr>
                                      <p:to>
                                        <p:strVal val="hidden"/>
                                      </p:to>
                                    </p:set>
                                  </p:childTnLst>
                                </p:cTn>
                              </p:par>
                              <p:par>
                                <p:cTn id="38" presetID="10" presetClass="exit" presetSubtype="0" fill="hold" grpId="0" nodeType="withEffect">
                                  <p:stCondLst>
                                    <p:cond delay="0"/>
                                  </p:stCondLst>
                                  <p:childTnLst>
                                    <p:animEffect transition="out" filter="fade">
                                      <p:cBhvr>
                                        <p:cTn id="39" dur="500"/>
                                        <p:tgtEl>
                                          <p:spTgt spid="14"/>
                                        </p:tgtEl>
                                      </p:cBhvr>
                                    </p:animEffect>
                                    <p:set>
                                      <p:cBhvr>
                                        <p:cTn id="40" dur="1" fill="hold">
                                          <p:stCondLst>
                                            <p:cond delay="499"/>
                                          </p:stCondLst>
                                        </p:cTn>
                                        <p:tgtEl>
                                          <p:spTgt spid="14"/>
                                        </p:tgtEl>
                                        <p:attrNameLst>
                                          <p:attrName>style.visibility</p:attrName>
                                        </p:attrNameLst>
                                      </p:cBhvr>
                                      <p:to>
                                        <p:strVal val="hidden"/>
                                      </p:to>
                                    </p:set>
                                  </p:childTnLst>
                                </p:cTn>
                              </p:par>
                              <p:par>
                                <p:cTn id="41" presetID="10" presetClass="exit" presetSubtype="0" fill="hold" grpId="0" nodeType="withEffect">
                                  <p:stCondLst>
                                    <p:cond delay="0"/>
                                  </p:stCondLst>
                                  <p:childTnLst>
                                    <p:animEffect transition="out" filter="fade">
                                      <p:cBhvr>
                                        <p:cTn id="42" dur="500"/>
                                        <p:tgtEl>
                                          <p:spTgt spid="19"/>
                                        </p:tgtEl>
                                      </p:cBhvr>
                                    </p:animEffect>
                                    <p:set>
                                      <p:cBhvr>
                                        <p:cTn id="43" dur="1" fill="hold">
                                          <p:stCondLst>
                                            <p:cond delay="499"/>
                                          </p:stCondLst>
                                        </p:cTn>
                                        <p:tgtEl>
                                          <p:spTgt spid="19"/>
                                        </p:tgtEl>
                                        <p:attrNameLst>
                                          <p:attrName>style.visibility</p:attrName>
                                        </p:attrNameLst>
                                      </p:cBhvr>
                                      <p:to>
                                        <p:strVal val="hidden"/>
                                      </p:to>
                                    </p:set>
                                  </p:childTnLst>
                                </p:cTn>
                              </p:par>
                              <p:par>
                                <p:cTn id="44" presetID="10" presetClass="exit" presetSubtype="0" fill="hold" grpId="0" nodeType="withEffect">
                                  <p:stCondLst>
                                    <p:cond delay="0"/>
                                  </p:stCondLst>
                                  <p:childTnLst>
                                    <p:animEffect transition="out" filter="fade">
                                      <p:cBhvr>
                                        <p:cTn id="45" dur="500"/>
                                        <p:tgtEl>
                                          <p:spTgt spid="18"/>
                                        </p:tgtEl>
                                      </p:cBhvr>
                                    </p:animEffect>
                                    <p:set>
                                      <p:cBhvr>
                                        <p:cTn id="46" dur="1" fill="hold">
                                          <p:stCondLst>
                                            <p:cond delay="499"/>
                                          </p:stCondLst>
                                        </p:cTn>
                                        <p:tgtEl>
                                          <p:spTgt spid="18"/>
                                        </p:tgtEl>
                                        <p:attrNameLst>
                                          <p:attrName>style.visibility</p:attrName>
                                        </p:attrNameLst>
                                      </p:cBhvr>
                                      <p:to>
                                        <p:strVal val="hidden"/>
                                      </p:to>
                                    </p:set>
                                  </p:childTnLst>
                                </p:cTn>
                              </p:par>
                              <p:par>
                                <p:cTn id="47" presetID="10" presetClass="exit" presetSubtype="0" fill="hold" grpId="0" nodeType="withEffect">
                                  <p:stCondLst>
                                    <p:cond delay="0"/>
                                  </p:stCondLst>
                                  <p:childTnLst>
                                    <p:animEffect transition="out" filter="fade">
                                      <p:cBhvr>
                                        <p:cTn id="48" dur="500"/>
                                        <p:tgtEl>
                                          <p:spTgt spid="17"/>
                                        </p:tgtEl>
                                      </p:cBhvr>
                                    </p:animEffect>
                                    <p:set>
                                      <p:cBhvr>
                                        <p:cTn id="49" dur="1" fill="hold">
                                          <p:stCondLst>
                                            <p:cond delay="499"/>
                                          </p:stCondLst>
                                        </p:cTn>
                                        <p:tgtEl>
                                          <p:spTgt spid="17"/>
                                        </p:tgtEl>
                                        <p:attrNameLst>
                                          <p:attrName>style.visibility</p:attrName>
                                        </p:attrNameLst>
                                      </p:cBhvr>
                                      <p:to>
                                        <p:strVal val="hidden"/>
                                      </p:to>
                                    </p:set>
                                  </p:childTnLst>
                                </p:cTn>
                              </p:par>
                              <p:par>
                                <p:cTn id="50" presetID="10" presetClass="exit" presetSubtype="0" fill="hold" grpId="0" nodeType="withEffect">
                                  <p:stCondLst>
                                    <p:cond delay="0"/>
                                  </p:stCondLst>
                                  <p:childTnLst>
                                    <p:animEffect transition="out" filter="fade">
                                      <p:cBhvr>
                                        <p:cTn id="51" dur="500"/>
                                        <p:tgtEl>
                                          <p:spTgt spid="16"/>
                                        </p:tgtEl>
                                      </p:cBhvr>
                                    </p:animEffect>
                                    <p:set>
                                      <p:cBhvr>
                                        <p:cTn id="52" dur="1" fill="hold">
                                          <p:stCondLst>
                                            <p:cond delay="499"/>
                                          </p:stCondLst>
                                        </p:cTn>
                                        <p:tgtEl>
                                          <p:spTgt spid="16"/>
                                        </p:tgtEl>
                                        <p:attrNameLst>
                                          <p:attrName>style.visibility</p:attrName>
                                        </p:attrNameLst>
                                      </p:cBhvr>
                                      <p:to>
                                        <p:strVal val="hidden"/>
                                      </p:to>
                                    </p:set>
                                  </p:childTnLst>
                                </p:cTn>
                              </p:par>
                              <p:par>
                                <p:cTn id="53" presetID="10" presetClass="exit" presetSubtype="0" fill="hold" grpId="0" nodeType="withEffect">
                                  <p:stCondLst>
                                    <p:cond delay="0"/>
                                  </p:stCondLst>
                                  <p:childTnLst>
                                    <p:animEffect transition="out" filter="fade">
                                      <p:cBhvr>
                                        <p:cTn id="54" dur="500"/>
                                        <p:tgtEl>
                                          <p:spTgt spid="13"/>
                                        </p:tgtEl>
                                      </p:cBhvr>
                                    </p:animEffect>
                                    <p:set>
                                      <p:cBhvr>
                                        <p:cTn id="55" dur="1" fill="hold">
                                          <p:stCondLst>
                                            <p:cond delay="499"/>
                                          </p:stCondLst>
                                        </p:cTn>
                                        <p:tgtEl>
                                          <p:spTgt spid="13"/>
                                        </p:tgtEl>
                                        <p:attrNameLst>
                                          <p:attrName>style.visibility</p:attrName>
                                        </p:attrNameLst>
                                      </p:cBhvr>
                                      <p:to>
                                        <p:strVal val="hidden"/>
                                      </p:to>
                                    </p:set>
                                  </p:childTnLst>
                                </p:cTn>
                              </p:par>
                              <p:par>
                                <p:cTn id="56" presetID="10" presetClass="exit" presetSubtype="0" fill="hold" grpId="0" nodeType="withEffect">
                                  <p:stCondLst>
                                    <p:cond delay="0"/>
                                  </p:stCondLst>
                                  <p:childTnLst>
                                    <p:animEffect transition="out" filter="fade">
                                      <p:cBhvr>
                                        <p:cTn id="57" dur="500"/>
                                        <p:tgtEl>
                                          <p:spTgt spid="40"/>
                                        </p:tgtEl>
                                      </p:cBhvr>
                                    </p:animEffect>
                                    <p:set>
                                      <p:cBhvr>
                                        <p:cTn id="58" dur="1" fill="hold">
                                          <p:stCondLst>
                                            <p:cond delay="499"/>
                                          </p:stCondLst>
                                        </p:cTn>
                                        <p:tgtEl>
                                          <p:spTgt spid="40"/>
                                        </p:tgtEl>
                                        <p:attrNameLst>
                                          <p:attrName>style.visibility</p:attrName>
                                        </p:attrNameLst>
                                      </p:cBhvr>
                                      <p:to>
                                        <p:strVal val="hidden"/>
                                      </p:to>
                                    </p:set>
                                  </p:childTnLst>
                                </p:cTn>
                              </p:par>
                              <p:par>
                                <p:cTn id="59" presetID="10" presetClass="exit" presetSubtype="0" fill="hold" grpId="0" nodeType="withEffect">
                                  <p:stCondLst>
                                    <p:cond delay="0"/>
                                  </p:stCondLst>
                                  <p:childTnLst>
                                    <p:animEffect transition="out" filter="fade">
                                      <p:cBhvr>
                                        <p:cTn id="60" dur="500"/>
                                        <p:tgtEl>
                                          <p:spTgt spid="25"/>
                                        </p:tgtEl>
                                      </p:cBhvr>
                                    </p:animEffect>
                                    <p:set>
                                      <p:cBhvr>
                                        <p:cTn id="61" dur="1" fill="hold">
                                          <p:stCondLst>
                                            <p:cond delay="499"/>
                                          </p:stCondLst>
                                        </p:cTn>
                                        <p:tgtEl>
                                          <p:spTgt spid="25"/>
                                        </p:tgtEl>
                                        <p:attrNameLst>
                                          <p:attrName>style.visibility</p:attrName>
                                        </p:attrNameLst>
                                      </p:cBhvr>
                                      <p:to>
                                        <p:strVal val="hidden"/>
                                      </p:to>
                                    </p:set>
                                  </p:childTnLst>
                                </p:cTn>
                              </p:par>
                              <p:par>
                                <p:cTn id="62" presetID="10" presetClass="exit" presetSubtype="0" fill="hold" grpId="0" nodeType="withEffect">
                                  <p:stCondLst>
                                    <p:cond delay="0"/>
                                  </p:stCondLst>
                                  <p:childTnLst>
                                    <p:animEffect transition="out" filter="fade">
                                      <p:cBhvr>
                                        <p:cTn id="63" dur="500"/>
                                        <p:tgtEl>
                                          <p:spTgt spid="7"/>
                                        </p:tgtEl>
                                      </p:cBhvr>
                                    </p:animEffect>
                                    <p:set>
                                      <p:cBhvr>
                                        <p:cTn id="64" dur="1" fill="hold">
                                          <p:stCondLst>
                                            <p:cond delay="499"/>
                                          </p:stCondLst>
                                        </p:cTn>
                                        <p:tgtEl>
                                          <p:spTgt spid="7"/>
                                        </p:tgtEl>
                                        <p:attrNameLst>
                                          <p:attrName>style.visibility</p:attrName>
                                        </p:attrNameLst>
                                      </p:cBhvr>
                                      <p:to>
                                        <p:strVal val="hidden"/>
                                      </p:to>
                                    </p:set>
                                  </p:childTnLst>
                                </p:cTn>
                              </p:par>
                              <p:par>
                                <p:cTn id="65" presetID="10" presetClass="exit" presetSubtype="0" fill="hold" grpId="0" nodeType="withEffect">
                                  <p:stCondLst>
                                    <p:cond delay="0"/>
                                  </p:stCondLst>
                                  <p:childTnLst>
                                    <p:animEffect transition="out" filter="fade">
                                      <p:cBhvr>
                                        <p:cTn id="66" dur="500"/>
                                        <p:tgtEl>
                                          <p:spTgt spid="8"/>
                                        </p:tgtEl>
                                      </p:cBhvr>
                                    </p:animEffect>
                                    <p:set>
                                      <p:cBhvr>
                                        <p:cTn id="67" dur="1" fill="hold">
                                          <p:stCondLst>
                                            <p:cond delay="499"/>
                                          </p:stCondLst>
                                        </p:cTn>
                                        <p:tgtEl>
                                          <p:spTgt spid="8"/>
                                        </p:tgtEl>
                                        <p:attrNameLst>
                                          <p:attrName>style.visibility</p:attrName>
                                        </p:attrNameLst>
                                      </p:cBhvr>
                                      <p:to>
                                        <p:strVal val="hidden"/>
                                      </p:to>
                                    </p:set>
                                  </p:childTnLst>
                                </p:cTn>
                              </p:par>
                              <p:par>
                                <p:cTn id="68" presetID="10" presetClass="exit" presetSubtype="0" fill="hold" grpId="0" nodeType="withEffect">
                                  <p:stCondLst>
                                    <p:cond delay="0"/>
                                  </p:stCondLst>
                                  <p:childTnLst>
                                    <p:animEffect transition="out" filter="fade">
                                      <p:cBhvr>
                                        <p:cTn id="69" dur="500"/>
                                        <p:tgtEl>
                                          <p:spTgt spid="23"/>
                                        </p:tgtEl>
                                      </p:cBhvr>
                                    </p:animEffect>
                                    <p:set>
                                      <p:cBhvr>
                                        <p:cTn id="70" dur="1" fill="hold">
                                          <p:stCondLst>
                                            <p:cond delay="499"/>
                                          </p:stCondLst>
                                        </p:cTn>
                                        <p:tgtEl>
                                          <p:spTgt spid="23"/>
                                        </p:tgtEl>
                                        <p:attrNameLst>
                                          <p:attrName>style.visibility</p:attrName>
                                        </p:attrNameLst>
                                      </p:cBhvr>
                                      <p:to>
                                        <p:strVal val="hidden"/>
                                      </p:to>
                                    </p:set>
                                  </p:childTnLst>
                                </p:cTn>
                              </p:par>
                              <p:par>
                                <p:cTn id="71" presetID="10" presetClass="exit" presetSubtype="0" fill="hold" grpId="0" nodeType="withEffect">
                                  <p:stCondLst>
                                    <p:cond delay="0"/>
                                  </p:stCondLst>
                                  <p:childTnLst>
                                    <p:animEffect transition="out" filter="fade">
                                      <p:cBhvr>
                                        <p:cTn id="72" dur="500"/>
                                        <p:tgtEl>
                                          <p:spTgt spid="24"/>
                                        </p:tgtEl>
                                      </p:cBhvr>
                                    </p:animEffect>
                                    <p:set>
                                      <p:cBhvr>
                                        <p:cTn id="73" dur="1" fill="hold">
                                          <p:stCondLst>
                                            <p:cond delay="499"/>
                                          </p:stCondLst>
                                        </p:cTn>
                                        <p:tgtEl>
                                          <p:spTgt spid="24"/>
                                        </p:tgtEl>
                                        <p:attrNameLst>
                                          <p:attrName>style.visibility</p:attrName>
                                        </p:attrNameLst>
                                      </p:cBhvr>
                                      <p:to>
                                        <p:strVal val="hidden"/>
                                      </p:to>
                                    </p:set>
                                  </p:childTnLst>
                                </p:cTn>
                              </p:par>
                              <p:par>
                                <p:cTn id="74" presetID="10" presetClass="exit" presetSubtype="0" fill="hold" grpId="0" nodeType="withEffect">
                                  <p:stCondLst>
                                    <p:cond delay="0"/>
                                  </p:stCondLst>
                                  <p:childTnLst>
                                    <p:animEffect transition="out" filter="fade">
                                      <p:cBhvr>
                                        <p:cTn id="75" dur="500"/>
                                        <p:tgtEl>
                                          <p:spTgt spid="72"/>
                                        </p:tgtEl>
                                      </p:cBhvr>
                                    </p:animEffect>
                                    <p:set>
                                      <p:cBhvr>
                                        <p:cTn id="76" dur="1" fill="hold">
                                          <p:stCondLst>
                                            <p:cond delay="499"/>
                                          </p:stCondLst>
                                        </p:cTn>
                                        <p:tgtEl>
                                          <p:spTgt spid="72"/>
                                        </p:tgtEl>
                                        <p:attrNameLst>
                                          <p:attrName>style.visibility</p:attrName>
                                        </p:attrNameLst>
                                      </p:cBhvr>
                                      <p:to>
                                        <p:strVal val="hidden"/>
                                      </p:to>
                                    </p:set>
                                  </p:childTnLst>
                                </p:cTn>
                              </p:par>
                              <p:par>
                                <p:cTn id="77" presetID="10" presetClass="exit" presetSubtype="0" fill="hold" grpId="0" nodeType="withEffect">
                                  <p:stCondLst>
                                    <p:cond delay="0"/>
                                  </p:stCondLst>
                                  <p:childTnLst>
                                    <p:animEffect transition="out" filter="fade">
                                      <p:cBhvr>
                                        <p:cTn id="78" dur="500"/>
                                        <p:tgtEl>
                                          <p:spTgt spid="73"/>
                                        </p:tgtEl>
                                      </p:cBhvr>
                                    </p:animEffect>
                                    <p:set>
                                      <p:cBhvr>
                                        <p:cTn id="79" dur="1" fill="hold">
                                          <p:stCondLst>
                                            <p:cond delay="499"/>
                                          </p:stCondLst>
                                        </p:cTn>
                                        <p:tgtEl>
                                          <p:spTgt spid="73"/>
                                        </p:tgtEl>
                                        <p:attrNameLst>
                                          <p:attrName>style.visibility</p:attrName>
                                        </p:attrNameLst>
                                      </p:cBhvr>
                                      <p:to>
                                        <p:strVal val="hidden"/>
                                      </p:to>
                                    </p:set>
                                  </p:childTnLst>
                                </p:cTn>
                              </p:par>
                              <p:par>
                                <p:cTn id="80" presetID="10" presetClass="exit" presetSubtype="0" fill="hold" nodeType="withEffect">
                                  <p:stCondLst>
                                    <p:cond delay="0"/>
                                  </p:stCondLst>
                                  <p:childTnLst>
                                    <p:animEffect transition="out" filter="fade">
                                      <p:cBhvr>
                                        <p:cTn id="81" dur="500"/>
                                        <p:tgtEl>
                                          <p:spTgt spid="112"/>
                                        </p:tgtEl>
                                      </p:cBhvr>
                                    </p:animEffect>
                                    <p:set>
                                      <p:cBhvr>
                                        <p:cTn id="82" dur="1" fill="hold">
                                          <p:stCondLst>
                                            <p:cond delay="499"/>
                                          </p:stCondLst>
                                        </p:cTn>
                                        <p:tgtEl>
                                          <p:spTgt spid="112"/>
                                        </p:tgtEl>
                                        <p:attrNameLst>
                                          <p:attrName>style.visibility</p:attrName>
                                        </p:attrNameLst>
                                      </p:cBhvr>
                                      <p:to>
                                        <p:strVal val="hidden"/>
                                      </p:to>
                                    </p:set>
                                  </p:childTnLst>
                                </p:cTn>
                              </p:par>
                              <p:par>
                                <p:cTn id="83" presetID="10" presetClass="exit" presetSubtype="0" fill="hold" nodeType="withEffect">
                                  <p:stCondLst>
                                    <p:cond delay="0"/>
                                  </p:stCondLst>
                                  <p:childTnLst>
                                    <p:animEffect transition="out" filter="fade">
                                      <p:cBhvr>
                                        <p:cTn id="84" dur="500"/>
                                        <p:tgtEl>
                                          <p:spTgt spid="120"/>
                                        </p:tgtEl>
                                      </p:cBhvr>
                                    </p:animEffect>
                                    <p:set>
                                      <p:cBhvr>
                                        <p:cTn id="85" dur="1" fill="hold">
                                          <p:stCondLst>
                                            <p:cond delay="499"/>
                                          </p:stCondLst>
                                        </p:cTn>
                                        <p:tgtEl>
                                          <p:spTgt spid="120"/>
                                        </p:tgtEl>
                                        <p:attrNameLst>
                                          <p:attrName>style.visibility</p:attrName>
                                        </p:attrNameLst>
                                      </p:cBhvr>
                                      <p:to>
                                        <p:strVal val="hidden"/>
                                      </p:to>
                                    </p:set>
                                  </p:childTnLst>
                                </p:cTn>
                              </p:par>
                              <p:par>
                                <p:cTn id="86" presetID="10" presetClass="exit" presetSubtype="0" fill="hold" nodeType="withEffect">
                                  <p:stCondLst>
                                    <p:cond delay="0"/>
                                  </p:stCondLst>
                                  <p:childTnLst>
                                    <p:animEffect transition="out" filter="fade">
                                      <p:cBhvr>
                                        <p:cTn id="87" dur="500"/>
                                        <p:tgtEl>
                                          <p:spTgt spid="122"/>
                                        </p:tgtEl>
                                      </p:cBhvr>
                                    </p:animEffect>
                                    <p:set>
                                      <p:cBhvr>
                                        <p:cTn id="88" dur="1" fill="hold">
                                          <p:stCondLst>
                                            <p:cond delay="499"/>
                                          </p:stCondLst>
                                        </p:cTn>
                                        <p:tgtEl>
                                          <p:spTgt spid="122"/>
                                        </p:tgtEl>
                                        <p:attrNameLst>
                                          <p:attrName>style.visibility</p:attrName>
                                        </p:attrNameLst>
                                      </p:cBhvr>
                                      <p:to>
                                        <p:strVal val="hidden"/>
                                      </p:to>
                                    </p:set>
                                  </p:childTnLst>
                                </p:cTn>
                              </p:par>
                              <p:par>
                                <p:cTn id="89" presetID="10" presetClass="exit" presetSubtype="0" fill="hold" nodeType="withEffect">
                                  <p:stCondLst>
                                    <p:cond delay="0"/>
                                  </p:stCondLst>
                                  <p:childTnLst>
                                    <p:animEffect transition="out" filter="fade">
                                      <p:cBhvr>
                                        <p:cTn id="90" dur="500"/>
                                        <p:tgtEl>
                                          <p:spTgt spid="124"/>
                                        </p:tgtEl>
                                      </p:cBhvr>
                                    </p:animEffect>
                                    <p:set>
                                      <p:cBhvr>
                                        <p:cTn id="91" dur="1" fill="hold">
                                          <p:stCondLst>
                                            <p:cond delay="499"/>
                                          </p:stCondLst>
                                        </p:cTn>
                                        <p:tgtEl>
                                          <p:spTgt spid="124"/>
                                        </p:tgtEl>
                                        <p:attrNameLst>
                                          <p:attrName>style.visibility</p:attrName>
                                        </p:attrNameLst>
                                      </p:cBhvr>
                                      <p:to>
                                        <p:strVal val="hidden"/>
                                      </p:to>
                                    </p:set>
                                  </p:childTnLst>
                                </p:cTn>
                              </p:par>
                              <p:par>
                                <p:cTn id="92" presetID="10" presetClass="exit" presetSubtype="0" fill="hold" nodeType="withEffect">
                                  <p:stCondLst>
                                    <p:cond delay="0"/>
                                  </p:stCondLst>
                                  <p:childTnLst>
                                    <p:animEffect transition="out" filter="fade">
                                      <p:cBhvr>
                                        <p:cTn id="93" dur="500"/>
                                        <p:tgtEl>
                                          <p:spTgt spid="126"/>
                                        </p:tgtEl>
                                      </p:cBhvr>
                                    </p:animEffect>
                                    <p:set>
                                      <p:cBhvr>
                                        <p:cTn id="94" dur="1" fill="hold">
                                          <p:stCondLst>
                                            <p:cond delay="499"/>
                                          </p:stCondLst>
                                        </p:cTn>
                                        <p:tgtEl>
                                          <p:spTgt spid="126"/>
                                        </p:tgtEl>
                                        <p:attrNameLst>
                                          <p:attrName>style.visibility</p:attrName>
                                        </p:attrNameLst>
                                      </p:cBhvr>
                                      <p:to>
                                        <p:strVal val="hidden"/>
                                      </p:to>
                                    </p:set>
                                  </p:childTnLst>
                                </p:cTn>
                              </p:par>
                              <p:par>
                                <p:cTn id="95" presetID="10" presetClass="exit" presetSubtype="0" fill="hold" grpId="0" nodeType="withEffect">
                                  <p:stCondLst>
                                    <p:cond delay="0"/>
                                  </p:stCondLst>
                                  <p:childTnLst>
                                    <p:animEffect transition="out" filter="fade">
                                      <p:cBhvr>
                                        <p:cTn id="96" dur="500"/>
                                        <p:tgtEl>
                                          <p:spTgt spid="38"/>
                                        </p:tgtEl>
                                      </p:cBhvr>
                                    </p:animEffect>
                                    <p:set>
                                      <p:cBhvr>
                                        <p:cTn id="97" dur="1" fill="hold">
                                          <p:stCondLst>
                                            <p:cond delay="499"/>
                                          </p:stCondLst>
                                        </p:cTn>
                                        <p:tgtEl>
                                          <p:spTgt spid="38"/>
                                        </p:tgtEl>
                                        <p:attrNameLst>
                                          <p:attrName>style.visibility</p:attrName>
                                        </p:attrNameLst>
                                      </p:cBhvr>
                                      <p:to>
                                        <p:strVal val="hidden"/>
                                      </p:to>
                                    </p:set>
                                  </p:childTnLst>
                                </p:cTn>
                              </p:par>
                              <p:par>
                                <p:cTn id="98" presetID="10" presetClass="exit" presetSubtype="0" fill="hold" grpId="0" nodeType="withEffect">
                                  <p:stCondLst>
                                    <p:cond delay="0"/>
                                  </p:stCondLst>
                                  <p:childTnLst>
                                    <p:animEffect transition="out" filter="fade">
                                      <p:cBhvr>
                                        <p:cTn id="99" dur="500"/>
                                        <p:tgtEl>
                                          <p:spTgt spid="39"/>
                                        </p:tgtEl>
                                      </p:cBhvr>
                                    </p:animEffect>
                                    <p:set>
                                      <p:cBhvr>
                                        <p:cTn id="100" dur="1" fill="hold">
                                          <p:stCondLst>
                                            <p:cond delay="499"/>
                                          </p:stCondLst>
                                        </p:cTn>
                                        <p:tgtEl>
                                          <p:spTgt spid="39"/>
                                        </p:tgtEl>
                                        <p:attrNameLst>
                                          <p:attrName>style.visibility</p:attrName>
                                        </p:attrNameLst>
                                      </p:cBhvr>
                                      <p:to>
                                        <p:strVal val="hidden"/>
                                      </p:to>
                                    </p:set>
                                  </p:childTnLst>
                                </p:cTn>
                              </p:par>
                              <p:par>
                                <p:cTn id="101" presetID="10" presetClass="exit" presetSubtype="0" fill="hold" nodeType="withEffect">
                                  <p:stCondLst>
                                    <p:cond delay="0"/>
                                  </p:stCondLst>
                                  <p:childTnLst>
                                    <p:animEffect transition="out" filter="fade">
                                      <p:cBhvr>
                                        <p:cTn id="102" dur="500"/>
                                        <p:tgtEl>
                                          <p:spTgt spid="115"/>
                                        </p:tgtEl>
                                      </p:cBhvr>
                                    </p:animEffect>
                                    <p:set>
                                      <p:cBhvr>
                                        <p:cTn id="103" dur="1" fill="hold">
                                          <p:stCondLst>
                                            <p:cond delay="499"/>
                                          </p:stCondLst>
                                        </p:cTn>
                                        <p:tgtEl>
                                          <p:spTgt spid="115"/>
                                        </p:tgtEl>
                                        <p:attrNameLst>
                                          <p:attrName>style.visibility</p:attrName>
                                        </p:attrNameLst>
                                      </p:cBhvr>
                                      <p:to>
                                        <p:strVal val="hidden"/>
                                      </p:to>
                                    </p:set>
                                  </p:childTnLst>
                                </p:cTn>
                              </p:par>
                              <p:par>
                                <p:cTn id="104" presetID="10" presetClass="exit" presetSubtype="0" fill="hold" nodeType="withEffect">
                                  <p:stCondLst>
                                    <p:cond delay="0"/>
                                  </p:stCondLst>
                                  <p:childTnLst>
                                    <p:animEffect transition="out" filter="fade">
                                      <p:cBhvr>
                                        <p:cTn id="105" dur="500"/>
                                        <p:tgtEl>
                                          <p:spTgt spid="118"/>
                                        </p:tgtEl>
                                      </p:cBhvr>
                                    </p:animEffect>
                                    <p:set>
                                      <p:cBhvr>
                                        <p:cTn id="106" dur="1" fill="hold">
                                          <p:stCondLst>
                                            <p:cond delay="499"/>
                                          </p:stCondLst>
                                        </p:cTn>
                                        <p:tgtEl>
                                          <p:spTgt spid="118"/>
                                        </p:tgtEl>
                                        <p:attrNameLst>
                                          <p:attrName>style.visibility</p:attrName>
                                        </p:attrNameLst>
                                      </p:cBhvr>
                                      <p:to>
                                        <p:strVal val="hidden"/>
                                      </p:to>
                                    </p:set>
                                  </p:childTnLst>
                                </p:cTn>
                              </p:par>
                              <p:par>
                                <p:cTn id="107" presetID="10" presetClass="exit" presetSubtype="0" fill="hold" nodeType="withEffect">
                                  <p:stCondLst>
                                    <p:cond delay="0"/>
                                  </p:stCondLst>
                                  <p:childTnLst>
                                    <p:animEffect transition="out" filter="fade">
                                      <p:cBhvr>
                                        <p:cTn id="108" dur="500"/>
                                        <p:tgtEl>
                                          <p:spTgt spid="109"/>
                                        </p:tgtEl>
                                      </p:cBhvr>
                                    </p:animEffect>
                                    <p:set>
                                      <p:cBhvr>
                                        <p:cTn id="109" dur="1" fill="hold">
                                          <p:stCondLst>
                                            <p:cond delay="499"/>
                                          </p:stCondLst>
                                        </p:cTn>
                                        <p:tgtEl>
                                          <p:spTgt spid="109"/>
                                        </p:tgtEl>
                                        <p:attrNameLst>
                                          <p:attrName>style.visibility</p:attrName>
                                        </p:attrNameLst>
                                      </p:cBhvr>
                                      <p:to>
                                        <p:strVal val="hidden"/>
                                      </p:to>
                                    </p:set>
                                  </p:childTnLst>
                                </p:cTn>
                              </p:par>
                              <p:par>
                                <p:cTn id="110" presetID="10" presetClass="exit" presetSubtype="0" fill="hold" nodeType="withEffect">
                                  <p:stCondLst>
                                    <p:cond delay="0"/>
                                  </p:stCondLst>
                                  <p:childTnLst>
                                    <p:animEffect transition="out" filter="fade">
                                      <p:cBhvr>
                                        <p:cTn id="111" dur="500"/>
                                        <p:tgtEl>
                                          <p:spTgt spid="106"/>
                                        </p:tgtEl>
                                      </p:cBhvr>
                                    </p:animEffect>
                                    <p:set>
                                      <p:cBhvr>
                                        <p:cTn id="112" dur="1" fill="hold">
                                          <p:stCondLst>
                                            <p:cond delay="499"/>
                                          </p:stCondLst>
                                        </p:cTn>
                                        <p:tgtEl>
                                          <p:spTgt spid="106"/>
                                        </p:tgtEl>
                                        <p:attrNameLst>
                                          <p:attrName>style.visibility</p:attrName>
                                        </p:attrNameLst>
                                      </p:cBhvr>
                                      <p:to>
                                        <p:strVal val="hidden"/>
                                      </p:to>
                                    </p:set>
                                  </p:childTnLst>
                                </p:cTn>
                              </p:par>
                              <p:par>
                                <p:cTn id="113" presetID="10" presetClass="exit" presetSubtype="0" fill="hold" grpId="0" nodeType="withEffect">
                                  <p:stCondLst>
                                    <p:cond delay="0"/>
                                  </p:stCondLst>
                                  <p:childTnLst>
                                    <p:animEffect transition="out" filter="fade">
                                      <p:cBhvr>
                                        <p:cTn id="114" dur="500"/>
                                        <p:tgtEl>
                                          <p:spTgt spid="11"/>
                                        </p:tgtEl>
                                      </p:cBhvr>
                                    </p:animEffect>
                                    <p:set>
                                      <p:cBhvr>
                                        <p:cTn id="115" dur="1" fill="hold">
                                          <p:stCondLst>
                                            <p:cond delay="499"/>
                                          </p:stCondLst>
                                        </p:cTn>
                                        <p:tgtEl>
                                          <p:spTgt spid="11"/>
                                        </p:tgtEl>
                                        <p:attrNameLst>
                                          <p:attrName>style.visibility</p:attrName>
                                        </p:attrNameLst>
                                      </p:cBhvr>
                                      <p:to>
                                        <p:strVal val="hidden"/>
                                      </p:to>
                                    </p:set>
                                  </p:childTnLst>
                                </p:cTn>
                              </p:par>
                              <p:par>
                                <p:cTn id="116" presetID="10" presetClass="exit" presetSubtype="0" fill="hold" grpId="0" nodeType="withEffect">
                                  <p:stCondLst>
                                    <p:cond delay="0"/>
                                  </p:stCondLst>
                                  <p:childTnLst>
                                    <p:animEffect transition="out" filter="fade">
                                      <p:cBhvr>
                                        <p:cTn id="117" dur="500"/>
                                        <p:tgtEl>
                                          <p:spTgt spid="12"/>
                                        </p:tgtEl>
                                      </p:cBhvr>
                                    </p:animEffect>
                                    <p:set>
                                      <p:cBhvr>
                                        <p:cTn id="118" dur="1" fill="hold">
                                          <p:stCondLst>
                                            <p:cond delay="499"/>
                                          </p:stCondLst>
                                        </p:cTn>
                                        <p:tgtEl>
                                          <p:spTgt spid="12"/>
                                        </p:tgtEl>
                                        <p:attrNameLst>
                                          <p:attrName>style.visibility</p:attrName>
                                        </p:attrNameLst>
                                      </p:cBhvr>
                                      <p:to>
                                        <p:strVal val="hidden"/>
                                      </p:to>
                                    </p:set>
                                  </p:childTnLst>
                                </p:cTn>
                              </p:par>
                            </p:childTnLst>
                          </p:cTn>
                        </p:par>
                      </p:childTnLst>
                    </p:cTn>
                  </p:par>
                  <p:par>
                    <p:cTn id="119" fill="hold">
                      <p:stCondLst>
                        <p:cond delay="indefinite"/>
                      </p:stCondLst>
                      <p:childTnLst>
                        <p:par>
                          <p:cTn id="120" fill="hold">
                            <p:stCondLst>
                              <p:cond delay="0"/>
                            </p:stCondLst>
                            <p:childTnLst>
                              <p:par>
                                <p:cTn id="121" presetID="10" presetClass="entr" presetSubtype="0" fill="hold" grpId="0" nodeType="clickEffect">
                                  <p:stCondLst>
                                    <p:cond delay="0"/>
                                  </p:stCondLst>
                                  <p:childTnLst>
                                    <p:set>
                                      <p:cBhvr>
                                        <p:cTn id="122" dur="1" fill="hold">
                                          <p:stCondLst>
                                            <p:cond delay="0"/>
                                          </p:stCondLst>
                                        </p:cTn>
                                        <p:tgtEl>
                                          <p:spTgt spid="31"/>
                                        </p:tgtEl>
                                        <p:attrNameLst>
                                          <p:attrName>style.visibility</p:attrName>
                                        </p:attrNameLst>
                                      </p:cBhvr>
                                      <p:to>
                                        <p:strVal val="visible"/>
                                      </p:to>
                                    </p:set>
                                    <p:animEffect transition="in" filter="fade">
                                      <p:cBhvr>
                                        <p:cTn id="123" dur="500"/>
                                        <p:tgtEl>
                                          <p:spTgt spid="31"/>
                                        </p:tgtEl>
                                      </p:cBhvr>
                                    </p:animEffect>
                                  </p:childTnLst>
                                </p:cTn>
                              </p:par>
                              <p:par>
                                <p:cTn id="124" presetID="10" presetClass="entr" presetSubtype="0" fill="hold" grpId="0" nodeType="withEffect">
                                  <p:stCondLst>
                                    <p:cond delay="0"/>
                                  </p:stCondLst>
                                  <p:childTnLst>
                                    <p:set>
                                      <p:cBhvr>
                                        <p:cTn id="125" dur="1" fill="hold">
                                          <p:stCondLst>
                                            <p:cond delay="0"/>
                                          </p:stCondLst>
                                        </p:cTn>
                                        <p:tgtEl>
                                          <p:spTgt spid="34"/>
                                        </p:tgtEl>
                                        <p:attrNameLst>
                                          <p:attrName>style.visibility</p:attrName>
                                        </p:attrNameLst>
                                      </p:cBhvr>
                                      <p:to>
                                        <p:strVal val="visible"/>
                                      </p:to>
                                    </p:set>
                                    <p:animEffect transition="in" filter="fade">
                                      <p:cBhvr>
                                        <p:cTn id="126" dur="500"/>
                                        <p:tgtEl>
                                          <p:spTgt spid="34"/>
                                        </p:tgtEl>
                                      </p:cBhvr>
                                    </p:animEffect>
                                  </p:childTnLst>
                                </p:cTn>
                              </p:par>
                              <p:par>
                                <p:cTn id="127" presetID="10" presetClass="entr" presetSubtype="0" fill="hold" grpId="0" nodeType="withEffect">
                                  <p:stCondLst>
                                    <p:cond delay="0"/>
                                  </p:stCondLst>
                                  <p:childTnLst>
                                    <p:set>
                                      <p:cBhvr>
                                        <p:cTn id="128" dur="1" fill="hold">
                                          <p:stCondLst>
                                            <p:cond delay="0"/>
                                          </p:stCondLst>
                                        </p:cTn>
                                        <p:tgtEl>
                                          <p:spTgt spid="37"/>
                                        </p:tgtEl>
                                        <p:attrNameLst>
                                          <p:attrName>style.visibility</p:attrName>
                                        </p:attrNameLst>
                                      </p:cBhvr>
                                      <p:to>
                                        <p:strVal val="visible"/>
                                      </p:to>
                                    </p:set>
                                    <p:animEffect transition="in" filter="fade">
                                      <p:cBhvr>
                                        <p:cTn id="129" dur="500"/>
                                        <p:tgtEl>
                                          <p:spTgt spid="37"/>
                                        </p:tgtEl>
                                      </p:cBhvr>
                                    </p:animEffect>
                                  </p:childTnLst>
                                </p:cTn>
                              </p:par>
                              <p:par>
                                <p:cTn id="130" presetID="10" presetClass="entr" presetSubtype="0" fill="hold" grpId="0" nodeType="withEffect">
                                  <p:stCondLst>
                                    <p:cond delay="0"/>
                                  </p:stCondLst>
                                  <p:childTnLst>
                                    <p:set>
                                      <p:cBhvr>
                                        <p:cTn id="131" dur="1" fill="hold">
                                          <p:stCondLst>
                                            <p:cond delay="0"/>
                                          </p:stCondLst>
                                        </p:cTn>
                                        <p:tgtEl>
                                          <p:spTgt spid="43"/>
                                        </p:tgtEl>
                                        <p:attrNameLst>
                                          <p:attrName>style.visibility</p:attrName>
                                        </p:attrNameLst>
                                      </p:cBhvr>
                                      <p:to>
                                        <p:strVal val="visible"/>
                                      </p:to>
                                    </p:set>
                                    <p:animEffect transition="in" filter="fade">
                                      <p:cBhvr>
                                        <p:cTn id="132" dur="500"/>
                                        <p:tgtEl>
                                          <p:spTgt spid="43"/>
                                        </p:tgtEl>
                                      </p:cBhvr>
                                    </p:animEffect>
                                  </p:childTnLst>
                                </p:cTn>
                              </p:par>
                              <p:par>
                                <p:cTn id="133" presetID="10" presetClass="entr" presetSubtype="0" fill="hold" grpId="0" nodeType="withEffect">
                                  <p:stCondLst>
                                    <p:cond delay="0"/>
                                  </p:stCondLst>
                                  <p:childTnLst>
                                    <p:set>
                                      <p:cBhvr>
                                        <p:cTn id="134" dur="1" fill="hold">
                                          <p:stCondLst>
                                            <p:cond delay="0"/>
                                          </p:stCondLst>
                                        </p:cTn>
                                        <p:tgtEl>
                                          <p:spTgt spid="44"/>
                                        </p:tgtEl>
                                        <p:attrNameLst>
                                          <p:attrName>style.visibility</p:attrName>
                                        </p:attrNameLst>
                                      </p:cBhvr>
                                      <p:to>
                                        <p:strVal val="visible"/>
                                      </p:to>
                                    </p:set>
                                    <p:animEffect transition="in" filter="fade">
                                      <p:cBhvr>
                                        <p:cTn id="135" dur="500"/>
                                        <p:tgtEl>
                                          <p:spTgt spid="44"/>
                                        </p:tgtEl>
                                      </p:cBhvr>
                                    </p:animEffect>
                                  </p:childTnLst>
                                </p:cTn>
                              </p:par>
                              <p:par>
                                <p:cTn id="136" presetID="10" presetClass="entr" presetSubtype="0" fill="hold" grpId="0" nodeType="withEffect">
                                  <p:stCondLst>
                                    <p:cond delay="0"/>
                                  </p:stCondLst>
                                  <p:childTnLst>
                                    <p:set>
                                      <p:cBhvr>
                                        <p:cTn id="137" dur="1" fill="hold">
                                          <p:stCondLst>
                                            <p:cond delay="0"/>
                                          </p:stCondLst>
                                        </p:cTn>
                                        <p:tgtEl>
                                          <p:spTgt spid="45"/>
                                        </p:tgtEl>
                                        <p:attrNameLst>
                                          <p:attrName>style.visibility</p:attrName>
                                        </p:attrNameLst>
                                      </p:cBhvr>
                                      <p:to>
                                        <p:strVal val="visible"/>
                                      </p:to>
                                    </p:set>
                                    <p:animEffect transition="in" filter="fade">
                                      <p:cBhvr>
                                        <p:cTn id="138" dur="500"/>
                                        <p:tgtEl>
                                          <p:spTgt spid="45"/>
                                        </p:tgtEl>
                                      </p:cBhvr>
                                    </p:animEffect>
                                  </p:childTnLst>
                                </p:cTn>
                              </p:par>
                              <p:par>
                                <p:cTn id="139" presetID="10" presetClass="entr" presetSubtype="0" fill="hold" grpId="0" nodeType="withEffect">
                                  <p:stCondLst>
                                    <p:cond delay="0"/>
                                  </p:stCondLst>
                                  <p:childTnLst>
                                    <p:set>
                                      <p:cBhvr>
                                        <p:cTn id="140" dur="1" fill="hold">
                                          <p:stCondLst>
                                            <p:cond delay="0"/>
                                          </p:stCondLst>
                                        </p:cTn>
                                        <p:tgtEl>
                                          <p:spTgt spid="46"/>
                                        </p:tgtEl>
                                        <p:attrNameLst>
                                          <p:attrName>style.visibility</p:attrName>
                                        </p:attrNameLst>
                                      </p:cBhvr>
                                      <p:to>
                                        <p:strVal val="visible"/>
                                      </p:to>
                                    </p:set>
                                    <p:animEffect transition="in" filter="fade">
                                      <p:cBhvr>
                                        <p:cTn id="141" dur="500"/>
                                        <p:tgtEl>
                                          <p:spTgt spid="46"/>
                                        </p:tgtEl>
                                      </p:cBhvr>
                                    </p:animEffect>
                                  </p:childTnLst>
                                </p:cTn>
                              </p:par>
                              <p:par>
                                <p:cTn id="142" presetID="10" presetClass="entr" presetSubtype="0" fill="hold" grpId="0" nodeType="withEffect">
                                  <p:stCondLst>
                                    <p:cond delay="0"/>
                                  </p:stCondLst>
                                  <p:childTnLst>
                                    <p:set>
                                      <p:cBhvr>
                                        <p:cTn id="143" dur="1" fill="hold">
                                          <p:stCondLst>
                                            <p:cond delay="0"/>
                                          </p:stCondLst>
                                        </p:cTn>
                                        <p:tgtEl>
                                          <p:spTgt spid="47"/>
                                        </p:tgtEl>
                                        <p:attrNameLst>
                                          <p:attrName>style.visibility</p:attrName>
                                        </p:attrNameLst>
                                      </p:cBhvr>
                                      <p:to>
                                        <p:strVal val="visible"/>
                                      </p:to>
                                    </p:set>
                                    <p:animEffect transition="in" filter="fade">
                                      <p:cBhvr>
                                        <p:cTn id="144" dur="500"/>
                                        <p:tgtEl>
                                          <p:spTgt spid="47"/>
                                        </p:tgtEl>
                                      </p:cBhvr>
                                    </p:animEffect>
                                  </p:childTnLst>
                                </p:cTn>
                              </p:par>
                              <p:par>
                                <p:cTn id="145" presetID="10" presetClass="entr" presetSubtype="0" fill="hold" grpId="0" nodeType="withEffect">
                                  <p:stCondLst>
                                    <p:cond delay="0"/>
                                  </p:stCondLst>
                                  <p:childTnLst>
                                    <p:set>
                                      <p:cBhvr>
                                        <p:cTn id="146" dur="1" fill="hold">
                                          <p:stCondLst>
                                            <p:cond delay="0"/>
                                          </p:stCondLst>
                                        </p:cTn>
                                        <p:tgtEl>
                                          <p:spTgt spid="48"/>
                                        </p:tgtEl>
                                        <p:attrNameLst>
                                          <p:attrName>style.visibility</p:attrName>
                                        </p:attrNameLst>
                                      </p:cBhvr>
                                      <p:to>
                                        <p:strVal val="visible"/>
                                      </p:to>
                                    </p:set>
                                    <p:animEffect transition="in" filter="fade">
                                      <p:cBhvr>
                                        <p:cTn id="147" dur="500"/>
                                        <p:tgtEl>
                                          <p:spTgt spid="48"/>
                                        </p:tgtEl>
                                      </p:cBhvr>
                                    </p:animEffect>
                                  </p:childTnLst>
                                </p:cTn>
                              </p:par>
                              <p:par>
                                <p:cTn id="148" presetID="10" presetClass="entr" presetSubtype="0" fill="hold" grpId="0" nodeType="withEffect">
                                  <p:stCondLst>
                                    <p:cond delay="0"/>
                                  </p:stCondLst>
                                  <p:childTnLst>
                                    <p:set>
                                      <p:cBhvr>
                                        <p:cTn id="149" dur="1" fill="hold">
                                          <p:stCondLst>
                                            <p:cond delay="0"/>
                                          </p:stCondLst>
                                        </p:cTn>
                                        <p:tgtEl>
                                          <p:spTgt spid="49"/>
                                        </p:tgtEl>
                                        <p:attrNameLst>
                                          <p:attrName>style.visibility</p:attrName>
                                        </p:attrNameLst>
                                      </p:cBhvr>
                                      <p:to>
                                        <p:strVal val="visible"/>
                                      </p:to>
                                    </p:set>
                                    <p:animEffect transition="in" filter="fade">
                                      <p:cBhvr>
                                        <p:cTn id="150" dur="500"/>
                                        <p:tgtEl>
                                          <p:spTgt spid="49"/>
                                        </p:tgtEl>
                                      </p:cBhvr>
                                    </p:animEffect>
                                  </p:childTnLst>
                                </p:cTn>
                              </p:par>
                              <p:par>
                                <p:cTn id="151" presetID="10" presetClass="entr" presetSubtype="0" fill="hold" grpId="0" nodeType="withEffect" nodePh="1">
                                  <p:stCondLst>
                                    <p:cond delay="0"/>
                                  </p:stCondLst>
                                  <p:endCondLst>
                                    <p:cond evt="begin" delay="0">
                                      <p:tn val="151"/>
                                    </p:cond>
                                  </p:endCondLst>
                                  <p:childTnLst>
                                    <p:set>
                                      <p:cBhvr>
                                        <p:cTn id="152" dur="1" fill="hold">
                                          <p:stCondLst>
                                            <p:cond delay="0"/>
                                          </p:stCondLst>
                                        </p:cTn>
                                        <p:tgtEl>
                                          <p:spTgt spid="54"/>
                                        </p:tgtEl>
                                        <p:attrNameLst>
                                          <p:attrName>style.visibility</p:attrName>
                                        </p:attrNameLst>
                                      </p:cBhvr>
                                      <p:to>
                                        <p:strVal val="visible"/>
                                      </p:to>
                                    </p:set>
                                    <p:animEffect transition="in" filter="fade">
                                      <p:cBhvr>
                                        <p:cTn id="153" dur="500"/>
                                        <p:tgtEl>
                                          <p:spTgt spid="54"/>
                                        </p:tgtEl>
                                      </p:cBhvr>
                                    </p:animEffect>
                                  </p:childTnLst>
                                </p:cTn>
                              </p:par>
                              <p:par>
                                <p:cTn id="154" presetID="10" presetClass="entr" presetSubtype="0" fill="hold" grpId="0" nodeType="withEffect">
                                  <p:stCondLst>
                                    <p:cond delay="0"/>
                                  </p:stCondLst>
                                  <p:childTnLst>
                                    <p:set>
                                      <p:cBhvr>
                                        <p:cTn id="155" dur="1" fill="hold">
                                          <p:stCondLst>
                                            <p:cond delay="0"/>
                                          </p:stCondLst>
                                        </p:cTn>
                                        <p:tgtEl>
                                          <p:spTgt spid="55"/>
                                        </p:tgtEl>
                                        <p:attrNameLst>
                                          <p:attrName>style.visibility</p:attrName>
                                        </p:attrNameLst>
                                      </p:cBhvr>
                                      <p:to>
                                        <p:strVal val="visible"/>
                                      </p:to>
                                    </p:set>
                                    <p:animEffect transition="in" filter="fade">
                                      <p:cBhvr>
                                        <p:cTn id="156" dur="500"/>
                                        <p:tgtEl>
                                          <p:spTgt spid="55"/>
                                        </p:tgtEl>
                                      </p:cBhvr>
                                    </p:animEffect>
                                  </p:childTnLst>
                                </p:cTn>
                              </p:par>
                              <p:par>
                                <p:cTn id="157" presetID="10" presetClass="entr" presetSubtype="0" fill="hold" nodeType="withEffect">
                                  <p:stCondLst>
                                    <p:cond delay="0"/>
                                  </p:stCondLst>
                                  <p:childTnLst>
                                    <p:set>
                                      <p:cBhvr>
                                        <p:cTn id="158" dur="1" fill="hold">
                                          <p:stCondLst>
                                            <p:cond delay="0"/>
                                          </p:stCondLst>
                                        </p:cTn>
                                        <p:tgtEl>
                                          <p:spTgt spid="53"/>
                                        </p:tgtEl>
                                        <p:attrNameLst>
                                          <p:attrName>style.visibility</p:attrName>
                                        </p:attrNameLst>
                                      </p:cBhvr>
                                      <p:to>
                                        <p:strVal val="visible"/>
                                      </p:to>
                                    </p:set>
                                    <p:animEffect transition="in" filter="fade">
                                      <p:cBhvr>
                                        <p:cTn id="159" dur="500"/>
                                        <p:tgtEl>
                                          <p:spTgt spid="53"/>
                                        </p:tgtEl>
                                      </p:cBhvr>
                                    </p:animEffect>
                                  </p:childTnLst>
                                </p:cTn>
                              </p:par>
                              <p:par>
                                <p:cTn id="160" presetID="10" presetClass="entr" presetSubtype="0" fill="hold" nodeType="withEffect">
                                  <p:stCondLst>
                                    <p:cond delay="0"/>
                                  </p:stCondLst>
                                  <p:childTnLst>
                                    <p:set>
                                      <p:cBhvr>
                                        <p:cTn id="161" dur="1" fill="hold">
                                          <p:stCondLst>
                                            <p:cond delay="0"/>
                                          </p:stCondLst>
                                        </p:cTn>
                                        <p:tgtEl>
                                          <p:spTgt spid="50"/>
                                        </p:tgtEl>
                                        <p:attrNameLst>
                                          <p:attrName>style.visibility</p:attrName>
                                        </p:attrNameLst>
                                      </p:cBhvr>
                                      <p:to>
                                        <p:strVal val="visible"/>
                                      </p:to>
                                    </p:set>
                                    <p:animEffect transition="in" filter="fade">
                                      <p:cBhvr>
                                        <p:cTn id="162" dur="500"/>
                                        <p:tgtEl>
                                          <p:spTgt spid="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11" grpId="0"/>
      <p:bldP spid="12" grpId="0"/>
      <p:bldP spid="13" grpId="0" animBg="1"/>
      <p:bldP spid="14" grpId="0" animBg="1"/>
      <p:bldP spid="15" grpId="0" animBg="1"/>
      <p:bldP spid="16" grpId="0" animBg="1"/>
      <p:bldP spid="17" grpId="0" animBg="1"/>
      <p:bldP spid="18" grpId="0" animBg="1"/>
      <p:bldP spid="19" grpId="0" animBg="1"/>
      <p:bldP spid="23" grpId="0" animBg="1"/>
      <p:bldP spid="24" grpId="0" animBg="1"/>
      <p:bldP spid="25" grpId="0" animBg="1"/>
      <p:bldP spid="26" grpId="0" animBg="1"/>
      <p:bldP spid="28" grpId="0" animBg="1"/>
      <p:bldP spid="30" grpId="0" animBg="1"/>
      <p:bldP spid="32" grpId="0" animBg="1"/>
      <p:bldP spid="33" grpId="0" animBg="1"/>
      <p:bldP spid="38" grpId="0" animBg="1"/>
      <p:bldP spid="39" grpId="0" animBg="1"/>
      <p:bldP spid="40" grpId="0" animBg="1"/>
      <p:bldP spid="41" grpId="0" animBg="1"/>
      <p:bldP spid="42" grpId="0" animBg="1"/>
      <p:bldP spid="72" grpId="0" animBg="1"/>
      <p:bldP spid="73" grpId="0" animBg="1"/>
      <p:bldP spid="74" grpId="0" animBg="1"/>
      <p:bldP spid="77" grpId="0" animBg="1"/>
      <p:bldP spid="80" grpId="0" animBg="1"/>
      <p:bldP spid="31" grpId="0" animBg="1"/>
      <p:bldP spid="34" grpId="0" animBg="1"/>
      <p:bldP spid="37" grpId="0" animBg="1"/>
      <p:bldP spid="43" grpId="0" animBg="1"/>
      <p:bldP spid="44" grpId="0" animBg="1"/>
      <p:bldP spid="45" grpId="0" animBg="1"/>
      <p:bldP spid="46" grpId="0" animBg="1"/>
      <p:bldP spid="47" grpId="0" animBg="1"/>
      <p:bldP spid="48" grpId="0" animBg="1"/>
      <p:bldP spid="49" grpId="0" animBg="1"/>
      <p:bldP spid="54" grpId="0"/>
      <p:bldP spid="55" grpId="0"/>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DD80FB-C0C2-94F2-1876-DAE05B0E65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C07AF44-5102-85FA-CA2A-B65C435EE2C4}"/>
              </a:ext>
            </a:extLst>
          </p:cNvPr>
          <p:cNvSpPr>
            <a:spLocks noGrp="1"/>
          </p:cNvSpPr>
          <p:nvPr>
            <p:ph type="title"/>
          </p:nvPr>
        </p:nvSpPr>
        <p:spPr>
          <a:xfrm>
            <a:off x="720000" y="331339"/>
            <a:ext cx="7704000" cy="572700"/>
          </a:xfrm>
        </p:spPr>
        <p:txBody>
          <a:bodyPr/>
          <a:lstStyle/>
          <a:p>
            <a:pPr algn="ctr"/>
            <a:r>
              <a:rPr lang="en-US" sz="2400" dirty="0"/>
              <a:t>We curate the largest collection of </a:t>
            </a:r>
            <a:br>
              <a:rPr lang="en-US" sz="2400" dirty="0"/>
            </a:br>
            <a:r>
              <a:rPr lang="en-US" sz="2400" dirty="0"/>
              <a:t>enhancer homology families to date</a:t>
            </a:r>
          </a:p>
        </p:txBody>
      </p:sp>
      <p:pic>
        <p:nvPicPr>
          <p:cNvPr id="29" name="Picture 28" descr="The Encyclopedia of DNA Elements (ENCODE)">
            <a:extLst>
              <a:ext uri="{FF2B5EF4-FFF2-40B4-BE49-F238E27FC236}">
                <a16:creationId xmlns:a16="http://schemas.microsoft.com/office/drawing/2014/main" id="{7C2896AA-7ADE-15D1-CA60-AD0E5CAEFE7E}"/>
              </a:ext>
            </a:extLst>
          </p:cNvPr>
          <p:cNvPicPr>
            <a:picLocks noChangeAspect="1"/>
          </p:cNvPicPr>
          <p:nvPr/>
        </p:nvPicPr>
        <p:blipFill>
          <a:blip r:embed="rId3"/>
          <a:stretch>
            <a:fillRect/>
          </a:stretch>
        </p:blipFill>
        <p:spPr>
          <a:xfrm>
            <a:off x="557932" y="1773555"/>
            <a:ext cx="2464668" cy="1454154"/>
          </a:xfrm>
          <a:prstGeom prst="rect">
            <a:avLst/>
          </a:prstGeom>
          <a:solidFill>
            <a:schemeClr val="bg1">
              <a:lumMod val="10000"/>
            </a:schemeClr>
          </a:solidFill>
        </p:spPr>
      </p:pic>
      <p:sp>
        <p:nvSpPr>
          <p:cNvPr id="51" name="Text Placeholder 2">
            <a:extLst>
              <a:ext uri="{FF2B5EF4-FFF2-40B4-BE49-F238E27FC236}">
                <a16:creationId xmlns:a16="http://schemas.microsoft.com/office/drawing/2014/main" id="{21D25ACF-BC7C-CCB3-395D-5839BFEDC2E6}"/>
              </a:ext>
            </a:extLst>
          </p:cNvPr>
          <p:cNvSpPr txBox="1">
            <a:spLocks/>
          </p:cNvSpPr>
          <p:nvPr/>
        </p:nvSpPr>
        <p:spPr>
          <a:xfrm>
            <a:off x="437180" y="3349486"/>
            <a:ext cx="2706172" cy="40457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79400" algn="l" rtl="0">
              <a:lnSpc>
                <a:spcPct val="115000"/>
              </a:lnSpc>
              <a:spcBef>
                <a:spcPts val="0"/>
              </a:spcBef>
              <a:spcAft>
                <a:spcPts val="0"/>
              </a:spcAft>
              <a:buClr>
                <a:schemeClr val="dk1"/>
              </a:buClr>
              <a:buSzPts val="800"/>
              <a:buFont typeface="Hanken Grotesk"/>
              <a:buChar char="●"/>
              <a:defRPr sz="1400" b="0" i="0" u="none" strike="noStrike" cap="none">
                <a:solidFill>
                  <a:schemeClr val="dk1"/>
                </a:solidFill>
                <a:latin typeface="Hanken Grotesk"/>
                <a:ea typeface="Hanken Grotesk"/>
                <a:cs typeface="Hanken Grotesk"/>
                <a:sym typeface="Hanken Grotesk"/>
              </a:defRPr>
            </a:lvl1pPr>
            <a:lvl2pPr marL="914400" marR="0" lvl="1"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2pPr>
            <a:lvl3pPr marL="1371600" marR="0" lvl="2"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3pPr>
            <a:lvl4pPr marL="1828800" marR="0" lvl="3"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4pPr>
            <a:lvl5pPr marL="2286000" marR="0" lvl="4"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5pPr>
            <a:lvl6pPr marL="2743200" marR="0" lvl="5"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6pPr>
            <a:lvl7pPr marL="3200400" marR="0" lvl="6"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7pPr>
            <a:lvl8pPr marL="3657600" marR="0" lvl="7"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8pPr>
            <a:lvl9pPr marL="4114800" marR="0" lvl="8"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9pPr>
          </a:lstStyle>
          <a:p>
            <a:pPr marL="0" indent="0" algn="ctr">
              <a:buFont typeface="Hanken Grotesk"/>
              <a:buNone/>
            </a:pPr>
            <a:r>
              <a:rPr lang="en-US" dirty="0"/>
              <a:t>ENCODE SCREEN:</a:t>
            </a:r>
            <a:br>
              <a:rPr lang="en-US" dirty="0"/>
            </a:br>
            <a:r>
              <a:rPr lang="en-US" dirty="0"/>
              <a:t>1.7 million human enhancers</a:t>
            </a:r>
          </a:p>
        </p:txBody>
      </p:sp>
      <p:pic>
        <p:nvPicPr>
          <p:cNvPr id="52" name="Picture 51" descr="Texas A&amp;M Research Redefines Mammalian Tree Of Life">
            <a:extLst>
              <a:ext uri="{FF2B5EF4-FFF2-40B4-BE49-F238E27FC236}">
                <a16:creationId xmlns:a16="http://schemas.microsoft.com/office/drawing/2014/main" id="{2D276E56-C2DE-2F53-CB8E-5C35391E7EC7}"/>
              </a:ext>
            </a:extLst>
          </p:cNvPr>
          <p:cNvPicPr>
            <a:picLocks noChangeAspect="1"/>
          </p:cNvPicPr>
          <p:nvPr/>
        </p:nvPicPr>
        <p:blipFill>
          <a:blip r:embed="rId4"/>
          <a:srcRect t="21358"/>
          <a:stretch>
            <a:fillRect/>
          </a:stretch>
        </p:blipFill>
        <p:spPr>
          <a:xfrm>
            <a:off x="3879109" y="1503125"/>
            <a:ext cx="2325585" cy="2250936"/>
          </a:xfrm>
          <a:prstGeom prst="rect">
            <a:avLst/>
          </a:prstGeom>
        </p:spPr>
      </p:pic>
      <p:sp>
        <p:nvSpPr>
          <p:cNvPr id="56" name="Title 1">
            <a:extLst>
              <a:ext uri="{FF2B5EF4-FFF2-40B4-BE49-F238E27FC236}">
                <a16:creationId xmlns:a16="http://schemas.microsoft.com/office/drawing/2014/main" id="{DC9B6DBB-BB9B-FAD7-CB1B-B4064522A48A}"/>
              </a:ext>
            </a:extLst>
          </p:cNvPr>
          <p:cNvSpPr txBox="1">
            <a:spLocks/>
          </p:cNvSpPr>
          <p:nvPr/>
        </p:nvSpPr>
        <p:spPr>
          <a:xfrm>
            <a:off x="3055690" y="2285400"/>
            <a:ext cx="911082"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Figtree Black"/>
              <a:buNone/>
              <a:defRPr sz="2800" b="0" i="0" u="none" strike="noStrike" cap="none">
                <a:solidFill>
                  <a:schemeClr val="dk1"/>
                </a:solidFill>
                <a:latin typeface="Figtree Black"/>
                <a:ea typeface="Figtree Black"/>
                <a:cs typeface="Figtree Black"/>
                <a:sym typeface="Figtree Black"/>
              </a:defRPr>
            </a:lvl1pPr>
            <a:lvl2pPr marR="0" lvl="1" algn="l" rtl="0">
              <a:lnSpc>
                <a:spcPct val="100000"/>
              </a:lnSpc>
              <a:spcBef>
                <a:spcPts val="0"/>
              </a:spcBef>
              <a:spcAft>
                <a:spcPts val="0"/>
              </a:spcAft>
              <a:buClr>
                <a:schemeClr val="dk1"/>
              </a:buClr>
              <a:buSzPts val="3000"/>
              <a:buFont typeface="Figtree Black"/>
              <a:buNone/>
              <a:defRPr sz="3000" b="0" i="0" u="none" strike="noStrike" cap="none">
                <a:solidFill>
                  <a:schemeClr val="dk1"/>
                </a:solidFill>
                <a:latin typeface="Figtree Black"/>
                <a:ea typeface="Figtree Black"/>
                <a:cs typeface="Figtree Black"/>
                <a:sym typeface="Figtree Black"/>
              </a:defRPr>
            </a:lvl2pPr>
            <a:lvl3pPr marR="0" lvl="2" algn="l" rtl="0">
              <a:lnSpc>
                <a:spcPct val="100000"/>
              </a:lnSpc>
              <a:spcBef>
                <a:spcPts val="0"/>
              </a:spcBef>
              <a:spcAft>
                <a:spcPts val="0"/>
              </a:spcAft>
              <a:buClr>
                <a:schemeClr val="dk1"/>
              </a:buClr>
              <a:buSzPts val="3000"/>
              <a:buFont typeface="Figtree Black"/>
              <a:buNone/>
              <a:defRPr sz="3000" b="0" i="0" u="none" strike="noStrike" cap="none">
                <a:solidFill>
                  <a:schemeClr val="dk1"/>
                </a:solidFill>
                <a:latin typeface="Figtree Black"/>
                <a:ea typeface="Figtree Black"/>
                <a:cs typeface="Figtree Black"/>
                <a:sym typeface="Figtree Black"/>
              </a:defRPr>
            </a:lvl3pPr>
            <a:lvl4pPr marR="0" lvl="3" algn="l" rtl="0">
              <a:lnSpc>
                <a:spcPct val="100000"/>
              </a:lnSpc>
              <a:spcBef>
                <a:spcPts val="0"/>
              </a:spcBef>
              <a:spcAft>
                <a:spcPts val="0"/>
              </a:spcAft>
              <a:buClr>
                <a:schemeClr val="dk1"/>
              </a:buClr>
              <a:buSzPts val="3000"/>
              <a:buFont typeface="Figtree Black"/>
              <a:buNone/>
              <a:defRPr sz="3000" b="0" i="0" u="none" strike="noStrike" cap="none">
                <a:solidFill>
                  <a:schemeClr val="dk1"/>
                </a:solidFill>
                <a:latin typeface="Figtree Black"/>
                <a:ea typeface="Figtree Black"/>
                <a:cs typeface="Figtree Black"/>
                <a:sym typeface="Figtree Black"/>
              </a:defRPr>
            </a:lvl4pPr>
            <a:lvl5pPr marR="0" lvl="4" algn="l" rtl="0">
              <a:lnSpc>
                <a:spcPct val="100000"/>
              </a:lnSpc>
              <a:spcBef>
                <a:spcPts val="0"/>
              </a:spcBef>
              <a:spcAft>
                <a:spcPts val="0"/>
              </a:spcAft>
              <a:buClr>
                <a:schemeClr val="dk1"/>
              </a:buClr>
              <a:buSzPts val="3000"/>
              <a:buFont typeface="Figtree Black"/>
              <a:buNone/>
              <a:defRPr sz="3000" b="0" i="0" u="none" strike="noStrike" cap="none">
                <a:solidFill>
                  <a:schemeClr val="dk1"/>
                </a:solidFill>
                <a:latin typeface="Figtree Black"/>
                <a:ea typeface="Figtree Black"/>
                <a:cs typeface="Figtree Black"/>
                <a:sym typeface="Figtree Black"/>
              </a:defRPr>
            </a:lvl5pPr>
            <a:lvl6pPr marR="0" lvl="5" algn="l" rtl="0">
              <a:lnSpc>
                <a:spcPct val="100000"/>
              </a:lnSpc>
              <a:spcBef>
                <a:spcPts val="0"/>
              </a:spcBef>
              <a:spcAft>
                <a:spcPts val="0"/>
              </a:spcAft>
              <a:buClr>
                <a:schemeClr val="dk1"/>
              </a:buClr>
              <a:buSzPts val="3000"/>
              <a:buFont typeface="Figtree Black"/>
              <a:buNone/>
              <a:defRPr sz="3000" b="0" i="0" u="none" strike="noStrike" cap="none">
                <a:solidFill>
                  <a:schemeClr val="dk1"/>
                </a:solidFill>
                <a:latin typeface="Figtree Black"/>
                <a:ea typeface="Figtree Black"/>
                <a:cs typeface="Figtree Black"/>
                <a:sym typeface="Figtree Black"/>
              </a:defRPr>
            </a:lvl6pPr>
            <a:lvl7pPr marR="0" lvl="6" algn="l" rtl="0">
              <a:lnSpc>
                <a:spcPct val="100000"/>
              </a:lnSpc>
              <a:spcBef>
                <a:spcPts val="0"/>
              </a:spcBef>
              <a:spcAft>
                <a:spcPts val="0"/>
              </a:spcAft>
              <a:buClr>
                <a:schemeClr val="dk1"/>
              </a:buClr>
              <a:buSzPts val="3000"/>
              <a:buFont typeface="Figtree Black"/>
              <a:buNone/>
              <a:defRPr sz="3000" b="0" i="0" u="none" strike="noStrike" cap="none">
                <a:solidFill>
                  <a:schemeClr val="dk1"/>
                </a:solidFill>
                <a:latin typeface="Figtree Black"/>
                <a:ea typeface="Figtree Black"/>
                <a:cs typeface="Figtree Black"/>
                <a:sym typeface="Figtree Black"/>
              </a:defRPr>
            </a:lvl7pPr>
            <a:lvl8pPr marR="0" lvl="7" algn="l" rtl="0">
              <a:lnSpc>
                <a:spcPct val="100000"/>
              </a:lnSpc>
              <a:spcBef>
                <a:spcPts val="0"/>
              </a:spcBef>
              <a:spcAft>
                <a:spcPts val="0"/>
              </a:spcAft>
              <a:buClr>
                <a:schemeClr val="dk1"/>
              </a:buClr>
              <a:buSzPts val="3000"/>
              <a:buFont typeface="Figtree Black"/>
              <a:buNone/>
              <a:defRPr sz="3000" b="0" i="0" u="none" strike="noStrike" cap="none">
                <a:solidFill>
                  <a:schemeClr val="dk1"/>
                </a:solidFill>
                <a:latin typeface="Figtree Black"/>
                <a:ea typeface="Figtree Black"/>
                <a:cs typeface="Figtree Black"/>
                <a:sym typeface="Figtree Black"/>
              </a:defRPr>
            </a:lvl8pPr>
            <a:lvl9pPr marR="0" lvl="8" algn="l" rtl="0">
              <a:lnSpc>
                <a:spcPct val="100000"/>
              </a:lnSpc>
              <a:spcBef>
                <a:spcPts val="0"/>
              </a:spcBef>
              <a:spcAft>
                <a:spcPts val="0"/>
              </a:spcAft>
              <a:buClr>
                <a:schemeClr val="dk1"/>
              </a:buClr>
              <a:buSzPts val="3000"/>
              <a:buFont typeface="Figtree Black"/>
              <a:buNone/>
              <a:defRPr sz="3000" b="0" i="0" u="none" strike="noStrike" cap="none">
                <a:solidFill>
                  <a:schemeClr val="dk1"/>
                </a:solidFill>
                <a:latin typeface="Figtree Black"/>
                <a:ea typeface="Figtree Black"/>
                <a:cs typeface="Figtree Black"/>
                <a:sym typeface="Figtree Black"/>
              </a:defRPr>
            </a:lvl9pPr>
          </a:lstStyle>
          <a:p>
            <a:pPr algn="ctr"/>
            <a:r>
              <a:rPr lang="en-US" sz="2400" dirty="0"/>
              <a:t>X</a:t>
            </a:r>
          </a:p>
        </p:txBody>
      </p:sp>
      <p:sp>
        <p:nvSpPr>
          <p:cNvPr id="58" name="Text Placeholder 2">
            <a:extLst>
              <a:ext uri="{FF2B5EF4-FFF2-40B4-BE49-F238E27FC236}">
                <a16:creationId xmlns:a16="http://schemas.microsoft.com/office/drawing/2014/main" id="{C7344A69-9C2B-FF29-F18F-8150EDDCE567}"/>
              </a:ext>
            </a:extLst>
          </p:cNvPr>
          <p:cNvSpPr txBox="1">
            <a:spLocks/>
          </p:cNvSpPr>
          <p:nvPr/>
        </p:nvSpPr>
        <p:spPr>
          <a:xfrm>
            <a:off x="4047858" y="3834886"/>
            <a:ext cx="1988086" cy="40457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79400" algn="l" rtl="0">
              <a:lnSpc>
                <a:spcPct val="115000"/>
              </a:lnSpc>
              <a:spcBef>
                <a:spcPts val="0"/>
              </a:spcBef>
              <a:spcAft>
                <a:spcPts val="0"/>
              </a:spcAft>
              <a:buClr>
                <a:schemeClr val="dk1"/>
              </a:buClr>
              <a:buSzPts val="800"/>
              <a:buFont typeface="Hanken Grotesk"/>
              <a:buChar char="●"/>
              <a:defRPr sz="1400" b="0" i="0" u="none" strike="noStrike" cap="none">
                <a:solidFill>
                  <a:schemeClr val="dk1"/>
                </a:solidFill>
                <a:latin typeface="Hanken Grotesk"/>
                <a:ea typeface="Hanken Grotesk"/>
                <a:cs typeface="Hanken Grotesk"/>
                <a:sym typeface="Hanken Grotesk"/>
              </a:defRPr>
            </a:lvl1pPr>
            <a:lvl2pPr marL="914400" marR="0" lvl="1"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2pPr>
            <a:lvl3pPr marL="1371600" marR="0" lvl="2"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3pPr>
            <a:lvl4pPr marL="1828800" marR="0" lvl="3"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4pPr>
            <a:lvl5pPr marL="2286000" marR="0" lvl="4"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5pPr>
            <a:lvl6pPr marL="2743200" marR="0" lvl="5"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6pPr>
            <a:lvl7pPr marL="3200400" marR="0" lvl="6"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7pPr>
            <a:lvl8pPr marL="3657600" marR="0" lvl="7"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8pPr>
            <a:lvl9pPr marL="4114800" marR="0" lvl="8"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9pPr>
          </a:lstStyle>
          <a:p>
            <a:pPr marL="0" indent="0" algn="ctr">
              <a:buFont typeface="Hanken Grotesk"/>
              <a:buNone/>
            </a:pPr>
            <a:r>
              <a:rPr lang="en-US" dirty="0" err="1"/>
              <a:t>Zoonomia</a:t>
            </a:r>
            <a:r>
              <a:rPr lang="en-US" dirty="0"/>
              <a:t> 241-way mammalian alignment</a:t>
            </a:r>
          </a:p>
        </p:txBody>
      </p:sp>
      <p:sp>
        <p:nvSpPr>
          <p:cNvPr id="59" name="Title 1">
            <a:extLst>
              <a:ext uri="{FF2B5EF4-FFF2-40B4-BE49-F238E27FC236}">
                <a16:creationId xmlns:a16="http://schemas.microsoft.com/office/drawing/2014/main" id="{C6C0C2FD-6763-027F-2A6E-3EBC723FB860}"/>
              </a:ext>
            </a:extLst>
          </p:cNvPr>
          <p:cNvSpPr txBox="1">
            <a:spLocks/>
          </p:cNvSpPr>
          <p:nvPr/>
        </p:nvSpPr>
        <p:spPr>
          <a:xfrm>
            <a:off x="6150121" y="2285400"/>
            <a:ext cx="911082"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Figtree Black"/>
              <a:buNone/>
              <a:defRPr sz="2800" b="0" i="0" u="none" strike="noStrike" cap="none">
                <a:solidFill>
                  <a:schemeClr val="dk1"/>
                </a:solidFill>
                <a:latin typeface="Figtree Black"/>
                <a:ea typeface="Figtree Black"/>
                <a:cs typeface="Figtree Black"/>
                <a:sym typeface="Figtree Black"/>
              </a:defRPr>
            </a:lvl1pPr>
            <a:lvl2pPr marR="0" lvl="1" algn="l" rtl="0">
              <a:lnSpc>
                <a:spcPct val="100000"/>
              </a:lnSpc>
              <a:spcBef>
                <a:spcPts val="0"/>
              </a:spcBef>
              <a:spcAft>
                <a:spcPts val="0"/>
              </a:spcAft>
              <a:buClr>
                <a:schemeClr val="dk1"/>
              </a:buClr>
              <a:buSzPts val="3000"/>
              <a:buFont typeface="Figtree Black"/>
              <a:buNone/>
              <a:defRPr sz="3000" b="0" i="0" u="none" strike="noStrike" cap="none">
                <a:solidFill>
                  <a:schemeClr val="dk1"/>
                </a:solidFill>
                <a:latin typeface="Figtree Black"/>
                <a:ea typeface="Figtree Black"/>
                <a:cs typeface="Figtree Black"/>
                <a:sym typeface="Figtree Black"/>
              </a:defRPr>
            </a:lvl2pPr>
            <a:lvl3pPr marR="0" lvl="2" algn="l" rtl="0">
              <a:lnSpc>
                <a:spcPct val="100000"/>
              </a:lnSpc>
              <a:spcBef>
                <a:spcPts val="0"/>
              </a:spcBef>
              <a:spcAft>
                <a:spcPts val="0"/>
              </a:spcAft>
              <a:buClr>
                <a:schemeClr val="dk1"/>
              </a:buClr>
              <a:buSzPts val="3000"/>
              <a:buFont typeface="Figtree Black"/>
              <a:buNone/>
              <a:defRPr sz="3000" b="0" i="0" u="none" strike="noStrike" cap="none">
                <a:solidFill>
                  <a:schemeClr val="dk1"/>
                </a:solidFill>
                <a:latin typeface="Figtree Black"/>
                <a:ea typeface="Figtree Black"/>
                <a:cs typeface="Figtree Black"/>
                <a:sym typeface="Figtree Black"/>
              </a:defRPr>
            </a:lvl3pPr>
            <a:lvl4pPr marR="0" lvl="3" algn="l" rtl="0">
              <a:lnSpc>
                <a:spcPct val="100000"/>
              </a:lnSpc>
              <a:spcBef>
                <a:spcPts val="0"/>
              </a:spcBef>
              <a:spcAft>
                <a:spcPts val="0"/>
              </a:spcAft>
              <a:buClr>
                <a:schemeClr val="dk1"/>
              </a:buClr>
              <a:buSzPts val="3000"/>
              <a:buFont typeface="Figtree Black"/>
              <a:buNone/>
              <a:defRPr sz="3000" b="0" i="0" u="none" strike="noStrike" cap="none">
                <a:solidFill>
                  <a:schemeClr val="dk1"/>
                </a:solidFill>
                <a:latin typeface="Figtree Black"/>
                <a:ea typeface="Figtree Black"/>
                <a:cs typeface="Figtree Black"/>
                <a:sym typeface="Figtree Black"/>
              </a:defRPr>
            </a:lvl4pPr>
            <a:lvl5pPr marR="0" lvl="4" algn="l" rtl="0">
              <a:lnSpc>
                <a:spcPct val="100000"/>
              </a:lnSpc>
              <a:spcBef>
                <a:spcPts val="0"/>
              </a:spcBef>
              <a:spcAft>
                <a:spcPts val="0"/>
              </a:spcAft>
              <a:buClr>
                <a:schemeClr val="dk1"/>
              </a:buClr>
              <a:buSzPts val="3000"/>
              <a:buFont typeface="Figtree Black"/>
              <a:buNone/>
              <a:defRPr sz="3000" b="0" i="0" u="none" strike="noStrike" cap="none">
                <a:solidFill>
                  <a:schemeClr val="dk1"/>
                </a:solidFill>
                <a:latin typeface="Figtree Black"/>
                <a:ea typeface="Figtree Black"/>
                <a:cs typeface="Figtree Black"/>
                <a:sym typeface="Figtree Black"/>
              </a:defRPr>
            </a:lvl5pPr>
            <a:lvl6pPr marR="0" lvl="5" algn="l" rtl="0">
              <a:lnSpc>
                <a:spcPct val="100000"/>
              </a:lnSpc>
              <a:spcBef>
                <a:spcPts val="0"/>
              </a:spcBef>
              <a:spcAft>
                <a:spcPts val="0"/>
              </a:spcAft>
              <a:buClr>
                <a:schemeClr val="dk1"/>
              </a:buClr>
              <a:buSzPts val="3000"/>
              <a:buFont typeface="Figtree Black"/>
              <a:buNone/>
              <a:defRPr sz="3000" b="0" i="0" u="none" strike="noStrike" cap="none">
                <a:solidFill>
                  <a:schemeClr val="dk1"/>
                </a:solidFill>
                <a:latin typeface="Figtree Black"/>
                <a:ea typeface="Figtree Black"/>
                <a:cs typeface="Figtree Black"/>
                <a:sym typeface="Figtree Black"/>
              </a:defRPr>
            </a:lvl6pPr>
            <a:lvl7pPr marR="0" lvl="6" algn="l" rtl="0">
              <a:lnSpc>
                <a:spcPct val="100000"/>
              </a:lnSpc>
              <a:spcBef>
                <a:spcPts val="0"/>
              </a:spcBef>
              <a:spcAft>
                <a:spcPts val="0"/>
              </a:spcAft>
              <a:buClr>
                <a:schemeClr val="dk1"/>
              </a:buClr>
              <a:buSzPts val="3000"/>
              <a:buFont typeface="Figtree Black"/>
              <a:buNone/>
              <a:defRPr sz="3000" b="0" i="0" u="none" strike="noStrike" cap="none">
                <a:solidFill>
                  <a:schemeClr val="dk1"/>
                </a:solidFill>
                <a:latin typeface="Figtree Black"/>
                <a:ea typeface="Figtree Black"/>
                <a:cs typeface="Figtree Black"/>
                <a:sym typeface="Figtree Black"/>
              </a:defRPr>
            </a:lvl7pPr>
            <a:lvl8pPr marR="0" lvl="7" algn="l" rtl="0">
              <a:lnSpc>
                <a:spcPct val="100000"/>
              </a:lnSpc>
              <a:spcBef>
                <a:spcPts val="0"/>
              </a:spcBef>
              <a:spcAft>
                <a:spcPts val="0"/>
              </a:spcAft>
              <a:buClr>
                <a:schemeClr val="dk1"/>
              </a:buClr>
              <a:buSzPts val="3000"/>
              <a:buFont typeface="Figtree Black"/>
              <a:buNone/>
              <a:defRPr sz="3000" b="0" i="0" u="none" strike="noStrike" cap="none">
                <a:solidFill>
                  <a:schemeClr val="dk1"/>
                </a:solidFill>
                <a:latin typeface="Figtree Black"/>
                <a:ea typeface="Figtree Black"/>
                <a:cs typeface="Figtree Black"/>
                <a:sym typeface="Figtree Black"/>
              </a:defRPr>
            </a:lvl8pPr>
            <a:lvl9pPr marR="0" lvl="8" algn="l" rtl="0">
              <a:lnSpc>
                <a:spcPct val="100000"/>
              </a:lnSpc>
              <a:spcBef>
                <a:spcPts val="0"/>
              </a:spcBef>
              <a:spcAft>
                <a:spcPts val="0"/>
              </a:spcAft>
              <a:buClr>
                <a:schemeClr val="dk1"/>
              </a:buClr>
              <a:buSzPts val="3000"/>
              <a:buFont typeface="Figtree Black"/>
              <a:buNone/>
              <a:defRPr sz="3000" b="0" i="0" u="none" strike="noStrike" cap="none">
                <a:solidFill>
                  <a:schemeClr val="dk1"/>
                </a:solidFill>
                <a:latin typeface="Figtree Black"/>
                <a:ea typeface="Figtree Black"/>
                <a:cs typeface="Figtree Black"/>
                <a:sym typeface="Figtree Black"/>
              </a:defRPr>
            </a:lvl9pPr>
          </a:lstStyle>
          <a:p>
            <a:pPr algn="ctr"/>
            <a:r>
              <a:rPr lang="en-US" sz="2400" dirty="0"/>
              <a:t>=</a:t>
            </a:r>
          </a:p>
        </p:txBody>
      </p:sp>
      <p:sp>
        <p:nvSpPr>
          <p:cNvPr id="60" name="Text Placeholder 2">
            <a:extLst>
              <a:ext uri="{FF2B5EF4-FFF2-40B4-BE49-F238E27FC236}">
                <a16:creationId xmlns:a16="http://schemas.microsoft.com/office/drawing/2014/main" id="{A317E10C-544E-BC08-4ADF-EE40A9E5F516}"/>
              </a:ext>
            </a:extLst>
          </p:cNvPr>
          <p:cNvSpPr txBox="1">
            <a:spLocks/>
          </p:cNvSpPr>
          <p:nvPr/>
        </p:nvSpPr>
        <p:spPr>
          <a:xfrm>
            <a:off x="6785678" y="2096057"/>
            <a:ext cx="1988086" cy="40457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79400" algn="l" rtl="0">
              <a:lnSpc>
                <a:spcPct val="115000"/>
              </a:lnSpc>
              <a:spcBef>
                <a:spcPts val="0"/>
              </a:spcBef>
              <a:spcAft>
                <a:spcPts val="0"/>
              </a:spcAft>
              <a:buClr>
                <a:schemeClr val="dk1"/>
              </a:buClr>
              <a:buSzPts val="800"/>
              <a:buFont typeface="Hanken Grotesk"/>
              <a:buChar char="●"/>
              <a:defRPr sz="1400" b="0" i="0" u="none" strike="noStrike" cap="none">
                <a:solidFill>
                  <a:schemeClr val="dk1"/>
                </a:solidFill>
                <a:latin typeface="Hanken Grotesk"/>
                <a:ea typeface="Hanken Grotesk"/>
                <a:cs typeface="Hanken Grotesk"/>
                <a:sym typeface="Hanken Grotesk"/>
              </a:defRPr>
            </a:lvl1pPr>
            <a:lvl2pPr marL="914400" marR="0" lvl="1"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2pPr>
            <a:lvl3pPr marL="1371600" marR="0" lvl="2"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3pPr>
            <a:lvl4pPr marL="1828800" marR="0" lvl="3"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4pPr>
            <a:lvl5pPr marL="2286000" marR="0" lvl="4"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5pPr>
            <a:lvl6pPr marL="2743200" marR="0" lvl="5"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6pPr>
            <a:lvl7pPr marL="3200400" marR="0" lvl="6"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7pPr>
            <a:lvl8pPr marL="3657600" marR="0" lvl="7"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8pPr>
            <a:lvl9pPr marL="4114800" marR="0" lvl="8"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9pPr>
          </a:lstStyle>
          <a:p>
            <a:pPr marL="0" indent="0" algn="ctr">
              <a:buFont typeface="Hanken Grotesk"/>
              <a:buNone/>
            </a:pPr>
            <a:r>
              <a:rPr lang="en-US" b="1" dirty="0"/>
              <a:t>233,158,475</a:t>
            </a:r>
            <a:r>
              <a:rPr lang="en-US" dirty="0"/>
              <a:t> homologs across </a:t>
            </a:r>
            <a:br>
              <a:rPr lang="en-US" dirty="0"/>
            </a:br>
            <a:r>
              <a:rPr lang="en-US" dirty="0"/>
              <a:t>1.7 million enhancer homology families</a:t>
            </a:r>
          </a:p>
        </p:txBody>
      </p:sp>
    </p:spTree>
    <p:extLst>
      <p:ext uri="{BB962C8B-B14F-4D97-AF65-F5344CB8AC3E}">
        <p14:creationId xmlns:p14="http://schemas.microsoft.com/office/powerpoint/2010/main" val="1835939984"/>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948517-47E6-B646-B8EB-4AD8E5155D4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3EEF3B-9EBC-1423-2BCF-A1BA30D2E5C2}"/>
              </a:ext>
            </a:extLst>
          </p:cNvPr>
          <p:cNvSpPr>
            <a:spLocks noGrp="1"/>
          </p:cNvSpPr>
          <p:nvPr>
            <p:ph type="title"/>
          </p:nvPr>
        </p:nvSpPr>
        <p:spPr>
          <a:xfrm>
            <a:off x="720000" y="331339"/>
            <a:ext cx="7704000" cy="572700"/>
          </a:xfrm>
        </p:spPr>
        <p:txBody>
          <a:bodyPr/>
          <a:lstStyle/>
          <a:p>
            <a:pPr algn="ctr"/>
            <a:r>
              <a:rPr lang="en-US" sz="2400" dirty="0" err="1"/>
              <a:t>EnhancAR</a:t>
            </a:r>
            <a:r>
              <a:rPr lang="en-US" sz="2400" dirty="0"/>
              <a:t> is trained autoregressively on </a:t>
            </a:r>
            <a:br>
              <a:rPr lang="en-US" sz="2400" dirty="0"/>
            </a:br>
            <a:r>
              <a:rPr lang="en-US" sz="2400" dirty="0"/>
              <a:t>unrolled homology families</a:t>
            </a:r>
          </a:p>
        </p:txBody>
      </p:sp>
      <p:sp>
        <p:nvSpPr>
          <p:cNvPr id="3" name="Double Bracket 2">
            <a:extLst>
              <a:ext uri="{FF2B5EF4-FFF2-40B4-BE49-F238E27FC236}">
                <a16:creationId xmlns:a16="http://schemas.microsoft.com/office/drawing/2014/main" id="{6032D6B9-B35B-EDEF-762A-D78A2EA058D6}"/>
              </a:ext>
            </a:extLst>
          </p:cNvPr>
          <p:cNvSpPr/>
          <p:nvPr/>
        </p:nvSpPr>
        <p:spPr>
          <a:xfrm>
            <a:off x="1001591" y="1408004"/>
            <a:ext cx="1163759" cy="852595"/>
          </a:xfrm>
          <a:prstGeom prst="bracketPair">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 name="TextBox 3">
            <a:extLst>
              <a:ext uri="{FF2B5EF4-FFF2-40B4-BE49-F238E27FC236}">
                <a16:creationId xmlns:a16="http://schemas.microsoft.com/office/drawing/2014/main" id="{3BADDA71-D591-7EB6-1642-0FB9C9AF0520}"/>
              </a:ext>
            </a:extLst>
          </p:cNvPr>
          <p:cNvSpPr txBox="1"/>
          <p:nvPr/>
        </p:nvSpPr>
        <p:spPr>
          <a:xfrm>
            <a:off x="1062333" y="1464969"/>
            <a:ext cx="1042273" cy="738664"/>
          </a:xfrm>
          <a:prstGeom prst="rect">
            <a:avLst/>
          </a:prstGeom>
          <a:noFill/>
        </p:spPr>
        <p:txBody>
          <a:bodyPr wrap="none" rtlCol="0">
            <a:spAutoFit/>
          </a:bodyPr>
          <a:lstStyle/>
          <a:p>
            <a:pPr algn="ctr"/>
            <a:r>
              <a:rPr lang="en-US" dirty="0"/>
              <a:t>ATCGATC</a:t>
            </a:r>
          </a:p>
          <a:p>
            <a:pPr algn="ctr"/>
            <a:r>
              <a:rPr lang="en-US" dirty="0"/>
              <a:t>TGATC</a:t>
            </a:r>
          </a:p>
          <a:p>
            <a:pPr algn="ctr"/>
            <a:r>
              <a:rPr lang="en-US" dirty="0"/>
              <a:t>ATGGAA</a:t>
            </a:r>
          </a:p>
        </p:txBody>
      </p:sp>
      <p:cxnSp>
        <p:nvCxnSpPr>
          <p:cNvPr id="5" name="Straight Arrow Connector 4">
            <a:extLst>
              <a:ext uri="{FF2B5EF4-FFF2-40B4-BE49-F238E27FC236}">
                <a16:creationId xmlns:a16="http://schemas.microsoft.com/office/drawing/2014/main" id="{24CAB29F-A499-6978-F5FF-3A5B46BE5BEA}"/>
              </a:ext>
            </a:extLst>
          </p:cNvPr>
          <p:cNvCxnSpPr>
            <a:cxnSpLocks/>
          </p:cNvCxnSpPr>
          <p:nvPr/>
        </p:nvCxnSpPr>
        <p:spPr>
          <a:xfrm>
            <a:off x="2390660" y="1803007"/>
            <a:ext cx="1079653"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6" name="TextBox 5">
            <a:extLst>
              <a:ext uri="{FF2B5EF4-FFF2-40B4-BE49-F238E27FC236}">
                <a16:creationId xmlns:a16="http://schemas.microsoft.com/office/drawing/2014/main" id="{B1CD4F20-61E5-F544-4B2B-76E22720F63A}"/>
              </a:ext>
            </a:extLst>
          </p:cNvPr>
          <p:cNvSpPr txBox="1"/>
          <p:nvPr/>
        </p:nvSpPr>
        <p:spPr>
          <a:xfrm>
            <a:off x="2977468" y="1649119"/>
            <a:ext cx="4007532" cy="307777"/>
          </a:xfrm>
          <a:prstGeom prst="rect">
            <a:avLst/>
          </a:prstGeom>
          <a:noFill/>
        </p:spPr>
        <p:txBody>
          <a:bodyPr wrap="square" rtlCol="0">
            <a:spAutoFit/>
          </a:bodyPr>
          <a:lstStyle/>
          <a:p>
            <a:pPr algn="ctr"/>
            <a:r>
              <a:rPr lang="en-US" b="1" dirty="0"/>
              <a:t>{</a:t>
            </a:r>
            <a:r>
              <a:rPr lang="en-US" dirty="0"/>
              <a:t> ATCGATC </a:t>
            </a:r>
            <a:r>
              <a:rPr lang="en-US" b="1" dirty="0"/>
              <a:t>/</a:t>
            </a:r>
            <a:r>
              <a:rPr lang="en-US" dirty="0"/>
              <a:t> TGATC </a:t>
            </a:r>
            <a:r>
              <a:rPr lang="en-US" b="1" dirty="0"/>
              <a:t>/</a:t>
            </a:r>
            <a:r>
              <a:rPr lang="en-US" dirty="0"/>
              <a:t> ATGGAA }</a:t>
            </a:r>
          </a:p>
        </p:txBody>
      </p:sp>
      <p:pic>
        <p:nvPicPr>
          <p:cNvPr id="8" name="Picture 7">
            <a:extLst>
              <a:ext uri="{FF2B5EF4-FFF2-40B4-BE49-F238E27FC236}">
                <a16:creationId xmlns:a16="http://schemas.microsoft.com/office/drawing/2014/main" id="{AE8E24AF-5F4E-DAEF-F3C8-048B133BA8C3}"/>
              </a:ext>
            </a:extLst>
          </p:cNvPr>
          <p:cNvPicPr>
            <a:picLocks noChangeAspect="1"/>
          </p:cNvPicPr>
          <p:nvPr/>
        </p:nvPicPr>
        <p:blipFill>
          <a:blip r:embed="rId3"/>
          <a:srcRect t="4972" r="7858" b="46742"/>
          <a:stretch>
            <a:fillRect/>
          </a:stretch>
        </p:blipFill>
        <p:spPr>
          <a:xfrm>
            <a:off x="627018" y="2484390"/>
            <a:ext cx="7593057" cy="1996173"/>
          </a:xfrm>
          <a:prstGeom prst="rect">
            <a:avLst/>
          </a:prstGeom>
        </p:spPr>
      </p:pic>
      <p:sp>
        <p:nvSpPr>
          <p:cNvPr id="44" name="TextBox 43">
            <a:extLst>
              <a:ext uri="{FF2B5EF4-FFF2-40B4-BE49-F238E27FC236}">
                <a16:creationId xmlns:a16="http://schemas.microsoft.com/office/drawing/2014/main" id="{6AF44840-B477-1DD9-139B-1275E1DE565A}"/>
              </a:ext>
            </a:extLst>
          </p:cNvPr>
          <p:cNvSpPr txBox="1"/>
          <p:nvPr/>
        </p:nvSpPr>
        <p:spPr>
          <a:xfrm>
            <a:off x="547277" y="3897898"/>
            <a:ext cx="908628" cy="246221"/>
          </a:xfrm>
          <a:prstGeom prst="rect">
            <a:avLst/>
          </a:prstGeom>
          <a:solidFill>
            <a:schemeClr val="bg1"/>
          </a:solidFill>
          <a:ln>
            <a:solidFill>
              <a:schemeClr val="bg1">
                <a:lumMod val="10000"/>
              </a:schemeClr>
            </a:solidFill>
          </a:ln>
        </p:spPr>
        <p:txBody>
          <a:bodyPr wrap="square">
            <a:spAutoFit/>
          </a:bodyPr>
          <a:lstStyle/>
          <a:p>
            <a:r>
              <a:rPr lang="en-US" sz="1000" b="1" dirty="0"/>
              <a:t>{ </a:t>
            </a:r>
            <a:r>
              <a:rPr lang="en-US" sz="1000" dirty="0"/>
              <a:t>ATCGATC </a:t>
            </a:r>
          </a:p>
        </p:txBody>
      </p:sp>
      <p:sp>
        <p:nvSpPr>
          <p:cNvPr id="46" name="TextBox 45">
            <a:extLst>
              <a:ext uri="{FF2B5EF4-FFF2-40B4-BE49-F238E27FC236}">
                <a16:creationId xmlns:a16="http://schemas.microsoft.com/office/drawing/2014/main" id="{B45E10D8-1B3F-A106-6A09-475CFF40B104}"/>
              </a:ext>
            </a:extLst>
          </p:cNvPr>
          <p:cNvSpPr txBox="1"/>
          <p:nvPr/>
        </p:nvSpPr>
        <p:spPr>
          <a:xfrm>
            <a:off x="2257828" y="3897898"/>
            <a:ext cx="992631" cy="246221"/>
          </a:xfrm>
          <a:prstGeom prst="rect">
            <a:avLst/>
          </a:prstGeom>
          <a:solidFill>
            <a:schemeClr val="bg1"/>
          </a:solidFill>
          <a:ln>
            <a:solidFill>
              <a:schemeClr val="bg1">
                <a:lumMod val="10000"/>
              </a:schemeClr>
            </a:solidFill>
          </a:ln>
        </p:spPr>
        <p:txBody>
          <a:bodyPr wrap="square">
            <a:spAutoFit/>
          </a:bodyPr>
          <a:lstStyle/>
          <a:p>
            <a:r>
              <a:rPr lang="en-US" sz="1000" b="1" dirty="0"/>
              <a:t>{ </a:t>
            </a:r>
            <a:r>
              <a:rPr lang="en-US" sz="1000" dirty="0"/>
              <a:t>ATCGATC </a:t>
            </a:r>
            <a:r>
              <a:rPr lang="en-US" sz="1000" dirty="0">
                <a:solidFill>
                  <a:srgbClr val="00B0F0"/>
                </a:solidFill>
              </a:rPr>
              <a:t>/</a:t>
            </a:r>
            <a:r>
              <a:rPr lang="en-US" sz="1000" dirty="0"/>
              <a:t> </a:t>
            </a:r>
          </a:p>
        </p:txBody>
      </p:sp>
      <p:sp>
        <p:nvSpPr>
          <p:cNvPr id="47" name="TextBox 46">
            <a:extLst>
              <a:ext uri="{FF2B5EF4-FFF2-40B4-BE49-F238E27FC236}">
                <a16:creationId xmlns:a16="http://schemas.microsoft.com/office/drawing/2014/main" id="{8B341449-FCE8-AF27-4DEE-5D3823A0B0CE}"/>
              </a:ext>
            </a:extLst>
          </p:cNvPr>
          <p:cNvSpPr txBox="1"/>
          <p:nvPr/>
        </p:nvSpPr>
        <p:spPr>
          <a:xfrm>
            <a:off x="3825298" y="3897898"/>
            <a:ext cx="1065790" cy="246221"/>
          </a:xfrm>
          <a:prstGeom prst="rect">
            <a:avLst/>
          </a:prstGeom>
          <a:solidFill>
            <a:schemeClr val="bg1"/>
          </a:solidFill>
          <a:ln>
            <a:solidFill>
              <a:schemeClr val="bg1">
                <a:lumMod val="10000"/>
              </a:schemeClr>
            </a:solidFill>
          </a:ln>
        </p:spPr>
        <p:txBody>
          <a:bodyPr wrap="square">
            <a:spAutoFit/>
          </a:bodyPr>
          <a:lstStyle/>
          <a:p>
            <a:r>
              <a:rPr lang="en-US" sz="1000" b="1" dirty="0"/>
              <a:t>{ </a:t>
            </a:r>
            <a:r>
              <a:rPr lang="en-US" sz="1000" dirty="0"/>
              <a:t>ATCGATC / </a:t>
            </a:r>
            <a:r>
              <a:rPr lang="en-US" sz="1000" dirty="0">
                <a:solidFill>
                  <a:srgbClr val="00B0F0"/>
                </a:solidFill>
              </a:rPr>
              <a:t>T</a:t>
            </a:r>
            <a:r>
              <a:rPr lang="en-US" sz="1000" dirty="0"/>
              <a:t> </a:t>
            </a:r>
          </a:p>
        </p:txBody>
      </p:sp>
      <p:sp>
        <p:nvSpPr>
          <p:cNvPr id="48" name="TextBox 47">
            <a:extLst>
              <a:ext uri="{FF2B5EF4-FFF2-40B4-BE49-F238E27FC236}">
                <a16:creationId xmlns:a16="http://schemas.microsoft.com/office/drawing/2014/main" id="{0F3AEE88-2FC6-7615-E850-F49DDF8C58C8}"/>
              </a:ext>
            </a:extLst>
          </p:cNvPr>
          <p:cNvSpPr txBox="1"/>
          <p:nvPr/>
        </p:nvSpPr>
        <p:spPr>
          <a:xfrm>
            <a:off x="5373169" y="3897898"/>
            <a:ext cx="1407713" cy="246221"/>
          </a:xfrm>
          <a:prstGeom prst="rect">
            <a:avLst/>
          </a:prstGeom>
          <a:solidFill>
            <a:schemeClr val="bg1"/>
          </a:solidFill>
          <a:ln>
            <a:solidFill>
              <a:schemeClr val="bg1">
                <a:lumMod val="10000"/>
              </a:schemeClr>
            </a:solidFill>
          </a:ln>
        </p:spPr>
        <p:txBody>
          <a:bodyPr wrap="square">
            <a:spAutoFit/>
          </a:bodyPr>
          <a:lstStyle/>
          <a:p>
            <a:r>
              <a:rPr lang="en-US" sz="1000" b="1" dirty="0"/>
              <a:t>{ </a:t>
            </a:r>
            <a:r>
              <a:rPr lang="en-US" sz="1000" dirty="0"/>
              <a:t>ATCGATC / T</a:t>
            </a:r>
            <a:r>
              <a:rPr lang="en-US" sz="1000" dirty="0">
                <a:solidFill>
                  <a:srgbClr val="00B0F0"/>
                </a:solidFill>
              </a:rPr>
              <a:t>G</a:t>
            </a:r>
            <a:r>
              <a:rPr lang="en-US" sz="1000" dirty="0"/>
              <a:t> </a:t>
            </a:r>
          </a:p>
        </p:txBody>
      </p:sp>
      <p:sp>
        <p:nvSpPr>
          <p:cNvPr id="49" name="TextBox 48">
            <a:extLst>
              <a:ext uri="{FF2B5EF4-FFF2-40B4-BE49-F238E27FC236}">
                <a16:creationId xmlns:a16="http://schemas.microsoft.com/office/drawing/2014/main" id="{15E4E786-342E-3ED2-1695-A7751FB98C8A}"/>
              </a:ext>
            </a:extLst>
          </p:cNvPr>
          <p:cNvSpPr txBox="1"/>
          <p:nvPr/>
        </p:nvSpPr>
        <p:spPr>
          <a:xfrm>
            <a:off x="6918877" y="3897898"/>
            <a:ext cx="1407713" cy="246221"/>
          </a:xfrm>
          <a:prstGeom prst="rect">
            <a:avLst/>
          </a:prstGeom>
          <a:solidFill>
            <a:schemeClr val="bg1"/>
          </a:solidFill>
          <a:ln>
            <a:solidFill>
              <a:schemeClr val="bg1">
                <a:lumMod val="10000"/>
              </a:schemeClr>
            </a:solidFill>
          </a:ln>
        </p:spPr>
        <p:txBody>
          <a:bodyPr wrap="square">
            <a:spAutoFit/>
          </a:bodyPr>
          <a:lstStyle/>
          <a:p>
            <a:r>
              <a:rPr lang="en-US" sz="1000" b="1" dirty="0"/>
              <a:t>{ </a:t>
            </a:r>
            <a:r>
              <a:rPr lang="en-US" sz="1000" dirty="0"/>
              <a:t>ATCGATC / TG</a:t>
            </a:r>
            <a:r>
              <a:rPr lang="en-US" sz="1000" dirty="0">
                <a:solidFill>
                  <a:srgbClr val="00B0F0"/>
                </a:solidFill>
              </a:rPr>
              <a:t>A</a:t>
            </a:r>
            <a:r>
              <a:rPr lang="en-US" sz="1000" dirty="0"/>
              <a:t> </a:t>
            </a:r>
          </a:p>
        </p:txBody>
      </p:sp>
      <p:pic>
        <p:nvPicPr>
          <p:cNvPr id="53" name="Picture 52">
            <a:extLst>
              <a:ext uri="{FF2B5EF4-FFF2-40B4-BE49-F238E27FC236}">
                <a16:creationId xmlns:a16="http://schemas.microsoft.com/office/drawing/2014/main" id="{5EECAFA7-33D3-B2C7-7AAA-31B67CB7B5C8}"/>
              </a:ext>
            </a:extLst>
          </p:cNvPr>
          <p:cNvPicPr>
            <a:picLocks noChangeAspect="1"/>
          </p:cNvPicPr>
          <p:nvPr/>
        </p:nvPicPr>
        <p:blipFill>
          <a:blip r:embed="rId3"/>
          <a:srcRect l="94064" t="4972" r="1733" b="65727"/>
          <a:stretch>
            <a:fillRect/>
          </a:stretch>
        </p:blipFill>
        <p:spPr>
          <a:xfrm>
            <a:off x="8170534" y="2422841"/>
            <a:ext cx="346448" cy="1211310"/>
          </a:xfrm>
          <a:prstGeom prst="rect">
            <a:avLst/>
          </a:prstGeom>
        </p:spPr>
      </p:pic>
      <p:sp>
        <p:nvSpPr>
          <p:cNvPr id="54" name="TextBox 53">
            <a:extLst>
              <a:ext uri="{FF2B5EF4-FFF2-40B4-BE49-F238E27FC236}">
                <a16:creationId xmlns:a16="http://schemas.microsoft.com/office/drawing/2014/main" id="{F7218BDA-040A-41AC-77F4-1EC82EBD8974}"/>
              </a:ext>
            </a:extLst>
          </p:cNvPr>
          <p:cNvSpPr txBox="1"/>
          <p:nvPr/>
        </p:nvSpPr>
        <p:spPr>
          <a:xfrm>
            <a:off x="686249" y="2579438"/>
            <a:ext cx="465826" cy="246221"/>
          </a:xfrm>
          <a:prstGeom prst="rect">
            <a:avLst/>
          </a:prstGeom>
          <a:solidFill>
            <a:srgbClr val="B8E2DE"/>
          </a:solidFill>
          <a:ln>
            <a:solidFill>
              <a:schemeClr val="bg1">
                <a:lumMod val="10000"/>
              </a:schemeClr>
            </a:solidFill>
          </a:ln>
        </p:spPr>
        <p:txBody>
          <a:bodyPr wrap="square">
            <a:spAutoFit/>
          </a:bodyPr>
          <a:lstStyle/>
          <a:p>
            <a:pPr algn="ctr"/>
            <a:r>
              <a:rPr lang="en-US" sz="1000" b="1" dirty="0"/>
              <a:t>/</a:t>
            </a:r>
            <a:endParaRPr lang="en-US" sz="1000" dirty="0"/>
          </a:p>
        </p:txBody>
      </p:sp>
      <p:sp>
        <p:nvSpPr>
          <p:cNvPr id="55" name="TextBox 54">
            <a:extLst>
              <a:ext uri="{FF2B5EF4-FFF2-40B4-BE49-F238E27FC236}">
                <a16:creationId xmlns:a16="http://schemas.microsoft.com/office/drawing/2014/main" id="{62B3A6CD-CDF2-32B8-6513-A3946E394BDC}"/>
              </a:ext>
            </a:extLst>
          </p:cNvPr>
          <p:cNvSpPr txBox="1"/>
          <p:nvPr/>
        </p:nvSpPr>
        <p:spPr>
          <a:xfrm>
            <a:off x="2248302" y="2579438"/>
            <a:ext cx="465826" cy="246221"/>
          </a:xfrm>
          <a:prstGeom prst="rect">
            <a:avLst/>
          </a:prstGeom>
          <a:solidFill>
            <a:srgbClr val="B8E2DE"/>
          </a:solidFill>
          <a:ln>
            <a:solidFill>
              <a:schemeClr val="bg1">
                <a:lumMod val="10000"/>
              </a:schemeClr>
            </a:solidFill>
          </a:ln>
        </p:spPr>
        <p:txBody>
          <a:bodyPr wrap="square">
            <a:spAutoFit/>
          </a:bodyPr>
          <a:lstStyle/>
          <a:p>
            <a:pPr algn="ctr"/>
            <a:r>
              <a:rPr lang="en-US" sz="1000" b="1" dirty="0"/>
              <a:t>T</a:t>
            </a:r>
            <a:endParaRPr lang="en-US" sz="1000" dirty="0"/>
          </a:p>
        </p:txBody>
      </p:sp>
      <p:sp>
        <p:nvSpPr>
          <p:cNvPr id="57" name="TextBox 56">
            <a:extLst>
              <a:ext uri="{FF2B5EF4-FFF2-40B4-BE49-F238E27FC236}">
                <a16:creationId xmlns:a16="http://schemas.microsoft.com/office/drawing/2014/main" id="{82480458-CA99-2BE1-A578-26152AE17FF0}"/>
              </a:ext>
            </a:extLst>
          </p:cNvPr>
          <p:cNvSpPr txBox="1"/>
          <p:nvPr/>
        </p:nvSpPr>
        <p:spPr>
          <a:xfrm>
            <a:off x="3811009" y="2571750"/>
            <a:ext cx="465825" cy="246221"/>
          </a:xfrm>
          <a:prstGeom prst="rect">
            <a:avLst/>
          </a:prstGeom>
          <a:solidFill>
            <a:srgbClr val="B8E2DE"/>
          </a:solidFill>
          <a:ln>
            <a:solidFill>
              <a:schemeClr val="bg1">
                <a:lumMod val="10000"/>
              </a:schemeClr>
            </a:solidFill>
          </a:ln>
        </p:spPr>
        <p:txBody>
          <a:bodyPr wrap="square">
            <a:spAutoFit/>
          </a:bodyPr>
          <a:lstStyle/>
          <a:p>
            <a:pPr algn="ctr"/>
            <a:r>
              <a:rPr lang="en-US" sz="1000" b="1" dirty="0"/>
              <a:t>G</a:t>
            </a:r>
            <a:endParaRPr lang="en-US" sz="1000" dirty="0"/>
          </a:p>
        </p:txBody>
      </p:sp>
      <p:sp>
        <p:nvSpPr>
          <p:cNvPr id="61" name="TextBox 60">
            <a:extLst>
              <a:ext uri="{FF2B5EF4-FFF2-40B4-BE49-F238E27FC236}">
                <a16:creationId xmlns:a16="http://schemas.microsoft.com/office/drawing/2014/main" id="{68FCA02D-BDEA-1490-4015-0E5C3F513A6E}"/>
              </a:ext>
            </a:extLst>
          </p:cNvPr>
          <p:cNvSpPr txBox="1"/>
          <p:nvPr/>
        </p:nvSpPr>
        <p:spPr>
          <a:xfrm>
            <a:off x="5358325" y="2579438"/>
            <a:ext cx="465826" cy="246221"/>
          </a:xfrm>
          <a:prstGeom prst="rect">
            <a:avLst/>
          </a:prstGeom>
          <a:solidFill>
            <a:srgbClr val="B8E2DE"/>
          </a:solidFill>
          <a:ln>
            <a:solidFill>
              <a:schemeClr val="bg1">
                <a:lumMod val="10000"/>
              </a:schemeClr>
            </a:solidFill>
          </a:ln>
        </p:spPr>
        <p:txBody>
          <a:bodyPr wrap="square">
            <a:spAutoFit/>
          </a:bodyPr>
          <a:lstStyle/>
          <a:p>
            <a:pPr algn="ctr"/>
            <a:r>
              <a:rPr lang="en-US" sz="1000" b="1" dirty="0"/>
              <a:t>A</a:t>
            </a:r>
            <a:endParaRPr lang="en-US" sz="1000" dirty="0"/>
          </a:p>
        </p:txBody>
      </p:sp>
      <p:sp>
        <p:nvSpPr>
          <p:cNvPr id="62" name="TextBox 61">
            <a:extLst>
              <a:ext uri="{FF2B5EF4-FFF2-40B4-BE49-F238E27FC236}">
                <a16:creationId xmlns:a16="http://schemas.microsoft.com/office/drawing/2014/main" id="{1261EF4C-47EF-4AF6-F341-F5F3270A17F5}"/>
              </a:ext>
            </a:extLst>
          </p:cNvPr>
          <p:cNvSpPr txBox="1"/>
          <p:nvPr/>
        </p:nvSpPr>
        <p:spPr>
          <a:xfrm>
            <a:off x="6935768" y="2571749"/>
            <a:ext cx="465826" cy="246221"/>
          </a:xfrm>
          <a:prstGeom prst="rect">
            <a:avLst/>
          </a:prstGeom>
          <a:solidFill>
            <a:srgbClr val="B8E2DE"/>
          </a:solidFill>
          <a:ln>
            <a:solidFill>
              <a:schemeClr val="bg1">
                <a:lumMod val="10000"/>
              </a:schemeClr>
            </a:solidFill>
          </a:ln>
        </p:spPr>
        <p:txBody>
          <a:bodyPr wrap="square">
            <a:spAutoFit/>
          </a:bodyPr>
          <a:lstStyle/>
          <a:p>
            <a:pPr algn="ctr"/>
            <a:r>
              <a:rPr lang="en-US" sz="1000" b="1" dirty="0"/>
              <a:t>T</a:t>
            </a:r>
            <a:endParaRPr lang="en-US" sz="1000" dirty="0"/>
          </a:p>
        </p:txBody>
      </p:sp>
      <p:sp>
        <p:nvSpPr>
          <p:cNvPr id="63" name="Rectangle 62">
            <a:extLst>
              <a:ext uri="{FF2B5EF4-FFF2-40B4-BE49-F238E27FC236}">
                <a16:creationId xmlns:a16="http://schemas.microsoft.com/office/drawing/2014/main" id="{A5C5AF98-FA5B-0AA9-232A-AEABE13B21A4}"/>
              </a:ext>
            </a:extLst>
          </p:cNvPr>
          <p:cNvSpPr/>
          <p:nvPr/>
        </p:nvSpPr>
        <p:spPr>
          <a:xfrm>
            <a:off x="714492" y="3186395"/>
            <a:ext cx="863469" cy="246221"/>
          </a:xfrm>
          <a:prstGeom prst="rect">
            <a:avLst/>
          </a:prstGeom>
          <a:solidFill>
            <a:srgbClr val="B4E5A4"/>
          </a:solidFill>
          <a:ln>
            <a:solidFill>
              <a:srgbClr val="B4E5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dirty="0" err="1">
                <a:solidFill>
                  <a:schemeClr val="bg1">
                    <a:lumMod val="10000"/>
                  </a:schemeClr>
                </a:solidFill>
              </a:rPr>
              <a:t>EnhancAR</a:t>
            </a:r>
            <a:endParaRPr lang="en-US" sz="1050" dirty="0">
              <a:solidFill>
                <a:schemeClr val="bg1">
                  <a:lumMod val="10000"/>
                </a:schemeClr>
              </a:solidFill>
            </a:endParaRPr>
          </a:p>
        </p:txBody>
      </p:sp>
      <p:sp>
        <p:nvSpPr>
          <p:cNvPr id="65" name="Rectangle 64">
            <a:extLst>
              <a:ext uri="{FF2B5EF4-FFF2-40B4-BE49-F238E27FC236}">
                <a16:creationId xmlns:a16="http://schemas.microsoft.com/office/drawing/2014/main" id="{9ABCACA5-A102-FE03-671E-2F7C483331BF}"/>
              </a:ext>
            </a:extLst>
          </p:cNvPr>
          <p:cNvSpPr/>
          <p:nvPr/>
        </p:nvSpPr>
        <p:spPr>
          <a:xfrm>
            <a:off x="2282393" y="3186394"/>
            <a:ext cx="863469" cy="246221"/>
          </a:xfrm>
          <a:prstGeom prst="rect">
            <a:avLst/>
          </a:prstGeom>
          <a:solidFill>
            <a:srgbClr val="B4E5A4"/>
          </a:solidFill>
          <a:ln>
            <a:solidFill>
              <a:srgbClr val="B4E5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dirty="0" err="1">
                <a:solidFill>
                  <a:schemeClr val="bg1">
                    <a:lumMod val="10000"/>
                  </a:schemeClr>
                </a:solidFill>
              </a:rPr>
              <a:t>EnhancAR</a:t>
            </a:r>
            <a:endParaRPr lang="en-US" sz="1050" dirty="0">
              <a:solidFill>
                <a:schemeClr val="bg1">
                  <a:lumMod val="10000"/>
                </a:schemeClr>
              </a:solidFill>
            </a:endParaRPr>
          </a:p>
        </p:txBody>
      </p:sp>
      <p:sp>
        <p:nvSpPr>
          <p:cNvPr id="66" name="Rectangle 65">
            <a:extLst>
              <a:ext uri="{FF2B5EF4-FFF2-40B4-BE49-F238E27FC236}">
                <a16:creationId xmlns:a16="http://schemas.microsoft.com/office/drawing/2014/main" id="{47E9DE37-C857-3FA7-F97A-B328C3F262DA}"/>
              </a:ext>
            </a:extLst>
          </p:cNvPr>
          <p:cNvSpPr/>
          <p:nvPr/>
        </p:nvSpPr>
        <p:spPr>
          <a:xfrm>
            <a:off x="3841826" y="3186393"/>
            <a:ext cx="863469" cy="246221"/>
          </a:xfrm>
          <a:prstGeom prst="rect">
            <a:avLst/>
          </a:prstGeom>
          <a:solidFill>
            <a:srgbClr val="B4E5A4"/>
          </a:solidFill>
          <a:ln>
            <a:solidFill>
              <a:srgbClr val="B4E5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dirty="0" err="1">
                <a:solidFill>
                  <a:schemeClr val="bg1">
                    <a:lumMod val="10000"/>
                  </a:schemeClr>
                </a:solidFill>
              </a:rPr>
              <a:t>EnhancAR</a:t>
            </a:r>
            <a:endParaRPr lang="en-US" sz="1050" dirty="0">
              <a:solidFill>
                <a:schemeClr val="bg1">
                  <a:lumMod val="10000"/>
                </a:schemeClr>
              </a:solidFill>
            </a:endParaRPr>
          </a:p>
        </p:txBody>
      </p:sp>
      <p:sp>
        <p:nvSpPr>
          <p:cNvPr id="67" name="Rectangle 66">
            <a:extLst>
              <a:ext uri="{FF2B5EF4-FFF2-40B4-BE49-F238E27FC236}">
                <a16:creationId xmlns:a16="http://schemas.microsoft.com/office/drawing/2014/main" id="{F13986AA-8BED-2F74-26E5-0A5F14D2E1EC}"/>
              </a:ext>
            </a:extLst>
          </p:cNvPr>
          <p:cNvSpPr/>
          <p:nvPr/>
        </p:nvSpPr>
        <p:spPr>
          <a:xfrm>
            <a:off x="5392416" y="3186392"/>
            <a:ext cx="863469" cy="246221"/>
          </a:xfrm>
          <a:prstGeom prst="rect">
            <a:avLst/>
          </a:prstGeom>
          <a:solidFill>
            <a:srgbClr val="B4E5A4"/>
          </a:solidFill>
          <a:ln>
            <a:solidFill>
              <a:srgbClr val="B4E5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dirty="0" err="1">
                <a:solidFill>
                  <a:schemeClr val="bg1">
                    <a:lumMod val="10000"/>
                  </a:schemeClr>
                </a:solidFill>
              </a:rPr>
              <a:t>EnhancAR</a:t>
            </a:r>
            <a:endParaRPr lang="en-US" sz="1050" dirty="0">
              <a:solidFill>
                <a:schemeClr val="bg1">
                  <a:lumMod val="10000"/>
                </a:schemeClr>
              </a:solidFill>
            </a:endParaRPr>
          </a:p>
        </p:txBody>
      </p:sp>
      <p:sp>
        <p:nvSpPr>
          <p:cNvPr id="68" name="Rectangle 67">
            <a:extLst>
              <a:ext uri="{FF2B5EF4-FFF2-40B4-BE49-F238E27FC236}">
                <a16:creationId xmlns:a16="http://schemas.microsoft.com/office/drawing/2014/main" id="{C40185DA-E0F1-5D5E-9616-A220D181EDF8}"/>
              </a:ext>
            </a:extLst>
          </p:cNvPr>
          <p:cNvSpPr/>
          <p:nvPr/>
        </p:nvSpPr>
        <p:spPr>
          <a:xfrm>
            <a:off x="6960317" y="3186391"/>
            <a:ext cx="863469" cy="246221"/>
          </a:xfrm>
          <a:prstGeom prst="rect">
            <a:avLst/>
          </a:prstGeom>
          <a:solidFill>
            <a:srgbClr val="B4E5A4"/>
          </a:solidFill>
          <a:ln>
            <a:solidFill>
              <a:srgbClr val="B4E5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dirty="0" err="1">
                <a:solidFill>
                  <a:schemeClr val="bg1">
                    <a:lumMod val="10000"/>
                  </a:schemeClr>
                </a:solidFill>
              </a:rPr>
              <a:t>EnhancAR</a:t>
            </a:r>
            <a:endParaRPr lang="en-US" sz="1050" dirty="0">
              <a:solidFill>
                <a:schemeClr val="bg1">
                  <a:lumMod val="10000"/>
                </a:schemeClr>
              </a:solidFill>
            </a:endParaRPr>
          </a:p>
        </p:txBody>
      </p:sp>
      <p:sp>
        <p:nvSpPr>
          <p:cNvPr id="69" name="Text Placeholder 2">
            <a:extLst>
              <a:ext uri="{FF2B5EF4-FFF2-40B4-BE49-F238E27FC236}">
                <a16:creationId xmlns:a16="http://schemas.microsoft.com/office/drawing/2014/main" id="{7787E3D3-09A0-5FB6-99F3-403D449F7223}"/>
              </a:ext>
            </a:extLst>
          </p:cNvPr>
          <p:cNvSpPr txBox="1">
            <a:spLocks/>
          </p:cNvSpPr>
          <p:nvPr/>
        </p:nvSpPr>
        <p:spPr>
          <a:xfrm>
            <a:off x="2947155" y="4409716"/>
            <a:ext cx="2952781" cy="40457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79400" algn="l" rtl="0">
              <a:lnSpc>
                <a:spcPct val="115000"/>
              </a:lnSpc>
              <a:spcBef>
                <a:spcPts val="0"/>
              </a:spcBef>
              <a:spcAft>
                <a:spcPts val="0"/>
              </a:spcAft>
              <a:buClr>
                <a:schemeClr val="dk1"/>
              </a:buClr>
              <a:buSzPts val="800"/>
              <a:buFont typeface="Hanken Grotesk"/>
              <a:buChar char="●"/>
              <a:defRPr sz="1400" b="0" i="0" u="none" strike="noStrike" cap="none">
                <a:solidFill>
                  <a:schemeClr val="dk1"/>
                </a:solidFill>
                <a:latin typeface="Hanken Grotesk"/>
                <a:ea typeface="Hanken Grotesk"/>
                <a:cs typeface="Hanken Grotesk"/>
                <a:sym typeface="Hanken Grotesk"/>
              </a:defRPr>
            </a:lvl1pPr>
            <a:lvl2pPr marL="914400" marR="0" lvl="1"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2pPr>
            <a:lvl3pPr marL="1371600" marR="0" lvl="2"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3pPr>
            <a:lvl4pPr marL="1828800" marR="0" lvl="3"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4pPr>
            <a:lvl5pPr marL="2286000" marR="0" lvl="4"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5pPr>
            <a:lvl6pPr marL="2743200" marR="0" lvl="5"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6pPr>
            <a:lvl7pPr marL="3200400" marR="0" lvl="6"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7pPr>
            <a:lvl8pPr marL="3657600" marR="0" lvl="7"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8pPr>
            <a:lvl9pPr marL="4114800" marR="0" lvl="8"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9pPr>
          </a:lstStyle>
          <a:p>
            <a:pPr marL="0" indent="0" algn="ctr">
              <a:buFont typeface="Hanken Grotesk"/>
              <a:buNone/>
            </a:pPr>
            <a:r>
              <a:rPr lang="en-US" dirty="0"/>
              <a:t>(170M Parameter Jamba Model)</a:t>
            </a:r>
          </a:p>
        </p:txBody>
      </p:sp>
    </p:spTree>
    <p:extLst>
      <p:ext uri="{BB962C8B-B14F-4D97-AF65-F5344CB8AC3E}">
        <p14:creationId xmlns:p14="http://schemas.microsoft.com/office/powerpoint/2010/main" val="4163320021"/>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5557BE-9486-E9E7-E677-435F78FCF3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C6FF888-D6C6-0B94-5990-EBFBCA29501D}"/>
              </a:ext>
            </a:extLst>
          </p:cNvPr>
          <p:cNvSpPr>
            <a:spLocks noGrp="1"/>
          </p:cNvSpPr>
          <p:nvPr>
            <p:ph type="title"/>
          </p:nvPr>
        </p:nvSpPr>
        <p:spPr>
          <a:xfrm>
            <a:off x="720000" y="430491"/>
            <a:ext cx="7704000" cy="572700"/>
          </a:xfrm>
        </p:spPr>
        <p:txBody>
          <a:bodyPr/>
          <a:lstStyle/>
          <a:p>
            <a:pPr algn="ctr"/>
            <a:r>
              <a:rPr lang="en-US" sz="2400" dirty="0"/>
              <a:t>Autoregressive training enables flexible </a:t>
            </a:r>
            <a:br>
              <a:rPr lang="en-US" sz="2400" dirty="0"/>
            </a:br>
            <a:r>
              <a:rPr lang="en-US" sz="2400" dirty="0"/>
              <a:t>generation modes at inference time</a:t>
            </a:r>
          </a:p>
        </p:txBody>
      </p:sp>
      <p:sp>
        <p:nvSpPr>
          <p:cNvPr id="69" name="Text Placeholder 2">
            <a:extLst>
              <a:ext uri="{FF2B5EF4-FFF2-40B4-BE49-F238E27FC236}">
                <a16:creationId xmlns:a16="http://schemas.microsoft.com/office/drawing/2014/main" id="{B6C2E6E5-FC3D-E4B7-B7FD-56D2E47A4220}"/>
              </a:ext>
            </a:extLst>
          </p:cNvPr>
          <p:cNvSpPr txBox="1">
            <a:spLocks/>
          </p:cNvSpPr>
          <p:nvPr/>
        </p:nvSpPr>
        <p:spPr>
          <a:xfrm>
            <a:off x="1773787" y="1352535"/>
            <a:ext cx="5596426" cy="40457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79400" algn="l" rtl="0">
              <a:lnSpc>
                <a:spcPct val="115000"/>
              </a:lnSpc>
              <a:spcBef>
                <a:spcPts val="0"/>
              </a:spcBef>
              <a:spcAft>
                <a:spcPts val="0"/>
              </a:spcAft>
              <a:buClr>
                <a:schemeClr val="dk1"/>
              </a:buClr>
              <a:buSzPts val="800"/>
              <a:buFont typeface="Hanken Grotesk"/>
              <a:buChar char="●"/>
              <a:defRPr sz="1400" b="0" i="0" u="none" strike="noStrike" cap="none">
                <a:solidFill>
                  <a:schemeClr val="dk1"/>
                </a:solidFill>
                <a:latin typeface="Hanken Grotesk"/>
                <a:ea typeface="Hanken Grotesk"/>
                <a:cs typeface="Hanken Grotesk"/>
                <a:sym typeface="Hanken Grotesk"/>
              </a:defRPr>
            </a:lvl1pPr>
            <a:lvl2pPr marL="914400" marR="0" lvl="1"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2pPr>
            <a:lvl3pPr marL="1371600" marR="0" lvl="2"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3pPr>
            <a:lvl4pPr marL="1828800" marR="0" lvl="3"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4pPr>
            <a:lvl5pPr marL="2286000" marR="0" lvl="4"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5pPr>
            <a:lvl6pPr marL="2743200" marR="0" lvl="5"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6pPr>
            <a:lvl7pPr marL="3200400" marR="0" lvl="6"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7pPr>
            <a:lvl8pPr marL="3657600" marR="0" lvl="7"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8pPr>
            <a:lvl9pPr marL="4114800" marR="0" lvl="8"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9pPr>
          </a:lstStyle>
          <a:p>
            <a:pPr marL="0" indent="0" algn="ctr">
              <a:buFont typeface="Hanken Grotesk"/>
              <a:buNone/>
            </a:pPr>
            <a:r>
              <a:rPr lang="en-US" dirty="0"/>
              <a:t>Autoregressive training means </a:t>
            </a:r>
            <a:r>
              <a:rPr lang="en-US" dirty="0" err="1"/>
              <a:t>EnhancAR</a:t>
            </a:r>
            <a:r>
              <a:rPr lang="en-US" dirty="0"/>
              <a:t> sees homology families with variable number of sequences during training </a:t>
            </a:r>
          </a:p>
        </p:txBody>
      </p:sp>
      <p:sp>
        <p:nvSpPr>
          <p:cNvPr id="7" name="Rectangle: Rounded Corners 6">
            <a:extLst>
              <a:ext uri="{FF2B5EF4-FFF2-40B4-BE49-F238E27FC236}">
                <a16:creationId xmlns:a16="http://schemas.microsoft.com/office/drawing/2014/main" id="{2538224D-D028-5124-32F5-8776D496FA93}"/>
              </a:ext>
            </a:extLst>
          </p:cNvPr>
          <p:cNvSpPr/>
          <p:nvPr/>
        </p:nvSpPr>
        <p:spPr>
          <a:xfrm>
            <a:off x="4672323" y="2319907"/>
            <a:ext cx="1403480" cy="426568"/>
          </a:xfrm>
          <a:prstGeom prst="roundRect">
            <a:avLst/>
          </a:prstGeom>
          <a:solidFill>
            <a:srgbClr val="B4E5A3"/>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err="1">
                <a:solidFill>
                  <a:schemeClr val="bg1">
                    <a:lumMod val="10000"/>
                  </a:schemeClr>
                </a:solidFill>
              </a:rPr>
              <a:t>EnhancAR</a:t>
            </a:r>
            <a:endParaRPr lang="en-US" dirty="0">
              <a:solidFill>
                <a:schemeClr val="bg1">
                  <a:lumMod val="10000"/>
                </a:schemeClr>
              </a:solidFill>
            </a:endParaRPr>
          </a:p>
        </p:txBody>
      </p:sp>
      <p:sp>
        <p:nvSpPr>
          <p:cNvPr id="9" name="Rectangle: Rounded Corners 8">
            <a:extLst>
              <a:ext uri="{FF2B5EF4-FFF2-40B4-BE49-F238E27FC236}">
                <a16:creationId xmlns:a16="http://schemas.microsoft.com/office/drawing/2014/main" id="{90467E2A-63AD-262C-FD2B-71881880394F}"/>
              </a:ext>
            </a:extLst>
          </p:cNvPr>
          <p:cNvSpPr/>
          <p:nvPr/>
        </p:nvSpPr>
        <p:spPr>
          <a:xfrm>
            <a:off x="4672323" y="2921263"/>
            <a:ext cx="1403480" cy="426568"/>
          </a:xfrm>
          <a:prstGeom prst="roundRect">
            <a:avLst/>
          </a:prstGeom>
          <a:solidFill>
            <a:srgbClr val="B4E5A3"/>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err="1">
                <a:solidFill>
                  <a:schemeClr val="bg1">
                    <a:lumMod val="10000"/>
                  </a:schemeClr>
                </a:solidFill>
              </a:rPr>
              <a:t>EnhancAR</a:t>
            </a:r>
            <a:endParaRPr lang="en-US" dirty="0">
              <a:solidFill>
                <a:schemeClr val="bg1">
                  <a:lumMod val="10000"/>
                </a:schemeClr>
              </a:solidFill>
            </a:endParaRPr>
          </a:p>
        </p:txBody>
      </p:sp>
      <p:sp>
        <p:nvSpPr>
          <p:cNvPr id="10" name="Rectangle: Rounded Corners 9">
            <a:extLst>
              <a:ext uri="{FF2B5EF4-FFF2-40B4-BE49-F238E27FC236}">
                <a16:creationId xmlns:a16="http://schemas.microsoft.com/office/drawing/2014/main" id="{3D6AA391-ED32-ABE4-6ECC-0A91E630E6C4}"/>
              </a:ext>
            </a:extLst>
          </p:cNvPr>
          <p:cNvSpPr/>
          <p:nvPr/>
        </p:nvSpPr>
        <p:spPr>
          <a:xfrm>
            <a:off x="4672323" y="3522619"/>
            <a:ext cx="1403480" cy="426568"/>
          </a:xfrm>
          <a:prstGeom prst="roundRect">
            <a:avLst/>
          </a:prstGeom>
          <a:solidFill>
            <a:srgbClr val="B4E5A3"/>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err="1">
                <a:solidFill>
                  <a:schemeClr val="bg1">
                    <a:lumMod val="10000"/>
                  </a:schemeClr>
                </a:solidFill>
              </a:rPr>
              <a:t>EnhancAR</a:t>
            </a:r>
            <a:endParaRPr lang="en-US" dirty="0">
              <a:solidFill>
                <a:schemeClr val="bg1">
                  <a:lumMod val="10000"/>
                </a:schemeClr>
              </a:solidFill>
            </a:endParaRPr>
          </a:p>
        </p:txBody>
      </p:sp>
      <p:sp>
        <p:nvSpPr>
          <p:cNvPr id="11" name="Rectangle: Rounded Corners 10">
            <a:extLst>
              <a:ext uri="{FF2B5EF4-FFF2-40B4-BE49-F238E27FC236}">
                <a16:creationId xmlns:a16="http://schemas.microsoft.com/office/drawing/2014/main" id="{202591D4-B5EC-4B3F-232C-C559BEFA8344}"/>
              </a:ext>
            </a:extLst>
          </p:cNvPr>
          <p:cNvSpPr/>
          <p:nvPr/>
        </p:nvSpPr>
        <p:spPr>
          <a:xfrm>
            <a:off x="4672323" y="4123975"/>
            <a:ext cx="1403480" cy="426568"/>
          </a:xfrm>
          <a:prstGeom prst="roundRect">
            <a:avLst/>
          </a:prstGeom>
          <a:solidFill>
            <a:srgbClr val="B4E5A3"/>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err="1">
                <a:solidFill>
                  <a:schemeClr val="bg1">
                    <a:lumMod val="10000"/>
                  </a:schemeClr>
                </a:solidFill>
              </a:rPr>
              <a:t>EnhancAR</a:t>
            </a:r>
            <a:endParaRPr lang="en-US" dirty="0">
              <a:solidFill>
                <a:schemeClr val="bg1">
                  <a:lumMod val="10000"/>
                </a:schemeClr>
              </a:solidFill>
            </a:endParaRPr>
          </a:p>
        </p:txBody>
      </p:sp>
      <p:cxnSp>
        <p:nvCxnSpPr>
          <p:cNvPr id="12" name="Straight Arrow Connector 11">
            <a:extLst>
              <a:ext uri="{FF2B5EF4-FFF2-40B4-BE49-F238E27FC236}">
                <a16:creationId xmlns:a16="http://schemas.microsoft.com/office/drawing/2014/main" id="{1FC9A7C6-FBBC-1FE1-CA68-6EDFF092776A}"/>
              </a:ext>
            </a:extLst>
          </p:cNvPr>
          <p:cNvCxnSpPr>
            <a:cxnSpLocks/>
          </p:cNvCxnSpPr>
          <p:nvPr/>
        </p:nvCxnSpPr>
        <p:spPr>
          <a:xfrm>
            <a:off x="4252806" y="2526106"/>
            <a:ext cx="319194"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13" name="TextBox 12">
            <a:extLst>
              <a:ext uri="{FF2B5EF4-FFF2-40B4-BE49-F238E27FC236}">
                <a16:creationId xmlns:a16="http://schemas.microsoft.com/office/drawing/2014/main" id="{0C23A217-1EE7-6266-A5E9-8A140EECB274}"/>
              </a:ext>
            </a:extLst>
          </p:cNvPr>
          <p:cNvSpPr txBox="1"/>
          <p:nvPr/>
        </p:nvSpPr>
        <p:spPr>
          <a:xfrm>
            <a:off x="2620704" y="2372203"/>
            <a:ext cx="1632102" cy="307777"/>
          </a:xfrm>
          <a:prstGeom prst="rect">
            <a:avLst/>
          </a:prstGeom>
          <a:noFill/>
        </p:spPr>
        <p:txBody>
          <a:bodyPr wrap="square" rtlCol="0">
            <a:spAutoFit/>
          </a:bodyPr>
          <a:lstStyle/>
          <a:p>
            <a:pPr algn="ctr"/>
            <a:r>
              <a:rPr lang="en-US" b="1" dirty="0"/>
              <a:t>{</a:t>
            </a:r>
            <a:r>
              <a:rPr lang="en-US" dirty="0"/>
              <a:t> ATCGATC </a:t>
            </a:r>
            <a:r>
              <a:rPr lang="en-US" b="1" dirty="0"/>
              <a:t>/</a:t>
            </a:r>
            <a:endParaRPr lang="en-US" dirty="0"/>
          </a:p>
        </p:txBody>
      </p:sp>
      <p:sp>
        <p:nvSpPr>
          <p:cNvPr id="17" name="TextBox 16">
            <a:extLst>
              <a:ext uri="{FF2B5EF4-FFF2-40B4-BE49-F238E27FC236}">
                <a16:creationId xmlns:a16="http://schemas.microsoft.com/office/drawing/2014/main" id="{89E478BD-C78E-41D6-3201-5EE31A3DB8BB}"/>
              </a:ext>
            </a:extLst>
          </p:cNvPr>
          <p:cNvSpPr txBox="1"/>
          <p:nvPr/>
        </p:nvSpPr>
        <p:spPr>
          <a:xfrm>
            <a:off x="1071244" y="2947411"/>
            <a:ext cx="4007532" cy="307777"/>
          </a:xfrm>
          <a:prstGeom prst="rect">
            <a:avLst/>
          </a:prstGeom>
          <a:noFill/>
        </p:spPr>
        <p:txBody>
          <a:bodyPr wrap="square" rtlCol="0">
            <a:spAutoFit/>
          </a:bodyPr>
          <a:lstStyle/>
          <a:p>
            <a:pPr algn="ctr"/>
            <a:r>
              <a:rPr lang="en-US" b="1" dirty="0"/>
              <a:t>{</a:t>
            </a:r>
            <a:r>
              <a:rPr lang="en-US" dirty="0"/>
              <a:t> ATCGATC </a:t>
            </a:r>
            <a:r>
              <a:rPr lang="en-US" b="1" dirty="0"/>
              <a:t>/</a:t>
            </a:r>
            <a:r>
              <a:rPr lang="en-US" dirty="0"/>
              <a:t> TGATC/</a:t>
            </a:r>
          </a:p>
        </p:txBody>
      </p:sp>
      <p:cxnSp>
        <p:nvCxnSpPr>
          <p:cNvPr id="18" name="Straight Arrow Connector 17">
            <a:extLst>
              <a:ext uri="{FF2B5EF4-FFF2-40B4-BE49-F238E27FC236}">
                <a16:creationId xmlns:a16="http://schemas.microsoft.com/office/drawing/2014/main" id="{4AE22D2F-0A70-1ADE-6D2B-DECD386B6019}"/>
              </a:ext>
            </a:extLst>
          </p:cNvPr>
          <p:cNvCxnSpPr>
            <a:cxnSpLocks/>
          </p:cNvCxnSpPr>
          <p:nvPr/>
        </p:nvCxnSpPr>
        <p:spPr>
          <a:xfrm>
            <a:off x="4252806" y="3130197"/>
            <a:ext cx="319194"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19" name="Straight Arrow Connector 18">
            <a:extLst>
              <a:ext uri="{FF2B5EF4-FFF2-40B4-BE49-F238E27FC236}">
                <a16:creationId xmlns:a16="http://schemas.microsoft.com/office/drawing/2014/main" id="{EF16C99A-51D3-49E4-3651-9E16ACCDA9C5}"/>
              </a:ext>
            </a:extLst>
          </p:cNvPr>
          <p:cNvCxnSpPr>
            <a:cxnSpLocks/>
          </p:cNvCxnSpPr>
          <p:nvPr/>
        </p:nvCxnSpPr>
        <p:spPr>
          <a:xfrm>
            <a:off x="4252806" y="3739797"/>
            <a:ext cx="319194"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20" name="Straight Arrow Connector 19">
            <a:extLst>
              <a:ext uri="{FF2B5EF4-FFF2-40B4-BE49-F238E27FC236}">
                <a16:creationId xmlns:a16="http://schemas.microsoft.com/office/drawing/2014/main" id="{E7BDEC6A-6061-C81B-8783-724122085C10}"/>
              </a:ext>
            </a:extLst>
          </p:cNvPr>
          <p:cNvCxnSpPr>
            <a:cxnSpLocks/>
          </p:cNvCxnSpPr>
          <p:nvPr/>
        </p:nvCxnSpPr>
        <p:spPr>
          <a:xfrm>
            <a:off x="4252806" y="4356741"/>
            <a:ext cx="319194"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21" name="TextBox 20">
            <a:extLst>
              <a:ext uri="{FF2B5EF4-FFF2-40B4-BE49-F238E27FC236}">
                <a16:creationId xmlns:a16="http://schemas.microsoft.com/office/drawing/2014/main" id="{9ED076E8-6AF8-1585-71AB-D8166110EAB4}"/>
              </a:ext>
            </a:extLst>
          </p:cNvPr>
          <p:cNvSpPr txBox="1"/>
          <p:nvPr/>
        </p:nvSpPr>
        <p:spPr>
          <a:xfrm>
            <a:off x="664791" y="3582014"/>
            <a:ext cx="4007532" cy="307777"/>
          </a:xfrm>
          <a:prstGeom prst="rect">
            <a:avLst/>
          </a:prstGeom>
          <a:noFill/>
        </p:spPr>
        <p:txBody>
          <a:bodyPr wrap="square" rtlCol="0">
            <a:spAutoFit/>
          </a:bodyPr>
          <a:lstStyle/>
          <a:p>
            <a:pPr algn="ctr"/>
            <a:r>
              <a:rPr lang="en-US" b="1" dirty="0"/>
              <a:t>{</a:t>
            </a:r>
            <a:r>
              <a:rPr lang="en-US" dirty="0"/>
              <a:t> ATCGATC </a:t>
            </a:r>
            <a:r>
              <a:rPr lang="en-US" b="1" dirty="0"/>
              <a:t>/</a:t>
            </a:r>
            <a:r>
              <a:rPr lang="en-US" dirty="0"/>
              <a:t> TGATC </a:t>
            </a:r>
            <a:r>
              <a:rPr lang="en-US" b="1" dirty="0"/>
              <a:t>/</a:t>
            </a:r>
            <a:r>
              <a:rPr lang="en-US" dirty="0"/>
              <a:t> ATGGAA</a:t>
            </a:r>
          </a:p>
        </p:txBody>
      </p:sp>
      <p:sp>
        <p:nvSpPr>
          <p:cNvPr id="22" name="TextBox 21">
            <a:extLst>
              <a:ext uri="{FF2B5EF4-FFF2-40B4-BE49-F238E27FC236}">
                <a16:creationId xmlns:a16="http://schemas.microsoft.com/office/drawing/2014/main" id="{7C3F0D77-CA24-B50C-D036-258FA4318DA9}"/>
              </a:ext>
            </a:extLst>
          </p:cNvPr>
          <p:cNvSpPr txBox="1"/>
          <p:nvPr/>
        </p:nvSpPr>
        <p:spPr>
          <a:xfrm>
            <a:off x="3040221" y="4202852"/>
            <a:ext cx="1632102" cy="307777"/>
          </a:xfrm>
          <a:prstGeom prst="rect">
            <a:avLst/>
          </a:prstGeom>
          <a:noFill/>
        </p:spPr>
        <p:txBody>
          <a:bodyPr wrap="square" rtlCol="0">
            <a:spAutoFit/>
          </a:bodyPr>
          <a:lstStyle/>
          <a:p>
            <a:pPr algn="ctr"/>
            <a:r>
              <a:rPr lang="en-US" b="1" dirty="0"/>
              <a:t>{</a:t>
            </a:r>
            <a:endParaRPr lang="en-US" dirty="0"/>
          </a:p>
        </p:txBody>
      </p:sp>
    </p:spTree>
    <p:extLst>
      <p:ext uri="{BB962C8B-B14F-4D97-AF65-F5344CB8AC3E}">
        <p14:creationId xmlns:p14="http://schemas.microsoft.com/office/powerpoint/2010/main" val="2593854518"/>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0FAEFD-D40D-27CA-C678-CE688D08409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3FA2B2A-9FB1-05CC-F851-D3CA9EE4FE23}"/>
              </a:ext>
            </a:extLst>
          </p:cNvPr>
          <p:cNvSpPr>
            <a:spLocks noGrp="1"/>
          </p:cNvSpPr>
          <p:nvPr>
            <p:ph type="title"/>
          </p:nvPr>
        </p:nvSpPr>
        <p:spPr>
          <a:xfrm>
            <a:off x="720000" y="659623"/>
            <a:ext cx="7704000" cy="572700"/>
          </a:xfrm>
        </p:spPr>
        <p:txBody>
          <a:bodyPr/>
          <a:lstStyle/>
          <a:p>
            <a:pPr algn="ctr"/>
            <a:r>
              <a:rPr lang="en-US" dirty="0" err="1"/>
              <a:t>EnhancAR</a:t>
            </a:r>
            <a:r>
              <a:rPr lang="en-US" dirty="0"/>
              <a:t>: Key Results</a:t>
            </a:r>
          </a:p>
        </p:txBody>
      </p:sp>
      <p:sp>
        <p:nvSpPr>
          <p:cNvPr id="69" name="Text Placeholder 2">
            <a:extLst>
              <a:ext uri="{FF2B5EF4-FFF2-40B4-BE49-F238E27FC236}">
                <a16:creationId xmlns:a16="http://schemas.microsoft.com/office/drawing/2014/main" id="{0270DB07-FF02-7C65-A7F6-93A3F9B7CC38}"/>
              </a:ext>
            </a:extLst>
          </p:cNvPr>
          <p:cNvSpPr txBox="1">
            <a:spLocks/>
          </p:cNvSpPr>
          <p:nvPr/>
        </p:nvSpPr>
        <p:spPr>
          <a:xfrm>
            <a:off x="1587442" y="1751186"/>
            <a:ext cx="5969116" cy="1869899"/>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79400" algn="l" rtl="0">
              <a:lnSpc>
                <a:spcPct val="115000"/>
              </a:lnSpc>
              <a:spcBef>
                <a:spcPts val="0"/>
              </a:spcBef>
              <a:spcAft>
                <a:spcPts val="0"/>
              </a:spcAft>
              <a:buClr>
                <a:schemeClr val="dk1"/>
              </a:buClr>
              <a:buSzPts val="800"/>
              <a:buFont typeface="Hanken Grotesk"/>
              <a:buChar char="●"/>
              <a:defRPr sz="1400" b="0" i="0" u="none" strike="noStrike" cap="none">
                <a:solidFill>
                  <a:schemeClr val="dk1"/>
                </a:solidFill>
                <a:latin typeface="Hanken Grotesk"/>
                <a:ea typeface="Hanken Grotesk"/>
                <a:cs typeface="Hanken Grotesk"/>
                <a:sym typeface="Hanken Grotesk"/>
              </a:defRPr>
            </a:lvl1pPr>
            <a:lvl2pPr marL="914400" marR="0" lvl="1"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2pPr>
            <a:lvl3pPr marL="1371600" marR="0" lvl="2"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3pPr>
            <a:lvl4pPr marL="1828800" marR="0" lvl="3"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4pPr>
            <a:lvl5pPr marL="2286000" marR="0" lvl="4"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5pPr>
            <a:lvl6pPr marL="2743200" marR="0" lvl="5"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6pPr>
            <a:lvl7pPr marL="3200400" marR="0" lvl="6"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7pPr>
            <a:lvl8pPr marL="3657600" marR="0" lvl="7"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8pPr>
            <a:lvl9pPr marL="4114800" marR="0" lvl="8"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9pPr>
          </a:lstStyle>
          <a:p>
            <a:pPr marL="342900" indent="-342900">
              <a:buSzPct val="100000"/>
              <a:buFont typeface="Hanken Grotesk"/>
              <a:buAutoNum type="arabicPeriod"/>
            </a:pPr>
            <a:r>
              <a:rPr lang="en-US" sz="1600" dirty="0" err="1"/>
              <a:t>EnhancAR</a:t>
            </a:r>
            <a:r>
              <a:rPr lang="en-US" sz="1600" dirty="0"/>
              <a:t> generates novel sequences that preserve functional features (i.e. motifs)</a:t>
            </a:r>
          </a:p>
          <a:p>
            <a:pPr marL="342900" indent="-342900">
              <a:buSzPct val="100000"/>
              <a:buFont typeface="Hanken Grotesk"/>
              <a:buAutoNum type="arabicPeriod"/>
            </a:pPr>
            <a:endParaRPr lang="en-US" sz="1600" dirty="0"/>
          </a:p>
          <a:p>
            <a:pPr marL="342900" indent="-342900">
              <a:buSzPct val="100000"/>
              <a:buFont typeface="Hanken Grotesk"/>
              <a:buAutoNum type="arabicPeriod"/>
            </a:pPr>
            <a:r>
              <a:rPr lang="en-US" sz="1600" dirty="0" err="1"/>
              <a:t>EnhancAR</a:t>
            </a:r>
            <a:r>
              <a:rPr lang="en-US" sz="1600" dirty="0"/>
              <a:t> can design cell-type specific enhancers without cell-type information at training or inference time</a:t>
            </a:r>
          </a:p>
          <a:p>
            <a:pPr marL="0" indent="0">
              <a:buSzPct val="100000"/>
              <a:buNone/>
            </a:pPr>
            <a:endParaRPr lang="en-US" sz="1600" dirty="0"/>
          </a:p>
        </p:txBody>
      </p:sp>
    </p:spTree>
    <p:extLst>
      <p:ext uri="{BB962C8B-B14F-4D97-AF65-F5344CB8AC3E}">
        <p14:creationId xmlns:p14="http://schemas.microsoft.com/office/powerpoint/2010/main" val="3933720553"/>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DE6458-2EB4-2198-A658-90D200D8A7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D17FBA9-7DCA-7369-DBC9-B7EA0279E827}"/>
              </a:ext>
            </a:extLst>
          </p:cNvPr>
          <p:cNvSpPr>
            <a:spLocks noGrp="1"/>
          </p:cNvSpPr>
          <p:nvPr>
            <p:ph type="title"/>
          </p:nvPr>
        </p:nvSpPr>
        <p:spPr>
          <a:xfrm>
            <a:off x="720000" y="601252"/>
            <a:ext cx="7704000" cy="572700"/>
          </a:xfrm>
        </p:spPr>
        <p:txBody>
          <a:bodyPr/>
          <a:lstStyle/>
          <a:p>
            <a:pPr algn="ctr"/>
            <a:r>
              <a:rPr lang="en-US" sz="2400" dirty="0" err="1"/>
              <a:t>EnhancAR</a:t>
            </a:r>
            <a:r>
              <a:rPr lang="en-US" sz="2400" dirty="0"/>
              <a:t> generates novel and diverse sequences</a:t>
            </a:r>
          </a:p>
        </p:txBody>
      </p:sp>
      <p:sp>
        <p:nvSpPr>
          <p:cNvPr id="3" name="Rectangle: Rounded Corners 2">
            <a:extLst>
              <a:ext uri="{FF2B5EF4-FFF2-40B4-BE49-F238E27FC236}">
                <a16:creationId xmlns:a16="http://schemas.microsoft.com/office/drawing/2014/main" id="{A7F447AD-9131-3F8B-F998-81AE1B2171CD}"/>
              </a:ext>
            </a:extLst>
          </p:cNvPr>
          <p:cNvSpPr/>
          <p:nvPr/>
        </p:nvSpPr>
        <p:spPr>
          <a:xfrm>
            <a:off x="2843394" y="2378461"/>
            <a:ext cx="2124169" cy="426568"/>
          </a:xfrm>
          <a:prstGeom prst="roundRect">
            <a:avLst/>
          </a:prstGeom>
          <a:solidFill>
            <a:srgbClr val="B4E5A3"/>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err="1">
                <a:solidFill>
                  <a:schemeClr val="bg1">
                    <a:lumMod val="10000"/>
                  </a:schemeClr>
                </a:solidFill>
              </a:rPr>
              <a:t>EnhancAR</a:t>
            </a:r>
            <a:endParaRPr lang="en-US" dirty="0">
              <a:solidFill>
                <a:schemeClr val="bg1">
                  <a:lumMod val="10000"/>
                </a:schemeClr>
              </a:solidFill>
            </a:endParaRPr>
          </a:p>
        </p:txBody>
      </p:sp>
      <p:sp>
        <p:nvSpPr>
          <p:cNvPr id="4" name="Rectangle 3">
            <a:extLst>
              <a:ext uri="{FF2B5EF4-FFF2-40B4-BE49-F238E27FC236}">
                <a16:creationId xmlns:a16="http://schemas.microsoft.com/office/drawing/2014/main" id="{BE4BB7DF-4624-86E2-4018-78791FD9D597}"/>
              </a:ext>
            </a:extLst>
          </p:cNvPr>
          <p:cNvSpPr/>
          <p:nvPr/>
        </p:nvSpPr>
        <p:spPr>
          <a:xfrm>
            <a:off x="3259055" y="1472648"/>
            <a:ext cx="1436066" cy="91060"/>
          </a:xfrm>
          <a:prstGeom prst="rect">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6E03A826-E309-0262-7721-274DA542410B}"/>
              </a:ext>
            </a:extLst>
          </p:cNvPr>
          <p:cNvSpPr/>
          <p:nvPr/>
        </p:nvSpPr>
        <p:spPr>
          <a:xfrm>
            <a:off x="3259055" y="1705417"/>
            <a:ext cx="1436066" cy="91060"/>
          </a:xfrm>
          <a:prstGeom prst="rect">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848C13C2-38A5-3439-0D36-EF6C4297151A}"/>
              </a:ext>
            </a:extLst>
          </p:cNvPr>
          <p:cNvSpPr/>
          <p:nvPr/>
        </p:nvSpPr>
        <p:spPr>
          <a:xfrm>
            <a:off x="3259055" y="1953495"/>
            <a:ext cx="1436066" cy="91060"/>
          </a:xfrm>
          <a:prstGeom prst="rect">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 Placeholder 2">
            <a:extLst>
              <a:ext uri="{FF2B5EF4-FFF2-40B4-BE49-F238E27FC236}">
                <a16:creationId xmlns:a16="http://schemas.microsoft.com/office/drawing/2014/main" id="{37BAD8D2-CEBF-64A7-9DD4-3AB9D5894380}"/>
              </a:ext>
            </a:extLst>
          </p:cNvPr>
          <p:cNvSpPr txBox="1">
            <a:spLocks/>
          </p:cNvSpPr>
          <p:nvPr/>
        </p:nvSpPr>
        <p:spPr>
          <a:xfrm>
            <a:off x="2761752" y="1313537"/>
            <a:ext cx="497303" cy="40457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79400" algn="l" rtl="0">
              <a:lnSpc>
                <a:spcPct val="115000"/>
              </a:lnSpc>
              <a:spcBef>
                <a:spcPts val="0"/>
              </a:spcBef>
              <a:spcAft>
                <a:spcPts val="0"/>
              </a:spcAft>
              <a:buClr>
                <a:schemeClr val="dk1"/>
              </a:buClr>
              <a:buSzPts val="800"/>
              <a:buFont typeface="Hanken Grotesk"/>
              <a:buChar char="●"/>
              <a:defRPr sz="1400" b="0" i="0" u="none" strike="noStrike" cap="none">
                <a:solidFill>
                  <a:schemeClr val="dk1"/>
                </a:solidFill>
                <a:latin typeface="Hanken Grotesk"/>
                <a:ea typeface="Hanken Grotesk"/>
                <a:cs typeface="Hanken Grotesk"/>
                <a:sym typeface="Hanken Grotesk"/>
              </a:defRPr>
            </a:lvl1pPr>
            <a:lvl2pPr marL="914400" marR="0" lvl="1"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2pPr>
            <a:lvl3pPr marL="1371600" marR="0" lvl="2"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3pPr>
            <a:lvl4pPr marL="1828800" marR="0" lvl="3"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4pPr>
            <a:lvl5pPr marL="2286000" marR="0" lvl="4"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5pPr>
            <a:lvl6pPr marL="2743200" marR="0" lvl="5"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6pPr>
            <a:lvl7pPr marL="3200400" marR="0" lvl="6"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7pPr>
            <a:lvl8pPr marL="3657600" marR="0" lvl="7"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8pPr>
            <a:lvl9pPr marL="4114800" marR="0" lvl="8"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9pPr>
          </a:lstStyle>
          <a:p>
            <a:pPr marL="0" indent="0" algn="ctr">
              <a:buFont typeface="Hanken Grotesk"/>
              <a:buNone/>
            </a:pPr>
            <a:r>
              <a:rPr lang="en-US" dirty="0"/>
              <a:t>P1</a:t>
            </a:r>
          </a:p>
        </p:txBody>
      </p:sp>
      <p:sp>
        <p:nvSpPr>
          <p:cNvPr id="9" name="Text Placeholder 2">
            <a:extLst>
              <a:ext uri="{FF2B5EF4-FFF2-40B4-BE49-F238E27FC236}">
                <a16:creationId xmlns:a16="http://schemas.microsoft.com/office/drawing/2014/main" id="{68E0390E-FF35-F250-8ED2-75065E807ADE}"/>
              </a:ext>
            </a:extLst>
          </p:cNvPr>
          <p:cNvSpPr txBox="1">
            <a:spLocks/>
          </p:cNvSpPr>
          <p:nvPr/>
        </p:nvSpPr>
        <p:spPr>
          <a:xfrm>
            <a:off x="2761752" y="1546250"/>
            <a:ext cx="497303" cy="40457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79400" algn="l" rtl="0">
              <a:lnSpc>
                <a:spcPct val="115000"/>
              </a:lnSpc>
              <a:spcBef>
                <a:spcPts val="0"/>
              </a:spcBef>
              <a:spcAft>
                <a:spcPts val="0"/>
              </a:spcAft>
              <a:buClr>
                <a:schemeClr val="dk1"/>
              </a:buClr>
              <a:buSzPts val="800"/>
              <a:buFont typeface="Hanken Grotesk"/>
              <a:buChar char="●"/>
              <a:defRPr sz="1400" b="0" i="0" u="none" strike="noStrike" cap="none">
                <a:solidFill>
                  <a:schemeClr val="dk1"/>
                </a:solidFill>
                <a:latin typeface="Hanken Grotesk"/>
                <a:ea typeface="Hanken Grotesk"/>
                <a:cs typeface="Hanken Grotesk"/>
                <a:sym typeface="Hanken Grotesk"/>
              </a:defRPr>
            </a:lvl1pPr>
            <a:lvl2pPr marL="914400" marR="0" lvl="1"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2pPr>
            <a:lvl3pPr marL="1371600" marR="0" lvl="2"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3pPr>
            <a:lvl4pPr marL="1828800" marR="0" lvl="3"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4pPr>
            <a:lvl5pPr marL="2286000" marR="0" lvl="4"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5pPr>
            <a:lvl6pPr marL="2743200" marR="0" lvl="5"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6pPr>
            <a:lvl7pPr marL="3200400" marR="0" lvl="6"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7pPr>
            <a:lvl8pPr marL="3657600" marR="0" lvl="7"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8pPr>
            <a:lvl9pPr marL="4114800" marR="0" lvl="8"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9pPr>
          </a:lstStyle>
          <a:p>
            <a:pPr marL="0" indent="0" algn="ctr">
              <a:buFont typeface="Hanken Grotesk"/>
              <a:buNone/>
            </a:pPr>
            <a:r>
              <a:rPr lang="en-US" dirty="0"/>
              <a:t>P2</a:t>
            </a:r>
          </a:p>
        </p:txBody>
      </p:sp>
      <p:sp>
        <p:nvSpPr>
          <p:cNvPr id="10" name="Text Placeholder 2">
            <a:extLst>
              <a:ext uri="{FF2B5EF4-FFF2-40B4-BE49-F238E27FC236}">
                <a16:creationId xmlns:a16="http://schemas.microsoft.com/office/drawing/2014/main" id="{E0A789A1-0BA4-A75E-AB6C-D26D1308FF03}"/>
              </a:ext>
            </a:extLst>
          </p:cNvPr>
          <p:cNvSpPr txBox="1">
            <a:spLocks/>
          </p:cNvSpPr>
          <p:nvPr/>
        </p:nvSpPr>
        <p:spPr>
          <a:xfrm>
            <a:off x="2761752" y="1781256"/>
            <a:ext cx="497303" cy="40457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79400" algn="l" rtl="0">
              <a:lnSpc>
                <a:spcPct val="115000"/>
              </a:lnSpc>
              <a:spcBef>
                <a:spcPts val="0"/>
              </a:spcBef>
              <a:spcAft>
                <a:spcPts val="0"/>
              </a:spcAft>
              <a:buClr>
                <a:schemeClr val="dk1"/>
              </a:buClr>
              <a:buSzPts val="800"/>
              <a:buFont typeface="Hanken Grotesk"/>
              <a:buChar char="●"/>
              <a:defRPr sz="1400" b="0" i="0" u="none" strike="noStrike" cap="none">
                <a:solidFill>
                  <a:schemeClr val="dk1"/>
                </a:solidFill>
                <a:latin typeface="Hanken Grotesk"/>
                <a:ea typeface="Hanken Grotesk"/>
                <a:cs typeface="Hanken Grotesk"/>
                <a:sym typeface="Hanken Grotesk"/>
              </a:defRPr>
            </a:lvl1pPr>
            <a:lvl2pPr marL="914400" marR="0" lvl="1"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2pPr>
            <a:lvl3pPr marL="1371600" marR="0" lvl="2"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3pPr>
            <a:lvl4pPr marL="1828800" marR="0" lvl="3"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4pPr>
            <a:lvl5pPr marL="2286000" marR="0" lvl="4"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5pPr>
            <a:lvl6pPr marL="2743200" marR="0" lvl="5"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6pPr>
            <a:lvl7pPr marL="3200400" marR="0" lvl="6"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7pPr>
            <a:lvl8pPr marL="3657600" marR="0" lvl="7"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8pPr>
            <a:lvl9pPr marL="4114800" marR="0" lvl="8"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9pPr>
          </a:lstStyle>
          <a:p>
            <a:pPr marL="0" indent="0" algn="ctr">
              <a:buFont typeface="Hanken Grotesk"/>
              <a:buNone/>
            </a:pPr>
            <a:r>
              <a:rPr lang="en-US" dirty="0"/>
              <a:t>P3</a:t>
            </a:r>
          </a:p>
        </p:txBody>
      </p:sp>
      <p:sp>
        <p:nvSpPr>
          <p:cNvPr id="11" name="Text Placeholder 2">
            <a:extLst>
              <a:ext uri="{FF2B5EF4-FFF2-40B4-BE49-F238E27FC236}">
                <a16:creationId xmlns:a16="http://schemas.microsoft.com/office/drawing/2014/main" id="{98C9D5DE-2465-339F-9CF0-609F6A63375A}"/>
              </a:ext>
            </a:extLst>
          </p:cNvPr>
          <p:cNvSpPr txBox="1">
            <a:spLocks/>
          </p:cNvSpPr>
          <p:nvPr/>
        </p:nvSpPr>
        <p:spPr>
          <a:xfrm>
            <a:off x="974270" y="1426708"/>
            <a:ext cx="1949914" cy="6915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79400" algn="l" rtl="0">
              <a:lnSpc>
                <a:spcPct val="115000"/>
              </a:lnSpc>
              <a:spcBef>
                <a:spcPts val="0"/>
              </a:spcBef>
              <a:spcAft>
                <a:spcPts val="0"/>
              </a:spcAft>
              <a:buClr>
                <a:schemeClr val="dk1"/>
              </a:buClr>
              <a:buSzPts val="800"/>
              <a:buFont typeface="Hanken Grotesk"/>
              <a:buChar char="●"/>
              <a:defRPr sz="1400" b="0" i="0" u="none" strike="noStrike" cap="none">
                <a:solidFill>
                  <a:schemeClr val="dk1"/>
                </a:solidFill>
                <a:latin typeface="Hanken Grotesk"/>
                <a:ea typeface="Hanken Grotesk"/>
                <a:cs typeface="Hanken Grotesk"/>
                <a:sym typeface="Hanken Grotesk"/>
              </a:defRPr>
            </a:lvl1pPr>
            <a:lvl2pPr marL="914400" marR="0" lvl="1"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2pPr>
            <a:lvl3pPr marL="1371600" marR="0" lvl="2"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3pPr>
            <a:lvl4pPr marL="1828800" marR="0" lvl="3"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4pPr>
            <a:lvl5pPr marL="2286000" marR="0" lvl="4"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5pPr>
            <a:lvl6pPr marL="2743200" marR="0" lvl="5"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6pPr>
            <a:lvl7pPr marL="3200400" marR="0" lvl="6"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7pPr>
            <a:lvl8pPr marL="3657600" marR="0" lvl="7"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8pPr>
            <a:lvl9pPr marL="4114800" marR="0" lvl="8"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9pPr>
          </a:lstStyle>
          <a:p>
            <a:pPr marL="0" indent="0" algn="ctr">
              <a:buFont typeface="Hanken Grotesk"/>
              <a:buNone/>
            </a:pPr>
            <a:r>
              <a:rPr lang="en-US" sz="1200" dirty="0"/>
              <a:t>Prompt sequences</a:t>
            </a:r>
            <a:br>
              <a:rPr lang="en-US" sz="1200" dirty="0"/>
            </a:br>
            <a:r>
              <a:rPr lang="en-US" sz="1200" dirty="0"/>
              <a:t>(Real homologs)</a:t>
            </a:r>
          </a:p>
        </p:txBody>
      </p:sp>
      <p:cxnSp>
        <p:nvCxnSpPr>
          <p:cNvPr id="12" name="Straight Arrow Connector 11">
            <a:extLst>
              <a:ext uri="{FF2B5EF4-FFF2-40B4-BE49-F238E27FC236}">
                <a16:creationId xmlns:a16="http://schemas.microsoft.com/office/drawing/2014/main" id="{7ACFE1C0-2D1C-AEFB-69F5-C5505D474ECD}"/>
              </a:ext>
            </a:extLst>
          </p:cNvPr>
          <p:cNvCxnSpPr>
            <a:cxnSpLocks/>
          </p:cNvCxnSpPr>
          <p:nvPr/>
        </p:nvCxnSpPr>
        <p:spPr>
          <a:xfrm>
            <a:off x="3927512" y="2142620"/>
            <a:ext cx="0" cy="16764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14" name="Straight Arrow Connector 13">
            <a:extLst>
              <a:ext uri="{FF2B5EF4-FFF2-40B4-BE49-F238E27FC236}">
                <a16:creationId xmlns:a16="http://schemas.microsoft.com/office/drawing/2014/main" id="{EEA89F69-EE07-978D-CEB3-928A74AE33AC}"/>
              </a:ext>
            </a:extLst>
          </p:cNvPr>
          <p:cNvCxnSpPr>
            <a:cxnSpLocks/>
          </p:cNvCxnSpPr>
          <p:nvPr/>
        </p:nvCxnSpPr>
        <p:spPr>
          <a:xfrm flipH="1">
            <a:off x="2843394" y="2921459"/>
            <a:ext cx="161581" cy="15240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16" name="Rectangle 15">
            <a:extLst>
              <a:ext uri="{FF2B5EF4-FFF2-40B4-BE49-F238E27FC236}">
                <a16:creationId xmlns:a16="http://schemas.microsoft.com/office/drawing/2014/main" id="{BAC45074-8301-99B1-2531-7EFE3548EDBA}"/>
              </a:ext>
            </a:extLst>
          </p:cNvPr>
          <p:cNvSpPr/>
          <p:nvPr/>
        </p:nvSpPr>
        <p:spPr>
          <a:xfrm>
            <a:off x="1311985" y="3285557"/>
            <a:ext cx="1436066" cy="91060"/>
          </a:xfrm>
          <a:prstGeom prst="rect">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 Placeholder 2">
            <a:extLst>
              <a:ext uri="{FF2B5EF4-FFF2-40B4-BE49-F238E27FC236}">
                <a16:creationId xmlns:a16="http://schemas.microsoft.com/office/drawing/2014/main" id="{505B78FB-0632-00D1-8B28-5E7A382FF15A}"/>
              </a:ext>
            </a:extLst>
          </p:cNvPr>
          <p:cNvSpPr txBox="1">
            <a:spLocks/>
          </p:cNvSpPr>
          <p:nvPr/>
        </p:nvSpPr>
        <p:spPr>
          <a:xfrm>
            <a:off x="840468" y="3128790"/>
            <a:ext cx="497303" cy="40144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79400" algn="l" rtl="0">
              <a:lnSpc>
                <a:spcPct val="115000"/>
              </a:lnSpc>
              <a:spcBef>
                <a:spcPts val="0"/>
              </a:spcBef>
              <a:spcAft>
                <a:spcPts val="0"/>
              </a:spcAft>
              <a:buClr>
                <a:schemeClr val="dk1"/>
              </a:buClr>
              <a:buSzPts val="800"/>
              <a:buFont typeface="Hanken Grotesk"/>
              <a:buChar char="●"/>
              <a:defRPr sz="1400" b="0" i="0" u="none" strike="noStrike" cap="none">
                <a:solidFill>
                  <a:schemeClr val="dk1"/>
                </a:solidFill>
                <a:latin typeface="Hanken Grotesk"/>
                <a:ea typeface="Hanken Grotesk"/>
                <a:cs typeface="Hanken Grotesk"/>
                <a:sym typeface="Hanken Grotesk"/>
              </a:defRPr>
            </a:lvl1pPr>
            <a:lvl2pPr marL="914400" marR="0" lvl="1"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2pPr>
            <a:lvl3pPr marL="1371600" marR="0" lvl="2"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3pPr>
            <a:lvl4pPr marL="1828800" marR="0" lvl="3"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4pPr>
            <a:lvl5pPr marL="2286000" marR="0" lvl="4"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5pPr>
            <a:lvl6pPr marL="2743200" marR="0" lvl="5"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6pPr>
            <a:lvl7pPr marL="3200400" marR="0" lvl="6"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7pPr>
            <a:lvl8pPr marL="3657600" marR="0" lvl="7"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8pPr>
            <a:lvl9pPr marL="4114800" marR="0" lvl="8"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9pPr>
          </a:lstStyle>
          <a:p>
            <a:pPr marL="0" indent="0" algn="ctr">
              <a:buFont typeface="Hanken Grotesk"/>
              <a:buNone/>
            </a:pPr>
            <a:r>
              <a:rPr lang="en-US" dirty="0"/>
              <a:t>G1</a:t>
            </a:r>
          </a:p>
        </p:txBody>
      </p:sp>
      <p:sp>
        <p:nvSpPr>
          <p:cNvPr id="18" name="Text Placeholder 2">
            <a:extLst>
              <a:ext uri="{FF2B5EF4-FFF2-40B4-BE49-F238E27FC236}">
                <a16:creationId xmlns:a16="http://schemas.microsoft.com/office/drawing/2014/main" id="{8F9FE1BA-E222-025C-9D4F-1A3EDCAD1C77}"/>
              </a:ext>
            </a:extLst>
          </p:cNvPr>
          <p:cNvSpPr txBox="1">
            <a:spLocks/>
          </p:cNvSpPr>
          <p:nvPr/>
        </p:nvSpPr>
        <p:spPr>
          <a:xfrm>
            <a:off x="1021003" y="2873230"/>
            <a:ext cx="1949914" cy="6915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79400" algn="l" rtl="0">
              <a:lnSpc>
                <a:spcPct val="115000"/>
              </a:lnSpc>
              <a:spcBef>
                <a:spcPts val="0"/>
              </a:spcBef>
              <a:spcAft>
                <a:spcPts val="0"/>
              </a:spcAft>
              <a:buClr>
                <a:schemeClr val="dk1"/>
              </a:buClr>
              <a:buSzPts val="800"/>
              <a:buFont typeface="Hanken Grotesk"/>
              <a:buChar char="●"/>
              <a:defRPr sz="1400" b="0" i="0" u="none" strike="noStrike" cap="none">
                <a:solidFill>
                  <a:schemeClr val="dk1"/>
                </a:solidFill>
                <a:latin typeface="Hanken Grotesk"/>
                <a:ea typeface="Hanken Grotesk"/>
                <a:cs typeface="Hanken Grotesk"/>
                <a:sym typeface="Hanken Grotesk"/>
              </a:defRPr>
            </a:lvl1pPr>
            <a:lvl2pPr marL="914400" marR="0" lvl="1"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2pPr>
            <a:lvl3pPr marL="1371600" marR="0" lvl="2"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3pPr>
            <a:lvl4pPr marL="1828800" marR="0" lvl="3"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4pPr>
            <a:lvl5pPr marL="2286000" marR="0" lvl="4"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5pPr>
            <a:lvl6pPr marL="2743200" marR="0" lvl="5"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6pPr>
            <a:lvl7pPr marL="3200400" marR="0" lvl="6"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7pPr>
            <a:lvl8pPr marL="3657600" marR="0" lvl="7"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8pPr>
            <a:lvl9pPr marL="4114800" marR="0" lvl="8"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9pPr>
          </a:lstStyle>
          <a:p>
            <a:pPr marL="0" indent="0" algn="ctr">
              <a:buFont typeface="Hanken Grotesk"/>
              <a:buNone/>
            </a:pPr>
            <a:r>
              <a:rPr lang="en-US" sz="1200" dirty="0"/>
              <a:t>Generate Sequence</a:t>
            </a:r>
          </a:p>
        </p:txBody>
      </p:sp>
      <p:cxnSp>
        <p:nvCxnSpPr>
          <p:cNvPr id="19" name="Straight Arrow Connector 18">
            <a:extLst>
              <a:ext uri="{FF2B5EF4-FFF2-40B4-BE49-F238E27FC236}">
                <a16:creationId xmlns:a16="http://schemas.microsoft.com/office/drawing/2014/main" id="{183038D3-CF8D-1FF7-9434-F5AE12E57E8A}"/>
              </a:ext>
            </a:extLst>
          </p:cNvPr>
          <p:cNvCxnSpPr>
            <a:cxnSpLocks/>
          </p:cNvCxnSpPr>
          <p:nvPr/>
        </p:nvCxnSpPr>
        <p:spPr>
          <a:xfrm>
            <a:off x="2030018" y="3537798"/>
            <a:ext cx="0" cy="246496"/>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20" name="Text Placeholder 2">
            <a:extLst>
              <a:ext uri="{FF2B5EF4-FFF2-40B4-BE49-F238E27FC236}">
                <a16:creationId xmlns:a16="http://schemas.microsoft.com/office/drawing/2014/main" id="{7E53C86A-2F13-7E5B-0C7E-7AFE78239872}"/>
              </a:ext>
            </a:extLst>
          </p:cNvPr>
          <p:cNvSpPr txBox="1">
            <a:spLocks/>
          </p:cNvSpPr>
          <p:nvPr/>
        </p:nvSpPr>
        <p:spPr>
          <a:xfrm>
            <a:off x="1008299" y="3732055"/>
            <a:ext cx="1949914" cy="6915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79400" algn="l" rtl="0">
              <a:lnSpc>
                <a:spcPct val="115000"/>
              </a:lnSpc>
              <a:spcBef>
                <a:spcPts val="0"/>
              </a:spcBef>
              <a:spcAft>
                <a:spcPts val="0"/>
              </a:spcAft>
              <a:buClr>
                <a:schemeClr val="dk1"/>
              </a:buClr>
              <a:buSzPts val="800"/>
              <a:buFont typeface="Hanken Grotesk"/>
              <a:buChar char="●"/>
              <a:defRPr sz="1400" b="0" i="0" u="none" strike="noStrike" cap="none">
                <a:solidFill>
                  <a:schemeClr val="dk1"/>
                </a:solidFill>
                <a:latin typeface="Hanken Grotesk"/>
                <a:ea typeface="Hanken Grotesk"/>
                <a:cs typeface="Hanken Grotesk"/>
                <a:sym typeface="Hanken Grotesk"/>
              </a:defRPr>
            </a:lvl1pPr>
            <a:lvl2pPr marL="914400" marR="0" lvl="1"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2pPr>
            <a:lvl3pPr marL="1371600" marR="0" lvl="2"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3pPr>
            <a:lvl4pPr marL="1828800" marR="0" lvl="3"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4pPr>
            <a:lvl5pPr marL="2286000" marR="0" lvl="4"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5pPr>
            <a:lvl6pPr marL="2743200" marR="0" lvl="5"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6pPr>
            <a:lvl7pPr marL="3200400" marR="0" lvl="6"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7pPr>
            <a:lvl8pPr marL="3657600" marR="0" lvl="7"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8pPr>
            <a:lvl9pPr marL="4114800" marR="0" lvl="8"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9pPr>
          </a:lstStyle>
          <a:p>
            <a:pPr marL="0" indent="0" algn="ctr">
              <a:buFont typeface="Hanken Grotesk"/>
              <a:buNone/>
            </a:pPr>
            <a:r>
              <a:rPr lang="en-US" sz="1200" dirty="0"/>
              <a:t>Quantify Novelty</a:t>
            </a:r>
          </a:p>
        </p:txBody>
      </p:sp>
      <p:pic>
        <p:nvPicPr>
          <p:cNvPr id="23" name="Picture 22" descr="The image shows a visual representation of a 100% identification percentage with a 0% comparison value.&#10;&#10;AI-generated content may be incorrect.">
            <a:extLst>
              <a:ext uri="{FF2B5EF4-FFF2-40B4-BE49-F238E27FC236}">
                <a16:creationId xmlns:a16="http://schemas.microsoft.com/office/drawing/2014/main" id="{64C2C7BD-DDB1-3216-B58B-7F010D8803F6}"/>
              </a:ext>
            </a:extLst>
          </p:cNvPr>
          <p:cNvPicPr>
            <a:picLocks noChangeAspect="1"/>
          </p:cNvPicPr>
          <p:nvPr/>
        </p:nvPicPr>
        <p:blipFill>
          <a:blip r:embed="rId3"/>
          <a:stretch>
            <a:fillRect/>
          </a:stretch>
        </p:blipFill>
        <p:spPr>
          <a:xfrm>
            <a:off x="3495191" y="3575037"/>
            <a:ext cx="864641" cy="1203242"/>
          </a:xfrm>
          <a:prstGeom prst="rect">
            <a:avLst/>
          </a:prstGeom>
        </p:spPr>
      </p:pic>
      <p:pic>
        <p:nvPicPr>
          <p:cNvPr id="25" name="Picture 24" descr="The image displays a sequence of colored blocks: P1, P2, P3, and G1.&#10;&#10;AI-generated content may be incorrect.">
            <a:extLst>
              <a:ext uri="{FF2B5EF4-FFF2-40B4-BE49-F238E27FC236}">
                <a16:creationId xmlns:a16="http://schemas.microsoft.com/office/drawing/2014/main" id="{7262F9F8-0081-9B98-3E95-086840B2CA53}"/>
              </a:ext>
            </a:extLst>
          </p:cNvPr>
          <p:cNvPicPr>
            <a:picLocks noChangeAspect="1"/>
          </p:cNvPicPr>
          <p:nvPr/>
        </p:nvPicPr>
        <p:blipFill>
          <a:blip r:embed="rId4"/>
          <a:stretch>
            <a:fillRect/>
          </a:stretch>
        </p:blipFill>
        <p:spPr>
          <a:xfrm>
            <a:off x="1341228" y="4129842"/>
            <a:ext cx="1203388" cy="607371"/>
          </a:xfrm>
          <a:prstGeom prst="rect">
            <a:avLst/>
          </a:prstGeom>
        </p:spPr>
      </p:pic>
    </p:spTree>
    <p:extLst>
      <p:ext uri="{BB962C8B-B14F-4D97-AF65-F5344CB8AC3E}">
        <p14:creationId xmlns:p14="http://schemas.microsoft.com/office/powerpoint/2010/main" val="2049648760"/>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158A39-A36D-FA58-77BE-8B3D102BFF6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9ABE04D-2355-106D-5495-C414EABF848D}"/>
              </a:ext>
            </a:extLst>
          </p:cNvPr>
          <p:cNvSpPr>
            <a:spLocks noGrp="1"/>
          </p:cNvSpPr>
          <p:nvPr>
            <p:ph type="title"/>
          </p:nvPr>
        </p:nvSpPr>
        <p:spPr>
          <a:xfrm>
            <a:off x="720000" y="601252"/>
            <a:ext cx="7704000" cy="572700"/>
          </a:xfrm>
        </p:spPr>
        <p:txBody>
          <a:bodyPr/>
          <a:lstStyle/>
          <a:p>
            <a:pPr algn="ctr"/>
            <a:r>
              <a:rPr lang="en-US" sz="2400" dirty="0" err="1"/>
              <a:t>EnhancAR</a:t>
            </a:r>
            <a:r>
              <a:rPr lang="en-US" sz="2400" dirty="0"/>
              <a:t> generates novel and diverse sequences</a:t>
            </a:r>
          </a:p>
        </p:txBody>
      </p:sp>
      <p:sp>
        <p:nvSpPr>
          <p:cNvPr id="3" name="Rectangle: Rounded Corners 2">
            <a:extLst>
              <a:ext uri="{FF2B5EF4-FFF2-40B4-BE49-F238E27FC236}">
                <a16:creationId xmlns:a16="http://schemas.microsoft.com/office/drawing/2014/main" id="{91C838B6-7DF4-35F3-B550-884A92506F31}"/>
              </a:ext>
            </a:extLst>
          </p:cNvPr>
          <p:cNvSpPr/>
          <p:nvPr/>
        </p:nvSpPr>
        <p:spPr>
          <a:xfrm>
            <a:off x="2843394" y="2378461"/>
            <a:ext cx="2124169" cy="426568"/>
          </a:xfrm>
          <a:prstGeom prst="roundRect">
            <a:avLst/>
          </a:prstGeom>
          <a:solidFill>
            <a:srgbClr val="B4E5A3"/>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err="1">
                <a:solidFill>
                  <a:schemeClr val="bg1">
                    <a:lumMod val="10000"/>
                  </a:schemeClr>
                </a:solidFill>
              </a:rPr>
              <a:t>EnhancAR</a:t>
            </a:r>
            <a:endParaRPr lang="en-US" dirty="0">
              <a:solidFill>
                <a:schemeClr val="bg1">
                  <a:lumMod val="10000"/>
                </a:schemeClr>
              </a:solidFill>
            </a:endParaRPr>
          </a:p>
        </p:txBody>
      </p:sp>
      <p:sp>
        <p:nvSpPr>
          <p:cNvPr id="4" name="Rectangle 3">
            <a:extLst>
              <a:ext uri="{FF2B5EF4-FFF2-40B4-BE49-F238E27FC236}">
                <a16:creationId xmlns:a16="http://schemas.microsoft.com/office/drawing/2014/main" id="{76B674C9-50A7-E002-FAAA-CE8FA47732F4}"/>
              </a:ext>
            </a:extLst>
          </p:cNvPr>
          <p:cNvSpPr/>
          <p:nvPr/>
        </p:nvSpPr>
        <p:spPr>
          <a:xfrm>
            <a:off x="3259055" y="1472648"/>
            <a:ext cx="1436066" cy="91060"/>
          </a:xfrm>
          <a:prstGeom prst="rect">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1AF2043F-268B-9E4E-59CA-8AFA96D1653C}"/>
              </a:ext>
            </a:extLst>
          </p:cNvPr>
          <p:cNvSpPr/>
          <p:nvPr/>
        </p:nvSpPr>
        <p:spPr>
          <a:xfrm>
            <a:off x="3259055" y="1705417"/>
            <a:ext cx="1436066" cy="91060"/>
          </a:xfrm>
          <a:prstGeom prst="rect">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8BDC69ED-F543-993A-0B3B-A887E06168E2}"/>
              </a:ext>
            </a:extLst>
          </p:cNvPr>
          <p:cNvSpPr/>
          <p:nvPr/>
        </p:nvSpPr>
        <p:spPr>
          <a:xfrm>
            <a:off x="3259055" y="1953495"/>
            <a:ext cx="1436066" cy="91060"/>
          </a:xfrm>
          <a:prstGeom prst="rect">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 Placeholder 2">
            <a:extLst>
              <a:ext uri="{FF2B5EF4-FFF2-40B4-BE49-F238E27FC236}">
                <a16:creationId xmlns:a16="http://schemas.microsoft.com/office/drawing/2014/main" id="{F7CCC06A-E24D-C394-A15D-9288B2190F00}"/>
              </a:ext>
            </a:extLst>
          </p:cNvPr>
          <p:cNvSpPr txBox="1">
            <a:spLocks/>
          </p:cNvSpPr>
          <p:nvPr/>
        </p:nvSpPr>
        <p:spPr>
          <a:xfrm>
            <a:off x="2761752" y="1313537"/>
            <a:ext cx="497303" cy="40457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79400" algn="l" rtl="0">
              <a:lnSpc>
                <a:spcPct val="115000"/>
              </a:lnSpc>
              <a:spcBef>
                <a:spcPts val="0"/>
              </a:spcBef>
              <a:spcAft>
                <a:spcPts val="0"/>
              </a:spcAft>
              <a:buClr>
                <a:schemeClr val="dk1"/>
              </a:buClr>
              <a:buSzPts val="800"/>
              <a:buFont typeface="Hanken Grotesk"/>
              <a:buChar char="●"/>
              <a:defRPr sz="1400" b="0" i="0" u="none" strike="noStrike" cap="none">
                <a:solidFill>
                  <a:schemeClr val="dk1"/>
                </a:solidFill>
                <a:latin typeface="Hanken Grotesk"/>
                <a:ea typeface="Hanken Grotesk"/>
                <a:cs typeface="Hanken Grotesk"/>
                <a:sym typeface="Hanken Grotesk"/>
              </a:defRPr>
            </a:lvl1pPr>
            <a:lvl2pPr marL="914400" marR="0" lvl="1"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2pPr>
            <a:lvl3pPr marL="1371600" marR="0" lvl="2"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3pPr>
            <a:lvl4pPr marL="1828800" marR="0" lvl="3"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4pPr>
            <a:lvl5pPr marL="2286000" marR="0" lvl="4"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5pPr>
            <a:lvl6pPr marL="2743200" marR="0" lvl="5"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6pPr>
            <a:lvl7pPr marL="3200400" marR="0" lvl="6"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7pPr>
            <a:lvl8pPr marL="3657600" marR="0" lvl="7"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8pPr>
            <a:lvl9pPr marL="4114800" marR="0" lvl="8"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9pPr>
          </a:lstStyle>
          <a:p>
            <a:pPr marL="0" indent="0" algn="ctr">
              <a:buFont typeface="Hanken Grotesk"/>
              <a:buNone/>
            </a:pPr>
            <a:r>
              <a:rPr lang="en-US" dirty="0"/>
              <a:t>P1</a:t>
            </a:r>
          </a:p>
        </p:txBody>
      </p:sp>
      <p:sp>
        <p:nvSpPr>
          <p:cNvPr id="9" name="Text Placeholder 2">
            <a:extLst>
              <a:ext uri="{FF2B5EF4-FFF2-40B4-BE49-F238E27FC236}">
                <a16:creationId xmlns:a16="http://schemas.microsoft.com/office/drawing/2014/main" id="{7859B420-D02D-756A-FAB6-C2B31EC9459C}"/>
              </a:ext>
            </a:extLst>
          </p:cNvPr>
          <p:cNvSpPr txBox="1">
            <a:spLocks/>
          </p:cNvSpPr>
          <p:nvPr/>
        </p:nvSpPr>
        <p:spPr>
          <a:xfrm>
            <a:off x="2761752" y="1546250"/>
            <a:ext cx="497303" cy="40457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79400" algn="l" rtl="0">
              <a:lnSpc>
                <a:spcPct val="115000"/>
              </a:lnSpc>
              <a:spcBef>
                <a:spcPts val="0"/>
              </a:spcBef>
              <a:spcAft>
                <a:spcPts val="0"/>
              </a:spcAft>
              <a:buClr>
                <a:schemeClr val="dk1"/>
              </a:buClr>
              <a:buSzPts val="800"/>
              <a:buFont typeface="Hanken Grotesk"/>
              <a:buChar char="●"/>
              <a:defRPr sz="1400" b="0" i="0" u="none" strike="noStrike" cap="none">
                <a:solidFill>
                  <a:schemeClr val="dk1"/>
                </a:solidFill>
                <a:latin typeface="Hanken Grotesk"/>
                <a:ea typeface="Hanken Grotesk"/>
                <a:cs typeface="Hanken Grotesk"/>
                <a:sym typeface="Hanken Grotesk"/>
              </a:defRPr>
            </a:lvl1pPr>
            <a:lvl2pPr marL="914400" marR="0" lvl="1"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2pPr>
            <a:lvl3pPr marL="1371600" marR="0" lvl="2"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3pPr>
            <a:lvl4pPr marL="1828800" marR="0" lvl="3"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4pPr>
            <a:lvl5pPr marL="2286000" marR="0" lvl="4"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5pPr>
            <a:lvl6pPr marL="2743200" marR="0" lvl="5"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6pPr>
            <a:lvl7pPr marL="3200400" marR="0" lvl="6"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7pPr>
            <a:lvl8pPr marL="3657600" marR="0" lvl="7"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8pPr>
            <a:lvl9pPr marL="4114800" marR="0" lvl="8"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9pPr>
          </a:lstStyle>
          <a:p>
            <a:pPr marL="0" indent="0" algn="ctr">
              <a:buFont typeface="Hanken Grotesk"/>
              <a:buNone/>
            </a:pPr>
            <a:r>
              <a:rPr lang="en-US" dirty="0"/>
              <a:t>P2</a:t>
            </a:r>
          </a:p>
        </p:txBody>
      </p:sp>
      <p:sp>
        <p:nvSpPr>
          <p:cNvPr id="10" name="Text Placeholder 2">
            <a:extLst>
              <a:ext uri="{FF2B5EF4-FFF2-40B4-BE49-F238E27FC236}">
                <a16:creationId xmlns:a16="http://schemas.microsoft.com/office/drawing/2014/main" id="{DF7F3BCB-555A-64DB-46F5-38F897C96481}"/>
              </a:ext>
            </a:extLst>
          </p:cNvPr>
          <p:cNvSpPr txBox="1">
            <a:spLocks/>
          </p:cNvSpPr>
          <p:nvPr/>
        </p:nvSpPr>
        <p:spPr>
          <a:xfrm>
            <a:off x="2761752" y="1781256"/>
            <a:ext cx="497303" cy="40457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79400" algn="l" rtl="0">
              <a:lnSpc>
                <a:spcPct val="115000"/>
              </a:lnSpc>
              <a:spcBef>
                <a:spcPts val="0"/>
              </a:spcBef>
              <a:spcAft>
                <a:spcPts val="0"/>
              </a:spcAft>
              <a:buClr>
                <a:schemeClr val="dk1"/>
              </a:buClr>
              <a:buSzPts val="800"/>
              <a:buFont typeface="Hanken Grotesk"/>
              <a:buChar char="●"/>
              <a:defRPr sz="1400" b="0" i="0" u="none" strike="noStrike" cap="none">
                <a:solidFill>
                  <a:schemeClr val="dk1"/>
                </a:solidFill>
                <a:latin typeface="Hanken Grotesk"/>
                <a:ea typeface="Hanken Grotesk"/>
                <a:cs typeface="Hanken Grotesk"/>
                <a:sym typeface="Hanken Grotesk"/>
              </a:defRPr>
            </a:lvl1pPr>
            <a:lvl2pPr marL="914400" marR="0" lvl="1"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2pPr>
            <a:lvl3pPr marL="1371600" marR="0" lvl="2"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3pPr>
            <a:lvl4pPr marL="1828800" marR="0" lvl="3"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4pPr>
            <a:lvl5pPr marL="2286000" marR="0" lvl="4"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5pPr>
            <a:lvl6pPr marL="2743200" marR="0" lvl="5"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6pPr>
            <a:lvl7pPr marL="3200400" marR="0" lvl="6"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7pPr>
            <a:lvl8pPr marL="3657600" marR="0" lvl="7"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8pPr>
            <a:lvl9pPr marL="4114800" marR="0" lvl="8"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9pPr>
          </a:lstStyle>
          <a:p>
            <a:pPr marL="0" indent="0" algn="ctr">
              <a:buFont typeface="Hanken Grotesk"/>
              <a:buNone/>
            </a:pPr>
            <a:r>
              <a:rPr lang="en-US" dirty="0"/>
              <a:t>P3</a:t>
            </a:r>
          </a:p>
        </p:txBody>
      </p:sp>
      <p:sp>
        <p:nvSpPr>
          <p:cNvPr id="11" name="Text Placeholder 2">
            <a:extLst>
              <a:ext uri="{FF2B5EF4-FFF2-40B4-BE49-F238E27FC236}">
                <a16:creationId xmlns:a16="http://schemas.microsoft.com/office/drawing/2014/main" id="{AF244C36-EC23-EB32-AE8A-F2AE406213E6}"/>
              </a:ext>
            </a:extLst>
          </p:cNvPr>
          <p:cNvSpPr txBox="1">
            <a:spLocks/>
          </p:cNvSpPr>
          <p:nvPr/>
        </p:nvSpPr>
        <p:spPr>
          <a:xfrm>
            <a:off x="974270" y="1426708"/>
            <a:ext cx="1949914" cy="6915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79400" algn="l" rtl="0">
              <a:lnSpc>
                <a:spcPct val="115000"/>
              </a:lnSpc>
              <a:spcBef>
                <a:spcPts val="0"/>
              </a:spcBef>
              <a:spcAft>
                <a:spcPts val="0"/>
              </a:spcAft>
              <a:buClr>
                <a:schemeClr val="dk1"/>
              </a:buClr>
              <a:buSzPts val="800"/>
              <a:buFont typeface="Hanken Grotesk"/>
              <a:buChar char="●"/>
              <a:defRPr sz="1400" b="0" i="0" u="none" strike="noStrike" cap="none">
                <a:solidFill>
                  <a:schemeClr val="dk1"/>
                </a:solidFill>
                <a:latin typeface="Hanken Grotesk"/>
                <a:ea typeface="Hanken Grotesk"/>
                <a:cs typeface="Hanken Grotesk"/>
                <a:sym typeface="Hanken Grotesk"/>
              </a:defRPr>
            </a:lvl1pPr>
            <a:lvl2pPr marL="914400" marR="0" lvl="1"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2pPr>
            <a:lvl3pPr marL="1371600" marR="0" lvl="2"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3pPr>
            <a:lvl4pPr marL="1828800" marR="0" lvl="3"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4pPr>
            <a:lvl5pPr marL="2286000" marR="0" lvl="4"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5pPr>
            <a:lvl6pPr marL="2743200" marR="0" lvl="5"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6pPr>
            <a:lvl7pPr marL="3200400" marR="0" lvl="6"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7pPr>
            <a:lvl8pPr marL="3657600" marR="0" lvl="7"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8pPr>
            <a:lvl9pPr marL="4114800" marR="0" lvl="8"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9pPr>
          </a:lstStyle>
          <a:p>
            <a:pPr marL="0" indent="0" algn="ctr">
              <a:buFont typeface="Hanken Grotesk"/>
              <a:buNone/>
            </a:pPr>
            <a:r>
              <a:rPr lang="en-US" sz="1200" dirty="0"/>
              <a:t>Prompt sequences</a:t>
            </a:r>
            <a:br>
              <a:rPr lang="en-US" sz="1200" dirty="0"/>
            </a:br>
            <a:r>
              <a:rPr lang="en-US" sz="1200" dirty="0"/>
              <a:t>(Real homologs)</a:t>
            </a:r>
          </a:p>
        </p:txBody>
      </p:sp>
      <p:cxnSp>
        <p:nvCxnSpPr>
          <p:cNvPr id="12" name="Straight Arrow Connector 11">
            <a:extLst>
              <a:ext uri="{FF2B5EF4-FFF2-40B4-BE49-F238E27FC236}">
                <a16:creationId xmlns:a16="http://schemas.microsoft.com/office/drawing/2014/main" id="{69B0F545-7953-C6D9-AE0B-8B210CFA4B28}"/>
              </a:ext>
            </a:extLst>
          </p:cNvPr>
          <p:cNvCxnSpPr>
            <a:cxnSpLocks/>
          </p:cNvCxnSpPr>
          <p:nvPr/>
        </p:nvCxnSpPr>
        <p:spPr>
          <a:xfrm>
            <a:off x="3927512" y="2142620"/>
            <a:ext cx="0" cy="16764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14" name="Straight Arrow Connector 13">
            <a:extLst>
              <a:ext uri="{FF2B5EF4-FFF2-40B4-BE49-F238E27FC236}">
                <a16:creationId xmlns:a16="http://schemas.microsoft.com/office/drawing/2014/main" id="{2AD57191-6CE6-6B17-5112-89866F50356F}"/>
              </a:ext>
            </a:extLst>
          </p:cNvPr>
          <p:cNvCxnSpPr>
            <a:cxnSpLocks/>
          </p:cNvCxnSpPr>
          <p:nvPr/>
        </p:nvCxnSpPr>
        <p:spPr>
          <a:xfrm flipH="1">
            <a:off x="2843394" y="2921459"/>
            <a:ext cx="161581" cy="15240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16" name="Rectangle 15">
            <a:extLst>
              <a:ext uri="{FF2B5EF4-FFF2-40B4-BE49-F238E27FC236}">
                <a16:creationId xmlns:a16="http://schemas.microsoft.com/office/drawing/2014/main" id="{E1A0062D-96F4-AABE-3616-02A68F21B496}"/>
              </a:ext>
            </a:extLst>
          </p:cNvPr>
          <p:cNvSpPr/>
          <p:nvPr/>
        </p:nvSpPr>
        <p:spPr>
          <a:xfrm>
            <a:off x="1311985" y="3285557"/>
            <a:ext cx="1436066" cy="91060"/>
          </a:xfrm>
          <a:prstGeom prst="rect">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 Placeholder 2">
            <a:extLst>
              <a:ext uri="{FF2B5EF4-FFF2-40B4-BE49-F238E27FC236}">
                <a16:creationId xmlns:a16="http://schemas.microsoft.com/office/drawing/2014/main" id="{8CEDCB6E-F7A0-2C6E-1535-7EFADFEF25FF}"/>
              </a:ext>
            </a:extLst>
          </p:cNvPr>
          <p:cNvSpPr txBox="1">
            <a:spLocks/>
          </p:cNvSpPr>
          <p:nvPr/>
        </p:nvSpPr>
        <p:spPr>
          <a:xfrm>
            <a:off x="840468" y="3128790"/>
            <a:ext cx="497303" cy="40144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79400" algn="l" rtl="0">
              <a:lnSpc>
                <a:spcPct val="115000"/>
              </a:lnSpc>
              <a:spcBef>
                <a:spcPts val="0"/>
              </a:spcBef>
              <a:spcAft>
                <a:spcPts val="0"/>
              </a:spcAft>
              <a:buClr>
                <a:schemeClr val="dk1"/>
              </a:buClr>
              <a:buSzPts val="800"/>
              <a:buFont typeface="Hanken Grotesk"/>
              <a:buChar char="●"/>
              <a:defRPr sz="1400" b="0" i="0" u="none" strike="noStrike" cap="none">
                <a:solidFill>
                  <a:schemeClr val="dk1"/>
                </a:solidFill>
                <a:latin typeface="Hanken Grotesk"/>
                <a:ea typeface="Hanken Grotesk"/>
                <a:cs typeface="Hanken Grotesk"/>
                <a:sym typeface="Hanken Grotesk"/>
              </a:defRPr>
            </a:lvl1pPr>
            <a:lvl2pPr marL="914400" marR="0" lvl="1"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2pPr>
            <a:lvl3pPr marL="1371600" marR="0" lvl="2"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3pPr>
            <a:lvl4pPr marL="1828800" marR="0" lvl="3"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4pPr>
            <a:lvl5pPr marL="2286000" marR="0" lvl="4"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5pPr>
            <a:lvl6pPr marL="2743200" marR="0" lvl="5"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6pPr>
            <a:lvl7pPr marL="3200400" marR="0" lvl="6"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7pPr>
            <a:lvl8pPr marL="3657600" marR="0" lvl="7"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8pPr>
            <a:lvl9pPr marL="4114800" marR="0" lvl="8"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9pPr>
          </a:lstStyle>
          <a:p>
            <a:pPr marL="0" indent="0" algn="ctr">
              <a:buFont typeface="Hanken Grotesk"/>
              <a:buNone/>
            </a:pPr>
            <a:r>
              <a:rPr lang="en-US" dirty="0"/>
              <a:t>G1</a:t>
            </a:r>
          </a:p>
        </p:txBody>
      </p:sp>
      <p:sp>
        <p:nvSpPr>
          <p:cNvPr id="18" name="Text Placeholder 2">
            <a:extLst>
              <a:ext uri="{FF2B5EF4-FFF2-40B4-BE49-F238E27FC236}">
                <a16:creationId xmlns:a16="http://schemas.microsoft.com/office/drawing/2014/main" id="{26A433D2-B153-0806-A409-8002F134E8E9}"/>
              </a:ext>
            </a:extLst>
          </p:cNvPr>
          <p:cNvSpPr txBox="1">
            <a:spLocks/>
          </p:cNvSpPr>
          <p:nvPr/>
        </p:nvSpPr>
        <p:spPr>
          <a:xfrm>
            <a:off x="1021003" y="2873230"/>
            <a:ext cx="1949914" cy="6915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79400" algn="l" rtl="0">
              <a:lnSpc>
                <a:spcPct val="115000"/>
              </a:lnSpc>
              <a:spcBef>
                <a:spcPts val="0"/>
              </a:spcBef>
              <a:spcAft>
                <a:spcPts val="0"/>
              </a:spcAft>
              <a:buClr>
                <a:schemeClr val="dk1"/>
              </a:buClr>
              <a:buSzPts val="800"/>
              <a:buFont typeface="Hanken Grotesk"/>
              <a:buChar char="●"/>
              <a:defRPr sz="1400" b="0" i="0" u="none" strike="noStrike" cap="none">
                <a:solidFill>
                  <a:schemeClr val="dk1"/>
                </a:solidFill>
                <a:latin typeface="Hanken Grotesk"/>
                <a:ea typeface="Hanken Grotesk"/>
                <a:cs typeface="Hanken Grotesk"/>
                <a:sym typeface="Hanken Grotesk"/>
              </a:defRPr>
            </a:lvl1pPr>
            <a:lvl2pPr marL="914400" marR="0" lvl="1"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2pPr>
            <a:lvl3pPr marL="1371600" marR="0" lvl="2"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3pPr>
            <a:lvl4pPr marL="1828800" marR="0" lvl="3"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4pPr>
            <a:lvl5pPr marL="2286000" marR="0" lvl="4"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5pPr>
            <a:lvl6pPr marL="2743200" marR="0" lvl="5"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6pPr>
            <a:lvl7pPr marL="3200400" marR="0" lvl="6"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7pPr>
            <a:lvl8pPr marL="3657600" marR="0" lvl="7"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8pPr>
            <a:lvl9pPr marL="4114800" marR="0" lvl="8"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9pPr>
          </a:lstStyle>
          <a:p>
            <a:pPr marL="0" indent="0" algn="ctr">
              <a:buFont typeface="Hanken Grotesk"/>
              <a:buNone/>
            </a:pPr>
            <a:r>
              <a:rPr lang="en-US" sz="1200" dirty="0"/>
              <a:t>Generate Sequence</a:t>
            </a:r>
          </a:p>
        </p:txBody>
      </p:sp>
      <p:cxnSp>
        <p:nvCxnSpPr>
          <p:cNvPr id="19" name="Straight Arrow Connector 18">
            <a:extLst>
              <a:ext uri="{FF2B5EF4-FFF2-40B4-BE49-F238E27FC236}">
                <a16:creationId xmlns:a16="http://schemas.microsoft.com/office/drawing/2014/main" id="{915E296A-3D77-1A0B-53B1-2698599170E7}"/>
              </a:ext>
            </a:extLst>
          </p:cNvPr>
          <p:cNvCxnSpPr>
            <a:cxnSpLocks/>
          </p:cNvCxnSpPr>
          <p:nvPr/>
        </p:nvCxnSpPr>
        <p:spPr>
          <a:xfrm>
            <a:off x="2030018" y="3537798"/>
            <a:ext cx="0" cy="246496"/>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20" name="Text Placeholder 2">
            <a:extLst>
              <a:ext uri="{FF2B5EF4-FFF2-40B4-BE49-F238E27FC236}">
                <a16:creationId xmlns:a16="http://schemas.microsoft.com/office/drawing/2014/main" id="{A5E3F64C-DD1F-51E1-B99E-614A8895A312}"/>
              </a:ext>
            </a:extLst>
          </p:cNvPr>
          <p:cNvSpPr txBox="1">
            <a:spLocks/>
          </p:cNvSpPr>
          <p:nvPr/>
        </p:nvSpPr>
        <p:spPr>
          <a:xfrm>
            <a:off x="1008299" y="3732055"/>
            <a:ext cx="1949914" cy="6915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79400" algn="l" rtl="0">
              <a:lnSpc>
                <a:spcPct val="115000"/>
              </a:lnSpc>
              <a:spcBef>
                <a:spcPts val="0"/>
              </a:spcBef>
              <a:spcAft>
                <a:spcPts val="0"/>
              </a:spcAft>
              <a:buClr>
                <a:schemeClr val="dk1"/>
              </a:buClr>
              <a:buSzPts val="800"/>
              <a:buFont typeface="Hanken Grotesk"/>
              <a:buChar char="●"/>
              <a:defRPr sz="1400" b="0" i="0" u="none" strike="noStrike" cap="none">
                <a:solidFill>
                  <a:schemeClr val="dk1"/>
                </a:solidFill>
                <a:latin typeface="Hanken Grotesk"/>
                <a:ea typeface="Hanken Grotesk"/>
                <a:cs typeface="Hanken Grotesk"/>
                <a:sym typeface="Hanken Grotesk"/>
              </a:defRPr>
            </a:lvl1pPr>
            <a:lvl2pPr marL="914400" marR="0" lvl="1"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2pPr>
            <a:lvl3pPr marL="1371600" marR="0" lvl="2"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3pPr>
            <a:lvl4pPr marL="1828800" marR="0" lvl="3"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4pPr>
            <a:lvl5pPr marL="2286000" marR="0" lvl="4"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5pPr>
            <a:lvl6pPr marL="2743200" marR="0" lvl="5"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6pPr>
            <a:lvl7pPr marL="3200400" marR="0" lvl="6"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7pPr>
            <a:lvl8pPr marL="3657600" marR="0" lvl="7"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8pPr>
            <a:lvl9pPr marL="4114800" marR="0" lvl="8"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9pPr>
          </a:lstStyle>
          <a:p>
            <a:pPr marL="0" indent="0" algn="ctr">
              <a:buFont typeface="Hanken Grotesk"/>
              <a:buNone/>
            </a:pPr>
            <a:r>
              <a:rPr lang="en-US" sz="1200" dirty="0"/>
              <a:t>Quantify Novelty</a:t>
            </a:r>
          </a:p>
        </p:txBody>
      </p:sp>
      <p:pic>
        <p:nvPicPr>
          <p:cNvPr id="23" name="Picture 22" descr="The image shows a visual representation of a 100% identification percentage with a 0% comparison value.&#10;&#10;AI-generated content may be incorrect.">
            <a:extLst>
              <a:ext uri="{FF2B5EF4-FFF2-40B4-BE49-F238E27FC236}">
                <a16:creationId xmlns:a16="http://schemas.microsoft.com/office/drawing/2014/main" id="{40E45993-A85B-5EFC-DC5D-F547768652F1}"/>
              </a:ext>
            </a:extLst>
          </p:cNvPr>
          <p:cNvPicPr>
            <a:picLocks noChangeAspect="1"/>
          </p:cNvPicPr>
          <p:nvPr/>
        </p:nvPicPr>
        <p:blipFill>
          <a:blip r:embed="rId3"/>
          <a:stretch>
            <a:fillRect/>
          </a:stretch>
        </p:blipFill>
        <p:spPr>
          <a:xfrm>
            <a:off x="3495191" y="3575037"/>
            <a:ext cx="864641" cy="1203242"/>
          </a:xfrm>
          <a:prstGeom prst="rect">
            <a:avLst/>
          </a:prstGeom>
        </p:spPr>
      </p:pic>
      <p:pic>
        <p:nvPicPr>
          <p:cNvPr id="25" name="Picture 24" descr="The image displays a sequence of colored blocks: P1, P2, P3, and G1.&#10;&#10;AI-generated content may be incorrect.">
            <a:extLst>
              <a:ext uri="{FF2B5EF4-FFF2-40B4-BE49-F238E27FC236}">
                <a16:creationId xmlns:a16="http://schemas.microsoft.com/office/drawing/2014/main" id="{AFF9E856-3B08-7D6E-63AE-68A6F19133A9}"/>
              </a:ext>
            </a:extLst>
          </p:cNvPr>
          <p:cNvPicPr>
            <a:picLocks noChangeAspect="1"/>
          </p:cNvPicPr>
          <p:nvPr/>
        </p:nvPicPr>
        <p:blipFill>
          <a:blip r:embed="rId4"/>
          <a:stretch>
            <a:fillRect/>
          </a:stretch>
        </p:blipFill>
        <p:spPr>
          <a:xfrm>
            <a:off x="1341228" y="4129842"/>
            <a:ext cx="1203388" cy="607371"/>
          </a:xfrm>
          <a:prstGeom prst="rect">
            <a:avLst/>
          </a:prstGeom>
        </p:spPr>
      </p:pic>
      <p:cxnSp>
        <p:nvCxnSpPr>
          <p:cNvPr id="26" name="Straight Arrow Connector 25">
            <a:extLst>
              <a:ext uri="{FF2B5EF4-FFF2-40B4-BE49-F238E27FC236}">
                <a16:creationId xmlns:a16="http://schemas.microsoft.com/office/drawing/2014/main" id="{D64D7EE0-7232-BCCE-2105-D2CB0CB5D548}"/>
              </a:ext>
            </a:extLst>
          </p:cNvPr>
          <p:cNvCxnSpPr>
            <a:cxnSpLocks/>
          </p:cNvCxnSpPr>
          <p:nvPr/>
        </p:nvCxnSpPr>
        <p:spPr>
          <a:xfrm>
            <a:off x="4886772" y="2921459"/>
            <a:ext cx="161581" cy="15240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27" name="Rectangle 26">
            <a:extLst>
              <a:ext uri="{FF2B5EF4-FFF2-40B4-BE49-F238E27FC236}">
                <a16:creationId xmlns:a16="http://schemas.microsoft.com/office/drawing/2014/main" id="{38556BE4-3BC2-642D-1320-78968D32A3E3}"/>
              </a:ext>
            </a:extLst>
          </p:cNvPr>
          <p:cNvSpPr/>
          <p:nvPr/>
        </p:nvSpPr>
        <p:spPr>
          <a:xfrm>
            <a:off x="5207214" y="3251208"/>
            <a:ext cx="1436066" cy="91060"/>
          </a:xfrm>
          <a:prstGeom prst="rect">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3EE19D41-CE01-A399-D82C-56228C5C4E5D}"/>
              </a:ext>
            </a:extLst>
          </p:cNvPr>
          <p:cNvSpPr/>
          <p:nvPr/>
        </p:nvSpPr>
        <p:spPr>
          <a:xfrm>
            <a:off x="5207214" y="3483977"/>
            <a:ext cx="1436066" cy="91060"/>
          </a:xfrm>
          <a:prstGeom prst="rect">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96B22A25-FF69-472A-F4CB-D33BC92C95FD}"/>
              </a:ext>
            </a:extLst>
          </p:cNvPr>
          <p:cNvSpPr/>
          <p:nvPr/>
        </p:nvSpPr>
        <p:spPr>
          <a:xfrm>
            <a:off x="5207214" y="3732055"/>
            <a:ext cx="1436066" cy="91060"/>
          </a:xfrm>
          <a:prstGeom prst="rect">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 Placeholder 2">
            <a:extLst>
              <a:ext uri="{FF2B5EF4-FFF2-40B4-BE49-F238E27FC236}">
                <a16:creationId xmlns:a16="http://schemas.microsoft.com/office/drawing/2014/main" id="{0A44DE66-68ED-3047-8A70-39EE26E80201}"/>
              </a:ext>
            </a:extLst>
          </p:cNvPr>
          <p:cNvSpPr txBox="1">
            <a:spLocks/>
          </p:cNvSpPr>
          <p:nvPr/>
        </p:nvSpPr>
        <p:spPr>
          <a:xfrm>
            <a:off x="4709911" y="3092097"/>
            <a:ext cx="497303" cy="40457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79400" algn="l" rtl="0">
              <a:lnSpc>
                <a:spcPct val="115000"/>
              </a:lnSpc>
              <a:spcBef>
                <a:spcPts val="0"/>
              </a:spcBef>
              <a:spcAft>
                <a:spcPts val="0"/>
              </a:spcAft>
              <a:buClr>
                <a:schemeClr val="dk1"/>
              </a:buClr>
              <a:buSzPts val="800"/>
              <a:buFont typeface="Hanken Grotesk"/>
              <a:buChar char="●"/>
              <a:defRPr sz="1400" b="0" i="0" u="none" strike="noStrike" cap="none">
                <a:solidFill>
                  <a:schemeClr val="dk1"/>
                </a:solidFill>
                <a:latin typeface="Hanken Grotesk"/>
                <a:ea typeface="Hanken Grotesk"/>
                <a:cs typeface="Hanken Grotesk"/>
                <a:sym typeface="Hanken Grotesk"/>
              </a:defRPr>
            </a:lvl1pPr>
            <a:lvl2pPr marL="914400" marR="0" lvl="1"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2pPr>
            <a:lvl3pPr marL="1371600" marR="0" lvl="2"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3pPr>
            <a:lvl4pPr marL="1828800" marR="0" lvl="3"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4pPr>
            <a:lvl5pPr marL="2286000" marR="0" lvl="4"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5pPr>
            <a:lvl6pPr marL="2743200" marR="0" lvl="5"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6pPr>
            <a:lvl7pPr marL="3200400" marR="0" lvl="6"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7pPr>
            <a:lvl8pPr marL="3657600" marR="0" lvl="7"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8pPr>
            <a:lvl9pPr marL="4114800" marR="0" lvl="8"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9pPr>
          </a:lstStyle>
          <a:p>
            <a:pPr marL="0" indent="0" algn="ctr">
              <a:buFont typeface="Hanken Grotesk"/>
              <a:buNone/>
            </a:pPr>
            <a:r>
              <a:rPr lang="en-US" dirty="0"/>
              <a:t>G1</a:t>
            </a:r>
          </a:p>
        </p:txBody>
      </p:sp>
      <p:sp>
        <p:nvSpPr>
          <p:cNvPr id="31" name="Text Placeholder 2">
            <a:extLst>
              <a:ext uri="{FF2B5EF4-FFF2-40B4-BE49-F238E27FC236}">
                <a16:creationId xmlns:a16="http://schemas.microsoft.com/office/drawing/2014/main" id="{63657607-2BA5-FBF5-1940-E894D6ACA7BD}"/>
              </a:ext>
            </a:extLst>
          </p:cNvPr>
          <p:cNvSpPr txBox="1">
            <a:spLocks/>
          </p:cNvSpPr>
          <p:nvPr/>
        </p:nvSpPr>
        <p:spPr>
          <a:xfrm>
            <a:off x="4709911" y="3324810"/>
            <a:ext cx="497303" cy="40457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79400" algn="l" rtl="0">
              <a:lnSpc>
                <a:spcPct val="115000"/>
              </a:lnSpc>
              <a:spcBef>
                <a:spcPts val="0"/>
              </a:spcBef>
              <a:spcAft>
                <a:spcPts val="0"/>
              </a:spcAft>
              <a:buClr>
                <a:schemeClr val="dk1"/>
              </a:buClr>
              <a:buSzPts val="800"/>
              <a:buFont typeface="Hanken Grotesk"/>
              <a:buChar char="●"/>
              <a:defRPr sz="1400" b="0" i="0" u="none" strike="noStrike" cap="none">
                <a:solidFill>
                  <a:schemeClr val="dk1"/>
                </a:solidFill>
                <a:latin typeface="Hanken Grotesk"/>
                <a:ea typeface="Hanken Grotesk"/>
                <a:cs typeface="Hanken Grotesk"/>
                <a:sym typeface="Hanken Grotesk"/>
              </a:defRPr>
            </a:lvl1pPr>
            <a:lvl2pPr marL="914400" marR="0" lvl="1"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2pPr>
            <a:lvl3pPr marL="1371600" marR="0" lvl="2"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3pPr>
            <a:lvl4pPr marL="1828800" marR="0" lvl="3"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4pPr>
            <a:lvl5pPr marL="2286000" marR="0" lvl="4"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5pPr>
            <a:lvl6pPr marL="2743200" marR="0" lvl="5"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6pPr>
            <a:lvl7pPr marL="3200400" marR="0" lvl="6"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7pPr>
            <a:lvl8pPr marL="3657600" marR="0" lvl="7"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8pPr>
            <a:lvl9pPr marL="4114800" marR="0" lvl="8"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9pPr>
          </a:lstStyle>
          <a:p>
            <a:pPr marL="0" indent="0" algn="ctr">
              <a:buFont typeface="Hanken Grotesk"/>
              <a:buNone/>
            </a:pPr>
            <a:r>
              <a:rPr lang="en-US" dirty="0"/>
              <a:t>G2</a:t>
            </a:r>
          </a:p>
        </p:txBody>
      </p:sp>
      <p:sp>
        <p:nvSpPr>
          <p:cNvPr id="32" name="Text Placeholder 2">
            <a:extLst>
              <a:ext uri="{FF2B5EF4-FFF2-40B4-BE49-F238E27FC236}">
                <a16:creationId xmlns:a16="http://schemas.microsoft.com/office/drawing/2014/main" id="{5A8C5ADE-490A-0BEE-62A6-036F95EE73B8}"/>
              </a:ext>
            </a:extLst>
          </p:cNvPr>
          <p:cNvSpPr txBox="1">
            <a:spLocks/>
          </p:cNvSpPr>
          <p:nvPr/>
        </p:nvSpPr>
        <p:spPr>
          <a:xfrm>
            <a:off x="4709911" y="3559816"/>
            <a:ext cx="497303" cy="40457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79400" algn="l" rtl="0">
              <a:lnSpc>
                <a:spcPct val="115000"/>
              </a:lnSpc>
              <a:spcBef>
                <a:spcPts val="0"/>
              </a:spcBef>
              <a:spcAft>
                <a:spcPts val="0"/>
              </a:spcAft>
              <a:buClr>
                <a:schemeClr val="dk1"/>
              </a:buClr>
              <a:buSzPts val="800"/>
              <a:buFont typeface="Hanken Grotesk"/>
              <a:buChar char="●"/>
              <a:defRPr sz="1400" b="0" i="0" u="none" strike="noStrike" cap="none">
                <a:solidFill>
                  <a:schemeClr val="dk1"/>
                </a:solidFill>
                <a:latin typeface="Hanken Grotesk"/>
                <a:ea typeface="Hanken Grotesk"/>
                <a:cs typeface="Hanken Grotesk"/>
                <a:sym typeface="Hanken Grotesk"/>
              </a:defRPr>
            </a:lvl1pPr>
            <a:lvl2pPr marL="914400" marR="0" lvl="1"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2pPr>
            <a:lvl3pPr marL="1371600" marR="0" lvl="2"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3pPr>
            <a:lvl4pPr marL="1828800" marR="0" lvl="3"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4pPr>
            <a:lvl5pPr marL="2286000" marR="0" lvl="4"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5pPr>
            <a:lvl6pPr marL="2743200" marR="0" lvl="5"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6pPr>
            <a:lvl7pPr marL="3200400" marR="0" lvl="6"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7pPr>
            <a:lvl8pPr marL="3657600" marR="0" lvl="7"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8pPr>
            <a:lvl9pPr marL="4114800" marR="0" lvl="8"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9pPr>
          </a:lstStyle>
          <a:p>
            <a:pPr marL="0" indent="0" algn="ctr">
              <a:buFont typeface="Hanken Grotesk"/>
              <a:buNone/>
            </a:pPr>
            <a:r>
              <a:rPr lang="en-US" dirty="0"/>
              <a:t>G3</a:t>
            </a:r>
          </a:p>
        </p:txBody>
      </p:sp>
      <p:sp>
        <p:nvSpPr>
          <p:cNvPr id="33" name="Text Placeholder 2">
            <a:extLst>
              <a:ext uri="{FF2B5EF4-FFF2-40B4-BE49-F238E27FC236}">
                <a16:creationId xmlns:a16="http://schemas.microsoft.com/office/drawing/2014/main" id="{F305659B-639F-2C5B-DEEA-64A90654D9C6}"/>
              </a:ext>
            </a:extLst>
          </p:cNvPr>
          <p:cNvSpPr txBox="1">
            <a:spLocks/>
          </p:cNvSpPr>
          <p:nvPr/>
        </p:nvSpPr>
        <p:spPr>
          <a:xfrm>
            <a:off x="4950290" y="2868316"/>
            <a:ext cx="1949914" cy="6915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79400" algn="l" rtl="0">
              <a:lnSpc>
                <a:spcPct val="115000"/>
              </a:lnSpc>
              <a:spcBef>
                <a:spcPts val="0"/>
              </a:spcBef>
              <a:spcAft>
                <a:spcPts val="0"/>
              </a:spcAft>
              <a:buClr>
                <a:schemeClr val="dk1"/>
              </a:buClr>
              <a:buSzPts val="800"/>
              <a:buFont typeface="Hanken Grotesk"/>
              <a:buChar char="●"/>
              <a:defRPr sz="1400" b="0" i="0" u="none" strike="noStrike" cap="none">
                <a:solidFill>
                  <a:schemeClr val="dk1"/>
                </a:solidFill>
                <a:latin typeface="Hanken Grotesk"/>
                <a:ea typeface="Hanken Grotesk"/>
                <a:cs typeface="Hanken Grotesk"/>
                <a:sym typeface="Hanken Grotesk"/>
              </a:defRPr>
            </a:lvl1pPr>
            <a:lvl2pPr marL="914400" marR="0" lvl="1"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2pPr>
            <a:lvl3pPr marL="1371600" marR="0" lvl="2"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3pPr>
            <a:lvl4pPr marL="1828800" marR="0" lvl="3"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4pPr>
            <a:lvl5pPr marL="2286000" marR="0" lvl="4"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5pPr>
            <a:lvl6pPr marL="2743200" marR="0" lvl="5"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6pPr>
            <a:lvl7pPr marL="3200400" marR="0" lvl="6"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7pPr>
            <a:lvl8pPr marL="3657600" marR="0" lvl="7"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8pPr>
            <a:lvl9pPr marL="4114800" marR="0" lvl="8"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9pPr>
          </a:lstStyle>
          <a:p>
            <a:pPr marL="0" indent="0" algn="ctr">
              <a:buFont typeface="Hanken Grotesk"/>
              <a:buNone/>
            </a:pPr>
            <a:r>
              <a:rPr lang="en-US" sz="1200" dirty="0"/>
              <a:t>Generate Set</a:t>
            </a:r>
          </a:p>
        </p:txBody>
      </p:sp>
      <p:pic>
        <p:nvPicPr>
          <p:cNvPr id="35" name="Picture 34" descr="The image is a simple, black and white checkerboard pattern with labels G1, G2, and G3 at the top, indicating a sequence of positions.&#10;&#10;AI-generated content may be incorrect.">
            <a:extLst>
              <a:ext uri="{FF2B5EF4-FFF2-40B4-BE49-F238E27FC236}">
                <a16:creationId xmlns:a16="http://schemas.microsoft.com/office/drawing/2014/main" id="{89591E71-AE77-AD31-3144-ACD9A505A4B8}"/>
              </a:ext>
            </a:extLst>
          </p:cNvPr>
          <p:cNvPicPr>
            <a:picLocks noChangeAspect="1"/>
          </p:cNvPicPr>
          <p:nvPr/>
        </p:nvPicPr>
        <p:blipFill>
          <a:blip r:embed="rId5"/>
          <a:stretch>
            <a:fillRect/>
          </a:stretch>
        </p:blipFill>
        <p:spPr>
          <a:xfrm>
            <a:off x="7397507" y="3047710"/>
            <a:ext cx="1142541" cy="1054653"/>
          </a:xfrm>
          <a:prstGeom prst="rect">
            <a:avLst/>
          </a:prstGeom>
        </p:spPr>
      </p:pic>
      <p:cxnSp>
        <p:nvCxnSpPr>
          <p:cNvPr id="36" name="Straight Arrow Connector 35">
            <a:extLst>
              <a:ext uri="{FF2B5EF4-FFF2-40B4-BE49-F238E27FC236}">
                <a16:creationId xmlns:a16="http://schemas.microsoft.com/office/drawing/2014/main" id="{9E6CDBFA-6B0C-1373-2C25-FEBF95E578D6}"/>
              </a:ext>
            </a:extLst>
          </p:cNvPr>
          <p:cNvCxnSpPr>
            <a:cxnSpLocks/>
          </p:cNvCxnSpPr>
          <p:nvPr/>
        </p:nvCxnSpPr>
        <p:spPr>
          <a:xfrm>
            <a:off x="6900204" y="3542838"/>
            <a:ext cx="392962"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39" name="Text Placeholder 2">
            <a:extLst>
              <a:ext uri="{FF2B5EF4-FFF2-40B4-BE49-F238E27FC236}">
                <a16:creationId xmlns:a16="http://schemas.microsoft.com/office/drawing/2014/main" id="{A6BAD813-7E1D-070E-8F76-8FEA8EDD03AE}"/>
              </a:ext>
            </a:extLst>
          </p:cNvPr>
          <p:cNvSpPr txBox="1">
            <a:spLocks/>
          </p:cNvSpPr>
          <p:nvPr/>
        </p:nvSpPr>
        <p:spPr>
          <a:xfrm>
            <a:off x="7056873" y="2437290"/>
            <a:ext cx="1949914" cy="6915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79400" algn="l" rtl="0">
              <a:lnSpc>
                <a:spcPct val="115000"/>
              </a:lnSpc>
              <a:spcBef>
                <a:spcPts val="0"/>
              </a:spcBef>
              <a:spcAft>
                <a:spcPts val="0"/>
              </a:spcAft>
              <a:buClr>
                <a:schemeClr val="dk1"/>
              </a:buClr>
              <a:buSzPts val="800"/>
              <a:buFont typeface="Hanken Grotesk"/>
              <a:buChar char="●"/>
              <a:defRPr sz="1400" b="0" i="0" u="none" strike="noStrike" cap="none">
                <a:solidFill>
                  <a:schemeClr val="dk1"/>
                </a:solidFill>
                <a:latin typeface="Hanken Grotesk"/>
                <a:ea typeface="Hanken Grotesk"/>
                <a:cs typeface="Hanken Grotesk"/>
                <a:sym typeface="Hanken Grotesk"/>
              </a:defRPr>
            </a:lvl1pPr>
            <a:lvl2pPr marL="914400" marR="0" lvl="1"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2pPr>
            <a:lvl3pPr marL="1371600" marR="0" lvl="2"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3pPr>
            <a:lvl4pPr marL="1828800" marR="0" lvl="3"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4pPr>
            <a:lvl5pPr marL="2286000" marR="0" lvl="4"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5pPr>
            <a:lvl6pPr marL="2743200" marR="0" lvl="5"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6pPr>
            <a:lvl7pPr marL="3200400" marR="0" lvl="6"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7pPr>
            <a:lvl8pPr marL="3657600" marR="0" lvl="7"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8pPr>
            <a:lvl9pPr marL="4114800" marR="0" lvl="8"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9pPr>
          </a:lstStyle>
          <a:p>
            <a:pPr marL="0" indent="0" algn="ctr">
              <a:buFont typeface="Hanken Grotesk"/>
              <a:buNone/>
            </a:pPr>
            <a:r>
              <a:rPr lang="en-US" sz="1200" dirty="0"/>
              <a:t>Quantify </a:t>
            </a:r>
            <a:br>
              <a:rPr lang="en-US" sz="1200" dirty="0"/>
            </a:br>
            <a:r>
              <a:rPr lang="en-US" sz="1200" dirty="0"/>
              <a:t>Diversity</a:t>
            </a:r>
          </a:p>
        </p:txBody>
      </p:sp>
    </p:spTree>
    <p:extLst>
      <p:ext uri="{BB962C8B-B14F-4D97-AF65-F5344CB8AC3E}">
        <p14:creationId xmlns:p14="http://schemas.microsoft.com/office/powerpoint/2010/main" val="715489554"/>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AE6232-EEAE-74B7-E2A0-700273261AE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E01F0BF-9311-5969-D73B-4795FF040802}"/>
              </a:ext>
            </a:extLst>
          </p:cNvPr>
          <p:cNvSpPr>
            <a:spLocks noGrp="1"/>
          </p:cNvSpPr>
          <p:nvPr>
            <p:ph type="title"/>
          </p:nvPr>
        </p:nvSpPr>
        <p:spPr>
          <a:xfrm>
            <a:off x="720000" y="463542"/>
            <a:ext cx="7704000" cy="572700"/>
          </a:xfrm>
        </p:spPr>
        <p:txBody>
          <a:bodyPr/>
          <a:lstStyle/>
          <a:p>
            <a:pPr algn="ctr"/>
            <a:r>
              <a:rPr lang="en-US" sz="2400" dirty="0" err="1"/>
              <a:t>EnhancAR</a:t>
            </a:r>
            <a:r>
              <a:rPr lang="en-US" sz="2400" dirty="0"/>
              <a:t> generates novel and diverse sequences</a:t>
            </a:r>
          </a:p>
        </p:txBody>
      </p:sp>
      <p:sp>
        <p:nvSpPr>
          <p:cNvPr id="11" name="Text Placeholder 2">
            <a:extLst>
              <a:ext uri="{FF2B5EF4-FFF2-40B4-BE49-F238E27FC236}">
                <a16:creationId xmlns:a16="http://schemas.microsoft.com/office/drawing/2014/main" id="{681228D5-85BD-231D-D3A1-72949EE4A50E}"/>
              </a:ext>
            </a:extLst>
          </p:cNvPr>
          <p:cNvSpPr txBox="1">
            <a:spLocks/>
          </p:cNvSpPr>
          <p:nvPr/>
        </p:nvSpPr>
        <p:spPr>
          <a:xfrm>
            <a:off x="1769414" y="1641537"/>
            <a:ext cx="1949914" cy="6915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79400" algn="l" rtl="0">
              <a:lnSpc>
                <a:spcPct val="115000"/>
              </a:lnSpc>
              <a:spcBef>
                <a:spcPts val="0"/>
              </a:spcBef>
              <a:spcAft>
                <a:spcPts val="0"/>
              </a:spcAft>
              <a:buClr>
                <a:schemeClr val="dk1"/>
              </a:buClr>
              <a:buSzPts val="800"/>
              <a:buFont typeface="Hanken Grotesk"/>
              <a:buChar char="●"/>
              <a:defRPr sz="1400" b="0" i="0" u="none" strike="noStrike" cap="none">
                <a:solidFill>
                  <a:schemeClr val="dk1"/>
                </a:solidFill>
                <a:latin typeface="Hanken Grotesk"/>
                <a:ea typeface="Hanken Grotesk"/>
                <a:cs typeface="Hanken Grotesk"/>
                <a:sym typeface="Hanken Grotesk"/>
              </a:defRPr>
            </a:lvl1pPr>
            <a:lvl2pPr marL="914400" marR="0" lvl="1"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2pPr>
            <a:lvl3pPr marL="1371600" marR="0" lvl="2"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3pPr>
            <a:lvl4pPr marL="1828800" marR="0" lvl="3"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4pPr>
            <a:lvl5pPr marL="2286000" marR="0" lvl="4"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5pPr>
            <a:lvl6pPr marL="2743200" marR="0" lvl="5"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6pPr>
            <a:lvl7pPr marL="3200400" marR="0" lvl="6"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7pPr>
            <a:lvl8pPr marL="3657600" marR="0" lvl="7"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8pPr>
            <a:lvl9pPr marL="4114800" marR="0" lvl="8"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9pPr>
          </a:lstStyle>
          <a:p>
            <a:pPr marL="0" indent="0" algn="ctr">
              <a:buFont typeface="Hanken Grotesk"/>
              <a:buNone/>
            </a:pPr>
            <a:r>
              <a:rPr lang="en-US" sz="1600" b="1" dirty="0"/>
              <a:t>Novelty</a:t>
            </a:r>
          </a:p>
        </p:txBody>
      </p:sp>
      <p:pic>
        <p:nvPicPr>
          <p:cNvPr id="13" name="Picture 12" descr="Scrambled.&#10;&#10;AI-generated content may be incorrect.">
            <a:extLst>
              <a:ext uri="{FF2B5EF4-FFF2-40B4-BE49-F238E27FC236}">
                <a16:creationId xmlns:a16="http://schemas.microsoft.com/office/drawing/2014/main" id="{74387F50-640B-D914-4033-FD11B10A3A8C}"/>
              </a:ext>
            </a:extLst>
          </p:cNvPr>
          <p:cNvPicPr>
            <a:picLocks noChangeAspect="1"/>
          </p:cNvPicPr>
          <p:nvPr/>
        </p:nvPicPr>
        <p:blipFill>
          <a:blip r:embed="rId3"/>
          <a:stretch>
            <a:fillRect/>
          </a:stretch>
        </p:blipFill>
        <p:spPr>
          <a:xfrm>
            <a:off x="720000" y="2190343"/>
            <a:ext cx="3718237" cy="2285802"/>
          </a:xfrm>
          <a:prstGeom prst="rect">
            <a:avLst/>
          </a:prstGeom>
        </p:spPr>
      </p:pic>
      <p:sp>
        <p:nvSpPr>
          <p:cNvPr id="24" name="Text Placeholder 2">
            <a:extLst>
              <a:ext uri="{FF2B5EF4-FFF2-40B4-BE49-F238E27FC236}">
                <a16:creationId xmlns:a16="http://schemas.microsoft.com/office/drawing/2014/main" id="{44EC3721-5DB9-BF84-C868-A9A2CEF139D1}"/>
              </a:ext>
            </a:extLst>
          </p:cNvPr>
          <p:cNvSpPr txBox="1">
            <a:spLocks/>
          </p:cNvSpPr>
          <p:nvPr/>
        </p:nvSpPr>
        <p:spPr>
          <a:xfrm>
            <a:off x="608524" y="1036242"/>
            <a:ext cx="7926952" cy="509848"/>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79400" algn="l" rtl="0">
              <a:lnSpc>
                <a:spcPct val="115000"/>
              </a:lnSpc>
              <a:spcBef>
                <a:spcPts val="0"/>
              </a:spcBef>
              <a:spcAft>
                <a:spcPts val="0"/>
              </a:spcAft>
              <a:buClr>
                <a:schemeClr val="dk1"/>
              </a:buClr>
              <a:buSzPts val="800"/>
              <a:buFont typeface="Hanken Grotesk"/>
              <a:buChar char="●"/>
              <a:defRPr sz="1400" b="0" i="0" u="none" strike="noStrike" cap="none">
                <a:solidFill>
                  <a:schemeClr val="dk1"/>
                </a:solidFill>
                <a:latin typeface="Hanken Grotesk"/>
                <a:ea typeface="Hanken Grotesk"/>
                <a:cs typeface="Hanken Grotesk"/>
                <a:sym typeface="Hanken Grotesk"/>
              </a:defRPr>
            </a:lvl1pPr>
            <a:lvl2pPr marL="914400" marR="0" lvl="1"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2pPr>
            <a:lvl3pPr marL="1371600" marR="0" lvl="2"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3pPr>
            <a:lvl4pPr marL="1828800" marR="0" lvl="3"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4pPr>
            <a:lvl5pPr marL="2286000" marR="0" lvl="4"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5pPr>
            <a:lvl6pPr marL="2743200" marR="0" lvl="5"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6pPr>
            <a:lvl7pPr marL="3200400" marR="0" lvl="6"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7pPr>
            <a:lvl8pPr marL="3657600" marR="0" lvl="7"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8pPr>
            <a:lvl9pPr marL="4114800" marR="0" lvl="8"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9pPr>
          </a:lstStyle>
          <a:p>
            <a:pPr marL="0" indent="0" algn="ctr">
              <a:buFont typeface="Hanken Grotesk"/>
              <a:buNone/>
            </a:pPr>
            <a:r>
              <a:rPr lang="en-US" dirty="0"/>
              <a:t>We generated sequences for 1000 randomly selected (unseen) enhancers in the genome</a:t>
            </a:r>
          </a:p>
        </p:txBody>
      </p:sp>
    </p:spTree>
    <p:extLst>
      <p:ext uri="{BB962C8B-B14F-4D97-AF65-F5344CB8AC3E}">
        <p14:creationId xmlns:p14="http://schemas.microsoft.com/office/powerpoint/2010/main" val="2591443392"/>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191EE1-F903-4B75-A375-0B5292DD5E5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3BB6603-C4FB-58F7-3FD9-BF4E7AA17844}"/>
              </a:ext>
            </a:extLst>
          </p:cNvPr>
          <p:cNvSpPr>
            <a:spLocks noGrp="1"/>
          </p:cNvSpPr>
          <p:nvPr>
            <p:ph type="title"/>
          </p:nvPr>
        </p:nvSpPr>
        <p:spPr>
          <a:xfrm>
            <a:off x="720000" y="463542"/>
            <a:ext cx="7704000" cy="572700"/>
          </a:xfrm>
        </p:spPr>
        <p:txBody>
          <a:bodyPr/>
          <a:lstStyle/>
          <a:p>
            <a:pPr algn="ctr"/>
            <a:r>
              <a:rPr lang="en-US" sz="2400" dirty="0" err="1"/>
              <a:t>EnhancAR</a:t>
            </a:r>
            <a:r>
              <a:rPr lang="en-US" sz="2400" dirty="0"/>
              <a:t> generates novel and diverse sequences</a:t>
            </a:r>
          </a:p>
        </p:txBody>
      </p:sp>
      <p:sp>
        <p:nvSpPr>
          <p:cNvPr id="11" name="Text Placeholder 2">
            <a:extLst>
              <a:ext uri="{FF2B5EF4-FFF2-40B4-BE49-F238E27FC236}">
                <a16:creationId xmlns:a16="http://schemas.microsoft.com/office/drawing/2014/main" id="{F608A7F3-9C1E-7B3B-DBDB-0B3632CDAB2C}"/>
              </a:ext>
            </a:extLst>
          </p:cNvPr>
          <p:cNvSpPr txBox="1">
            <a:spLocks/>
          </p:cNvSpPr>
          <p:nvPr/>
        </p:nvSpPr>
        <p:spPr>
          <a:xfrm>
            <a:off x="1769414" y="1641537"/>
            <a:ext cx="1949914" cy="6915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79400" algn="l" rtl="0">
              <a:lnSpc>
                <a:spcPct val="115000"/>
              </a:lnSpc>
              <a:spcBef>
                <a:spcPts val="0"/>
              </a:spcBef>
              <a:spcAft>
                <a:spcPts val="0"/>
              </a:spcAft>
              <a:buClr>
                <a:schemeClr val="dk1"/>
              </a:buClr>
              <a:buSzPts val="800"/>
              <a:buFont typeface="Hanken Grotesk"/>
              <a:buChar char="●"/>
              <a:defRPr sz="1400" b="0" i="0" u="none" strike="noStrike" cap="none">
                <a:solidFill>
                  <a:schemeClr val="dk1"/>
                </a:solidFill>
                <a:latin typeface="Hanken Grotesk"/>
                <a:ea typeface="Hanken Grotesk"/>
                <a:cs typeface="Hanken Grotesk"/>
                <a:sym typeface="Hanken Grotesk"/>
              </a:defRPr>
            </a:lvl1pPr>
            <a:lvl2pPr marL="914400" marR="0" lvl="1"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2pPr>
            <a:lvl3pPr marL="1371600" marR="0" lvl="2"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3pPr>
            <a:lvl4pPr marL="1828800" marR="0" lvl="3"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4pPr>
            <a:lvl5pPr marL="2286000" marR="0" lvl="4"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5pPr>
            <a:lvl6pPr marL="2743200" marR="0" lvl="5"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6pPr>
            <a:lvl7pPr marL="3200400" marR="0" lvl="6"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7pPr>
            <a:lvl8pPr marL="3657600" marR="0" lvl="7"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8pPr>
            <a:lvl9pPr marL="4114800" marR="0" lvl="8"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9pPr>
          </a:lstStyle>
          <a:p>
            <a:pPr marL="0" indent="0" algn="ctr">
              <a:buFont typeface="Hanken Grotesk"/>
              <a:buNone/>
            </a:pPr>
            <a:r>
              <a:rPr lang="en-US" sz="1600" b="1" dirty="0"/>
              <a:t>Novelty</a:t>
            </a:r>
          </a:p>
        </p:txBody>
      </p:sp>
      <p:pic>
        <p:nvPicPr>
          <p:cNvPr id="13" name="Picture 12" descr="Scrambled.&#10;&#10;AI-generated content may be incorrect.">
            <a:extLst>
              <a:ext uri="{FF2B5EF4-FFF2-40B4-BE49-F238E27FC236}">
                <a16:creationId xmlns:a16="http://schemas.microsoft.com/office/drawing/2014/main" id="{EF154736-583F-88AA-B453-AC418BDF91A5}"/>
              </a:ext>
            </a:extLst>
          </p:cNvPr>
          <p:cNvPicPr>
            <a:picLocks noChangeAspect="1"/>
          </p:cNvPicPr>
          <p:nvPr/>
        </p:nvPicPr>
        <p:blipFill>
          <a:blip r:embed="rId3"/>
          <a:stretch>
            <a:fillRect/>
          </a:stretch>
        </p:blipFill>
        <p:spPr>
          <a:xfrm>
            <a:off x="720000" y="2190343"/>
            <a:ext cx="3718237" cy="2285802"/>
          </a:xfrm>
          <a:prstGeom prst="rect">
            <a:avLst/>
          </a:prstGeom>
        </p:spPr>
      </p:pic>
      <p:pic>
        <p:nvPicPr>
          <p:cNvPr id="21" name="Picture 20" descr="The image displays a bar chart comparing sequence similarity percentages within and across different sets of homolog families, with data points for both held-out and scrambled sequences.&#10;&#10;AI-generated content may be incorrect.">
            <a:extLst>
              <a:ext uri="{FF2B5EF4-FFF2-40B4-BE49-F238E27FC236}">
                <a16:creationId xmlns:a16="http://schemas.microsoft.com/office/drawing/2014/main" id="{1BF6078E-3AFE-F229-8CF4-DC5F6C770BD8}"/>
              </a:ext>
            </a:extLst>
          </p:cNvPr>
          <p:cNvPicPr>
            <a:picLocks noChangeAspect="1"/>
          </p:cNvPicPr>
          <p:nvPr/>
        </p:nvPicPr>
        <p:blipFill>
          <a:blip r:embed="rId4"/>
          <a:stretch>
            <a:fillRect/>
          </a:stretch>
        </p:blipFill>
        <p:spPr>
          <a:xfrm>
            <a:off x="4701839" y="2190344"/>
            <a:ext cx="3757908" cy="2285802"/>
          </a:xfrm>
          <a:prstGeom prst="rect">
            <a:avLst/>
          </a:prstGeom>
        </p:spPr>
      </p:pic>
      <p:sp>
        <p:nvSpPr>
          <p:cNvPr id="22" name="Text Placeholder 2">
            <a:extLst>
              <a:ext uri="{FF2B5EF4-FFF2-40B4-BE49-F238E27FC236}">
                <a16:creationId xmlns:a16="http://schemas.microsoft.com/office/drawing/2014/main" id="{EB37ECD9-A45C-FD83-7869-84D2D361D071}"/>
              </a:ext>
            </a:extLst>
          </p:cNvPr>
          <p:cNvSpPr txBox="1">
            <a:spLocks/>
          </p:cNvSpPr>
          <p:nvPr/>
        </p:nvSpPr>
        <p:spPr>
          <a:xfrm>
            <a:off x="5777718" y="1641537"/>
            <a:ext cx="1949914" cy="6915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79400" algn="l" rtl="0">
              <a:lnSpc>
                <a:spcPct val="115000"/>
              </a:lnSpc>
              <a:spcBef>
                <a:spcPts val="0"/>
              </a:spcBef>
              <a:spcAft>
                <a:spcPts val="0"/>
              </a:spcAft>
              <a:buClr>
                <a:schemeClr val="dk1"/>
              </a:buClr>
              <a:buSzPts val="800"/>
              <a:buFont typeface="Hanken Grotesk"/>
              <a:buChar char="●"/>
              <a:defRPr sz="1400" b="0" i="0" u="none" strike="noStrike" cap="none">
                <a:solidFill>
                  <a:schemeClr val="dk1"/>
                </a:solidFill>
                <a:latin typeface="Hanken Grotesk"/>
                <a:ea typeface="Hanken Grotesk"/>
                <a:cs typeface="Hanken Grotesk"/>
                <a:sym typeface="Hanken Grotesk"/>
              </a:defRPr>
            </a:lvl1pPr>
            <a:lvl2pPr marL="914400" marR="0" lvl="1"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2pPr>
            <a:lvl3pPr marL="1371600" marR="0" lvl="2"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3pPr>
            <a:lvl4pPr marL="1828800" marR="0" lvl="3"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4pPr>
            <a:lvl5pPr marL="2286000" marR="0" lvl="4"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5pPr>
            <a:lvl6pPr marL="2743200" marR="0" lvl="5"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6pPr>
            <a:lvl7pPr marL="3200400" marR="0" lvl="6"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7pPr>
            <a:lvl8pPr marL="3657600" marR="0" lvl="7"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8pPr>
            <a:lvl9pPr marL="4114800" marR="0" lvl="8"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9pPr>
          </a:lstStyle>
          <a:p>
            <a:pPr marL="0" indent="0" algn="ctr">
              <a:buFont typeface="Hanken Grotesk"/>
              <a:buNone/>
            </a:pPr>
            <a:r>
              <a:rPr lang="en-US" sz="1600" b="1" dirty="0"/>
              <a:t>Diversity</a:t>
            </a:r>
          </a:p>
        </p:txBody>
      </p:sp>
      <p:sp>
        <p:nvSpPr>
          <p:cNvPr id="24" name="Text Placeholder 2">
            <a:extLst>
              <a:ext uri="{FF2B5EF4-FFF2-40B4-BE49-F238E27FC236}">
                <a16:creationId xmlns:a16="http://schemas.microsoft.com/office/drawing/2014/main" id="{F9FFF6BB-41F5-CDAB-6300-DBB8D8936CB0}"/>
              </a:ext>
            </a:extLst>
          </p:cNvPr>
          <p:cNvSpPr txBox="1">
            <a:spLocks/>
          </p:cNvSpPr>
          <p:nvPr/>
        </p:nvSpPr>
        <p:spPr>
          <a:xfrm>
            <a:off x="608524" y="1036242"/>
            <a:ext cx="7926952" cy="509848"/>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79400" algn="l" rtl="0">
              <a:lnSpc>
                <a:spcPct val="115000"/>
              </a:lnSpc>
              <a:spcBef>
                <a:spcPts val="0"/>
              </a:spcBef>
              <a:spcAft>
                <a:spcPts val="0"/>
              </a:spcAft>
              <a:buClr>
                <a:schemeClr val="dk1"/>
              </a:buClr>
              <a:buSzPts val="800"/>
              <a:buFont typeface="Hanken Grotesk"/>
              <a:buChar char="●"/>
              <a:defRPr sz="1400" b="0" i="0" u="none" strike="noStrike" cap="none">
                <a:solidFill>
                  <a:schemeClr val="dk1"/>
                </a:solidFill>
                <a:latin typeface="Hanken Grotesk"/>
                <a:ea typeface="Hanken Grotesk"/>
                <a:cs typeface="Hanken Grotesk"/>
                <a:sym typeface="Hanken Grotesk"/>
              </a:defRPr>
            </a:lvl1pPr>
            <a:lvl2pPr marL="914400" marR="0" lvl="1"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2pPr>
            <a:lvl3pPr marL="1371600" marR="0" lvl="2"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3pPr>
            <a:lvl4pPr marL="1828800" marR="0" lvl="3"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4pPr>
            <a:lvl5pPr marL="2286000" marR="0" lvl="4"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5pPr>
            <a:lvl6pPr marL="2743200" marR="0" lvl="5"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6pPr>
            <a:lvl7pPr marL="3200400" marR="0" lvl="6"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7pPr>
            <a:lvl8pPr marL="3657600" marR="0" lvl="7"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8pPr>
            <a:lvl9pPr marL="4114800" marR="0" lvl="8"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9pPr>
          </a:lstStyle>
          <a:p>
            <a:pPr marL="0" indent="0" algn="ctr">
              <a:buFont typeface="Hanken Grotesk"/>
              <a:buNone/>
            </a:pPr>
            <a:r>
              <a:rPr lang="en-US" dirty="0"/>
              <a:t>We generated sequences for 1000 randomly selected (unseen) enhancers in the genome</a:t>
            </a:r>
          </a:p>
        </p:txBody>
      </p:sp>
    </p:spTree>
    <p:extLst>
      <p:ext uri="{BB962C8B-B14F-4D97-AF65-F5344CB8AC3E}">
        <p14:creationId xmlns:p14="http://schemas.microsoft.com/office/powerpoint/2010/main" val="1746912808"/>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4028F1-A34C-A8C6-A06C-F179F4A5A13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771E52-465E-5F80-1B8B-1AA3E5E25134}"/>
              </a:ext>
            </a:extLst>
          </p:cNvPr>
          <p:cNvSpPr>
            <a:spLocks noGrp="1"/>
          </p:cNvSpPr>
          <p:nvPr>
            <p:ph type="title"/>
          </p:nvPr>
        </p:nvSpPr>
        <p:spPr>
          <a:xfrm>
            <a:off x="720000" y="308586"/>
            <a:ext cx="7704000" cy="572700"/>
          </a:xfrm>
        </p:spPr>
        <p:txBody>
          <a:bodyPr/>
          <a:lstStyle/>
          <a:p>
            <a:pPr algn="ctr"/>
            <a:r>
              <a:rPr lang="en-US" sz="2400" dirty="0" err="1"/>
              <a:t>EnhancAR</a:t>
            </a:r>
            <a:r>
              <a:rPr lang="en-US" sz="2400" dirty="0"/>
              <a:t> maintains functional </a:t>
            </a:r>
            <a:br>
              <a:rPr lang="en-US" sz="2400" dirty="0"/>
            </a:br>
            <a:r>
              <a:rPr lang="en-US" sz="2400" dirty="0"/>
              <a:t>sequence features in its generations</a:t>
            </a:r>
          </a:p>
        </p:txBody>
      </p:sp>
      <p:sp>
        <p:nvSpPr>
          <p:cNvPr id="24" name="Text Placeholder 2">
            <a:extLst>
              <a:ext uri="{FF2B5EF4-FFF2-40B4-BE49-F238E27FC236}">
                <a16:creationId xmlns:a16="http://schemas.microsoft.com/office/drawing/2014/main" id="{875FE039-49EF-858C-64F1-C9916CED5D5F}"/>
              </a:ext>
            </a:extLst>
          </p:cNvPr>
          <p:cNvSpPr txBox="1">
            <a:spLocks/>
          </p:cNvSpPr>
          <p:nvPr/>
        </p:nvSpPr>
        <p:spPr>
          <a:xfrm>
            <a:off x="630558" y="1184969"/>
            <a:ext cx="7926952" cy="509848"/>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79400" algn="l" rtl="0">
              <a:lnSpc>
                <a:spcPct val="115000"/>
              </a:lnSpc>
              <a:spcBef>
                <a:spcPts val="0"/>
              </a:spcBef>
              <a:spcAft>
                <a:spcPts val="0"/>
              </a:spcAft>
              <a:buClr>
                <a:schemeClr val="dk1"/>
              </a:buClr>
              <a:buSzPts val="800"/>
              <a:buFont typeface="Hanken Grotesk"/>
              <a:buChar char="●"/>
              <a:defRPr sz="1400" b="0" i="0" u="none" strike="noStrike" cap="none">
                <a:solidFill>
                  <a:schemeClr val="dk1"/>
                </a:solidFill>
                <a:latin typeface="Hanken Grotesk"/>
                <a:ea typeface="Hanken Grotesk"/>
                <a:cs typeface="Hanken Grotesk"/>
                <a:sym typeface="Hanken Grotesk"/>
              </a:defRPr>
            </a:lvl1pPr>
            <a:lvl2pPr marL="914400" marR="0" lvl="1"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2pPr>
            <a:lvl3pPr marL="1371600" marR="0" lvl="2"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3pPr>
            <a:lvl4pPr marL="1828800" marR="0" lvl="3"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4pPr>
            <a:lvl5pPr marL="2286000" marR="0" lvl="4"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5pPr>
            <a:lvl6pPr marL="2743200" marR="0" lvl="5"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6pPr>
            <a:lvl7pPr marL="3200400" marR="0" lvl="6"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7pPr>
            <a:lvl8pPr marL="3657600" marR="0" lvl="7"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8pPr>
            <a:lvl9pPr marL="4114800" marR="0" lvl="8"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9pPr>
          </a:lstStyle>
          <a:p>
            <a:pPr marL="0" indent="0" algn="ctr">
              <a:buFont typeface="Hanken Grotesk"/>
              <a:buNone/>
            </a:pPr>
            <a:r>
              <a:rPr lang="en-US" dirty="0"/>
              <a:t>We generated sequences for 1000 randomly selected (unseen) enhancers in the genome</a:t>
            </a:r>
          </a:p>
        </p:txBody>
      </p:sp>
      <p:sp>
        <p:nvSpPr>
          <p:cNvPr id="6" name="Text Placeholder 2">
            <a:extLst>
              <a:ext uri="{FF2B5EF4-FFF2-40B4-BE49-F238E27FC236}">
                <a16:creationId xmlns:a16="http://schemas.microsoft.com/office/drawing/2014/main" id="{CB7AD46A-D0BD-EAB5-CAAB-3118B2512E24}"/>
              </a:ext>
            </a:extLst>
          </p:cNvPr>
          <p:cNvSpPr txBox="1">
            <a:spLocks/>
          </p:cNvSpPr>
          <p:nvPr/>
        </p:nvSpPr>
        <p:spPr>
          <a:xfrm>
            <a:off x="956093" y="1578356"/>
            <a:ext cx="3150064" cy="509848"/>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79400" algn="l" rtl="0">
              <a:lnSpc>
                <a:spcPct val="115000"/>
              </a:lnSpc>
              <a:spcBef>
                <a:spcPts val="0"/>
              </a:spcBef>
              <a:spcAft>
                <a:spcPts val="0"/>
              </a:spcAft>
              <a:buClr>
                <a:schemeClr val="dk1"/>
              </a:buClr>
              <a:buSzPts val="800"/>
              <a:buFont typeface="Hanken Grotesk"/>
              <a:buChar char="●"/>
              <a:defRPr sz="1400" b="0" i="0" u="none" strike="noStrike" cap="none">
                <a:solidFill>
                  <a:schemeClr val="dk1"/>
                </a:solidFill>
                <a:latin typeface="Hanken Grotesk"/>
                <a:ea typeface="Hanken Grotesk"/>
                <a:cs typeface="Hanken Grotesk"/>
                <a:sym typeface="Hanken Grotesk"/>
              </a:defRPr>
            </a:lvl1pPr>
            <a:lvl2pPr marL="914400" marR="0" lvl="1"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2pPr>
            <a:lvl3pPr marL="1371600" marR="0" lvl="2"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3pPr>
            <a:lvl4pPr marL="1828800" marR="0" lvl="3"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4pPr>
            <a:lvl5pPr marL="2286000" marR="0" lvl="4"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5pPr>
            <a:lvl6pPr marL="2743200" marR="0" lvl="5"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6pPr>
            <a:lvl7pPr marL="3200400" marR="0" lvl="6"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7pPr>
            <a:lvl8pPr marL="3657600" marR="0" lvl="7"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8pPr>
            <a:lvl9pPr marL="4114800" marR="0" lvl="8"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9pPr>
          </a:lstStyle>
          <a:p>
            <a:pPr marL="0" indent="0" algn="ctr">
              <a:buFont typeface="Hanken Grotesk"/>
              <a:buNone/>
            </a:pPr>
            <a:r>
              <a:rPr lang="en-US" dirty="0"/>
              <a:t>JASPAR catalogues known transcription factor binding motifs</a:t>
            </a:r>
            <a:br>
              <a:rPr lang="en-US" dirty="0"/>
            </a:br>
            <a:r>
              <a:rPr lang="en-US" dirty="0"/>
              <a:t>(879 motifs for vertebrates)</a:t>
            </a:r>
          </a:p>
        </p:txBody>
      </p:sp>
      <p:sp>
        <p:nvSpPr>
          <p:cNvPr id="8" name="TextBox 7">
            <a:extLst>
              <a:ext uri="{FF2B5EF4-FFF2-40B4-BE49-F238E27FC236}">
                <a16:creationId xmlns:a16="http://schemas.microsoft.com/office/drawing/2014/main" id="{F2F6B95B-77F8-4420-201E-1C17945C8A09}"/>
              </a:ext>
            </a:extLst>
          </p:cNvPr>
          <p:cNvSpPr txBox="1"/>
          <p:nvPr/>
        </p:nvSpPr>
        <p:spPr>
          <a:xfrm>
            <a:off x="2509091" y="2878505"/>
            <a:ext cx="5062250" cy="307777"/>
          </a:xfrm>
          <a:prstGeom prst="rect">
            <a:avLst/>
          </a:prstGeom>
          <a:noFill/>
        </p:spPr>
        <p:txBody>
          <a:bodyPr wrap="square">
            <a:spAutoFit/>
          </a:bodyPr>
          <a:lstStyle/>
          <a:p>
            <a:endParaRPr lang="en-US" dirty="0"/>
          </a:p>
        </p:txBody>
      </p:sp>
      <p:pic>
        <p:nvPicPr>
          <p:cNvPr id="10" name="Graphic 9">
            <a:extLst>
              <a:ext uri="{FF2B5EF4-FFF2-40B4-BE49-F238E27FC236}">
                <a16:creationId xmlns:a16="http://schemas.microsoft.com/office/drawing/2014/main" id="{E32B2706-232C-B05D-5CAB-0F3A86E27A6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05189" y="2563477"/>
            <a:ext cx="2225407" cy="1112704"/>
          </a:xfrm>
          <a:prstGeom prst="rect">
            <a:avLst/>
          </a:prstGeom>
        </p:spPr>
      </p:pic>
      <p:pic>
        <p:nvPicPr>
          <p:cNvPr id="14" name="Graphic 13">
            <a:extLst>
              <a:ext uri="{FF2B5EF4-FFF2-40B4-BE49-F238E27FC236}">
                <a16:creationId xmlns:a16="http://schemas.microsoft.com/office/drawing/2014/main" id="{15D98A68-8094-DE9E-F31B-82905C5524D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405186" y="3764147"/>
            <a:ext cx="2225410" cy="1112705"/>
          </a:xfrm>
          <a:prstGeom prst="rect">
            <a:avLst/>
          </a:prstGeom>
        </p:spPr>
      </p:pic>
      <p:pic>
        <p:nvPicPr>
          <p:cNvPr id="16" name="Picture 15" descr="The image displays a scatter plot comparing the correlation of average motif scores to different types of enhancer sets, showing negative correlations for motif scores and enhancer sets, and a neutral correlation for prompt enhancer sets.&#10;&#10;AI-generated content may be incorrect.">
            <a:extLst>
              <a:ext uri="{FF2B5EF4-FFF2-40B4-BE49-F238E27FC236}">
                <a16:creationId xmlns:a16="http://schemas.microsoft.com/office/drawing/2014/main" id="{C826295D-215D-A148-690D-BDEC1EA7A95F}"/>
              </a:ext>
            </a:extLst>
          </p:cNvPr>
          <p:cNvPicPr>
            <a:picLocks noChangeAspect="1"/>
          </p:cNvPicPr>
          <p:nvPr/>
        </p:nvPicPr>
        <p:blipFill>
          <a:blip r:embed="rId5"/>
          <a:srcRect t="3942" r="2134"/>
          <a:stretch>
            <a:fillRect/>
          </a:stretch>
        </p:blipFill>
        <p:spPr>
          <a:xfrm>
            <a:off x="4192434" y="1694817"/>
            <a:ext cx="3911805" cy="3203038"/>
          </a:xfrm>
          <a:prstGeom prst="rect">
            <a:avLst/>
          </a:prstGeom>
        </p:spPr>
      </p:pic>
    </p:spTree>
    <p:extLst>
      <p:ext uri="{BB962C8B-B14F-4D97-AF65-F5344CB8AC3E}">
        <p14:creationId xmlns:p14="http://schemas.microsoft.com/office/powerpoint/2010/main" val="701929103"/>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980BCD-72A5-9395-15A7-EB902CE5F8E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0B1C78-8DBE-0728-FB12-08CF300694D4}"/>
              </a:ext>
            </a:extLst>
          </p:cNvPr>
          <p:cNvSpPr>
            <a:spLocks noGrp="1"/>
          </p:cNvSpPr>
          <p:nvPr>
            <p:ph type="title"/>
          </p:nvPr>
        </p:nvSpPr>
        <p:spPr>
          <a:xfrm>
            <a:off x="719999" y="361520"/>
            <a:ext cx="7704000" cy="572700"/>
          </a:xfrm>
        </p:spPr>
        <p:txBody>
          <a:bodyPr/>
          <a:lstStyle/>
          <a:p>
            <a:pPr algn="ctr"/>
            <a:r>
              <a:rPr lang="en-US" sz="2400" dirty="0" err="1"/>
              <a:t>EnhancAR</a:t>
            </a:r>
            <a:r>
              <a:rPr lang="en-US" sz="2400" dirty="0"/>
              <a:t> can design cell-type specific enhancers</a:t>
            </a:r>
          </a:p>
        </p:txBody>
      </p:sp>
      <p:pic>
        <p:nvPicPr>
          <p:cNvPr id="9" name="Graphic 8">
            <a:extLst>
              <a:ext uri="{FF2B5EF4-FFF2-40B4-BE49-F238E27FC236}">
                <a16:creationId xmlns:a16="http://schemas.microsoft.com/office/drawing/2014/main" id="{2413B43E-861A-9BCA-9C7B-DDD72DE8CEEA}"/>
              </a:ext>
            </a:extLst>
          </p:cNvPr>
          <p:cNvPicPr>
            <a:picLocks noChangeAspect="1"/>
          </p:cNvPicPr>
          <p:nvPr/>
        </p:nvPicPr>
        <p:blipFill>
          <a:blip>
            <a:extLst>
              <a:ext uri="{96DAC541-7B7A-43D3-8B79-37D633B846F1}">
                <asvg:svgBlip xmlns:asvg="http://schemas.microsoft.com/office/drawing/2016/SVG/main" r:embed="rId3"/>
              </a:ext>
            </a:extLst>
          </a:blip>
          <a:srcRect l="3560" r="1381" b="87407"/>
          <a:stretch>
            <a:fillRect/>
          </a:stretch>
        </p:blipFill>
        <p:spPr>
          <a:xfrm>
            <a:off x="293016" y="2141653"/>
            <a:ext cx="8557966" cy="1472224"/>
          </a:xfrm>
          <a:prstGeom prst="rect">
            <a:avLst/>
          </a:prstGeom>
        </p:spPr>
      </p:pic>
    </p:spTree>
    <p:extLst>
      <p:ext uri="{BB962C8B-B14F-4D97-AF65-F5344CB8AC3E}">
        <p14:creationId xmlns:p14="http://schemas.microsoft.com/office/powerpoint/2010/main" val="2232299304"/>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2E9B80-0CD3-20C1-7793-DC589240B43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4D83F88-B53D-9F35-3867-69D707D8D1B5}"/>
              </a:ext>
            </a:extLst>
          </p:cNvPr>
          <p:cNvSpPr>
            <a:spLocks noGrp="1"/>
          </p:cNvSpPr>
          <p:nvPr>
            <p:ph type="title"/>
          </p:nvPr>
        </p:nvSpPr>
        <p:spPr>
          <a:xfrm>
            <a:off x="719999" y="361520"/>
            <a:ext cx="7704000" cy="572700"/>
          </a:xfrm>
        </p:spPr>
        <p:txBody>
          <a:bodyPr/>
          <a:lstStyle/>
          <a:p>
            <a:pPr algn="ctr"/>
            <a:r>
              <a:rPr lang="en-US" sz="2400" dirty="0" err="1"/>
              <a:t>EnhancAR</a:t>
            </a:r>
            <a:r>
              <a:rPr lang="en-US" sz="2400" dirty="0"/>
              <a:t> can design cell-type specific enhancers</a:t>
            </a:r>
          </a:p>
        </p:txBody>
      </p:sp>
      <p:pic>
        <p:nvPicPr>
          <p:cNvPr id="9" name="Graphic 8">
            <a:extLst>
              <a:ext uri="{FF2B5EF4-FFF2-40B4-BE49-F238E27FC236}">
                <a16:creationId xmlns:a16="http://schemas.microsoft.com/office/drawing/2014/main" id="{AD188810-9C65-9721-78A2-2DE80FDFBA3F}"/>
              </a:ext>
            </a:extLst>
          </p:cNvPr>
          <p:cNvPicPr>
            <a:picLocks noChangeAspect="1"/>
          </p:cNvPicPr>
          <p:nvPr/>
        </p:nvPicPr>
        <p:blipFill>
          <a:blip>
            <a:extLst>
              <a:ext uri="{96DAC541-7B7A-43D3-8B79-37D633B846F1}">
                <asvg:svgBlip xmlns:asvg="http://schemas.microsoft.com/office/drawing/2016/SVG/main" r:embed="rId3"/>
              </a:ext>
            </a:extLst>
          </a:blip>
          <a:srcRect l="3561" b="87407"/>
          <a:stretch>
            <a:fillRect/>
          </a:stretch>
        </p:blipFill>
        <p:spPr>
          <a:xfrm>
            <a:off x="1310432" y="934220"/>
            <a:ext cx="6523133" cy="1106104"/>
          </a:xfrm>
          <a:prstGeom prst="rect">
            <a:avLst/>
          </a:prstGeom>
        </p:spPr>
      </p:pic>
      <p:pic>
        <p:nvPicPr>
          <p:cNvPr id="3" name="Graphic 2">
            <a:extLst>
              <a:ext uri="{FF2B5EF4-FFF2-40B4-BE49-F238E27FC236}">
                <a16:creationId xmlns:a16="http://schemas.microsoft.com/office/drawing/2014/main" id="{E0B83332-6D1B-E215-4599-C79B86120F0D}"/>
              </a:ext>
            </a:extLst>
          </p:cNvPr>
          <p:cNvPicPr>
            <a:picLocks noChangeAspect="1"/>
          </p:cNvPicPr>
          <p:nvPr/>
        </p:nvPicPr>
        <p:blipFill>
          <a:blip>
            <a:extLst>
              <a:ext uri="{96DAC541-7B7A-43D3-8B79-37D633B846F1}">
                <asvg:svgBlip xmlns:asvg="http://schemas.microsoft.com/office/drawing/2016/SVG/main" r:embed="rId3"/>
              </a:ext>
            </a:extLst>
          </a:blip>
          <a:srcRect l="3561" t="12943" b="63038"/>
          <a:stretch>
            <a:fillRect/>
          </a:stretch>
        </p:blipFill>
        <p:spPr>
          <a:xfrm>
            <a:off x="406735" y="2087697"/>
            <a:ext cx="8330525" cy="2694283"/>
          </a:xfrm>
          <a:prstGeom prst="rect">
            <a:avLst/>
          </a:prstGeom>
        </p:spPr>
      </p:pic>
    </p:spTree>
    <p:extLst>
      <p:ext uri="{BB962C8B-B14F-4D97-AF65-F5344CB8AC3E}">
        <p14:creationId xmlns:p14="http://schemas.microsoft.com/office/powerpoint/2010/main" val="4096674536"/>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C6695A-F429-CA43-6260-960BE1B65668}"/>
            </a:ext>
          </a:extLst>
        </p:cNvPr>
        <p:cNvGrpSpPr/>
        <p:nvPr/>
      </p:nvGrpSpPr>
      <p:grpSpPr>
        <a:xfrm>
          <a:off x="0" y="0"/>
          <a:ext cx="0" cy="0"/>
          <a:chOff x="0" y="0"/>
          <a:chExt cx="0" cy="0"/>
        </a:xfrm>
      </p:grpSpPr>
      <p:sp>
        <p:nvSpPr>
          <p:cNvPr id="16" name="Title 1">
            <a:extLst>
              <a:ext uri="{FF2B5EF4-FFF2-40B4-BE49-F238E27FC236}">
                <a16:creationId xmlns:a16="http://schemas.microsoft.com/office/drawing/2014/main" id="{4AB291EC-E32E-D447-8FBD-A77D142864F4}"/>
              </a:ext>
            </a:extLst>
          </p:cNvPr>
          <p:cNvSpPr>
            <a:spLocks noGrp="1"/>
          </p:cNvSpPr>
          <p:nvPr>
            <p:ph type="title"/>
          </p:nvPr>
        </p:nvSpPr>
        <p:spPr>
          <a:xfrm>
            <a:off x="719999" y="523239"/>
            <a:ext cx="7704000" cy="572700"/>
          </a:xfrm>
        </p:spPr>
        <p:txBody>
          <a:bodyPr/>
          <a:lstStyle/>
          <a:p>
            <a:pPr algn="ctr"/>
            <a:r>
              <a:rPr lang="en-US" sz="2400" dirty="0" err="1"/>
              <a:t>EnhancAR</a:t>
            </a:r>
            <a:r>
              <a:rPr lang="en-US" sz="2400" dirty="0"/>
              <a:t>: Key Takeaways</a:t>
            </a:r>
          </a:p>
        </p:txBody>
      </p:sp>
      <p:sp>
        <p:nvSpPr>
          <p:cNvPr id="15" name="Text Placeholder 2">
            <a:extLst>
              <a:ext uri="{FF2B5EF4-FFF2-40B4-BE49-F238E27FC236}">
                <a16:creationId xmlns:a16="http://schemas.microsoft.com/office/drawing/2014/main" id="{B545EFC7-AC2E-674B-D5A9-88C17D3987B5}"/>
              </a:ext>
            </a:extLst>
          </p:cNvPr>
          <p:cNvSpPr txBox="1">
            <a:spLocks/>
          </p:cNvSpPr>
          <p:nvPr/>
        </p:nvSpPr>
        <p:spPr>
          <a:xfrm>
            <a:off x="4572000" y="1343851"/>
            <a:ext cx="3364320" cy="2915018"/>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79400" algn="l" rtl="0">
              <a:lnSpc>
                <a:spcPct val="115000"/>
              </a:lnSpc>
              <a:spcBef>
                <a:spcPts val="0"/>
              </a:spcBef>
              <a:spcAft>
                <a:spcPts val="0"/>
              </a:spcAft>
              <a:buClr>
                <a:schemeClr val="dk1"/>
              </a:buClr>
              <a:buSzPts val="800"/>
              <a:buFont typeface="Hanken Grotesk"/>
              <a:buChar char="●"/>
              <a:defRPr sz="1400" b="0" i="0" u="none" strike="noStrike" cap="none">
                <a:solidFill>
                  <a:schemeClr val="dk1"/>
                </a:solidFill>
                <a:latin typeface="Hanken Grotesk"/>
                <a:ea typeface="Hanken Grotesk"/>
                <a:cs typeface="Hanken Grotesk"/>
                <a:sym typeface="Hanken Grotesk"/>
              </a:defRPr>
            </a:lvl1pPr>
            <a:lvl2pPr marL="914400" marR="0" lvl="1"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2pPr>
            <a:lvl3pPr marL="1371600" marR="0" lvl="2"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3pPr>
            <a:lvl4pPr marL="1828800" marR="0" lvl="3"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4pPr>
            <a:lvl5pPr marL="2286000" marR="0" lvl="4"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5pPr>
            <a:lvl6pPr marL="2743200" marR="0" lvl="5"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6pPr>
            <a:lvl7pPr marL="3200400" marR="0" lvl="6"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7pPr>
            <a:lvl8pPr marL="3657600" marR="0" lvl="7"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8pPr>
            <a:lvl9pPr marL="4114800" marR="0" lvl="8"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9pPr>
          </a:lstStyle>
          <a:p>
            <a:pPr marL="177800" indent="0" algn="ctr">
              <a:buFont typeface="Hanken Grotesk"/>
              <a:buNone/>
            </a:pPr>
            <a:r>
              <a:rPr lang="en-US" b="1" dirty="0" err="1"/>
              <a:t>EnhancAR</a:t>
            </a:r>
            <a:br>
              <a:rPr lang="en-US" dirty="0"/>
            </a:br>
            <a:r>
              <a:rPr lang="en-US" dirty="0"/>
              <a:t>Can we use evolution to steer generative models of enhancers?</a:t>
            </a:r>
          </a:p>
        </p:txBody>
      </p:sp>
      <p:pic>
        <p:nvPicPr>
          <p:cNvPr id="18" name="Picture 17" descr="The image depicts a genetic sequence diagram with labels for an ARM gene, including a nucleotide sequence with 'C' for cytosine, 'G' for guanine, and 'A' and 'T' for adenine and thymine respectively.&#10;&#10;AI-generated content may be incorrect.">
            <a:extLst>
              <a:ext uri="{FF2B5EF4-FFF2-40B4-BE49-F238E27FC236}">
                <a16:creationId xmlns:a16="http://schemas.microsoft.com/office/drawing/2014/main" id="{F7510430-9F95-B71B-FBF4-DD8365A1D71B}"/>
              </a:ext>
            </a:extLst>
          </p:cNvPr>
          <p:cNvPicPr>
            <a:picLocks noChangeAspect="1"/>
          </p:cNvPicPr>
          <p:nvPr/>
        </p:nvPicPr>
        <p:blipFill>
          <a:blip r:embed="rId3"/>
          <a:srcRect t="19437" r="49412" b="36751"/>
          <a:stretch>
            <a:fillRect/>
          </a:stretch>
        </p:blipFill>
        <p:spPr>
          <a:xfrm>
            <a:off x="5235442" y="3257795"/>
            <a:ext cx="737814" cy="538391"/>
          </a:xfrm>
          <a:prstGeom prst="rect">
            <a:avLst/>
          </a:prstGeom>
        </p:spPr>
      </p:pic>
      <p:sp>
        <p:nvSpPr>
          <p:cNvPr id="22" name="Rectangle 21">
            <a:extLst>
              <a:ext uri="{FF2B5EF4-FFF2-40B4-BE49-F238E27FC236}">
                <a16:creationId xmlns:a16="http://schemas.microsoft.com/office/drawing/2014/main" id="{4E50427F-95D1-DCA6-CDEA-D4CE7D360BD7}"/>
              </a:ext>
            </a:extLst>
          </p:cNvPr>
          <p:cNvSpPr/>
          <p:nvPr/>
        </p:nvSpPr>
        <p:spPr>
          <a:xfrm>
            <a:off x="5235442" y="2975558"/>
            <a:ext cx="2190694" cy="100707"/>
          </a:xfrm>
          <a:prstGeom prst="rect">
            <a:avLst/>
          </a:prstGeom>
          <a:solidFill>
            <a:srgbClr val="71DAFF"/>
          </a:solidFill>
          <a:ln>
            <a:solidFill>
              <a:srgbClr val="71DA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7D9B61DF-53CA-6F11-28F4-53C0BA3A05D0}"/>
              </a:ext>
            </a:extLst>
          </p:cNvPr>
          <p:cNvSpPr/>
          <p:nvPr/>
        </p:nvSpPr>
        <p:spPr>
          <a:xfrm>
            <a:off x="5521098" y="2975558"/>
            <a:ext cx="1466125" cy="100707"/>
          </a:xfrm>
          <a:prstGeom prst="rect">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FA8D5630-BDC0-4863-41ED-65FCBAEFBA2C}"/>
              </a:ext>
            </a:extLst>
          </p:cNvPr>
          <p:cNvSpPr/>
          <p:nvPr/>
        </p:nvSpPr>
        <p:spPr>
          <a:xfrm>
            <a:off x="5235442" y="2712868"/>
            <a:ext cx="2190694" cy="100707"/>
          </a:xfrm>
          <a:prstGeom prst="rect">
            <a:avLst/>
          </a:prstGeom>
          <a:solidFill>
            <a:srgbClr val="71DAFF"/>
          </a:solidFill>
          <a:ln>
            <a:solidFill>
              <a:srgbClr val="71DA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6E4BD53B-8B70-0E89-C2B8-692BEBABC191}"/>
              </a:ext>
            </a:extLst>
          </p:cNvPr>
          <p:cNvSpPr/>
          <p:nvPr/>
        </p:nvSpPr>
        <p:spPr>
          <a:xfrm>
            <a:off x="5521098" y="2712868"/>
            <a:ext cx="1466125" cy="100707"/>
          </a:xfrm>
          <a:prstGeom prst="rect">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4F29CCF7-23BA-8394-CD31-26E6D76EEA62}"/>
              </a:ext>
            </a:extLst>
          </p:cNvPr>
          <p:cNvSpPr/>
          <p:nvPr/>
        </p:nvSpPr>
        <p:spPr>
          <a:xfrm>
            <a:off x="5235442" y="2471043"/>
            <a:ext cx="2190694" cy="100707"/>
          </a:xfrm>
          <a:prstGeom prst="rect">
            <a:avLst/>
          </a:prstGeom>
          <a:solidFill>
            <a:srgbClr val="71DAFF"/>
          </a:solidFill>
          <a:ln>
            <a:solidFill>
              <a:srgbClr val="71DA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14DAD7A0-7A16-12FE-7542-EA7539153486}"/>
              </a:ext>
            </a:extLst>
          </p:cNvPr>
          <p:cNvSpPr/>
          <p:nvPr/>
        </p:nvSpPr>
        <p:spPr>
          <a:xfrm>
            <a:off x="5521098" y="2471043"/>
            <a:ext cx="1466125" cy="100707"/>
          </a:xfrm>
          <a:prstGeom prst="rect">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1" name="Picture 30" descr="Logo">
            <a:extLst>
              <a:ext uri="{FF2B5EF4-FFF2-40B4-BE49-F238E27FC236}">
                <a16:creationId xmlns:a16="http://schemas.microsoft.com/office/drawing/2014/main" id="{5A40C6D0-6D26-BF6C-A2FA-622F9B9B004E}"/>
              </a:ext>
            </a:extLst>
          </p:cNvPr>
          <p:cNvPicPr>
            <a:picLocks noChangeAspect="1"/>
          </p:cNvPicPr>
          <p:nvPr/>
        </p:nvPicPr>
        <p:blipFill>
          <a:blip r:embed="rId4"/>
          <a:stretch>
            <a:fillRect/>
          </a:stretch>
        </p:blipFill>
        <p:spPr>
          <a:xfrm>
            <a:off x="7613439" y="2801360"/>
            <a:ext cx="986323" cy="986323"/>
          </a:xfrm>
          <a:prstGeom prst="ellipse">
            <a:avLst/>
          </a:prstGeom>
        </p:spPr>
      </p:pic>
      <p:sp>
        <p:nvSpPr>
          <p:cNvPr id="32" name="Text Placeholder 2">
            <a:extLst>
              <a:ext uri="{FF2B5EF4-FFF2-40B4-BE49-F238E27FC236}">
                <a16:creationId xmlns:a16="http://schemas.microsoft.com/office/drawing/2014/main" id="{AEC15766-86EC-16C9-C533-18733FB27DCE}"/>
              </a:ext>
            </a:extLst>
          </p:cNvPr>
          <p:cNvSpPr txBox="1">
            <a:spLocks/>
          </p:cNvSpPr>
          <p:nvPr/>
        </p:nvSpPr>
        <p:spPr>
          <a:xfrm>
            <a:off x="7527751" y="3787683"/>
            <a:ext cx="1157697" cy="63954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79400" algn="l" rtl="0">
              <a:lnSpc>
                <a:spcPct val="115000"/>
              </a:lnSpc>
              <a:spcBef>
                <a:spcPts val="0"/>
              </a:spcBef>
              <a:spcAft>
                <a:spcPts val="0"/>
              </a:spcAft>
              <a:buClr>
                <a:schemeClr val="dk1"/>
              </a:buClr>
              <a:buSzPts val="800"/>
              <a:buFont typeface="Hanken Grotesk"/>
              <a:buChar char="●"/>
              <a:defRPr sz="1400" b="0" i="0" u="none" strike="noStrike" cap="none">
                <a:solidFill>
                  <a:schemeClr val="dk1"/>
                </a:solidFill>
                <a:latin typeface="Hanken Grotesk"/>
                <a:ea typeface="Hanken Grotesk"/>
                <a:cs typeface="Hanken Grotesk"/>
                <a:sym typeface="Hanken Grotesk"/>
              </a:defRPr>
            </a:lvl1pPr>
            <a:lvl2pPr marL="914400" marR="0" lvl="1"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2pPr>
            <a:lvl3pPr marL="1371600" marR="0" lvl="2"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3pPr>
            <a:lvl4pPr marL="1828800" marR="0" lvl="3"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4pPr>
            <a:lvl5pPr marL="2286000" marR="0" lvl="4"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5pPr>
            <a:lvl6pPr marL="2743200" marR="0" lvl="5"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6pPr>
            <a:lvl7pPr marL="3200400" marR="0" lvl="6"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7pPr>
            <a:lvl8pPr marL="3657600" marR="0" lvl="7"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8pPr>
            <a:lvl9pPr marL="4114800" marR="0" lvl="8"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9pPr>
          </a:lstStyle>
          <a:p>
            <a:pPr marL="0" indent="0" algn="ctr">
              <a:buFont typeface="Hanken Grotesk"/>
              <a:buNone/>
            </a:pPr>
            <a:r>
              <a:rPr lang="en-US" b="1" dirty="0"/>
              <a:t>Andrew </a:t>
            </a:r>
            <a:br>
              <a:rPr lang="en-US" b="1" dirty="0"/>
            </a:br>
            <a:r>
              <a:rPr lang="en-US" b="1" dirty="0"/>
              <a:t>Duncan</a:t>
            </a:r>
            <a:endParaRPr lang="en-US" dirty="0"/>
          </a:p>
        </p:txBody>
      </p:sp>
      <p:sp>
        <p:nvSpPr>
          <p:cNvPr id="2" name="Text Placeholder 2">
            <a:extLst>
              <a:ext uri="{FF2B5EF4-FFF2-40B4-BE49-F238E27FC236}">
                <a16:creationId xmlns:a16="http://schemas.microsoft.com/office/drawing/2014/main" id="{4D9E9A12-6115-B4DD-D6EF-48E53A1B10D1}"/>
              </a:ext>
            </a:extLst>
          </p:cNvPr>
          <p:cNvSpPr txBox="1">
            <a:spLocks/>
          </p:cNvSpPr>
          <p:nvPr/>
        </p:nvSpPr>
        <p:spPr>
          <a:xfrm>
            <a:off x="719999" y="1273847"/>
            <a:ext cx="3766315" cy="259580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79400" algn="l" rtl="0">
              <a:lnSpc>
                <a:spcPct val="115000"/>
              </a:lnSpc>
              <a:spcBef>
                <a:spcPts val="0"/>
              </a:spcBef>
              <a:spcAft>
                <a:spcPts val="0"/>
              </a:spcAft>
              <a:buClr>
                <a:schemeClr val="dk1"/>
              </a:buClr>
              <a:buSzPts val="800"/>
              <a:buFont typeface="Hanken Grotesk"/>
              <a:buChar char="●"/>
              <a:defRPr sz="1400" b="0" i="0" u="none" strike="noStrike" cap="none">
                <a:solidFill>
                  <a:schemeClr val="dk1"/>
                </a:solidFill>
                <a:latin typeface="Hanken Grotesk"/>
                <a:ea typeface="Hanken Grotesk"/>
                <a:cs typeface="Hanken Grotesk"/>
                <a:sym typeface="Hanken Grotesk"/>
              </a:defRPr>
            </a:lvl1pPr>
            <a:lvl2pPr marL="914400" marR="0" lvl="1"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2pPr>
            <a:lvl3pPr marL="1371600" marR="0" lvl="2"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3pPr>
            <a:lvl4pPr marL="1828800" marR="0" lvl="3"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4pPr>
            <a:lvl5pPr marL="2286000" marR="0" lvl="4"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5pPr>
            <a:lvl6pPr marL="2743200" marR="0" lvl="5"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6pPr>
            <a:lvl7pPr marL="3200400" marR="0" lvl="6"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7pPr>
            <a:lvl8pPr marL="3657600" marR="0" lvl="7"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8pPr>
            <a:lvl9pPr marL="4114800" marR="0" lvl="8"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9pPr>
          </a:lstStyle>
          <a:p>
            <a:pPr marL="285750" indent="-285750"/>
            <a:r>
              <a:rPr lang="en-US" dirty="0"/>
              <a:t>Using evolutionary homology to prompt generation enables design</a:t>
            </a:r>
          </a:p>
          <a:p>
            <a:pPr marL="0" indent="0">
              <a:buNone/>
            </a:pPr>
            <a:endParaRPr lang="en-US" dirty="0"/>
          </a:p>
          <a:p>
            <a:pPr marL="285750" indent="-285750"/>
            <a:r>
              <a:rPr lang="en-US" dirty="0" err="1"/>
              <a:t>EnhancAR</a:t>
            </a:r>
            <a:r>
              <a:rPr lang="en-US" dirty="0"/>
              <a:t> can design cell-type specific enhancers cell-type information at training or inference time</a:t>
            </a:r>
          </a:p>
          <a:p>
            <a:pPr marL="285750" indent="-285750"/>
            <a:endParaRPr lang="en-US" dirty="0"/>
          </a:p>
          <a:p>
            <a:pPr marL="285750" indent="-285750"/>
            <a:r>
              <a:rPr lang="en-US" dirty="0"/>
              <a:t>Design through homology may not </a:t>
            </a:r>
            <a:r>
              <a:rPr lang="en-US" i="1" dirty="0"/>
              <a:t>optimize</a:t>
            </a:r>
            <a:r>
              <a:rPr lang="en-US" dirty="0"/>
              <a:t> activity</a:t>
            </a:r>
            <a:br>
              <a:rPr lang="en-US" dirty="0"/>
            </a:br>
            <a:endParaRPr lang="en-US" dirty="0"/>
          </a:p>
          <a:p>
            <a:pPr marL="285750" indent="-285750"/>
            <a:endParaRPr lang="en-US" dirty="0"/>
          </a:p>
        </p:txBody>
      </p:sp>
      <p:sp>
        <p:nvSpPr>
          <p:cNvPr id="8" name="TextBox 7">
            <a:extLst>
              <a:ext uri="{FF2B5EF4-FFF2-40B4-BE49-F238E27FC236}">
                <a16:creationId xmlns:a16="http://schemas.microsoft.com/office/drawing/2014/main" id="{CC7166C1-0120-E756-99BE-8BEABE2A52E0}"/>
              </a:ext>
            </a:extLst>
          </p:cNvPr>
          <p:cNvSpPr txBox="1"/>
          <p:nvPr/>
        </p:nvSpPr>
        <p:spPr>
          <a:xfrm>
            <a:off x="2562675" y="3880728"/>
            <a:ext cx="1658250" cy="830997"/>
          </a:xfrm>
          <a:prstGeom prst="rect">
            <a:avLst/>
          </a:prstGeom>
          <a:noFill/>
        </p:spPr>
        <p:txBody>
          <a:bodyPr wrap="square" rtlCol="0">
            <a:spAutoFit/>
          </a:bodyPr>
          <a:lstStyle/>
          <a:p>
            <a:pPr algn="ctr"/>
            <a:r>
              <a:rPr lang="en-US" sz="2400" b="1" dirty="0">
                <a:solidFill>
                  <a:srgbClr val="C00000"/>
                </a:solidFill>
                <a:latin typeface="Bradley Hand ITC" panose="03070402050302030203" pitchFamily="66" charset="0"/>
                <a:sym typeface="Wingdings" panose="05000000000000000000" pitchFamily="2" charset="2"/>
              </a:rPr>
              <a:t>Read our preprint</a:t>
            </a:r>
            <a:endParaRPr lang="en-US" sz="2400" b="1" dirty="0">
              <a:solidFill>
                <a:srgbClr val="C00000"/>
              </a:solidFill>
              <a:latin typeface="Bradley Hand ITC" panose="03070402050302030203" pitchFamily="66" charset="0"/>
            </a:endParaRPr>
          </a:p>
        </p:txBody>
      </p:sp>
      <p:cxnSp>
        <p:nvCxnSpPr>
          <p:cNvPr id="9" name="Straight Arrow Connector 8">
            <a:extLst>
              <a:ext uri="{FF2B5EF4-FFF2-40B4-BE49-F238E27FC236}">
                <a16:creationId xmlns:a16="http://schemas.microsoft.com/office/drawing/2014/main" id="{25213E8A-A31E-E162-877A-87FC9B776783}"/>
              </a:ext>
            </a:extLst>
          </p:cNvPr>
          <p:cNvCxnSpPr>
            <a:cxnSpLocks/>
          </p:cNvCxnSpPr>
          <p:nvPr/>
        </p:nvCxnSpPr>
        <p:spPr>
          <a:xfrm flipH="1" flipV="1">
            <a:off x="2278650" y="4258868"/>
            <a:ext cx="329923" cy="2"/>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pic>
        <p:nvPicPr>
          <p:cNvPr id="11" name="Picture 10">
            <a:extLst>
              <a:ext uri="{FF2B5EF4-FFF2-40B4-BE49-F238E27FC236}">
                <a16:creationId xmlns:a16="http://schemas.microsoft.com/office/drawing/2014/main" id="{3C75EF46-D006-BB13-6CC1-8BBDD8C8ABC4}"/>
              </a:ext>
            </a:extLst>
          </p:cNvPr>
          <p:cNvPicPr>
            <a:picLocks noChangeAspect="1"/>
          </p:cNvPicPr>
          <p:nvPr/>
        </p:nvPicPr>
        <p:blipFill>
          <a:blip r:embed="rId5"/>
          <a:stretch>
            <a:fillRect/>
          </a:stretch>
        </p:blipFill>
        <p:spPr>
          <a:xfrm>
            <a:off x="1005061" y="3664916"/>
            <a:ext cx="1187903" cy="1187903"/>
          </a:xfrm>
          <a:prstGeom prst="rect">
            <a:avLst/>
          </a:prstGeom>
        </p:spPr>
      </p:pic>
    </p:spTree>
    <p:extLst>
      <p:ext uri="{BB962C8B-B14F-4D97-AF65-F5344CB8AC3E}">
        <p14:creationId xmlns:p14="http://schemas.microsoft.com/office/powerpoint/2010/main" val="1850667830"/>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515568-277B-9A18-50AB-B4C206D67D47}"/>
              </a:ext>
            </a:extLst>
          </p:cNvPr>
          <p:cNvSpPr>
            <a:spLocks noGrp="1"/>
          </p:cNvSpPr>
          <p:nvPr>
            <p:ph type="title"/>
          </p:nvPr>
        </p:nvSpPr>
        <p:spPr/>
        <p:txBody>
          <a:bodyPr/>
          <a:lstStyle/>
          <a:p>
            <a:pPr algn="ctr"/>
            <a:r>
              <a:rPr lang="en-US" sz="2400" dirty="0"/>
              <a:t>Evolution improves generative genomic models</a:t>
            </a:r>
          </a:p>
        </p:txBody>
      </p:sp>
      <p:sp>
        <p:nvSpPr>
          <p:cNvPr id="3" name="Text Placeholder 2">
            <a:extLst>
              <a:ext uri="{FF2B5EF4-FFF2-40B4-BE49-F238E27FC236}">
                <a16:creationId xmlns:a16="http://schemas.microsoft.com/office/drawing/2014/main" id="{D144D593-6365-CD13-63E6-B7736F62DADD}"/>
              </a:ext>
            </a:extLst>
          </p:cNvPr>
          <p:cNvSpPr>
            <a:spLocks noGrp="1"/>
          </p:cNvSpPr>
          <p:nvPr>
            <p:ph type="body" idx="1"/>
          </p:nvPr>
        </p:nvSpPr>
        <p:spPr>
          <a:xfrm>
            <a:off x="599617" y="1221259"/>
            <a:ext cx="7944766" cy="3233100"/>
          </a:xfrm>
        </p:spPr>
        <p:txBody>
          <a:bodyPr/>
          <a:lstStyle/>
          <a:p>
            <a:r>
              <a:rPr lang="en-US" dirty="0"/>
              <a:t>Predicting rate of evolution leads to improved latent understanding of genomic sequences</a:t>
            </a:r>
          </a:p>
          <a:p>
            <a:r>
              <a:rPr lang="en-US" dirty="0"/>
              <a:t>Using homologs to prompt generative models reaches new design spaces for enhancers</a:t>
            </a:r>
          </a:p>
        </p:txBody>
      </p:sp>
    </p:spTree>
    <p:extLst>
      <p:ext uri="{BB962C8B-B14F-4D97-AF65-F5344CB8AC3E}">
        <p14:creationId xmlns:p14="http://schemas.microsoft.com/office/powerpoint/2010/main" val="2913422471"/>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522D7C-7701-7584-BEC8-9A80BA55203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36E30B4-1B7B-C53E-7FA9-AC4CD3D2670C}"/>
              </a:ext>
            </a:extLst>
          </p:cNvPr>
          <p:cNvSpPr>
            <a:spLocks noGrp="1"/>
          </p:cNvSpPr>
          <p:nvPr>
            <p:ph type="title"/>
          </p:nvPr>
        </p:nvSpPr>
        <p:spPr/>
        <p:txBody>
          <a:bodyPr/>
          <a:lstStyle/>
          <a:p>
            <a:pPr algn="ctr"/>
            <a:r>
              <a:rPr lang="en-US" sz="2400" dirty="0"/>
              <a:t>Evolution improves generative genomic models</a:t>
            </a:r>
          </a:p>
        </p:txBody>
      </p:sp>
      <p:sp>
        <p:nvSpPr>
          <p:cNvPr id="3" name="Text Placeholder 2">
            <a:extLst>
              <a:ext uri="{FF2B5EF4-FFF2-40B4-BE49-F238E27FC236}">
                <a16:creationId xmlns:a16="http://schemas.microsoft.com/office/drawing/2014/main" id="{58E78A9B-43DF-5040-92ED-4490E40AA25E}"/>
              </a:ext>
            </a:extLst>
          </p:cNvPr>
          <p:cNvSpPr>
            <a:spLocks noGrp="1"/>
          </p:cNvSpPr>
          <p:nvPr>
            <p:ph type="body" idx="1"/>
          </p:nvPr>
        </p:nvSpPr>
        <p:spPr>
          <a:xfrm>
            <a:off x="599617" y="1221259"/>
            <a:ext cx="7944766" cy="767286"/>
          </a:xfrm>
        </p:spPr>
        <p:txBody>
          <a:bodyPr/>
          <a:lstStyle/>
          <a:p>
            <a:r>
              <a:rPr lang="en-US" dirty="0"/>
              <a:t>Predicting rate of evolution leads to improved latent understanding of genomic sequences</a:t>
            </a:r>
          </a:p>
          <a:p>
            <a:r>
              <a:rPr lang="en-US" dirty="0"/>
              <a:t>Using homologs to prompt generative models reaches new design spaces for enhancers</a:t>
            </a:r>
          </a:p>
        </p:txBody>
      </p:sp>
      <p:sp>
        <p:nvSpPr>
          <p:cNvPr id="4" name="Text Placeholder 2">
            <a:extLst>
              <a:ext uri="{FF2B5EF4-FFF2-40B4-BE49-F238E27FC236}">
                <a16:creationId xmlns:a16="http://schemas.microsoft.com/office/drawing/2014/main" id="{15596AC7-67D6-A628-72E3-A52D6D1C07CB}"/>
              </a:ext>
            </a:extLst>
          </p:cNvPr>
          <p:cNvSpPr txBox="1">
            <a:spLocks/>
          </p:cNvSpPr>
          <p:nvPr/>
        </p:nvSpPr>
        <p:spPr>
          <a:xfrm>
            <a:off x="599617" y="2249500"/>
            <a:ext cx="7944766" cy="76728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79400" algn="l" rtl="0">
              <a:lnSpc>
                <a:spcPct val="115000"/>
              </a:lnSpc>
              <a:spcBef>
                <a:spcPts val="0"/>
              </a:spcBef>
              <a:spcAft>
                <a:spcPts val="0"/>
              </a:spcAft>
              <a:buClr>
                <a:schemeClr val="dk1"/>
              </a:buClr>
              <a:buSzPts val="800"/>
              <a:buFont typeface="Hanken Grotesk"/>
              <a:buChar char="●"/>
              <a:defRPr sz="1400" b="0" i="0" u="none" strike="noStrike" cap="none">
                <a:solidFill>
                  <a:schemeClr val="dk1"/>
                </a:solidFill>
                <a:latin typeface="Hanken Grotesk"/>
                <a:ea typeface="Hanken Grotesk"/>
                <a:cs typeface="Hanken Grotesk"/>
                <a:sym typeface="Hanken Grotesk"/>
              </a:defRPr>
            </a:lvl1pPr>
            <a:lvl2pPr marL="914400" marR="0" lvl="1"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2pPr>
            <a:lvl3pPr marL="1371600" marR="0" lvl="2"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3pPr>
            <a:lvl4pPr marL="1828800" marR="0" lvl="3"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4pPr>
            <a:lvl5pPr marL="2286000" marR="0" lvl="4"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5pPr>
            <a:lvl6pPr marL="2743200" marR="0" lvl="5"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6pPr>
            <a:lvl7pPr marL="3200400" marR="0" lvl="6"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7pPr>
            <a:lvl8pPr marL="3657600" marR="0" lvl="7"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8pPr>
            <a:lvl9pPr marL="4114800" marR="0" lvl="8"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9pPr>
          </a:lstStyle>
          <a:p>
            <a:pPr marL="177800" indent="0" algn="ctr">
              <a:buNone/>
            </a:pPr>
            <a:r>
              <a:rPr lang="en-US" sz="1600" dirty="0"/>
              <a:t>These are not new insights! </a:t>
            </a:r>
            <a:br>
              <a:rPr lang="en-US" sz="1600" dirty="0"/>
            </a:br>
            <a:r>
              <a:rPr lang="en-US" sz="1600" dirty="0"/>
              <a:t>Bioinformaticians have used evolution for decades!</a:t>
            </a:r>
          </a:p>
        </p:txBody>
      </p:sp>
    </p:spTree>
    <p:extLst>
      <p:ext uri="{BB962C8B-B14F-4D97-AF65-F5344CB8AC3E}">
        <p14:creationId xmlns:p14="http://schemas.microsoft.com/office/powerpoint/2010/main" val="3755432601"/>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CD6052-95BD-8655-9447-9DE8A090F5D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18EAA3-CEE0-FFAF-6821-32D964940CD5}"/>
              </a:ext>
            </a:extLst>
          </p:cNvPr>
          <p:cNvSpPr>
            <a:spLocks noGrp="1"/>
          </p:cNvSpPr>
          <p:nvPr>
            <p:ph type="title"/>
          </p:nvPr>
        </p:nvSpPr>
        <p:spPr/>
        <p:txBody>
          <a:bodyPr/>
          <a:lstStyle/>
          <a:p>
            <a:pPr algn="ctr"/>
            <a:r>
              <a:rPr lang="en-US" sz="2400" dirty="0"/>
              <a:t>Evolution improves generative genomic models</a:t>
            </a:r>
          </a:p>
        </p:txBody>
      </p:sp>
      <p:sp>
        <p:nvSpPr>
          <p:cNvPr id="3" name="Text Placeholder 2">
            <a:extLst>
              <a:ext uri="{FF2B5EF4-FFF2-40B4-BE49-F238E27FC236}">
                <a16:creationId xmlns:a16="http://schemas.microsoft.com/office/drawing/2014/main" id="{448BBAD4-FBC8-643F-FFF1-7FCCC747F3EF}"/>
              </a:ext>
            </a:extLst>
          </p:cNvPr>
          <p:cNvSpPr>
            <a:spLocks noGrp="1"/>
          </p:cNvSpPr>
          <p:nvPr>
            <p:ph type="body" idx="1"/>
          </p:nvPr>
        </p:nvSpPr>
        <p:spPr>
          <a:xfrm>
            <a:off x="599617" y="1221259"/>
            <a:ext cx="7944766" cy="767286"/>
          </a:xfrm>
        </p:spPr>
        <p:txBody>
          <a:bodyPr/>
          <a:lstStyle/>
          <a:p>
            <a:r>
              <a:rPr lang="en-US" dirty="0"/>
              <a:t>Predicting rate of evolution leads to improved latent understanding of genomic sequences</a:t>
            </a:r>
          </a:p>
          <a:p>
            <a:r>
              <a:rPr lang="en-US" dirty="0"/>
              <a:t>Using homologs to prompt generative models reaches new design spaces for enhancers</a:t>
            </a:r>
          </a:p>
        </p:txBody>
      </p:sp>
      <p:sp>
        <p:nvSpPr>
          <p:cNvPr id="4" name="Text Placeholder 2">
            <a:extLst>
              <a:ext uri="{FF2B5EF4-FFF2-40B4-BE49-F238E27FC236}">
                <a16:creationId xmlns:a16="http://schemas.microsoft.com/office/drawing/2014/main" id="{EE1C1680-690A-B2F4-9B00-1BE86326B6D7}"/>
              </a:ext>
            </a:extLst>
          </p:cNvPr>
          <p:cNvSpPr txBox="1">
            <a:spLocks/>
          </p:cNvSpPr>
          <p:nvPr/>
        </p:nvSpPr>
        <p:spPr>
          <a:xfrm>
            <a:off x="599617" y="2249500"/>
            <a:ext cx="7944766" cy="76728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79400" algn="l" rtl="0">
              <a:lnSpc>
                <a:spcPct val="115000"/>
              </a:lnSpc>
              <a:spcBef>
                <a:spcPts val="0"/>
              </a:spcBef>
              <a:spcAft>
                <a:spcPts val="0"/>
              </a:spcAft>
              <a:buClr>
                <a:schemeClr val="dk1"/>
              </a:buClr>
              <a:buSzPts val="800"/>
              <a:buFont typeface="Hanken Grotesk"/>
              <a:buChar char="●"/>
              <a:defRPr sz="1400" b="0" i="0" u="none" strike="noStrike" cap="none">
                <a:solidFill>
                  <a:schemeClr val="dk1"/>
                </a:solidFill>
                <a:latin typeface="Hanken Grotesk"/>
                <a:ea typeface="Hanken Grotesk"/>
                <a:cs typeface="Hanken Grotesk"/>
                <a:sym typeface="Hanken Grotesk"/>
              </a:defRPr>
            </a:lvl1pPr>
            <a:lvl2pPr marL="914400" marR="0" lvl="1"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2pPr>
            <a:lvl3pPr marL="1371600" marR="0" lvl="2"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3pPr>
            <a:lvl4pPr marL="1828800" marR="0" lvl="3"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4pPr>
            <a:lvl5pPr marL="2286000" marR="0" lvl="4"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5pPr>
            <a:lvl6pPr marL="2743200" marR="0" lvl="5"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6pPr>
            <a:lvl7pPr marL="3200400" marR="0" lvl="6"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7pPr>
            <a:lvl8pPr marL="3657600" marR="0" lvl="7"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8pPr>
            <a:lvl9pPr marL="4114800" marR="0" lvl="8"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9pPr>
          </a:lstStyle>
          <a:p>
            <a:pPr marL="177800" indent="0" algn="ctr">
              <a:buNone/>
            </a:pPr>
            <a:r>
              <a:rPr lang="en-US" sz="1600" dirty="0"/>
              <a:t>These are not new insights! </a:t>
            </a:r>
            <a:br>
              <a:rPr lang="en-US" sz="1600" dirty="0"/>
            </a:br>
            <a:r>
              <a:rPr lang="en-US" sz="1600" dirty="0"/>
              <a:t>Bioinformaticians have used evolution for decades!</a:t>
            </a:r>
          </a:p>
        </p:txBody>
      </p:sp>
      <p:sp>
        <p:nvSpPr>
          <p:cNvPr id="5" name="Text Placeholder 2">
            <a:extLst>
              <a:ext uri="{FF2B5EF4-FFF2-40B4-BE49-F238E27FC236}">
                <a16:creationId xmlns:a16="http://schemas.microsoft.com/office/drawing/2014/main" id="{3EA508E9-F8D2-D8EB-4D20-03F8FCC98A9C}"/>
              </a:ext>
            </a:extLst>
          </p:cNvPr>
          <p:cNvSpPr txBox="1">
            <a:spLocks/>
          </p:cNvSpPr>
          <p:nvPr/>
        </p:nvSpPr>
        <p:spPr>
          <a:xfrm>
            <a:off x="599617" y="3420961"/>
            <a:ext cx="7944766" cy="76728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79400" algn="l" rtl="0">
              <a:lnSpc>
                <a:spcPct val="115000"/>
              </a:lnSpc>
              <a:spcBef>
                <a:spcPts val="0"/>
              </a:spcBef>
              <a:spcAft>
                <a:spcPts val="0"/>
              </a:spcAft>
              <a:buClr>
                <a:schemeClr val="dk1"/>
              </a:buClr>
              <a:buSzPts val="800"/>
              <a:buFont typeface="Hanken Grotesk"/>
              <a:buChar char="●"/>
              <a:defRPr sz="1400" b="0" i="0" u="none" strike="noStrike" cap="none">
                <a:solidFill>
                  <a:schemeClr val="dk1"/>
                </a:solidFill>
                <a:latin typeface="Hanken Grotesk"/>
                <a:ea typeface="Hanken Grotesk"/>
                <a:cs typeface="Hanken Grotesk"/>
                <a:sym typeface="Hanken Grotesk"/>
              </a:defRPr>
            </a:lvl1pPr>
            <a:lvl2pPr marL="914400" marR="0" lvl="1"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2pPr>
            <a:lvl3pPr marL="1371600" marR="0" lvl="2"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3pPr>
            <a:lvl4pPr marL="1828800" marR="0" lvl="3"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4pPr>
            <a:lvl5pPr marL="2286000" marR="0" lvl="4"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5pPr>
            <a:lvl6pPr marL="2743200" marR="0" lvl="5"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6pPr>
            <a:lvl7pPr marL="3200400" marR="0" lvl="6"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7pPr>
            <a:lvl8pPr marL="3657600" marR="0" lvl="7"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8pPr>
            <a:lvl9pPr marL="4114800" marR="0" lvl="8"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9pPr>
          </a:lstStyle>
          <a:p>
            <a:pPr marL="177800" indent="0" algn="ctr">
              <a:buNone/>
            </a:pPr>
            <a:r>
              <a:rPr lang="en-US" sz="1600" dirty="0"/>
              <a:t>Domain knowledge and interdisciplinary collaboration can </a:t>
            </a:r>
            <a:br>
              <a:rPr lang="en-US" sz="1600" dirty="0"/>
            </a:br>
            <a:r>
              <a:rPr lang="en-US" sz="1600" dirty="0"/>
              <a:t>improve generative modeling efforts in biology</a:t>
            </a:r>
          </a:p>
        </p:txBody>
      </p:sp>
    </p:spTree>
    <p:extLst>
      <p:ext uri="{BB962C8B-B14F-4D97-AF65-F5344CB8AC3E}">
        <p14:creationId xmlns:p14="http://schemas.microsoft.com/office/powerpoint/2010/main" val="3364983641"/>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33497EE4-981F-A0ED-29C6-7646269B3F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C48CFB-1FF1-35EC-E76C-C1CD9CC46989}"/>
              </a:ext>
            </a:extLst>
          </p:cNvPr>
          <p:cNvSpPr>
            <a:spLocks noGrp="1"/>
          </p:cNvSpPr>
          <p:nvPr>
            <p:ph type="title"/>
          </p:nvPr>
        </p:nvSpPr>
        <p:spPr/>
        <p:txBody>
          <a:bodyPr/>
          <a:lstStyle/>
          <a:p>
            <a:endParaRPr lang="en-US" dirty="0"/>
          </a:p>
        </p:txBody>
      </p:sp>
      <p:pic>
        <p:nvPicPr>
          <p:cNvPr id="10" name="Picture 9" descr="The image appears to be a complex data visualization, likely a heatmap or clustered bar chart, illustrating the functional regions of various genomic segments across different species and conditions, including MEM (methylation) and MLM (methylation-assisted sequencing) data, with additional annotations for different types of functional regions such as introns, UTRs (untranslated regions), and enhancements. The y-axis seems to represent some form of genomic distance or sequence length, while the x-axis categorizes the data into different groups like 'NTP', 'CEP', 'Evo2', and 'PhyloGPN'. Each group contains subcategories with numerical values that may indicate some measure of functional importance or activity.&#10;&#10;AI-generated content may be incorrect.">
            <a:extLst>
              <a:ext uri="{FF2B5EF4-FFF2-40B4-BE49-F238E27FC236}">
                <a16:creationId xmlns:a16="http://schemas.microsoft.com/office/drawing/2014/main" id="{1D601B4C-A978-2E09-A4D4-B6C7D7EB68B5}"/>
              </a:ext>
            </a:extLst>
          </p:cNvPr>
          <p:cNvPicPr>
            <a:picLocks noChangeAspect="1"/>
          </p:cNvPicPr>
          <p:nvPr/>
        </p:nvPicPr>
        <p:blipFill>
          <a:blip r:embed="rId2"/>
          <a:srcRect l="4222" t="17564" r="50000" b="48380"/>
          <a:stretch>
            <a:fillRect/>
          </a:stretch>
        </p:blipFill>
        <p:spPr>
          <a:xfrm>
            <a:off x="455525" y="1311203"/>
            <a:ext cx="3949547" cy="1751683"/>
          </a:xfrm>
          <a:prstGeom prst="rect">
            <a:avLst/>
          </a:prstGeom>
        </p:spPr>
      </p:pic>
      <p:pic>
        <p:nvPicPr>
          <p:cNvPr id="11" name="Picture 10">
            <a:extLst>
              <a:ext uri="{FF2B5EF4-FFF2-40B4-BE49-F238E27FC236}">
                <a16:creationId xmlns:a16="http://schemas.microsoft.com/office/drawing/2014/main" id="{C043008C-7F95-86BC-2317-DD13448CDD0F}"/>
              </a:ext>
            </a:extLst>
          </p:cNvPr>
          <p:cNvPicPr>
            <a:picLocks noChangeAspect="1"/>
          </p:cNvPicPr>
          <p:nvPr/>
        </p:nvPicPr>
        <p:blipFill>
          <a:blip r:embed="rId2"/>
          <a:srcRect l="4222" t="59573" r="50000" b="6371"/>
          <a:stretch>
            <a:fillRect/>
          </a:stretch>
        </p:blipFill>
        <p:spPr>
          <a:xfrm>
            <a:off x="4737254" y="3062886"/>
            <a:ext cx="3949547" cy="1751683"/>
          </a:xfrm>
          <a:prstGeom prst="rect">
            <a:avLst/>
          </a:prstGeom>
        </p:spPr>
      </p:pic>
      <p:pic>
        <p:nvPicPr>
          <p:cNvPr id="12" name="Picture 11">
            <a:extLst>
              <a:ext uri="{FF2B5EF4-FFF2-40B4-BE49-F238E27FC236}">
                <a16:creationId xmlns:a16="http://schemas.microsoft.com/office/drawing/2014/main" id="{6CD7D8FE-B891-7005-052E-29DB41980162}"/>
              </a:ext>
            </a:extLst>
          </p:cNvPr>
          <p:cNvPicPr>
            <a:picLocks noChangeAspect="1"/>
          </p:cNvPicPr>
          <p:nvPr/>
        </p:nvPicPr>
        <p:blipFill>
          <a:blip r:embed="rId2"/>
          <a:srcRect l="51148" t="22750" r="4692" b="43194"/>
          <a:stretch>
            <a:fillRect/>
          </a:stretch>
        </p:blipFill>
        <p:spPr>
          <a:xfrm>
            <a:off x="4807027" y="1311202"/>
            <a:ext cx="3810000" cy="1751684"/>
          </a:xfrm>
          <a:prstGeom prst="rect">
            <a:avLst/>
          </a:prstGeom>
        </p:spPr>
      </p:pic>
      <p:pic>
        <p:nvPicPr>
          <p:cNvPr id="13" name="Picture 12">
            <a:extLst>
              <a:ext uri="{FF2B5EF4-FFF2-40B4-BE49-F238E27FC236}">
                <a16:creationId xmlns:a16="http://schemas.microsoft.com/office/drawing/2014/main" id="{42FBDEC9-BDA6-C015-B750-3D1DBF78BE35}"/>
              </a:ext>
            </a:extLst>
          </p:cNvPr>
          <p:cNvPicPr>
            <a:picLocks noChangeAspect="1"/>
          </p:cNvPicPr>
          <p:nvPr/>
        </p:nvPicPr>
        <p:blipFill>
          <a:blip r:embed="rId2"/>
          <a:srcRect l="51148" t="62294" r="4205" b="8077"/>
          <a:stretch>
            <a:fillRect/>
          </a:stretch>
        </p:blipFill>
        <p:spPr>
          <a:xfrm>
            <a:off x="643800" y="3230880"/>
            <a:ext cx="3852000" cy="1524000"/>
          </a:xfrm>
          <a:prstGeom prst="rect">
            <a:avLst/>
          </a:prstGeom>
        </p:spPr>
      </p:pic>
      <p:sp>
        <p:nvSpPr>
          <p:cNvPr id="14" name="Oval 13">
            <a:extLst>
              <a:ext uri="{FF2B5EF4-FFF2-40B4-BE49-F238E27FC236}">
                <a16:creationId xmlns:a16="http://schemas.microsoft.com/office/drawing/2014/main" id="{8404648E-059C-B054-E8F8-6CA959E28EFD}"/>
              </a:ext>
            </a:extLst>
          </p:cNvPr>
          <p:cNvSpPr/>
          <p:nvPr/>
        </p:nvSpPr>
        <p:spPr>
          <a:xfrm>
            <a:off x="369480" y="1311202"/>
            <a:ext cx="274320" cy="274320"/>
          </a:xfrm>
          <a:prstGeom prst="ellipse">
            <a:avLst/>
          </a:prstGeom>
          <a:solidFill>
            <a:srgbClr val="F4E6AA"/>
          </a:solidFill>
          <a:ln>
            <a:solidFill>
              <a:srgbClr val="F4E6A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bg1">
                    <a:lumMod val="10000"/>
                  </a:schemeClr>
                </a:solidFill>
              </a:rPr>
              <a:t>1</a:t>
            </a:r>
          </a:p>
        </p:txBody>
      </p:sp>
      <p:sp>
        <p:nvSpPr>
          <p:cNvPr id="15" name="Oval 14">
            <a:extLst>
              <a:ext uri="{FF2B5EF4-FFF2-40B4-BE49-F238E27FC236}">
                <a16:creationId xmlns:a16="http://schemas.microsoft.com/office/drawing/2014/main" id="{5ACA3A54-6266-C389-273A-D60A1FB81B56}"/>
              </a:ext>
            </a:extLst>
          </p:cNvPr>
          <p:cNvSpPr/>
          <p:nvPr/>
        </p:nvSpPr>
        <p:spPr>
          <a:xfrm>
            <a:off x="4600093" y="1265299"/>
            <a:ext cx="274320" cy="274320"/>
          </a:xfrm>
          <a:prstGeom prst="ellipse">
            <a:avLst/>
          </a:prstGeom>
          <a:solidFill>
            <a:srgbClr val="F4E6AA"/>
          </a:solidFill>
          <a:ln>
            <a:solidFill>
              <a:srgbClr val="F4E6A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bg1">
                    <a:lumMod val="10000"/>
                  </a:schemeClr>
                </a:solidFill>
              </a:rPr>
              <a:t>2</a:t>
            </a:r>
          </a:p>
        </p:txBody>
      </p:sp>
      <p:sp>
        <p:nvSpPr>
          <p:cNvPr id="16" name="Oval 15">
            <a:extLst>
              <a:ext uri="{FF2B5EF4-FFF2-40B4-BE49-F238E27FC236}">
                <a16:creationId xmlns:a16="http://schemas.microsoft.com/office/drawing/2014/main" id="{4A973980-4AA5-43B9-0A2B-CFD1CE441B97}"/>
              </a:ext>
            </a:extLst>
          </p:cNvPr>
          <p:cNvSpPr/>
          <p:nvPr/>
        </p:nvSpPr>
        <p:spPr>
          <a:xfrm>
            <a:off x="369480" y="3230880"/>
            <a:ext cx="274320" cy="274320"/>
          </a:xfrm>
          <a:prstGeom prst="ellipse">
            <a:avLst/>
          </a:prstGeom>
          <a:solidFill>
            <a:srgbClr val="F4E6AA"/>
          </a:solidFill>
          <a:ln>
            <a:solidFill>
              <a:srgbClr val="F4E6A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bg1">
                    <a:lumMod val="10000"/>
                  </a:schemeClr>
                </a:solidFill>
              </a:rPr>
              <a:t>3</a:t>
            </a:r>
          </a:p>
        </p:txBody>
      </p:sp>
      <p:sp>
        <p:nvSpPr>
          <p:cNvPr id="17" name="Oval 16">
            <a:extLst>
              <a:ext uri="{FF2B5EF4-FFF2-40B4-BE49-F238E27FC236}">
                <a16:creationId xmlns:a16="http://schemas.microsoft.com/office/drawing/2014/main" id="{5A0E0550-B8C5-D2E6-786B-5DFC4D1D6BC6}"/>
              </a:ext>
            </a:extLst>
          </p:cNvPr>
          <p:cNvSpPr/>
          <p:nvPr/>
        </p:nvSpPr>
        <p:spPr>
          <a:xfrm>
            <a:off x="4600093" y="3230880"/>
            <a:ext cx="274320" cy="274320"/>
          </a:xfrm>
          <a:prstGeom prst="ellipse">
            <a:avLst/>
          </a:prstGeom>
          <a:solidFill>
            <a:srgbClr val="F4E6AA"/>
          </a:solidFill>
          <a:ln>
            <a:solidFill>
              <a:srgbClr val="F4E6A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bg1">
                    <a:lumMod val="10000"/>
                  </a:schemeClr>
                </a:solidFill>
              </a:rPr>
              <a:t>4</a:t>
            </a:r>
          </a:p>
        </p:txBody>
      </p:sp>
      <p:sp>
        <p:nvSpPr>
          <p:cNvPr id="3" name="Rectangle 2">
            <a:extLst>
              <a:ext uri="{FF2B5EF4-FFF2-40B4-BE49-F238E27FC236}">
                <a16:creationId xmlns:a16="http://schemas.microsoft.com/office/drawing/2014/main" id="{E167B37A-FE82-DDA4-F637-F16047CACF65}"/>
              </a:ext>
            </a:extLst>
          </p:cNvPr>
          <p:cNvSpPr/>
          <p:nvPr/>
        </p:nvSpPr>
        <p:spPr>
          <a:xfrm>
            <a:off x="811165" y="1366447"/>
            <a:ext cx="3415553" cy="21907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AD5516B8-C5CE-942E-4163-C9E24412AC63}"/>
              </a:ext>
            </a:extLst>
          </p:cNvPr>
          <p:cNvSpPr/>
          <p:nvPr/>
        </p:nvSpPr>
        <p:spPr>
          <a:xfrm>
            <a:off x="1694609" y="1402459"/>
            <a:ext cx="2532109" cy="21907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4EC4BE05-A6BE-FA02-6DB3-E1833FFFBD54}"/>
              </a:ext>
            </a:extLst>
          </p:cNvPr>
          <p:cNvSpPr/>
          <p:nvPr/>
        </p:nvSpPr>
        <p:spPr>
          <a:xfrm>
            <a:off x="558752" y="1946376"/>
            <a:ext cx="3529854" cy="10388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9CC3DCB8-C927-7F9A-9904-6203BAF342A0}"/>
              </a:ext>
            </a:extLst>
          </p:cNvPr>
          <p:cNvSpPr/>
          <p:nvPr/>
        </p:nvSpPr>
        <p:spPr>
          <a:xfrm>
            <a:off x="659510" y="2156718"/>
            <a:ext cx="3529854" cy="11023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51D396AC-6188-5AAC-95A4-F4CB9C66DC61}"/>
              </a:ext>
            </a:extLst>
          </p:cNvPr>
          <p:cNvSpPr/>
          <p:nvPr/>
        </p:nvSpPr>
        <p:spPr>
          <a:xfrm>
            <a:off x="722381" y="2496637"/>
            <a:ext cx="3529854" cy="11023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52709D46-1F9A-7B32-D452-698FD1642E30}"/>
              </a:ext>
            </a:extLst>
          </p:cNvPr>
          <p:cNvSpPr/>
          <p:nvPr/>
        </p:nvSpPr>
        <p:spPr>
          <a:xfrm>
            <a:off x="1288628" y="1411315"/>
            <a:ext cx="205004" cy="19180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71096121-2AA2-8220-E6B7-213FBCD3EDE5}"/>
              </a:ext>
            </a:extLst>
          </p:cNvPr>
          <p:cNvSpPr/>
          <p:nvPr/>
        </p:nvSpPr>
        <p:spPr>
          <a:xfrm>
            <a:off x="1692228" y="2477292"/>
            <a:ext cx="1989185" cy="12957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C423798E-B1F0-D72F-1233-C2DDF1AEDE39}"/>
              </a:ext>
            </a:extLst>
          </p:cNvPr>
          <p:cNvSpPr/>
          <p:nvPr/>
        </p:nvSpPr>
        <p:spPr>
          <a:xfrm>
            <a:off x="4572000" y="2266950"/>
            <a:ext cx="3529854" cy="22216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B0581D17-D132-1F40-4ADC-E5DB47365897}"/>
              </a:ext>
            </a:extLst>
          </p:cNvPr>
          <p:cNvSpPr/>
          <p:nvPr/>
        </p:nvSpPr>
        <p:spPr>
          <a:xfrm>
            <a:off x="4737253" y="2742185"/>
            <a:ext cx="358622" cy="27432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6C0982DB-FCFF-E9BB-9DB7-4A4B1781F75E}"/>
              </a:ext>
            </a:extLst>
          </p:cNvPr>
          <p:cNvSpPr/>
          <p:nvPr/>
        </p:nvSpPr>
        <p:spPr>
          <a:xfrm>
            <a:off x="4693444" y="2060263"/>
            <a:ext cx="3529854" cy="9645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3B653642-F1AD-7D3B-E330-170B212ECFB0}"/>
              </a:ext>
            </a:extLst>
          </p:cNvPr>
          <p:cNvSpPr/>
          <p:nvPr/>
        </p:nvSpPr>
        <p:spPr>
          <a:xfrm>
            <a:off x="4947100" y="1398178"/>
            <a:ext cx="3499194" cy="9645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9843C05F-23A5-11D7-EE5A-E7149FB17231}"/>
              </a:ext>
            </a:extLst>
          </p:cNvPr>
          <p:cNvSpPr/>
          <p:nvPr/>
        </p:nvSpPr>
        <p:spPr>
          <a:xfrm>
            <a:off x="5955506" y="1426842"/>
            <a:ext cx="2468494" cy="9645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48602894-DBDF-3F81-BB91-6FC468BF622E}"/>
              </a:ext>
            </a:extLst>
          </p:cNvPr>
          <p:cNvSpPr/>
          <p:nvPr/>
        </p:nvSpPr>
        <p:spPr>
          <a:xfrm>
            <a:off x="975982" y="3310103"/>
            <a:ext cx="3298362" cy="11156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FDF7D6F6-30B7-421D-E427-CB8AC2B077B0}"/>
              </a:ext>
            </a:extLst>
          </p:cNvPr>
          <p:cNvSpPr/>
          <p:nvPr/>
        </p:nvSpPr>
        <p:spPr>
          <a:xfrm>
            <a:off x="1788318" y="3333084"/>
            <a:ext cx="2481263" cy="11156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1553DF65-3CAE-1234-B84D-C455BB9D2A21}"/>
              </a:ext>
            </a:extLst>
          </p:cNvPr>
          <p:cNvSpPr/>
          <p:nvPr/>
        </p:nvSpPr>
        <p:spPr>
          <a:xfrm>
            <a:off x="681038" y="4065270"/>
            <a:ext cx="3440905" cy="33051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EC296C67-9296-A0F9-3B55-0A60DBD8E8F1}"/>
              </a:ext>
            </a:extLst>
          </p:cNvPr>
          <p:cNvSpPr/>
          <p:nvPr/>
        </p:nvSpPr>
        <p:spPr>
          <a:xfrm>
            <a:off x="5074414" y="3130962"/>
            <a:ext cx="3440905" cy="13960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C19BD6DA-26D9-8B09-6103-0D8E3A3DBAC6}"/>
              </a:ext>
            </a:extLst>
          </p:cNvPr>
          <p:cNvSpPr/>
          <p:nvPr/>
        </p:nvSpPr>
        <p:spPr>
          <a:xfrm>
            <a:off x="4918951" y="3470753"/>
            <a:ext cx="3466353" cy="11277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651AE3A8-5208-AB7B-26BB-F3CEEF7A880B}"/>
              </a:ext>
            </a:extLst>
          </p:cNvPr>
          <p:cNvSpPr/>
          <p:nvPr/>
        </p:nvSpPr>
        <p:spPr>
          <a:xfrm>
            <a:off x="4987506" y="3797360"/>
            <a:ext cx="3466353" cy="19403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Rectangle 34">
            <a:extLst>
              <a:ext uri="{FF2B5EF4-FFF2-40B4-BE49-F238E27FC236}">
                <a16:creationId xmlns:a16="http://schemas.microsoft.com/office/drawing/2014/main" id="{D5FF43CC-01CE-B9FA-021E-FDA38EAE7261}"/>
              </a:ext>
            </a:extLst>
          </p:cNvPr>
          <p:cNvSpPr/>
          <p:nvPr/>
        </p:nvSpPr>
        <p:spPr>
          <a:xfrm>
            <a:off x="4931674" y="4225376"/>
            <a:ext cx="3440905" cy="10578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3AFD62D8-B21C-3860-559A-5290AF1F1246}"/>
              </a:ext>
            </a:extLst>
          </p:cNvPr>
          <p:cNvSpPr/>
          <p:nvPr/>
        </p:nvSpPr>
        <p:spPr>
          <a:xfrm>
            <a:off x="681038" y="3855940"/>
            <a:ext cx="3440905" cy="11156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48BF3A37-B45A-49BD-A83A-0A88773E1302}"/>
              </a:ext>
            </a:extLst>
          </p:cNvPr>
          <p:cNvSpPr/>
          <p:nvPr/>
        </p:nvSpPr>
        <p:spPr>
          <a:xfrm>
            <a:off x="4612006" y="2585122"/>
            <a:ext cx="3529854" cy="9645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82E545B7-8B06-2DB3-E9B0-AB68889B2F51}"/>
              </a:ext>
            </a:extLst>
          </p:cNvPr>
          <p:cNvSpPr/>
          <p:nvPr/>
        </p:nvSpPr>
        <p:spPr>
          <a:xfrm>
            <a:off x="4807027" y="3817332"/>
            <a:ext cx="3466353" cy="17406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Rectangle 26">
            <a:extLst>
              <a:ext uri="{FF2B5EF4-FFF2-40B4-BE49-F238E27FC236}">
                <a16:creationId xmlns:a16="http://schemas.microsoft.com/office/drawing/2014/main" id="{64AD8F69-382E-74D5-AADE-C0A0B4DD6B4B}"/>
              </a:ext>
            </a:extLst>
          </p:cNvPr>
          <p:cNvSpPr/>
          <p:nvPr/>
        </p:nvSpPr>
        <p:spPr>
          <a:xfrm>
            <a:off x="6055360" y="3841463"/>
            <a:ext cx="2104437" cy="17406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 name="Rectangle 29">
            <a:extLst>
              <a:ext uri="{FF2B5EF4-FFF2-40B4-BE49-F238E27FC236}">
                <a16:creationId xmlns:a16="http://schemas.microsoft.com/office/drawing/2014/main" id="{C582A4AB-2BAD-3309-9A24-B4ADA9029721}"/>
              </a:ext>
            </a:extLst>
          </p:cNvPr>
          <p:cNvSpPr/>
          <p:nvPr/>
        </p:nvSpPr>
        <p:spPr>
          <a:xfrm>
            <a:off x="1703745" y="1336624"/>
            <a:ext cx="2569464" cy="1527048"/>
          </a:xfrm>
          <a:prstGeom prst="rect">
            <a:avLst/>
          </a:prstGeom>
          <a:noFill/>
          <a:ln w="6350">
            <a:solidFill>
              <a:schemeClr val="bg1">
                <a:lumMod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7" name="Rectangle 36">
            <a:extLst>
              <a:ext uri="{FF2B5EF4-FFF2-40B4-BE49-F238E27FC236}">
                <a16:creationId xmlns:a16="http://schemas.microsoft.com/office/drawing/2014/main" id="{08E6F398-E219-93B0-40AF-DB3DBFE3AF93}"/>
              </a:ext>
            </a:extLst>
          </p:cNvPr>
          <p:cNvSpPr/>
          <p:nvPr/>
        </p:nvSpPr>
        <p:spPr>
          <a:xfrm>
            <a:off x="1800656" y="3292571"/>
            <a:ext cx="2514600" cy="1248927"/>
          </a:xfrm>
          <a:prstGeom prst="rect">
            <a:avLst/>
          </a:prstGeom>
          <a:noFill/>
          <a:ln w="6350">
            <a:solidFill>
              <a:schemeClr val="bg1">
                <a:lumMod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77CA6718-8E73-F792-C9A5-731C7C67D401}"/>
              </a:ext>
            </a:extLst>
          </p:cNvPr>
          <p:cNvSpPr/>
          <p:nvPr/>
        </p:nvSpPr>
        <p:spPr>
          <a:xfrm>
            <a:off x="5955505" y="1360778"/>
            <a:ext cx="2511861" cy="1488278"/>
          </a:xfrm>
          <a:prstGeom prst="rect">
            <a:avLst/>
          </a:prstGeom>
          <a:noFill/>
          <a:ln w="6350">
            <a:solidFill>
              <a:schemeClr val="bg1">
                <a:lumMod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042F6EFD-9B0D-6359-8B9A-4DD6E787EA8D}"/>
              </a:ext>
            </a:extLst>
          </p:cNvPr>
          <p:cNvSpPr/>
          <p:nvPr/>
        </p:nvSpPr>
        <p:spPr>
          <a:xfrm>
            <a:off x="6050280" y="3111366"/>
            <a:ext cx="2505456" cy="1488278"/>
          </a:xfrm>
          <a:prstGeom prst="rect">
            <a:avLst/>
          </a:prstGeom>
          <a:noFill/>
          <a:ln w="6350">
            <a:solidFill>
              <a:schemeClr val="bg1">
                <a:lumMod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59702039"/>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show="0">
  <p:cSld>
    <p:spTree>
      <p:nvGrpSpPr>
        <p:cNvPr id="1" name="Shape 413">
          <a:extLst>
            <a:ext uri="{FF2B5EF4-FFF2-40B4-BE49-F238E27FC236}">
              <a16:creationId xmlns:a16="http://schemas.microsoft.com/office/drawing/2014/main" id="{0507D6E5-08E5-F2D6-7E93-F3A547388DCD}"/>
            </a:ext>
          </a:extLst>
        </p:cNvPr>
        <p:cNvGrpSpPr/>
        <p:nvPr/>
      </p:nvGrpSpPr>
      <p:grpSpPr>
        <a:xfrm>
          <a:off x="0" y="0"/>
          <a:ext cx="0" cy="0"/>
          <a:chOff x="0" y="0"/>
          <a:chExt cx="0" cy="0"/>
        </a:xfrm>
      </p:grpSpPr>
      <p:sp>
        <p:nvSpPr>
          <p:cNvPr id="414" name="Google Shape;414;p43">
            <a:extLst>
              <a:ext uri="{FF2B5EF4-FFF2-40B4-BE49-F238E27FC236}">
                <a16:creationId xmlns:a16="http://schemas.microsoft.com/office/drawing/2014/main" id="{C56C32F8-86B7-95E5-2AE1-2ECA1354D55D}"/>
              </a:ext>
            </a:extLst>
          </p:cNvPr>
          <p:cNvSpPr txBox="1">
            <a:spLocks noGrp="1"/>
          </p:cNvSpPr>
          <p:nvPr>
            <p:ph type="title"/>
          </p:nvPr>
        </p:nvSpPr>
        <p:spPr>
          <a:xfrm>
            <a:off x="1644450" y="1733400"/>
            <a:ext cx="5855100" cy="7608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3600" dirty="0"/>
              <a:t>“Genomic sequences are really really complicated”</a:t>
            </a:r>
            <a:endParaRPr sz="3600" dirty="0"/>
          </a:p>
        </p:txBody>
      </p:sp>
    </p:spTree>
    <p:extLst>
      <p:ext uri="{BB962C8B-B14F-4D97-AF65-F5344CB8AC3E}">
        <p14:creationId xmlns:p14="http://schemas.microsoft.com/office/powerpoint/2010/main" val="1669387498"/>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13028B-E4D5-605A-D306-401D458049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7B0C61-9233-0F0E-E88B-FC3D2F602DFC}"/>
              </a:ext>
            </a:extLst>
          </p:cNvPr>
          <p:cNvSpPr>
            <a:spLocks noGrp="1"/>
          </p:cNvSpPr>
          <p:nvPr>
            <p:ph type="title"/>
          </p:nvPr>
        </p:nvSpPr>
        <p:spPr>
          <a:xfrm>
            <a:off x="720000" y="355856"/>
            <a:ext cx="7704000" cy="572700"/>
          </a:xfrm>
        </p:spPr>
        <p:txBody>
          <a:bodyPr/>
          <a:lstStyle/>
          <a:p>
            <a:pPr algn="ctr"/>
            <a:r>
              <a:rPr lang="en-US" sz="2400" dirty="0"/>
              <a:t>Variant effect prediction ranks mutated sequences based upon their pathogenicity</a:t>
            </a:r>
          </a:p>
        </p:txBody>
      </p:sp>
      <p:pic>
        <p:nvPicPr>
          <p:cNvPr id="3" name="Picture 2">
            <a:extLst>
              <a:ext uri="{FF2B5EF4-FFF2-40B4-BE49-F238E27FC236}">
                <a16:creationId xmlns:a16="http://schemas.microsoft.com/office/drawing/2014/main" id="{3EF53AF5-0C62-A626-5A30-F656CBC4D629}"/>
              </a:ext>
            </a:extLst>
          </p:cNvPr>
          <p:cNvPicPr>
            <a:picLocks noChangeAspect="1"/>
          </p:cNvPicPr>
          <p:nvPr/>
        </p:nvPicPr>
        <p:blipFill>
          <a:blip r:embed="rId3"/>
          <a:srcRect l="9483" b="56176"/>
          <a:stretch>
            <a:fillRect/>
          </a:stretch>
        </p:blipFill>
        <p:spPr>
          <a:xfrm>
            <a:off x="2332020" y="1176571"/>
            <a:ext cx="4237590" cy="1897788"/>
          </a:xfrm>
          <a:prstGeom prst="rect">
            <a:avLst/>
          </a:prstGeom>
        </p:spPr>
      </p:pic>
      <p:pic>
        <p:nvPicPr>
          <p:cNvPr id="10" name="Picture 9">
            <a:extLst>
              <a:ext uri="{FF2B5EF4-FFF2-40B4-BE49-F238E27FC236}">
                <a16:creationId xmlns:a16="http://schemas.microsoft.com/office/drawing/2014/main" id="{93853958-35D7-1790-0396-B9313AC3C70C}"/>
              </a:ext>
            </a:extLst>
          </p:cNvPr>
          <p:cNvPicPr>
            <a:picLocks noChangeAspect="1"/>
          </p:cNvPicPr>
          <p:nvPr/>
        </p:nvPicPr>
        <p:blipFill>
          <a:blip r:embed="rId3"/>
          <a:srcRect l="9483" t="66879" b="25998"/>
          <a:stretch>
            <a:fillRect/>
          </a:stretch>
        </p:blipFill>
        <p:spPr>
          <a:xfrm>
            <a:off x="441580" y="3694722"/>
            <a:ext cx="4188188" cy="304876"/>
          </a:xfrm>
          <a:prstGeom prst="rect">
            <a:avLst/>
          </a:prstGeom>
        </p:spPr>
      </p:pic>
      <p:pic>
        <p:nvPicPr>
          <p:cNvPr id="12" name="Picture 11">
            <a:extLst>
              <a:ext uri="{FF2B5EF4-FFF2-40B4-BE49-F238E27FC236}">
                <a16:creationId xmlns:a16="http://schemas.microsoft.com/office/drawing/2014/main" id="{E3EFE6D0-7B7F-42E2-CD8B-07C5319D7913}"/>
              </a:ext>
            </a:extLst>
          </p:cNvPr>
          <p:cNvPicPr>
            <a:picLocks noChangeAspect="1"/>
          </p:cNvPicPr>
          <p:nvPr/>
        </p:nvPicPr>
        <p:blipFill>
          <a:blip r:embed="rId3"/>
          <a:srcRect l="12269" t="54934" r="4862" b="36177"/>
          <a:stretch>
            <a:fillRect/>
          </a:stretch>
        </p:blipFill>
        <p:spPr>
          <a:xfrm>
            <a:off x="578665" y="3328352"/>
            <a:ext cx="3808279" cy="377852"/>
          </a:xfrm>
          <a:prstGeom prst="rect">
            <a:avLst/>
          </a:prstGeom>
        </p:spPr>
      </p:pic>
      <p:pic>
        <p:nvPicPr>
          <p:cNvPr id="13" name="Picture 12">
            <a:extLst>
              <a:ext uri="{FF2B5EF4-FFF2-40B4-BE49-F238E27FC236}">
                <a16:creationId xmlns:a16="http://schemas.microsoft.com/office/drawing/2014/main" id="{92188CE6-97DA-D681-3C7E-2D71F3501B16}"/>
              </a:ext>
            </a:extLst>
          </p:cNvPr>
          <p:cNvPicPr>
            <a:picLocks noChangeAspect="1"/>
          </p:cNvPicPr>
          <p:nvPr/>
        </p:nvPicPr>
        <p:blipFill>
          <a:blip r:embed="rId3"/>
          <a:srcRect l="19488" t="86275" r="38409" b="1794"/>
          <a:stretch>
            <a:fillRect/>
          </a:stretch>
        </p:blipFill>
        <p:spPr>
          <a:xfrm>
            <a:off x="1762978" y="4173962"/>
            <a:ext cx="2341085" cy="613682"/>
          </a:xfrm>
          <a:prstGeom prst="rect">
            <a:avLst/>
          </a:prstGeom>
        </p:spPr>
      </p:pic>
    </p:spTree>
    <p:extLst>
      <p:ext uri="{BB962C8B-B14F-4D97-AF65-F5344CB8AC3E}">
        <p14:creationId xmlns:p14="http://schemas.microsoft.com/office/powerpoint/2010/main" val="888834490"/>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0D3D2E-4CA4-B765-7A61-BB7418A4336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43BBD72-EBAE-41FA-61E5-FB533EF7D3E7}"/>
              </a:ext>
            </a:extLst>
          </p:cNvPr>
          <p:cNvSpPr>
            <a:spLocks noGrp="1"/>
          </p:cNvSpPr>
          <p:nvPr>
            <p:ph type="title"/>
          </p:nvPr>
        </p:nvSpPr>
        <p:spPr>
          <a:xfrm>
            <a:off x="720000" y="355856"/>
            <a:ext cx="7704000" cy="572700"/>
          </a:xfrm>
        </p:spPr>
        <p:txBody>
          <a:bodyPr/>
          <a:lstStyle/>
          <a:p>
            <a:pPr algn="ctr"/>
            <a:r>
              <a:rPr lang="en-US" sz="2400" dirty="0"/>
              <a:t>Variant effect prediction ranks mutated sequences based upon their pathogenicity</a:t>
            </a:r>
          </a:p>
        </p:txBody>
      </p:sp>
      <p:pic>
        <p:nvPicPr>
          <p:cNvPr id="3" name="Picture 2">
            <a:extLst>
              <a:ext uri="{FF2B5EF4-FFF2-40B4-BE49-F238E27FC236}">
                <a16:creationId xmlns:a16="http://schemas.microsoft.com/office/drawing/2014/main" id="{FC7A8372-663A-AEE0-A7D9-5EC62D1B6C3F}"/>
              </a:ext>
            </a:extLst>
          </p:cNvPr>
          <p:cNvPicPr>
            <a:picLocks noChangeAspect="1"/>
          </p:cNvPicPr>
          <p:nvPr/>
        </p:nvPicPr>
        <p:blipFill>
          <a:blip r:embed="rId3"/>
          <a:srcRect l="9483" b="56176"/>
          <a:stretch>
            <a:fillRect/>
          </a:stretch>
        </p:blipFill>
        <p:spPr>
          <a:xfrm>
            <a:off x="2332020" y="1176571"/>
            <a:ext cx="4237590" cy="1897788"/>
          </a:xfrm>
          <a:prstGeom prst="rect">
            <a:avLst/>
          </a:prstGeom>
        </p:spPr>
      </p:pic>
      <p:pic>
        <p:nvPicPr>
          <p:cNvPr id="4" name="Picture 3">
            <a:extLst>
              <a:ext uri="{FF2B5EF4-FFF2-40B4-BE49-F238E27FC236}">
                <a16:creationId xmlns:a16="http://schemas.microsoft.com/office/drawing/2014/main" id="{61C951C5-88F0-9450-659C-22A2FA1E0BC2}"/>
              </a:ext>
            </a:extLst>
          </p:cNvPr>
          <p:cNvPicPr>
            <a:picLocks noChangeAspect="1"/>
          </p:cNvPicPr>
          <p:nvPr/>
        </p:nvPicPr>
        <p:blipFill>
          <a:blip r:embed="rId3"/>
          <a:srcRect l="10771" t="44016" b="45703"/>
          <a:stretch>
            <a:fillRect/>
          </a:stretch>
        </p:blipFill>
        <p:spPr>
          <a:xfrm>
            <a:off x="4757057" y="3328352"/>
            <a:ext cx="4100505" cy="437033"/>
          </a:xfrm>
          <a:prstGeom prst="rect">
            <a:avLst/>
          </a:prstGeom>
        </p:spPr>
      </p:pic>
      <p:pic>
        <p:nvPicPr>
          <p:cNvPr id="5" name="Picture 4">
            <a:extLst>
              <a:ext uri="{FF2B5EF4-FFF2-40B4-BE49-F238E27FC236}">
                <a16:creationId xmlns:a16="http://schemas.microsoft.com/office/drawing/2014/main" id="{5293C322-2127-65B2-91CD-4EF33184B7B1}"/>
              </a:ext>
            </a:extLst>
          </p:cNvPr>
          <p:cNvPicPr>
            <a:picLocks noChangeAspect="1"/>
          </p:cNvPicPr>
          <p:nvPr/>
        </p:nvPicPr>
        <p:blipFill>
          <a:blip r:embed="rId3"/>
          <a:srcRect l="12269" t="54934" r="4862" b="36177"/>
          <a:stretch>
            <a:fillRect/>
          </a:stretch>
        </p:blipFill>
        <p:spPr>
          <a:xfrm>
            <a:off x="4834627" y="3730695"/>
            <a:ext cx="3808279" cy="377852"/>
          </a:xfrm>
          <a:prstGeom prst="rect">
            <a:avLst/>
          </a:prstGeom>
        </p:spPr>
      </p:pic>
      <p:cxnSp>
        <p:nvCxnSpPr>
          <p:cNvPr id="7" name="Straight Arrow Connector 6">
            <a:extLst>
              <a:ext uri="{FF2B5EF4-FFF2-40B4-BE49-F238E27FC236}">
                <a16:creationId xmlns:a16="http://schemas.microsoft.com/office/drawing/2014/main" id="{B02EC7EC-30A1-CE13-CEB7-369AAE276098}"/>
              </a:ext>
            </a:extLst>
          </p:cNvPr>
          <p:cNvCxnSpPr/>
          <p:nvPr/>
        </p:nvCxnSpPr>
        <p:spPr>
          <a:xfrm flipV="1">
            <a:off x="7252923" y="4173962"/>
            <a:ext cx="0" cy="308472"/>
          </a:xfrm>
          <a:prstGeom prst="straightConnector1">
            <a:avLst/>
          </a:prstGeom>
          <a:ln w="28575">
            <a:solidFill>
              <a:schemeClr val="bg2">
                <a:lumMod val="10000"/>
              </a:schemeClr>
            </a:solidFill>
            <a:tailEnd type="triangle"/>
          </a:ln>
        </p:spPr>
        <p:style>
          <a:lnRef idx="1">
            <a:schemeClr val="dk1"/>
          </a:lnRef>
          <a:fillRef idx="0">
            <a:schemeClr val="dk1"/>
          </a:fillRef>
          <a:effectRef idx="0">
            <a:schemeClr val="dk1"/>
          </a:effectRef>
          <a:fontRef idx="minor">
            <a:schemeClr val="tx1"/>
          </a:fontRef>
        </p:style>
      </p:cxnSp>
      <p:pic>
        <p:nvPicPr>
          <p:cNvPr id="10" name="Picture 9">
            <a:extLst>
              <a:ext uri="{FF2B5EF4-FFF2-40B4-BE49-F238E27FC236}">
                <a16:creationId xmlns:a16="http://schemas.microsoft.com/office/drawing/2014/main" id="{3ED9BA9C-6363-A409-33A6-7CBC76B0C9E6}"/>
              </a:ext>
            </a:extLst>
          </p:cNvPr>
          <p:cNvPicPr>
            <a:picLocks noChangeAspect="1"/>
          </p:cNvPicPr>
          <p:nvPr/>
        </p:nvPicPr>
        <p:blipFill>
          <a:blip r:embed="rId3"/>
          <a:srcRect l="9483" t="66879" b="25998"/>
          <a:stretch>
            <a:fillRect/>
          </a:stretch>
        </p:blipFill>
        <p:spPr>
          <a:xfrm>
            <a:off x="441580" y="3694722"/>
            <a:ext cx="4188188" cy="304876"/>
          </a:xfrm>
          <a:prstGeom prst="rect">
            <a:avLst/>
          </a:prstGeom>
        </p:spPr>
      </p:pic>
      <p:pic>
        <p:nvPicPr>
          <p:cNvPr id="12" name="Picture 11">
            <a:extLst>
              <a:ext uri="{FF2B5EF4-FFF2-40B4-BE49-F238E27FC236}">
                <a16:creationId xmlns:a16="http://schemas.microsoft.com/office/drawing/2014/main" id="{40A3AD97-7CA5-BCC9-6655-69380FC05CDB}"/>
              </a:ext>
            </a:extLst>
          </p:cNvPr>
          <p:cNvPicPr>
            <a:picLocks noChangeAspect="1"/>
          </p:cNvPicPr>
          <p:nvPr/>
        </p:nvPicPr>
        <p:blipFill>
          <a:blip r:embed="rId3"/>
          <a:srcRect l="12269" t="54934" r="4862" b="36177"/>
          <a:stretch>
            <a:fillRect/>
          </a:stretch>
        </p:blipFill>
        <p:spPr>
          <a:xfrm>
            <a:off x="578665" y="3328352"/>
            <a:ext cx="3808279" cy="377852"/>
          </a:xfrm>
          <a:prstGeom prst="rect">
            <a:avLst/>
          </a:prstGeom>
        </p:spPr>
      </p:pic>
      <p:pic>
        <p:nvPicPr>
          <p:cNvPr id="13" name="Picture 12">
            <a:extLst>
              <a:ext uri="{FF2B5EF4-FFF2-40B4-BE49-F238E27FC236}">
                <a16:creationId xmlns:a16="http://schemas.microsoft.com/office/drawing/2014/main" id="{C77169E3-3374-A915-56A7-94C7C087D02B}"/>
              </a:ext>
            </a:extLst>
          </p:cNvPr>
          <p:cNvPicPr>
            <a:picLocks noChangeAspect="1"/>
          </p:cNvPicPr>
          <p:nvPr/>
        </p:nvPicPr>
        <p:blipFill>
          <a:blip r:embed="rId3"/>
          <a:srcRect l="19488" t="86275" r="38409" b="1794"/>
          <a:stretch>
            <a:fillRect/>
          </a:stretch>
        </p:blipFill>
        <p:spPr>
          <a:xfrm>
            <a:off x="1762978" y="4173962"/>
            <a:ext cx="2341085" cy="613682"/>
          </a:xfrm>
          <a:prstGeom prst="rect">
            <a:avLst/>
          </a:prstGeom>
        </p:spPr>
      </p:pic>
    </p:spTree>
    <p:extLst>
      <p:ext uri="{BB962C8B-B14F-4D97-AF65-F5344CB8AC3E}">
        <p14:creationId xmlns:p14="http://schemas.microsoft.com/office/powerpoint/2010/main" val="2084975250"/>
      </p:ext>
    </p:extLst>
  </p:cSld>
  <p:clrMapOvr>
    <a:masterClrMapping/>
  </p:clrMapOvr>
</p:sld>
</file>

<file path=ppt/theme/theme1.xml><?xml version="1.0" encoding="utf-8"?>
<a:theme xmlns:a="http://schemas.openxmlformats.org/drawingml/2006/main" name="Elegant Black &amp; White Thesis Defense by Slidesgo">
  <a:themeElements>
    <a:clrScheme name="Simple Light">
      <a:dk1>
        <a:srgbClr val="333333"/>
      </a:dk1>
      <a:lt1>
        <a:srgbClr val="FDFDFD"/>
      </a:lt1>
      <a:dk2>
        <a:srgbClr val="E8E7E7"/>
      </a:dk2>
      <a:lt2>
        <a:srgbClr val="B2B2B2"/>
      </a:lt2>
      <a:accent1>
        <a:srgbClr val="777777"/>
      </a:accent1>
      <a:accent2>
        <a:srgbClr val="FFFFFF"/>
      </a:accent2>
      <a:accent3>
        <a:srgbClr val="FFFFFF"/>
      </a:accent3>
      <a:accent4>
        <a:srgbClr val="FFFFFF"/>
      </a:accent4>
      <a:accent5>
        <a:srgbClr val="FFFFFF"/>
      </a:accent5>
      <a:accent6>
        <a:srgbClr val="FFFFFF"/>
      </a:accent6>
      <a:hlink>
        <a:srgbClr val="333333"/>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Metadata/LabelInfo.xml><?xml version="1.0" encoding="utf-8"?>
<clbl:labelList xmlns:clbl="http://schemas.microsoft.com/office/2020/mipLabelMetadata">
  <clbl:label id="{f42aa342-8706-4288-bd11-ebb85995028c}" enabled="1" method="Privileged" siteId="{72f988bf-86f1-41af-91ab-2d7cd011db47}" removed="0"/>
</clbl:labelList>
</file>

<file path=docProps/app.xml><?xml version="1.0" encoding="utf-8"?>
<Properties xmlns="http://schemas.openxmlformats.org/officeDocument/2006/extended-properties" xmlns:vt="http://schemas.openxmlformats.org/officeDocument/2006/docPropsVTypes">
  <TotalTime>58437</TotalTime>
  <Words>10502</Words>
  <Application>Microsoft Office PowerPoint</Application>
  <PresentationFormat>On-screen Show (16:9)</PresentationFormat>
  <Paragraphs>724</Paragraphs>
  <Slides>92</Slides>
  <Notes>91</Notes>
  <HiddenSlides>4</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92</vt:i4>
      </vt:variant>
    </vt:vector>
  </HeadingPairs>
  <TitlesOfParts>
    <vt:vector size="98" baseType="lpstr">
      <vt:lpstr>Bradley Hand ITC</vt:lpstr>
      <vt:lpstr>Figtree Black</vt:lpstr>
      <vt:lpstr>Consolas</vt:lpstr>
      <vt:lpstr>Arial</vt:lpstr>
      <vt:lpstr>Hanken Grotesk</vt:lpstr>
      <vt:lpstr>Elegant Black &amp; White Thesis Defense by Slidesgo</vt:lpstr>
      <vt:lpstr>Advancing generative genomics models with evolution</vt:lpstr>
      <vt:lpstr>Three decades ago, genomes were largely thought of as “bags of genes”…</vt:lpstr>
      <vt:lpstr>Systematic screens reveal extent of human genome dedicated to regulation </vt:lpstr>
      <vt:lpstr>Much remains to be discovered about the genomic regulatory code</vt:lpstr>
      <vt:lpstr>Much remains to be discovered about the genomic regulatory code</vt:lpstr>
      <vt:lpstr>Much remains to be discovered about the genomic regulatory code</vt:lpstr>
      <vt:lpstr>Much remains to be discovered about the genomic regulatory code</vt:lpstr>
      <vt:lpstr>Much remains to be discovered about the genomic regulatory code</vt:lpstr>
      <vt:lpstr>Much remains to be discovered about the genomic regulatory code</vt:lpstr>
      <vt:lpstr>Much remains to be discovered  about the genomic regulatory code</vt:lpstr>
      <vt:lpstr>Why do we care about understanding  the regulatory code?</vt:lpstr>
      <vt:lpstr>Why do we care about understanding  the regulatory code?</vt:lpstr>
      <vt:lpstr>Why do we care about understanding  the regulatory code?</vt:lpstr>
      <vt:lpstr>Self-supervised language models learn statistical understanding of language without labels</vt:lpstr>
      <vt:lpstr>Can we learn the “grammar” of the regulatory code by treating genomes like language?</vt:lpstr>
      <vt:lpstr>Prediction, interpretation, and generation can further understanding of regulatory grammar</vt:lpstr>
      <vt:lpstr>Prediction, interpretation, and generation can further understanding of regulatory grammar</vt:lpstr>
      <vt:lpstr>Prediction, interpretation, and generation can further understanding of regulatory grammar</vt:lpstr>
      <vt:lpstr>Genome language modeling efforts have exploded </vt:lpstr>
      <vt:lpstr>“Genomic foundationless models” learn no  better an understanding than random weights</vt:lpstr>
      <vt:lpstr>Genomes do not behave like language!</vt:lpstr>
      <vt:lpstr>Genomes do not behave like language!</vt:lpstr>
      <vt:lpstr>Genomes do not behave like language!</vt:lpstr>
      <vt:lpstr>Bioinformatics methods often rely on evolutionary conservation for robust identification of signal</vt:lpstr>
      <vt:lpstr>Bioinformatics methods often rely on evolutionary conservation for robust identification of signal</vt:lpstr>
      <vt:lpstr>Combining evolution-based strategies  with genome language modeling </vt:lpstr>
      <vt:lpstr>Combining evolution-based strategies  with genome language modeling </vt:lpstr>
      <vt:lpstr>Bioinformatics methods can estimate evolutionary conservation at the nucleotide level…</vt:lpstr>
      <vt:lpstr>Bioinformatics methods can estimate evolutionary conservation at the nucleotide level…</vt:lpstr>
      <vt:lpstr>Bioinformatics methods can estimate evolutionary conservation at the nucleotide level…</vt:lpstr>
      <vt:lpstr>Can we use conservation scores to pre-train genome language models?</vt:lpstr>
      <vt:lpstr>Designing pretraining tasks comparable with sequence-based reconstruction</vt:lpstr>
      <vt:lpstr>Designing pretraining tasks comparable with sequence-based reconstruction</vt:lpstr>
      <vt:lpstr>Designing pretraining tasks comparable with sequence-based reconstruction</vt:lpstr>
      <vt:lpstr>Designing pretraining tasks comparable with sequence-based reconstruction</vt:lpstr>
      <vt:lpstr>Designing pretraining tasks comparable with sequence-based reconstruction</vt:lpstr>
      <vt:lpstr>We train six Gamba variants on the  repeat-filtered human reference genome</vt:lpstr>
      <vt:lpstr>We train six Gamba variants on the  repeat-filtered human reference genome</vt:lpstr>
      <vt:lpstr>We train six Gamba variants on the  repeat-filtered human reference genome</vt:lpstr>
      <vt:lpstr>We benchmark Gamba models on  functional region classification</vt:lpstr>
      <vt:lpstr>Existing benchmarks select confounder  sequences at random from the genome</vt:lpstr>
      <vt:lpstr>Existing benchmarks select confounder  sequences at random from the genome</vt:lpstr>
      <vt:lpstr>We design benchmark four settings under increasing levels of confounders</vt:lpstr>
      <vt:lpstr>We design benchmark four settings under increasing levels of confounders</vt:lpstr>
      <vt:lpstr>We design benchmark four settings under increasing levels of confounders</vt:lpstr>
      <vt:lpstr>We design benchmark four settings under increasing levels of confounders</vt:lpstr>
      <vt:lpstr>We design benchmark four settings under increasing levels of confounders</vt:lpstr>
      <vt:lpstr>Conservation score pretraining usually  outperforms sequence reconstruction</vt:lpstr>
      <vt:lpstr>Combining objectives leads to  best-of-both-worlds performance</vt:lpstr>
      <vt:lpstr>Our tiny Gamba models are comparable  with or better than larger gLMs!</vt:lpstr>
      <vt:lpstr>Variant effect prediction ranks mutated sequences based upon their pathogenicity</vt:lpstr>
      <vt:lpstr>Both explicitly and implicitly learning evolution does not outperform direct use of conservation</vt:lpstr>
      <vt:lpstr>Gamba: Key Takeaways</vt:lpstr>
      <vt:lpstr>Generative enhancer design with EnhancAR</vt:lpstr>
      <vt:lpstr>Our goal is to generate enhancer sequences that drive gene expression in specific contexts</vt:lpstr>
      <vt:lpstr>Our goal is to generate enhancer sequences that drive gene expression in specific contexts</vt:lpstr>
      <vt:lpstr>Our goal is to generate enhancer sequences that drive gene expression in specific contexts</vt:lpstr>
      <vt:lpstr>Our goal is to generate enhancer sequences that drive gene expression in specific contexts</vt:lpstr>
      <vt:lpstr>Context-specific enhancer design enables  control and understanding of gene expression</vt:lpstr>
      <vt:lpstr>Context-specific enhancer design enables  control and understanding of gene expression</vt:lpstr>
      <vt:lpstr>Previous generative models of enhancers use massively parallel reporter assays (MPRAs) to label sequences</vt:lpstr>
      <vt:lpstr>Previous generative models of enhancers use massively parallel reporter assays (MPRAs) to label sequences</vt:lpstr>
      <vt:lpstr>Previous generative models of enhancers use massively parallel reporter assays (MPRAs) to label sequences</vt:lpstr>
      <vt:lpstr>Previous generative models of enhancers use massively parallel reporter assays (MPRAs) to label sequences</vt:lpstr>
      <vt:lpstr>Previous generative models of enhancers use massively parallel reporter assays (MPRAs) to label sequences</vt:lpstr>
      <vt:lpstr>Previous generative models of enhancers use massively parallel reporter assays (MPRAs) to label sequences</vt:lpstr>
      <vt:lpstr>Label-conditioned generative models create a  chicken and egg problem with experimentation</vt:lpstr>
      <vt:lpstr>Label-conditioned generative models create a  chicken and egg problem with experimentation</vt:lpstr>
      <vt:lpstr>Label-conditioned generative models create a  chicken and egg problem with experimentation</vt:lpstr>
      <vt:lpstr>Can we conditionally generate enhancers through  examples, rather than through specification?</vt:lpstr>
      <vt:lpstr>Can we conditionally generate enhancers through  examples, rather than through specification?</vt:lpstr>
      <vt:lpstr>Can we conditionally generate enhancers through  examples, rather than through specification?</vt:lpstr>
      <vt:lpstr>Multiple sequence alignments identify  the same enhancer across species</vt:lpstr>
      <vt:lpstr>We curate the largest collection of  enhancer homology families to date</vt:lpstr>
      <vt:lpstr>EnhancAR is trained autoregressively on  unrolled homology families</vt:lpstr>
      <vt:lpstr>Autoregressive training enables flexible  generation modes at inference time</vt:lpstr>
      <vt:lpstr>EnhancAR: Key Results</vt:lpstr>
      <vt:lpstr>EnhancAR generates novel and diverse sequences</vt:lpstr>
      <vt:lpstr>EnhancAR generates novel and diverse sequences</vt:lpstr>
      <vt:lpstr>EnhancAR generates novel and diverse sequences</vt:lpstr>
      <vt:lpstr>EnhancAR generates novel and diverse sequences</vt:lpstr>
      <vt:lpstr>EnhancAR maintains functional  sequence features in its generations</vt:lpstr>
      <vt:lpstr>EnhancAR can design cell-type specific enhancers</vt:lpstr>
      <vt:lpstr>EnhancAR can design cell-type specific enhancers</vt:lpstr>
      <vt:lpstr>EnhancAR: Key Takeaways</vt:lpstr>
      <vt:lpstr>Evolution improves generative genomic models</vt:lpstr>
      <vt:lpstr>Evolution improves generative genomic models</vt:lpstr>
      <vt:lpstr>Evolution improves generative genomic models</vt:lpstr>
      <vt:lpstr>PowerPoint Presentation</vt:lpstr>
      <vt:lpstr>“Genomic sequences are really really complicated”</vt:lpstr>
      <vt:lpstr>Variant effect prediction ranks mutated sequences based upon their pathogenicity</vt:lpstr>
      <vt:lpstr>Variant effect prediction ranks mutated sequences based upon their pathogenicity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Alex Lu</dc:creator>
  <cp:lastModifiedBy>Alex Lu</cp:lastModifiedBy>
  <cp:revision>2</cp:revision>
  <dcterms:modified xsi:type="dcterms:W3CDTF">2026-05-02T21:40:28Z</dcterms:modified>
</cp:coreProperties>
</file>